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6"/>
  </p:notesMasterIdLst>
  <p:sldIdLst>
    <p:sldId id="306" r:id="rId2"/>
    <p:sldId id="307" r:id="rId3"/>
    <p:sldId id="286" r:id="rId4"/>
    <p:sldId id="376" r:id="rId5"/>
    <p:sldId id="375" r:id="rId6"/>
    <p:sldId id="323" r:id="rId7"/>
    <p:sldId id="354" r:id="rId8"/>
    <p:sldId id="362" r:id="rId9"/>
    <p:sldId id="363" r:id="rId10"/>
    <p:sldId id="324" r:id="rId11"/>
    <p:sldId id="355" r:id="rId12"/>
    <p:sldId id="325" r:id="rId13"/>
    <p:sldId id="326" r:id="rId14"/>
    <p:sldId id="364" r:id="rId15"/>
    <p:sldId id="365" r:id="rId16"/>
    <p:sldId id="327" r:id="rId17"/>
    <p:sldId id="328" r:id="rId18"/>
    <p:sldId id="288" r:id="rId19"/>
    <p:sldId id="370" r:id="rId20"/>
    <p:sldId id="330" r:id="rId21"/>
    <p:sldId id="290" r:id="rId22"/>
    <p:sldId id="366" r:id="rId23"/>
    <p:sldId id="367" r:id="rId24"/>
    <p:sldId id="368" r:id="rId25"/>
    <p:sldId id="369" r:id="rId26"/>
    <p:sldId id="360" r:id="rId27"/>
    <p:sldId id="331" r:id="rId28"/>
    <p:sldId id="358" r:id="rId29"/>
    <p:sldId id="371" r:id="rId30"/>
    <p:sldId id="372" r:id="rId31"/>
    <p:sldId id="373" r:id="rId32"/>
    <p:sldId id="374" r:id="rId33"/>
    <p:sldId id="361" r:id="rId34"/>
    <p:sldId id="334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2"/>
    <p:restoredTop sz="82309" autoAdjust="0"/>
  </p:normalViewPr>
  <p:slideViewPr>
    <p:cSldViewPr>
      <p:cViewPr varScale="1">
        <p:scale>
          <a:sx n="55" d="100"/>
          <a:sy n="55" d="100"/>
        </p:scale>
        <p:origin x="1196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54088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E6EC4856-D67C-4F1F-90E1-0F510B67FE9A}" type="slidenum">
              <a:rPr lang="en-US" altLang="zh-CN" sz="1000">
                <a:latin typeface="Times New Roman" pitchFamily="18" charset="0"/>
              </a:rPr>
              <a:pPr/>
              <a:t>1</a:t>
            </a:fld>
            <a:endParaRPr lang="en-US" altLang="zh-CN" sz="1000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1225" y="744538"/>
            <a:ext cx="4959350" cy="3719512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953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3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18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97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48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AE6F9D-7203-446D-82C1-2590DD051B44}" type="slidenum">
              <a:rPr lang="zh-CN" altLang="en-US" sz="1200">
                <a:latin typeface="Arial" charset="0"/>
              </a:rPr>
              <a:pPr eaLnBrk="1" hangingPunct="1"/>
              <a:t>18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Another version of partition: https://</a:t>
            </a:r>
            <a:r>
              <a:rPr lang="en-US" altLang="zh-CN" dirty="0" err="1"/>
              <a:t>www.cnblogs.com</a:t>
            </a:r>
            <a:r>
              <a:rPr lang="en-US" altLang="zh-CN" dirty="0"/>
              <a:t>/</a:t>
            </a:r>
            <a:r>
              <a:rPr lang="en-US" altLang="zh-CN" dirty="0" err="1"/>
              <a:t>asiacao</a:t>
            </a:r>
            <a:r>
              <a:rPr lang="en-US" altLang="zh-CN" dirty="0"/>
              <a:t>/archive/2012/12/17/2822090.html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799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4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19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33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18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5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25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33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20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sort only has a single increment or decrement;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for merge sort, has B[i++] = A[i1++] 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20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08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elements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baseline="0" dirty="0"/>
              <a:t> </a:t>
            </a:r>
            <a:r>
              <a:rPr lang="en-US" altLang="zh-CN" baseline="0" dirty="0"/>
              <a:t>we</a:t>
            </a:r>
            <a:r>
              <a:rPr lang="zh-CN" altLang="en-US" baseline="0" dirty="0"/>
              <a:t> </a:t>
            </a:r>
            <a:r>
              <a:rPr lang="en-US" altLang="zh-CN" baseline="0" dirty="0"/>
              <a:t>use</a:t>
            </a:r>
            <a:r>
              <a:rPr lang="zh-CN" altLang="en-US" baseline="0" dirty="0"/>
              <a:t> </a:t>
            </a:r>
            <a:r>
              <a:rPr lang="en-US" altLang="zh-CN" baseline="0" dirty="0"/>
              <a:t>strict</a:t>
            </a:r>
            <a:r>
              <a:rPr lang="zh-CN" altLang="en-US" baseline="0" dirty="0"/>
              <a:t> </a:t>
            </a:r>
            <a:r>
              <a:rPr lang="en-US" altLang="zh-CN" baseline="0" dirty="0"/>
              <a:t>‘&lt;’</a:t>
            </a:r>
            <a:r>
              <a:rPr lang="zh-CN" altLang="en-US" baseline="0" dirty="0"/>
              <a:t> </a:t>
            </a:r>
            <a:r>
              <a:rPr lang="en-US" altLang="zh-CN" baseline="0" dirty="0"/>
              <a:t>and</a:t>
            </a:r>
            <a:r>
              <a:rPr lang="zh-CN" altLang="en-US" baseline="0" dirty="0"/>
              <a:t> </a:t>
            </a:r>
            <a:r>
              <a:rPr lang="en-US" altLang="zh-CN" baseline="0" dirty="0"/>
              <a:t>‘&gt;’,</a:t>
            </a:r>
            <a:r>
              <a:rPr lang="zh-CN" altLang="en-US" baseline="0" dirty="0"/>
              <a:t> </a:t>
            </a:r>
            <a:r>
              <a:rPr lang="en-US" altLang="zh-CN" baseline="0" dirty="0"/>
              <a:t>so</a:t>
            </a:r>
            <a:r>
              <a:rPr lang="zh-CN" altLang="en-US" baseline="0" dirty="0"/>
              <a:t> </a:t>
            </a:r>
            <a:r>
              <a:rPr lang="en-US" altLang="zh-CN" baseline="0" dirty="0"/>
              <a:t>we</a:t>
            </a:r>
            <a:r>
              <a:rPr lang="zh-CN" altLang="en-US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 get perfect O(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log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performance, because half the equal elements will be split evenly in the two partitions.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&lt;=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&gt;=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unbalanced</a:t>
            </a:r>
            <a:r>
              <a:rPr lang="zh-CN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05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50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CDC2-C1D2-44CB-8970-27B4CFF2503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24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E034-B175-4621-88BD-520883BEC6C4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0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E5C2-9883-4348-B6FC-9BAC3BAA9F74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8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8C295-63E0-4645-B834-A291C3EBD696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2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7D18-2540-4E1D-BF87-4A500F66B06D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8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A358-7C66-4F09-A020-CB736988734E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EEB8-9BB3-4F1B-84F3-930EA2330A8D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0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9DBC-6B1F-4DBB-BF50-11FD061A050D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6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0095-74F4-4AFC-A69F-723CE536EDDD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6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8E2B-70D1-478B-8A5A-DBA6568DD9DD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30409-7CC4-47E6-AC88-ED92FFF00864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A052-74AE-4C1E-BF9E-B42C4E0A0313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DF350-8CEE-4FE8-94EE-F50E7CD46875}" type="datetime1">
              <a:rPr lang="en-HK" altLang="zh-CN" smtClean="0"/>
              <a:t>15/11/2023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Structures and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bn/sort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2514600"/>
          </a:xfrm>
          <a:noFill/>
        </p:spPr>
        <p:txBody>
          <a:bodyPr>
            <a:noAutofit/>
          </a:bodyPr>
          <a:lstStyle/>
          <a:p>
            <a:r>
              <a:rPr lang="en-US" altLang="zh-CN" sz="3600" b="0" dirty="0">
                <a:solidFill>
                  <a:srgbClr val="C00000"/>
                </a:solidFill>
              </a:rPr>
              <a:t>Data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Structures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and</a:t>
            </a:r>
            <a:r>
              <a:rPr lang="zh-CN" altLang="en-US" sz="3600" b="0" dirty="0">
                <a:solidFill>
                  <a:srgbClr val="C00000"/>
                </a:solidFill>
              </a:rPr>
              <a:t> </a:t>
            </a:r>
            <a:r>
              <a:rPr lang="en-US" altLang="zh-CN" sz="3600" b="0" dirty="0">
                <a:solidFill>
                  <a:srgbClr val="C00000"/>
                </a:solidFill>
              </a:rPr>
              <a:t>Algorithms</a:t>
            </a:r>
            <a:br>
              <a:rPr lang="en-US" altLang="zh-TW" sz="4400" b="1" dirty="0">
                <a:solidFill>
                  <a:srgbClr val="C00000"/>
                </a:solidFill>
              </a:rPr>
            </a:br>
            <a:br>
              <a:rPr lang="en-US" altLang="zh-TW" sz="4400" b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zh-TW" sz="4400" b="0" dirty="0"/>
              <a:t>Lecture</a:t>
            </a:r>
            <a:r>
              <a:rPr lang="en-US" altLang="zh-CN" sz="4400" b="0" dirty="0"/>
              <a:t> 7</a:t>
            </a:r>
            <a:r>
              <a:rPr lang="en-US" altLang="zh-TW" sz="4400" b="0" dirty="0"/>
              <a:t>: </a:t>
            </a:r>
            <a:r>
              <a:rPr lang="en-US" altLang="zh-CN" sz="4400" b="0" dirty="0"/>
              <a:t>Quick Sort (</a:t>
            </a:r>
            <a:r>
              <a:rPr lang="zh-CN" altLang="en-US" sz="4400" b="0" dirty="0"/>
              <a:t>快</a:t>
            </a:r>
            <a:r>
              <a:rPr lang="zh-CN" altLang="en-US" sz="4400" dirty="0"/>
              <a:t>速</a:t>
            </a:r>
            <a:r>
              <a:rPr lang="zh-CN" altLang="en-US" sz="4400" b="0" dirty="0"/>
              <a:t>排序</a:t>
            </a:r>
            <a:r>
              <a:rPr lang="en-US" altLang="zh-CN" sz="4400" b="0" dirty="0"/>
              <a:t>)</a:t>
            </a:r>
            <a:endParaRPr lang="en-US" altLang="zh-TW" sz="4400" b="0" dirty="0"/>
          </a:p>
        </p:txBody>
      </p:sp>
      <p:sp>
        <p:nvSpPr>
          <p:cNvPr id="307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724400"/>
            <a:ext cx="77724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Data</a:t>
            </a:r>
            <a:r>
              <a:rPr lang="zh-CN" altLang="en-US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Science</a:t>
            </a:r>
          </a:p>
          <a:p>
            <a:pPr eaLnBrk="1" hangingPunct="1"/>
            <a:r>
              <a:rPr lang="en-US" altLang="zh-CN" sz="24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United International College</a:t>
            </a:r>
          </a:p>
        </p:txBody>
      </p:sp>
    </p:spTree>
    <p:extLst>
      <p:ext uri="{BB962C8B-B14F-4D97-AF65-F5344CB8AC3E}">
        <p14:creationId xmlns:p14="http://schemas.microsoft.com/office/powerpoint/2010/main" val="117840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Introduction to Quick Sort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Quick Sort Components</a:t>
            </a:r>
          </a:p>
          <a:p>
            <a:pPr lvl="1"/>
            <a:r>
              <a:rPr lang="en-US" altLang="zh-CN" dirty="0"/>
              <a:t>Partitioning</a:t>
            </a:r>
          </a:p>
          <a:p>
            <a:pPr lvl="1"/>
            <a:r>
              <a:rPr lang="en-US" altLang="zh-CN" dirty="0"/>
              <a:t>Small Array Strategy</a:t>
            </a:r>
          </a:p>
          <a:p>
            <a:pPr lvl="1"/>
            <a:r>
              <a:rPr lang="en-US" altLang="zh-CN" dirty="0"/>
              <a:t>Picking the Pivot </a:t>
            </a:r>
          </a:p>
          <a:p>
            <a:pPr marL="342900" lvl="1" indent="0">
              <a:buNone/>
            </a:pPr>
            <a:endParaRPr lang="en-US" altLang="zh-CN" dirty="0"/>
          </a:p>
          <a:p>
            <a:r>
              <a:rPr lang="en-US" altLang="zh-CN" dirty="0"/>
              <a:t>Cost Analysis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2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45382"/>
                <a:ext cx="8286750" cy="5076094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3000" dirty="0">
                    <a:solidFill>
                      <a:srgbClr val="FF0000"/>
                    </a:solidFill>
                    <a:ea typeface="宋体" charset="-122"/>
                  </a:rPr>
                  <a:t> Proposed by </a:t>
                </a:r>
                <a:r>
                  <a:rPr lang="en-US" altLang="zh-CN" dirty="0"/>
                  <a:t>C. A. R. Hoare, 1961. Turing award in 1980</a:t>
                </a:r>
                <a:endParaRPr lang="en-US" altLang="zh-CN" sz="3000" dirty="0">
                  <a:solidFill>
                    <a:srgbClr val="FF0000"/>
                  </a:solidFill>
                  <a:ea typeface="宋体" charset="-122"/>
                </a:endParaRPr>
              </a:p>
              <a:p>
                <a:r>
                  <a:rPr lang="en-US" altLang="zh-CN" sz="3000" dirty="0">
                    <a:solidFill>
                      <a:srgbClr val="FF0000"/>
                    </a:solidFill>
                    <a:ea typeface="宋体" charset="-122"/>
                  </a:rPr>
                  <a:t>Fastest</a:t>
                </a:r>
                <a:r>
                  <a:rPr lang="en-US" altLang="zh-CN" sz="3000" dirty="0">
                    <a:ea typeface="宋体" charset="-122"/>
                  </a:rPr>
                  <a:t> sorting algorithm in practice</a:t>
                </a:r>
              </a:p>
              <a:p>
                <a:pPr lvl="1"/>
                <a:r>
                  <a:rPr lang="en-US" altLang="zh-CN" sz="2600" dirty="0">
                    <a:ea typeface="宋体" charset="-122"/>
                  </a:rPr>
                  <a:t>A lot of variations exist</a:t>
                </a:r>
              </a:p>
              <a:p>
                <a:pPr lvl="1"/>
                <a:r>
                  <a:rPr lang="en-US" altLang="zh-CN" sz="2600" dirty="0">
                    <a:ea typeface="宋体" charset="-122"/>
                  </a:rPr>
                  <a:t>Average case cost: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  <m:func>
                      <m:func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600" b="0" i="0" smtClean="0">
                            <a:latin typeface="Cambria Math" panose="02040503050406030204" pitchFamily="18" charset="0"/>
                            <a:ea typeface="宋体" charset="-122"/>
                          </a:rPr>
                          <m:t>log</m:t>
                        </m:r>
                      </m:fName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</m:func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600" dirty="0">
                  <a:ea typeface="宋体" charset="-122"/>
                </a:endParaRPr>
              </a:p>
              <a:p>
                <a:pPr lvl="1"/>
                <a:r>
                  <a:rPr lang="en-US" altLang="zh-CN" sz="2600" dirty="0">
                    <a:ea typeface="宋体" charset="-122"/>
                  </a:rPr>
                  <a:t>Worst case cost: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宋体" charset="-122"/>
                      </a:rPr>
                      <m:t>𝑂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sSup>
                      <m:sSup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𝑛</m:t>
                        </m:r>
                      </m:e>
                      <m:sup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p>
                    </m:sSup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2600" dirty="0">
                  <a:ea typeface="宋体" charset="-122"/>
                </a:endParaRPr>
              </a:p>
              <a:p>
                <a:pPr lvl="2"/>
                <a:r>
                  <a:rPr lang="en-US" altLang="zh-CN" sz="2000" dirty="0">
                    <a:ea typeface="宋体" charset="-122"/>
                  </a:rPr>
                  <a:t>But the worst case seldom happens.</a:t>
                </a:r>
              </a:p>
              <a:p>
                <a:r>
                  <a:rPr lang="en-US" altLang="zh-CN" sz="3000" dirty="0">
                    <a:ea typeface="宋体" charset="-122"/>
                  </a:rPr>
                  <a:t>Another </a:t>
                </a:r>
                <a:r>
                  <a:rPr lang="en-US" altLang="zh-CN" sz="3000" dirty="0">
                    <a:solidFill>
                      <a:srgbClr val="0070C0"/>
                    </a:solidFill>
                    <a:ea typeface="宋体" charset="-122"/>
                  </a:rPr>
                  <a:t>divide-and-conquer</a:t>
                </a:r>
                <a:r>
                  <a:rPr lang="en-US" altLang="zh-CN" sz="3000" dirty="0">
                    <a:ea typeface="宋体" charset="-122"/>
                  </a:rPr>
                  <a:t> algorithm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45382"/>
                <a:ext cx="8286750" cy="5076094"/>
              </a:xfrm>
              <a:blipFill>
                <a:blip r:embed="rId2"/>
                <a:stretch>
                  <a:fillRect l="-1471" t="-2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11433-DC51-4066-93E4-AC764122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027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The TOP10 Algorithms From The 20th Century</a:t>
            </a:r>
            <a:endParaRPr lang="zh-CN" altLang="en-US" sz="32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185702E-39FC-4430-91BD-D53AD99C6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529427"/>
            <a:ext cx="6477000" cy="48037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CFC7B-9CBB-4FC4-818D-6F8F27DC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3000" dirty="0">
                <a:solidFill>
                  <a:srgbClr val="0070C0"/>
                </a:solidFill>
                <a:ea typeface="宋体" charset="-122"/>
              </a:rPr>
              <a:t>Divide </a:t>
            </a:r>
          </a:p>
          <a:p>
            <a:pPr lvl="1"/>
            <a:r>
              <a:rPr lang="en-US" altLang="zh-CN" sz="2600" dirty="0">
                <a:solidFill>
                  <a:srgbClr val="FF0000"/>
                </a:solidFill>
                <a:ea typeface="宋体" charset="-122"/>
              </a:rPr>
              <a:t>Divide</a:t>
            </a:r>
            <a:r>
              <a:rPr lang="en-US" altLang="zh-CN" sz="2600" dirty="0">
                <a:ea typeface="宋体" charset="-122"/>
              </a:rPr>
              <a:t> the problem into a number of </a:t>
            </a:r>
            <a:r>
              <a:rPr lang="en-US" altLang="zh-CN" sz="2600" dirty="0" err="1">
                <a:ea typeface="宋体" charset="-122"/>
              </a:rPr>
              <a:t>subproblems</a:t>
            </a:r>
            <a:r>
              <a:rPr lang="en-US" altLang="zh-CN" sz="2600" dirty="0">
                <a:ea typeface="宋体" charset="-122"/>
              </a:rPr>
              <a:t> that are smaller instances of the same problem.</a:t>
            </a:r>
          </a:p>
          <a:p>
            <a:r>
              <a:rPr lang="en-US" altLang="zh-CN" sz="3000" dirty="0">
                <a:solidFill>
                  <a:srgbClr val="0070C0"/>
                </a:solidFill>
                <a:ea typeface="宋体" charset="-122"/>
              </a:rPr>
              <a:t>Conquer</a:t>
            </a:r>
            <a:r>
              <a:rPr lang="en-US" altLang="zh-CN" sz="3000" dirty="0">
                <a:ea typeface="宋体" charset="-122"/>
              </a:rPr>
              <a:t> </a:t>
            </a:r>
          </a:p>
          <a:p>
            <a:pPr lvl="1"/>
            <a:r>
              <a:rPr lang="en-US" altLang="zh-CN" sz="2600" dirty="0">
                <a:solidFill>
                  <a:srgbClr val="FF0000"/>
                </a:solidFill>
                <a:ea typeface="宋体" charset="-122"/>
              </a:rPr>
              <a:t>Conquer</a:t>
            </a:r>
            <a:r>
              <a:rPr lang="en-US" altLang="zh-CN" sz="2600" dirty="0">
                <a:ea typeface="宋体" charset="-122"/>
              </a:rPr>
              <a:t> the </a:t>
            </a:r>
            <a:r>
              <a:rPr lang="en-US" altLang="zh-CN" sz="2600" dirty="0" err="1">
                <a:ea typeface="宋体" charset="-122"/>
              </a:rPr>
              <a:t>subproblems</a:t>
            </a:r>
            <a:r>
              <a:rPr lang="en-US" altLang="zh-CN" sz="2600" dirty="0">
                <a:ea typeface="宋体" charset="-122"/>
              </a:rPr>
              <a:t> by solving them </a:t>
            </a:r>
            <a:r>
              <a:rPr lang="en-US" altLang="zh-CN" sz="2600" dirty="0">
                <a:solidFill>
                  <a:srgbClr val="FF0000"/>
                </a:solidFill>
                <a:ea typeface="宋体" charset="-122"/>
              </a:rPr>
              <a:t>recursively.</a:t>
            </a:r>
            <a:r>
              <a:rPr lang="en-US" altLang="zh-CN" sz="2600" dirty="0">
                <a:ea typeface="宋体" charset="-122"/>
              </a:rPr>
              <a:t> If the </a:t>
            </a:r>
            <a:r>
              <a:rPr lang="en-US" altLang="zh-CN" sz="2600" dirty="0" err="1">
                <a:ea typeface="宋体" charset="-122"/>
              </a:rPr>
              <a:t>subproblem</a:t>
            </a:r>
            <a:r>
              <a:rPr lang="en-US" altLang="zh-CN" sz="2600" dirty="0">
                <a:ea typeface="宋体" charset="-122"/>
              </a:rPr>
              <a:t> sizes are small enough, however, just solve the </a:t>
            </a:r>
            <a:r>
              <a:rPr lang="en-US" altLang="zh-CN" sz="2600" dirty="0" err="1">
                <a:ea typeface="宋体" charset="-122"/>
              </a:rPr>
              <a:t>subproblems</a:t>
            </a:r>
            <a:r>
              <a:rPr lang="en-US" altLang="zh-CN" sz="2600" dirty="0">
                <a:ea typeface="宋体" charset="-122"/>
              </a:rPr>
              <a:t> in a straightforward manner.</a:t>
            </a:r>
          </a:p>
          <a:p>
            <a:r>
              <a:rPr lang="en-US" sz="3000" dirty="0">
                <a:solidFill>
                  <a:srgbClr val="0070C0"/>
                </a:solidFill>
              </a:rPr>
              <a:t>Combine</a:t>
            </a:r>
            <a:r>
              <a:rPr lang="en-US" dirty="0"/>
              <a:t> 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Combine</a:t>
            </a:r>
            <a:r>
              <a:rPr lang="en-US" sz="2800" dirty="0"/>
              <a:t> the solutions to the </a:t>
            </a:r>
            <a:r>
              <a:rPr lang="en-US" sz="2800" dirty="0" err="1"/>
              <a:t>subproblems</a:t>
            </a:r>
            <a:r>
              <a:rPr lang="en-US" sz="2800" dirty="0"/>
              <a:t> into the solution for the original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7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Divide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43591" y="1565876"/>
                <a:ext cx="8286750" cy="3612418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/>
                  <a:t>Pick an element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𝑣</m:t>
                    </m:r>
                  </m:oMath>
                </a14:m>
                <a:r>
                  <a:rPr lang="en-US" altLang="zh-CN" dirty="0"/>
                  <a:t> in array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𝑆</m:t>
                    </m:r>
                  </m:oMath>
                </a14:m>
                <a:endParaRPr lang="en-US" altLang="zh-CN" i="1" dirty="0">
                  <a:solidFill>
                    <a:schemeClr val="accent6"/>
                  </a:solidFill>
                  <a:latin typeface="Courier New" pitchFamily="49" charset="0"/>
                  <a:ea typeface="宋体" pitchFamily="2" charset="-122"/>
                  <a:cs typeface="Courier New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𝑣</m:t>
                    </m:r>
                  </m:oMath>
                </a14:m>
                <a:r>
                  <a:rPr lang="en-US" altLang="zh-CN" dirty="0"/>
                  <a:t> is called the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pivot (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主元，基准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)</a:t>
                </a:r>
              </a:p>
              <a:p>
                <a:pPr lvl="1"/>
                <a:r>
                  <a:rPr lang="en-US" altLang="zh-CN" dirty="0"/>
                  <a:t>Many ways to pick a pivot</a:t>
                </a:r>
              </a:p>
              <a:p>
                <a:r>
                  <a:rPr lang="en-US" altLang="zh-CN" dirty="0"/>
                  <a:t>Partition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𝑆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–{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𝑣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} 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into </a:t>
                </a:r>
                <a:r>
                  <a:rPr lang="en-US" altLang="zh-CN">
                    <a:ea typeface="宋体" pitchFamily="2" charset="-122"/>
                  </a:rPr>
                  <a:t>two </a:t>
                </a:r>
                <a:r>
                  <a:rPr lang="en-US" altLang="zh-CN">
                    <a:solidFill>
                      <a:srgbClr val="FF0000"/>
                    </a:solidFill>
                    <a:ea typeface="宋体" pitchFamily="2" charset="-122"/>
                  </a:rPr>
                  <a:t>smaller</a:t>
                </a:r>
                <a:r>
                  <a:rPr lang="en-US" altLang="zh-CN">
                    <a:ea typeface="宋体" pitchFamily="2" charset="-122"/>
                  </a:rPr>
                  <a:t> </a:t>
                </a:r>
                <a:r>
                  <a:rPr lang="en-US" altLang="zh-CN" dirty="0">
                    <a:ea typeface="宋体" pitchFamily="2" charset="-122"/>
                  </a:rPr>
                  <a:t>groups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= </m:t>
                    </m:r>
                    <m:d>
                      <m:dPr>
                        <m:begChr m:val="{"/>
                        <m:endChr m:val="|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 ∈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𝑆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 –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宋体" pitchFamily="2" charset="-122"/>
                                <a:cs typeface="Courier New" pitchFamily="49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宋体" pitchFamily="2" charset="-122"/>
                                <a:cs typeface="Courier New" pitchFamily="49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 </m:t>
                    </m:r>
                    <m:r>
                      <a:rPr lang="en-US" altLang="zh-CN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≤</m:t>
                    </m:r>
                    <m:r>
                      <a:rPr lang="en-US" altLang="zh-CN" b="1" i="1" dirty="0">
                        <a:solidFill>
                          <a:srgbClr val="00FF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𝑣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}</m:t>
                    </m:r>
                  </m:oMath>
                </a14:m>
                <a:endParaRPr lang="en-US" altLang="zh-CN" dirty="0">
                  <a:latin typeface="Courier New" pitchFamily="49" charset="0"/>
                  <a:ea typeface="宋体" pitchFamily="2" charset="-122"/>
                  <a:cs typeface="Courier New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  <a:cs typeface="Courier New" pitchFamily="49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= 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𝑥</m:t>
                    </m:r>
                    <m:r>
                      <a:rPr lang="en-US" altLang="zh-CN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altLang="zh-CN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 – 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𝑣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} |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 </m:t>
                    </m:r>
                    <m:r>
                      <a:rPr lang="en-US" altLang="zh-CN" b="1" i="1" dirty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  <a:sym typeface="Symbol" pitchFamily="18" charset="2"/>
                      </a:rPr>
                      <m:t>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𝑣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cs typeface="Courier New" pitchFamily="49" charset="0"/>
                      </a:rPr>
                      <m:t>}</m:t>
                    </m:r>
                  </m:oMath>
                </a14:m>
                <a:endParaRPr lang="en-US" altLang="zh-CN" dirty="0">
                  <a:ea typeface="宋体" pitchFamily="2" charset="-122"/>
                </a:endParaRPr>
              </a:p>
              <a:p>
                <a:pPr marL="342900" lvl="1" indent="0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3591" y="1565876"/>
                <a:ext cx="8286750" cy="3612418"/>
              </a:xfrm>
              <a:blipFill>
                <a:blip r:embed="rId2"/>
                <a:stretch>
                  <a:fillRect l="-1325" t="-3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AutoShape 31"/>
              <p:cNvSpPr>
                <a:spLocks/>
              </p:cNvSpPr>
              <p:nvPr/>
            </p:nvSpPr>
            <p:spPr bwMode="auto">
              <a:xfrm rot="16200000">
                <a:off x="2054224" y="4949826"/>
                <a:ext cx="311151" cy="2590800"/>
              </a:xfrm>
              <a:prstGeom prst="leftBrace">
                <a:avLst>
                  <a:gd name="adj1" fmla="val 68750"/>
                  <a:gd name="adj2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tIns="0" rIns="54864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AutoShap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2054224" y="4949826"/>
                <a:ext cx="311151" cy="2590800"/>
              </a:xfrm>
              <a:prstGeom prst="leftBrace">
                <a:avLst>
                  <a:gd name="adj1" fmla="val 68750"/>
                  <a:gd name="adj2" fmla="val 50000"/>
                </a:avLst>
              </a:prstGeom>
              <a:blipFill>
                <a:blip r:embed="rId3"/>
                <a:stretch>
                  <a:fillRect b="-94340"/>
                </a:stretch>
              </a:blip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AutoShape 22"/>
              <p:cNvSpPr>
                <a:spLocks/>
              </p:cNvSpPr>
              <p:nvPr/>
            </p:nvSpPr>
            <p:spPr bwMode="auto">
              <a:xfrm rot="16200000">
                <a:off x="5029200" y="5638801"/>
                <a:ext cx="304800" cy="1219200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tIns="0" rIns="54864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4" name="AutoShap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5029200" y="5638801"/>
                <a:ext cx="304800" cy="1219200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blipFill>
                <a:blip r:embed="rId4"/>
                <a:stretch>
                  <a:fillRect b="-121154"/>
                </a:stretch>
              </a:blip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AutoShape 23"/>
              <p:cNvSpPr>
                <a:spLocks/>
              </p:cNvSpPr>
              <p:nvPr/>
            </p:nvSpPr>
            <p:spPr bwMode="auto">
              <a:xfrm rot="16200000">
                <a:off x="7010400" y="5638801"/>
                <a:ext cx="304800" cy="1219200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tIns="0" rIns="54864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5" name="AutoShap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7010400" y="5638801"/>
                <a:ext cx="304800" cy="1219200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blipFill>
                <a:blip r:embed="rId5"/>
                <a:stretch>
                  <a:fillRect b="-121154"/>
                </a:stretch>
              </a:blip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6"/>
          <p:cNvGrpSpPr/>
          <p:nvPr/>
        </p:nvGrpSpPr>
        <p:grpSpPr>
          <a:xfrm>
            <a:off x="914400" y="5035550"/>
            <a:ext cx="2667000" cy="1060450"/>
            <a:chOff x="812800" y="4800600"/>
            <a:chExt cx="2667000" cy="1060450"/>
          </a:xfrm>
        </p:grpSpPr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812800" y="4800600"/>
              <a:ext cx="228600" cy="10604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1219200" y="5403850"/>
              <a:ext cx="228600" cy="4572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2032000" y="5575300"/>
              <a:ext cx="228600" cy="2857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0" name="Rectangle 10"/>
            <p:cNvSpPr>
              <a:spLocks noChangeArrowheads="1"/>
            </p:cNvSpPr>
            <p:nvPr/>
          </p:nvSpPr>
          <p:spPr bwMode="auto">
            <a:xfrm>
              <a:off x="2438400" y="5232400"/>
              <a:ext cx="228600" cy="628650"/>
            </a:xfrm>
            <a:prstGeom prst="rect">
              <a:avLst/>
            </a:prstGeom>
            <a:solidFill>
              <a:schemeClr val="accent6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itchFamily="18" charset="0"/>
                </a:rPr>
                <a:t>v</a:t>
              </a:r>
            </a:p>
          </p:txBody>
        </p:sp>
        <p:sp>
          <p:nvSpPr>
            <p:cNvPr id="31" name="Rectangle 11"/>
            <p:cNvSpPr>
              <a:spLocks noChangeArrowheads="1"/>
            </p:cNvSpPr>
            <p:nvPr/>
          </p:nvSpPr>
          <p:spPr bwMode="auto">
            <a:xfrm>
              <a:off x="2844800" y="4889500"/>
              <a:ext cx="228600" cy="9715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3251200" y="5518150"/>
              <a:ext cx="228600" cy="3429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1625600" y="5060950"/>
              <a:ext cx="228600" cy="8001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</p:grpSp>
      <p:grpSp>
        <p:nvGrpSpPr>
          <p:cNvPr id="35" name="组合 25"/>
          <p:cNvGrpSpPr/>
          <p:nvPr/>
        </p:nvGrpSpPr>
        <p:grpSpPr>
          <a:xfrm>
            <a:off x="4654550" y="5029200"/>
            <a:ext cx="3041650" cy="1066800"/>
            <a:chOff x="4959350" y="4914900"/>
            <a:chExt cx="3041650" cy="1066800"/>
          </a:xfrm>
        </p:grpSpPr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6934200" y="4914900"/>
              <a:ext cx="228600" cy="10604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7772400" y="5003800"/>
              <a:ext cx="228600" cy="97155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7353300" y="5175250"/>
              <a:ext cx="228600" cy="800100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/>
            </a:p>
          </p:txBody>
        </p:sp>
        <p:grpSp>
          <p:nvGrpSpPr>
            <p:cNvPr id="39" name="Group 38"/>
            <p:cNvGrpSpPr>
              <a:grpSpLocks/>
            </p:cNvGrpSpPr>
            <p:nvPr/>
          </p:nvGrpSpPr>
          <p:grpSpPr bwMode="auto">
            <a:xfrm>
              <a:off x="4959350" y="5524500"/>
              <a:ext cx="1054100" cy="457200"/>
              <a:chOff x="3320" y="2304"/>
              <a:chExt cx="664" cy="384"/>
            </a:xfrm>
          </p:grpSpPr>
          <p:sp>
            <p:nvSpPr>
              <p:cNvPr id="41" name="Rectangle 40"/>
              <p:cNvSpPr>
                <a:spLocks noChangeArrowheads="1"/>
              </p:cNvSpPr>
              <p:nvPr/>
            </p:nvSpPr>
            <p:spPr bwMode="auto">
              <a:xfrm>
                <a:off x="3320" y="2304"/>
                <a:ext cx="144" cy="384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/>
              </a:p>
            </p:txBody>
          </p:sp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3580" y="2448"/>
                <a:ext cx="14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/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3840" y="2400"/>
                <a:ext cx="144" cy="288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zh-CN"/>
              </a:p>
            </p:txBody>
          </p:sp>
        </p:grp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6362700" y="5353050"/>
              <a:ext cx="228600" cy="628650"/>
            </a:xfrm>
            <a:prstGeom prst="rect">
              <a:avLst/>
            </a:prstGeom>
            <a:solidFill>
              <a:schemeClr val="accent6"/>
            </a:solidFill>
            <a:ln w="190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itchFamily="18" charset="0"/>
                </a:rPr>
                <a:t>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515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Conquer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439150" cy="1984375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  <a:ea typeface="宋体" pitchFamily="2" charset="-122"/>
                  </a:rPr>
                  <a:t>Recursively divide </a:t>
                </a:r>
                <a:r>
                  <a:rPr lang="en-US" altLang="zh-CN" dirty="0">
                    <a:ea typeface="宋体" pitchFamily="2" charset="-122"/>
                  </a:rPr>
                  <a:t>the array into disjoint groups.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If there is no more than 1 element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ourier New" pitchFamily="49" charset="0"/>
                      </a:rPr>
                      <m:t>𝑆</m:t>
                    </m:r>
                  </m:oMath>
                </a14:m>
                <a:r>
                  <a:rPr lang="en-US" altLang="zh-CN" dirty="0"/>
                  <a:t>, return directly.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439150" cy="1984375"/>
              </a:xfrm>
              <a:blipFill>
                <a:blip r:embed="rId2"/>
                <a:stretch>
                  <a:fillRect l="-1300" t="-49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4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439150" cy="1984375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/>
                  <a:t>No action is needed</a:t>
                </a:r>
              </a:p>
              <a:p>
                <a:r>
                  <a:rPr lang="en-US" altLang="zh-CN" dirty="0"/>
                  <a:t>The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sorted S1 </a:t>
                </a:r>
                <a:r>
                  <a:rPr lang="en-US" altLang="zh-CN" dirty="0"/>
                  <a:t>(when the recursion is done) followed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, followed by the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sorted S2 </a:t>
                </a:r>
                <a:r>
                  <a:rPr lang="en-US" altLang="zh-CN" dirty="0"/>
                  <a:t>(when the recursion is done), make a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sorted new list</a:t>
                </a:r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439150" cy="1984375"/>
              </a:xfrm>
              <a:blipFill>
                <a:blip r:embed="rId2"/>
                <a:stretch>
                  <a:fillRect l="-1300" t="-4908" r="-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0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391208"/>
              </p:ext>
            </p:extLst>
          </p:nvPr>
        </p:nvGraphicFramePr>
        <p:xfrm>
          <a:off x="914401" y="1447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53999"/>
              </p:ext>
            </p:extLst>
          </p:nvPr>
        </p:nvGraphicFramePr>
        <p:xfrm>
          <a:off x="914400" y="20574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Partition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146257"/>
              </p:ext>
            </p:extLst>
          </p:nvPr>
        </p:nvGraphicFramePr>
        <p:xfrm>
          <a:off x="914401" y="28194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019090"/>
              </p:ext>
            </p:extLst>
          </p:nvPr>
        </p:nvGraphicFramePr>
        <p:xfrm>
          <a:off x="914400" y="34290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Partition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33134"/>
              </p:ext>
            </p:extLst>
          </p:nvPr>
        </p:nvGraphicFramePr>
        <p:xfrm>
          <a:off x="914400" y="41910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169701"/>
              </p:ext>
            </p:extLst>
          </p:nvPr>
        </p:nvGraphicFramePr>
        <p:xfrm>
          <a:off x="914400" y="48006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Partition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257800" y="5718601"/>
            <a:ext cx="2698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right half can be solved similarly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654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Animation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24000"/>
            <a:ext cx="8286750" cy="3810000"/>
          </a:xfrm>
        </p:spPr>
        <p:txBody>
          <a:bodyPr>
            <a:noAutofit/>
          </a:bodyPr>
          <a:lstStyle/>
          <a:p>
            <a:r>
              <a:rPr lang="en-US" altLang="zh-CN" dirty="0">
                <a:hlinkClick r:id="rId3"/>
              </a:rPr>
              <a:t>Animation</a:t>
            </a:r>
            <a:endParaRPr lang="en-US" altLang="zh-CN" dirty="0"/>
          </a:p>
          <a:p>
            <a:r>
              <a:rPr lang="en-US" altLang="zh-CN" dirty="0"/>
              <a:t>Note that</a:t>
            </a:r>
          </a:p>
          <a:p>
            <a:pPr lvl="1"/>
            <a:r>
              <a:rPr lang="en-US" altLang="zh-CN" dirty="0">
                <a:ea typeface="宋体" charset="-122"/>
              </a:rPr>
              <a:t>There are various methods to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choose a pivot</a:t>
            </a:r>
          </a:p>
          <a:p>
            <a:pPr lvl="1"/>
            <a:r>
              <a:rPr lang="en-US" altLang="zh-CN" dirty="0">
                <a:ea typeface="宋体" charset="-122"/>
              </a:rPr>
              <a:t>There are various methods to </a:t>
            </a:r>
            <a:r>
              <a:rPr lang="en-US" altLang="zh-CN" dirty="0">
                <a:solidFill>
                  <a:srgbClr val="0070C0"/>
                </a:solidFill>
                <a:ea typeface="宋体" charset="-122"/>
              </a:rPr>
              <a:t>partition the array</a:t>
            </a:r>
            <a:endParaRPr lang="zh-CN" altLang="en-US" dirty="0">
              <a:solidFill>
                <a:srgbClr val="0070C0"/>
              </a:solidFill>
            </a:endParaRPr>
          </a:p>
          <a:p>
            <a:pPr lvl="1"/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0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Pseudo Code</a:t>
            </a:r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733425" y="2362200"/>
            <a:ext cx="767715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  <a:t>QUICKSORT(A, left, right)</a:t>
            </a:r>
            <a:b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  <a:t>1.     IF left &gt;= right</a:t>
            </a:r>
            <a:b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  <a:t>2.          return</a:t>
            </a:r>
            <a:b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  <a:t>3.     q = PARTITION(A, left, right)</a:t>
            </a:r>
            <a:b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  <a:t>4.    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urier"/>
                <a:cs typeface="Courier New" panose="02070309020205020404" pitchFamily="49" charset="0"/>
              </a:rPr>
              <a:t>//</a:t>
            </a:r>
            <a:r>
              <a:rPr lang="en-US" altLang="zh-CN" sz="2400" b="1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q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urier"/>
                <a:cs typeface="Courier New" panose="02070309020205020404" pitchFamily="49" charset="0"/>
              </a:rPr>
              <a:t> is the </a:t>
            </a:r>
            <a:r>
              <a:rPr lang="en-US" altLang="zh-CN" sz="2400" b="1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position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urier"/>
                <a:cs typeface="Courier New" panose="02070309020205020404" pitchFamily="49" charset="0"/>
              </a:rPr>
              <a:t> of the pivot</a:t>
            </a:r>
          </a:p>
          <a:p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urier"/>
                <a:cs typeface="Courier New" panose="02070309020205020404" pitchFamily="49" charset="0"/>
              </a:rPr>
              <a:t>// Partition A into two smaller subarrays</a:t>
            </a:r>
            <a:b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  <a:t>5.     QUICKSORT(A, left, q-1)           </a:t>
            </a:r>
            <a:b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"/>
                <a:cs typeface="Courier New" panose="02070309020205020404" pitchFamily="49" charset="0"/>
              </a:rPr>
              <a:t>6.     QUICKSORT(A, q+1, right)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8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Partitioning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524000"/>
            <a:ext cx="7922956" cy="4724400"/>
          </a:xfrm>
        </p:spPr>
        <p:txBody>
          <a:bodyPr>
            <a:noAutofit/>
          </a:bodyPr>
          <a:lstStyle/>
          <a:p>
            <a:r>
              <a:rPr lang="en-US" altLang="zh-CN" sz="3000" dirty="0">
                <a:solidFill>
                  <a:srgbClr val="0070C0"/>
                </a:solidFill>
              </a:rPr>
              <a:t>Partitioning</a:t>
            </a:r>
            <a:r>
              <a:rPr lang="en-US" altLang="zh-CN" sz="3000" dirty="0"/>
              <a:t> </a:t>
            </a:r>
          </a:p>
          <a:p>
            <a:pPr lvl="1"/>
            <a:r>
              <a:rPr lang="en-US" altLang="zh-CN" sz="2800" dirty="0"/>
              <a:t>This is a </a:t>
            </a:r>
            <a:r>
              <a:rPr lang="en-US" altLang="zh-CN" sz="2800" dirty="0">
                <a:solidFill>
                  <a:srgbClr val="C00000"/>
                </a:solidFill>
              </a:rPr>
              <a:t>key</a:t>
            </a:r>
            <a:r>
              <a:rPr lang="en-US" altLang="zh-CN" sz="2800" dirty="0"/>
              <a:t> step of the quicksort algorithm</a:t>
            </a: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Goal: given the picked pivot, partition the remaining elements into </a:t>
            </a:r>
            <a:r>
              <a:rPr lang="en-US" altLang="zh-CN" sz="2800" dirty="0">
                <a:solidFill>
                  <a:srgbClr val="FF0000"/>
                </a:solidFill>
              </a:rPr>
              <a:t>two smaller sets</a:t>
            </a:r>
          </a:p>
          <a:p>
            <a:pPr lvl="1"/>
            <a:r>
              <a:rPr lang="en-US" altLang="zh-CN" sz="2800" dirty="0"/>
              <a:t>Many ways to implement how to partition</a:t>
            </a:r>
          </a:p>
          <a:p>
            <a:pPr lvl="2"/>
            <a:r>
              <a:rPr lang="en-US" altLang="zh-CN" sz="2400" dirty="0"/>
              <a:t>Even the slightest deviations may cause surprisingly bad results</a:t>
            </a:r>
          </a:p>
          <a:p>
            <a:r>
              <a:rPr lang="en-US" altLang="zh-CN" sz="3000" dirty="0"/>
              <a:t>We will learn an easy and efficient partitioning strategy here</a:t>
            </a:r>
          </a:p>
          <a:p>
            <a:r>
              <a:rPr lang="en-US" altLang="zh-CN" sz="3000" dirty="0"/>
              <a:t>How to </a:t>
            </a:r>
            <a:r>
              <a:rPr lang="en-US" altLang="zh-CN" sz="3000" dirty="0">
                <a:solidFill>
                  <a:srgbClr val="0070C0"/>
                </a:solidFill>
              </a:rPr>
              <a:t>pick a pivot </a:t>
            </a:r>
            <a:r>
              <a:rPr lang="en-US" altLang="zh-CN" sz="3000" dirty="0"/>
              <a:t>will be discussed later</a:t>
            </a:r>
          </a:p>
          <a:p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58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3429000"/>
          </a:xfrm>
        </p:spPr>
        <p:txBody>
          <a:bodyPr>
            <a:normAutofit/>
          </a:bodyPr>
          <a:lstStyle/>
          <a:p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ea typeface="宋体" pitchFamily="2" charset="-122"/>
              </a:rPr>
              <a:t>Partition an array A[left .. right]</a:t>
            </a:r>
          </a:p>
          <a:p>
            <a:pPr marL="8572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Get the pivot element out of the way by swapping it with the 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last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element</a:t>
            </a:r>
            <a:r>
              <a:rPr lang="en-US" altLang="zh-CN" dirty="0">
                <a:ea typeface="宋体" pitchFamily="2" charset="-122"/>
              </a:rPr>
              <a:t>. (Swap pivot and A[right])</a:t>
            </a:r>
          </a:p>
          <a:p>
            <a:pPr marL="8572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Let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i start at the first element </a:t>
            </a:r>
            <a:r>
              <a:rPr lang="en-US" altLang="zh-CN" dirty="0">
                <a:ea typeface="宋体" pitchFamily="2" charset="-122"/>
              </a:rPr>
              <a:t>and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j start at the next-to-last element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, i.e.,</a:t>
            </a:r>
            <a:r>
              <a:rPr lang="en-US" altLang="zh-CN" dirty="0">
                <a:solidFill>
                  <a:schemeClr val="accent6"/>
                </a:solidFill>
                <a:ea typeface="宋体" pitchFamily="2" charset="-122"/>
              </a:rPr>
              <a:t> </a:t>
            </a:r>
            <a:r>
              <a:rPr lang="en-US" altLang="zh-CN" dirty="0">
                <a:latin typeface="+mn-lt"/>
                <a:ea typeface="宋体" pitchFamily="2" charset="-122"/>
              </a:rPr>
              <a:t>i = left, j = right – 1</a:t>
            </a:r>
            <a:endParaRPr lang="zh-CN" alt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41879"/>
              </p:ext>
            </p:extLst>
          </p:nvPr>
        </p:nvGraphicFramePr>
        <p:xfrm>
          <a:off x="1066800" y="4565494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a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96836"/>
              </p:ext>
            </p:extLst>
          </p:nvPr>
        </p:nvGraphicFramePr>
        <p:xfrm>
          <a:off x="1066800" y="5251294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直接箭头连接符 7"/>
          <p:cNvCxnSpPr/>
          <p:nvPr/>
        </p:nvCxnSpPr>
        <p:spPr>
          <a:xfrm flipV="1">
            <a:off x="2875608" y="5860894"/>
            <a:ext cx="0" cy="3976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743200" y="6252074"/>
            <a:ext cx="264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i</a:t>
            </a:r>
            <a:endParaRPr lang="zh-CN" altLang="en-US" sz="2800" dirty="0"/>
          </a:p>
        </p:txBody>
      </p:sp>
      <p:cxnSp>
        <p:nvCxnSpPr>
          <p:cNvPr id="10" name="直接箭头连接符 10"/>
          <p:cNvCxnSpPr/>
          <p:nvPr/>
        </p:nvCxnSpPr>
        <p:spPr>
          <a:xfrm flipV="1">
            <a:off x="6990408" y="5867400"/>
            <a:ext cx="0" cy="3976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1"/>
          <p:cNvSpPr/>
          <p:nvPr/>
        </p:nvSpPr>
        <p:spPr>
          <a:xfrm>
            <a:off x="6858000" y="6258580"/>
            <a:ext cx="2712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j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0961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66481"/>
            <a:ext cx="7886700" cy="434340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Goal: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A[left...i] are smaller or equal to the pivot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A[j…right] are greater or equal to the pivot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Strategy:</a:t>
            </a:r>
          </a:p>
          <a:p>
            <a:pPr lvl="1"/>
            <a:r>
              <a:rPr lang="en-US" altLang="zh-CN" dirty="0"/>
              <a:t>When i &lt; j</a:t>
            </a:r>
          </a:p>
          <a:p>
            <a:pPr lvl="2"/>
            <a:r>
              <a:rPr lang="en-US" altLang="zh-CN" sz="2000" dirty="0">
                <a:solidFill>
                  <a:srgbClr val="FF0000"/>
                </a:solidFill>
              </a:rPr>
              <a:t>Move i right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skipping</a:t>
            </a:r>
            <a:r>
              <a:rPr lang="en-US" altLang="zh-CN" sz="2000" dirty="0"/>
              <a:t> over elements </a:t>
            </a:r>
            <a:r>
              <a:rPr lang="en-US" altLang="zh-CN" sz="2000" dirty="0">
                <a:solidFill>
                  <a:srgbClr val="FF0000"/>
                </a:solidFill>
              </a:rPr>
              <a:t>smaller than </a:t>
            </a:r>
            <a:r>
              <a:rPr lang="en-US" altLang="zh-CN" sz="2000" dirty="0"/>
              <a:t>the pivot</a:t>
            </a:r>
          </a:p>
          <a:p>
            <a:pPr lvl="2"/>
            <a:r>
              <a:rPr lang="en-US" altLang="zh-CN" sz="2000" b="1" dirty="0">
                <a:solidFill>
                  <a:srgbClr val="063DE8"/>
                </a:solidFill>
              </a:rPr>
              <a:t>Move j left</a:t>
            </a:r>
            <a:r>
              <a:rPr lang="en-US" altLang="zh-CN" sz="2000" dirty="0"/>
              <a:t>, </a:t>
            </a:r>
            <a:r>
              <a:rPr lang="en-US" altLang="zh-CN" sz="2000" b="1" dirty="0">
                <a:solidFill>
                  <a:srgbClr val="063DE8"/>
                </a:solidFill>
              </a:rPr>
              <a:t>skipping</a:t>
            </a:r>
            <a:r>
              <a:rPr lang="en-US" altLang="zh-CN" sz="2000" dirty="0"/>
              <a:t> over elements </a:t>
            </a:r>
            <a:r>
              <a:rPr lang="en-US" altLang="zh-CN" sz="2000" b="1" dirty="0">
                <a:solidFill>
                  <a:srgbClr val="063DE8"/>
                </a:solidFill>
              </a:rPr>
              <a:t>greater than </a:t>
            </a:r>
            <a:r>
              <a:rPr lang="en-US" altLang="zh-CN" sz="2000" dirty="0"/>
              <a:t>the pivot</a:t>
            </a:r>
          </a:p>
          <a:p>
            <a:pPr lvl="2"/>
            <a:r>
              <a:rPr lang="en-US" altLang="zh-CN" sz="2000" dirty="0"/>
              <a:t>When both i and j have stopped</a:t>
            </a:r>
          </a:p>
          <a:p>
            <a:pPr lvl="3"/>
            <a:r>
              <a:rPr lang="en-US" altLang="zh-CN" sz="2000" dirty="0"/>
              <a:t>A[i] &gt;= pivot</a:t>
            </a:r>
          </a:p>
          <a:p>
            <a:pPr lvl="3"/>
            <a:r>
              <a:rPr lang="en-US" altLang="zh-CN" sz="2000" dirty="0"/>
              <a:t>A[j] &lt;= pivot   {  A[i] and A[j] should now be </a:t>
            </a:r>
            <a:r>
              <a:rPr lang="en-US" altLang="zh-CN" sz="2000" b="1" dirty="0">
                <a:solidFill>
                  <a:srgbClr val="0070C0"/>
                </a:solidFill>
              </a:rPr>
              <a:t>swapped  </a:t>
            </a:r>
            <a:r>
              <a:rPr lang="en-US" altLang="zh-CN" sz="2000" dirty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2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867280"/>
              </p:ext>
            </p:extLst>
          </p:nvPr>
        </p:nvGraphicFramePr>
        <p:xfrm>
          <a:off x="838200" y="5327494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直接箭头连接符 7"/>
          <p:cNvCxnSpPr/>
          <p:nvPr/>
        </p:nvCxnSpPr>
        <p:spPr>
          <a:xfrm flipV="1">
            <a:off x="2647008" y="5937094"/>
            <a:ext cx="0" cy="3976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8"/>
          <p:cNvSpPr/>
          <p:nvPr/>
        </p:nvSpPr>
        <p:spPr>
          <a:xfrm>
            <a:off x="2514600" y="6328274"/>
            <a:ext cx="264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i</a:t>
            </a:r>
            <a:endParaRPr lang="zh-CN" altLang="en-US" sz="2800" dirty="0"/>
          </a:p>
        </p:txBody>
      </p:sp>
      <p:cxnSp>
        <p:nvCxnSpPr>
          <p:cNvPr id="16" name="直接箭头连接符 10"/>
          <p:cNvCxnSpPr/>
          <p:nvPr/>
        </p:nvCxnSpPr>
        <p:spPr>
          <a:xfrm flipV="1">
            <a:off x="6761808" y="5943600"/>
            <a:ext cx="0" cy="3976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1"/>
          <p:cNvSpPr/>
          <p:nvPr/>
        </p:nvSpPr>
        <p:spPr>
          <a:xfrm>
            <a:off x="6629400" y="6334780"/>
            <a:ext cx="2712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j</a:t>
            </a:r>
            <a:endParaRPr lang="zh-CN" altLang="en-US" sz="2800" dirty="0"/>
          </a:p>
        </p:txBody>
      </p:sp>
      <p:cxnSp>
        <p:nvCxnSpPr>
          <p:cNvPr id="18" name="直接箭头连接符 12"/>
          <p:cNvCxnSpPr/>
          <p:nvPr/>
        </p:nvCxnSpPr>
        <p:spPr>
          <a:xfrm flipV="1">
            <a:off x="3180408" y="5943600"/>
            <a:ext cx="0" cy="3976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3"/>
          <p:cNvSpPr/>
          <p:nvPr/>
        </p:nvSpPr>
        <p:spPr>
          <a:xfrm>
            <a:off x="3048000" y="6334780"/>
            <a:ext cx="2648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i</a:t>
            </a:r>
            <a:endParaRPr lang="zh-CN" altLang="en-US" sz="2800" dirty="0"/>
          </a:p>
        </p:txBody>
      </p:sp>
      <p:cxnSp>
        <p:nvCxnSpPr>
          <p:cNvPr id="21" name="直接箭头连接符 15"/>
          <p:cNvCxnSpPr/>
          <p:nvPr/>
        </p:nvCxnSpPr>
        <p:spPr>
          <a:xfrm flipV="1">
            <a:off x="6210087" y="5937094"/>
            <a:ext cx="0" cy="3976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16"/>
          <p:cNvSpPr/>
          <p:nvPr/>
        </p:nvSpPr>
        <p:spPr>
          <a:xfrm>
            <a:off x="6077679" y="6328274"/>
            <a:ext cx="2712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j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6456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7" grpId="1"/>
      <p:bldP spid="19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66481"/>
            <a:ext cx="7886700" cy="434340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When i and j have stopped and </a:t>
            </a:r>
            <a:r>
              <a:rPr lang="en-US" altLang="zh-CN" dirty="0">
                <a:solidFill>
                  <a:srgbClr val="FF0000"/>
                </a:solidFill>
              </a:rPr>
              <a:t>i is to the left of j </a:t>
            </a:r>
            <a:r>
              <a:rPr lang="en-US" altLang="zh-CN" dirty="0"/>
              <a:t>(thus legal)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Swap A[i] and A[j]</a:t>
            </a:r>
          </a:p>
          <a:p>
            <a:pPr lvl="2">
              <a:lnSpc>
                <a:spcPct val="120000"/>
              </a:lnSpc>
            </a:pPr>
            <a:r>
              <a:rPr lang="en-US" altLang="zh-CN" sz="2000" dirty="0"/>
              <a:t>And then both elements are on the “correct” side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After swapping</a:t>
            </a:r>
          </a:p>
          <a:p>
            <a:pPr lvl="2">
              <a:lnSpc>
                <a:spcPct val="120000"/>
              </a:lnSpc>
            </a:pPr>
            <a:r>
              <a:rPr lang="en-US" altLang="zh-CN" sz="2000" dirty="0"/>
              <a:t>A[i] &lt;= pivot</a:t>
            </a:r>
          </a:p>
          <a:p>
            <a:pPr lvl="2">
              <a:lnSpc>
                <a:spcPct val="120000"/>
              </a:lnSpc>
            </a:pPr>
            <a:r>
              <a:rPr lang="en-US" altLang="zh-CN" sz="2000" dirty="0"/>
              <a:t>A[j] &gt;= pivot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Repeat the process until i and j cross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15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050587"/>
              </p:ext>
            </p:extLst>
          </p:nvPr>
        </p:nvGraphicFramePr>
        <p:xfrm>
          <a:off x="838200" y="5175094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直接箭头连接符 12"/>
          <p:cNvCxnSpPr/>
          <p:nvPr/>
        </p:nvCxnSpPr>
        <p:spPr>
          <a:xfrm flipV="1">
            <a:off x="3180408" y="5791200"/>
            <a:ext cx="0" cy="3976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13"/>
          <p:cNvSpPr/>
          <p:nvPr/>
        </p:nvSpPr>
        <p:spPr>
          <a:xfrm>
            <a:off x="3048000" y="6182380"/>
            <a:ext cx="264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i</a:t>
            </a:r>
            <a:endParaRPr lang="zh-CN" altLang="en-US" sz="2800" dirty="0"/>
          </a:p>
        </p:txBody>
      </p:sp>
      <p:grpSp>
        <p:nvGrpSpPr>
          <p:cNvPr id="24" name="组合 14"/>
          <p:cNvGrpSpPr/>
          <p:nvPr/>
        </p:nvGrpSpPr>
        <p:grpSpPr>
          <a:xfrm>
            <a:off x="6077679" y="5784694"/>
            <a:ext cx="271228" cy="914400"/>
            <a:chOff x="6629400" y="5671080"/>
            <a:chExt cx="271228" cy="914400"/>
          </a:xfrm>
        </p:grpSpPr>
        <p:cxnSp>
          <p:nvCxnSpPr>
            <p:cNvPr id="25" name="直接箭头连接符 15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16"/>
            <p:cNvSpPr/>
            <p:nvPr/>
          </p:nvSpPr>
          <p:spPr>
            <a:xfrm>
              <a:off x="6629400" y="6062260"/>
              <a:ext cx="2712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j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2532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898208"/>
              </p:ext>
            </p:extLst>
          </p:nvPr>
        </p:nvGraphicFramePr>
        <p:xfrm>
          <a:off x="838200" y="1828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组合 10"/>
          <p:cNvGrpSpPr/>
          <p:nvPr/>
        </p:nvGrpSpPr>
        <p:grpSpPr>
          <a:xfrm>
            <a:off x="4038600" y="2444906"/>
            <a:ext cx="264816" cy="669114"/>
            <a:chOff x="3048000" y="1454306"/>
            <a:chExt cx="264816" cy="669114"/>
          </a:xfrm>
        </p:grpSpPr>
        <p:cxnSp>
          <p:nvCxnSpPr>
            <p:cNvPr id="7" name="直接箭头连接符 5"/>
            <p:cNvCxnSpPr/>
            <p:nvPr/>
          </p:nvCxnSpPr>
          <p:spPr>
            <a:xfrm flipV="1">
              <a:off x="3180408" y="1454306"/>
              <a:ext cx="0" cy="198843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6"/>
            <p:cNvSpPr/>
            <p:nvPr/>
          </p:nvSpPr>
          <p:spPr>
            <a:xfrm>
              <a:off x="3048000" y="160020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1" name="组合 7"/>
          <p:cNvGrpSpPr/>
          <p:nvPr/>
        </p:nvGrpSpPr>
        <p:grpSpPr>
          <a:xfrm>
            <a:off x="5562600" y="2438400"/>
            <a:ext cx="264816" cy="675620"/>
            <a:chOff x="6629400" y="5671080"/>
            <a:chExt cx="264816" cy="675620"/>
          </a:xfrm>
        </p:grpSpPr>
        <p:cxnSp>
          <p:nvCxnSpPr>
            <p:cNvPr id="12" name="直接箭头连接符 8"/>
            <p:cNvCxnSpPr/>
            <p:nvPr/>
          </p:nvCxnSpPr>
          <p:spPr>
            <a:xfrm flipV="1">
              <a:off x="6761808" y="5671080"/>
              <a:ext cx="0" cy="198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9"/>
            <p:cNvSpPr/>
            <p:nvPr/>
          </p:nvSpPr>
          <p:spPr>
            <a:xfrm>
              <a:off x="6629400" y="582348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14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399170"/>
              </p:ext>
            </p:extLst>
          </p:nvPr>
        </p:nvGraphicFramePr>
        <p:xfrm>
          <a:off x="838199" y="32004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组合 19"/>
          <p:cNvGrpSpPr/>
          <p:nvPr/>
        </p:nvGrpSpPr>
        <p:grpSpPr>
          <a:xfrm>
            <a:off x="4038600" y="3816506"/>
            <a:ext cx="264816" cy="669114"/>
            <a:chOff x="3048000" y="1454306"/>
            <a:chExt cx="264816" cy="669114"/>
          </a:xfrm>
        </p:grpSpPr>
        <p:cxnSp>
          <p:nvCxnSpPr>
            <p:cNvPr id="16" name="直接箭头连接符 20"/>
            <p:cNvCxnSpPr/>
            <p:nvPr/>
          </p:nvCxnSpPr>
          <p:spPr>
            <a:xfrm flipV="1">
              <a:off x="3180408" y="1454306"/>
              <a:ext cx="0" cy="198843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21"/>
            <p:cNvSpPr/>
            <p:nvPr/>
          </p:nvSpPr>
          <p:spPr>
            <a:xfrm>
              <a:off x="3048000" y="160020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组合 22"/>
          <p:cNvGrpSpPr/>
          <p:nvPr/>
        </p:nvGrpSpPr>
        <p:grpSpPr>
          <a:xfrm>
            <a:off x="5562600" y="3810000"/>
            <a:ext cx="264816" cy="675620"/>
            <a:chOff x="6629400" y="5671080"/>
            <a:chExt cx="264816" cy="675620"/>
          </a:xfrm>
        </p:grpSpPr>
        <p:cxnSp>
          <p:nvCxnSpPr>
            <p:cNvPr id="19" name="直接箭头连接符 23"/>
            <p:cNvCxnSpPr/>
            <p:nvPr/>
          </p:nvCxnSpPr>
          <p:spPr>
            <a:xfrm flipV="1">
              <a:off x="6761808" y="5671080"/>
              <a:ext cx="0" cy="198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24"/>
            <p:cNvSpPr/>
            <p:nvPr/>
          </p:nvSpPr>
          <p:spPr>
            <a:xfrm>
              <a:off x="6629400" y="582348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1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501448"/>
              </p:ext>
            </p:extLst>
          </p:nvPr>
        </p:nvGraphicFramePr>
        <p:xfrm>
          <a:off x="838200" y="458218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组合 26"/>
          <p:cNvGrpSpPr/>
          <p:nvPr/>
        </p:nvGrpSpPr>
        <p:grpSpPr>
          <a:xfrm>
            <a:off x="4572000" y="5198286"/>
            <a:ext cx="264816" cy="669114"/>
            <a:chOff x="3048000" y="1454306"/>
            <a:chExt cx="264816" cy="669114"/>
          </a:xfrm>
        </p:grpSpPr>
        <p:cxnSp>
          <p:nvCxnSpPr>
            <p:cNvPr id="23" name="直接箭头连接符 27"/>
            <p:cNvCxnSpPr/>
            <p:nvPr/>
          </p:nvCxnSpPr>
          <p:spPr>
            <a:xfrm flipV="1">
              <a:off x="3180408" y="1454306"/>
              <a:ext cx="0" cy="198843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8"/>
            <p:cNvSpPr/>
            <p:nvPr/>
          </p:nvSpPr>
          <p:spPr>
            <a:xfrm>
              <a:off x="3048000" y="160020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i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25" name="组合 29"/>
          <p:cNvGrpSpPr/>
          <p:nvPr/>
        </p:nvGrpSpPr>
        <p:grpSpPr>
          <a:xfrm>
            <a:off x="4038600" y="5191780"/>
            <a:ext cx="264816" cy="675620"/>
            <a:chOff x="6629400" y="5671080"/>
            <a:chExt cx="264816" cy="675620"/>
          </a:xfrm>
        </p:grpSpPr>
        <p:cxnSp>
          <p:nvCxnSpPr>
            <p:cNvPr id="26" name="直接箭头连接符 30"/>
            <p:cNvCxnSpPr/>
            <p:nvPr/>
          </p:nvCxnSpPr>
          <p:spPr>
            <a:xfrm flipV="1">
              <a:off x="6761808" y="5671080"/>
              <a:ext cx="0" cy="198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31"/>
            <p:cNvSpPr/>
            <p:nvPr/>
          </p:nvSpPr>
          <p:spPr>
            <a:xfrm>
              <a:off x="6629400" y="582348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chemeClr val="bg2">
                      <a:lumMod val="75000"/>
                    </a:schemeClr>
                  </a:solidFill>
                </a:rPr>
                <a:t>j</a:t>
              </a:r>
              <a:endParaRPr lang="zh-CN" altLang="en-US" sz="28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64816" y="5764703"/>
            <a:ext cx="9144000" cy="956773"/>
          </a:xfrm>
          <a:prstGeom prst="rect">
            <a:avLst/>
          </a:prstGeom>
          <a:noFill/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0070C0"/>
                </a:solidFill>
                <a:latin typeface="+mj-lt"/>
              </a:rPr>
              <a:t>i and j cross now!</a:t>
            </a:r>
            <a:endParaRPr lang="zh-CN" altLang="en-US" sz="4800" dirty="0">
              <a:solidFill>
                <a:srgbClr val="0070C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402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Partitioning Strategy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28650" y="1305720"/>
            <a:ext cx="8058150" cy="4561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When i and j have crossed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Swap A[i] and pivot</a:t>
            </a:r>
          </a:p>
          <a:p>
            <a:r>
              <a:rPr lang="en-US" altLang="zh-CN" dirty="0">
                <a:ea typeface="宋体" pitchFamily="2" charset="-122"/>
              </a:rPr>
              <a:t>Result: p= i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A[p] &lt;= pivot, for p &lt; i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A[p] &gt;= pivot, for p &gt; i</a:t>
            </a:r>
          </a:p>
          <a:p>
            <a:r>
              <a:rPr lang="en-US" altLang="zh-CN" dirty="0">
                <a:ea typeface="宋体" pitchFamily="2" charset="-122"/>
              </a:rPr>
              <a:t>Partition complete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5" name="组合 4"/>
          <p:cNvGrpSpPr/>
          <p:nvPr/>
        </p:nvGrpSpPr>
        <p:grpSpPr>
          <a:xfrm>
            <a:off x="4572000" y="5562600"/>
            <a:ext cx="264816" cy="914400"/>
            <a:chOff x="3048000" y="5671080"/>
            <a:chExt cx="264816" cy="914400"/>
          </a:xfrm>
        </p:grpSpPr>
        <p:cxnSp>
          <p:nvCxnSpPr>
            <p:cNvPr id="7" name="直接箭头连接符 12"/>
            <p:cNvCxnSpPr/>
            <p:nvPr/>
          </p:nvCxnSpPr>
          <p:spPr>
            <a:xfrm flipV="1">
              <a:off x="3180408" y="5671080"/>
              <a:ext cx="0" cy="3976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13"/>
            <p:cNvSpPr/>
            <p:nvPr/>
          </p:nvSpPr>
          <p:spPr>
            <a:xfrm>
              <a:off x="30480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i</a:t>
              </a:r>
              <a:endParaRPr lang="zh-CN" altLang="en-US" sz="2800" dirty="0"/>
            </a:p>
          </p:txBody>
        </p:sp>
      </p:grpSp>
      <p:grpSp>
        <p:nvGrpSpPr>
          <p:cNvPr id="9" name="组合 14"/>
          <p:cNvGrpSpPr/>
          <p:nvPr/>
        </p:nvGrpSpPr>
        <p:grpSpPr>
          <a:xfrm>
            <a:off x="4078584" y="5562600"/>
            <a:ext cx="271228" cy="914400"/>
            <a:chOff x="6629400" y="5671080"/>
            <a:chExt cx="271228" cy="914400"/>
          </a:xfrm>
        </p:grpSpPr>
        <p:cxnSp>
          <p:nvCxnSpPr>
            <p:cNvPr id="10" name="直接箭头连接符 15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6"/>
            <p:cNvSpPr/>
            <p:nvPr/>
          </p:nvSpPr>
          <p:spPr>
            <a:xfrm>
              <a:off x="6629400" y="6062260"/>
              <a:ext cx="2712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j</a:t>
              </a:r>
              <a:endParaRPr lang="zh-CN" altLang="en-US" sz="2800" dirty="0"/>
            </a:p>
          </p:txBody>
        </p:sp>
      </p:grpSp>
      <p:graphicFrame>
        <p:nvGraphicFramePr>
          <p:cNvPr id="12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255291"/>
              </p:ext>
            </p:extLst>
          </p:nvPr>
        </p:nvGraphicFramePr>
        <p:xfrm>
          <a:off x="838200" y="4876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96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Pseudo Code for Partition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219200" y="1493045"/>
            <a:ext cx="7162800" cy="5060951"/>
          </a:xfrm>
          <a:prstGeom prst="rect">
            <a:avLst/>
          </a:prstGeom>
          <a:ln w="635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PARTITION(A, left, right)</a:t>
            </a:r>
            <a:b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    p = PIVOT(A, left, right)</a:t>
            </a:r>
            <a:b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2.    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 is the position of the pivot</a:t>
            </a:r>
            <a:b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   swap A[p] and A[right]</a:t>
            </a:r>
            <a:b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   i = left, j = right-1, pivot = A[right]</a:t>
            </a:r>
            <a:b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    WHILE true           </a:t>
            </a:r>
            <a:b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        WHILE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i&lt;right </a:t>
            </a: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A[i]&lt;pivot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7.            i++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8.        WHILE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j&gt;=left </a:t>
            </a: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A[j]&gt;pivot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9.            j--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10.       IF i&lt;j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11.           swap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A[i++] </a:t>
            </a: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altLang="zh-CN" sz="1800" b="1" dirty="0">
                <a:solidFill>
                  <a:srgbClr val="063DE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A[j--]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12.       ELSE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13.           BREAK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14.   swap A[i] and A[right]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15.</a:t>
            </a:r>
            <a:r>
              <a:rPr lang="zh-CN" altLang="en-US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zh-CN" altLang="en-US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18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1800" dirty="0">
              <a:solidFill>
                <a:schemeClr val="dk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57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Small Arrays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For very small arrays, quicksort does not perform as well as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insertion sort</a:t>
            </a:r>
          </a:p>
          <a:p>
            <a:pPr marL="0" indent="0">
              <a:buNone/>
            </a:pPr>
            <a:endParaRPr lang="en-US" altLang="zh-CN" dirty="0">
              <a:solidFill>
                <a:srgbClr val="0070C0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how small depends on many factors, such as the time spent making a recursive call, the compiler, </a:t>
            </a:r>
            <a:r>
              <a:rPr lang="en-US" altLang="zh-CN" dirty="0" err="1">
                <a:ea typeface="宋体" pitchFamily="2" charset="-122"/>
              </a:rPr>
              <a:t>etc</a:t>
            </a:r>
            <a:endParaRPr lang="en-US" altLang="zh-CN" dirty="0">
              <a:ea typeface="宋体" pitchFamily="2" charset="-122"/>
            </a:endParaRPr>
          </a:p>
          <a:p>
            <a:pPr marL="342900" lvl="1" indent="0">
              <a:buNone/>
            </a:pP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Do not use quicksort recursively for small arrays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Instead, use a sorting algorithm that is efficient for small arrays, such as insertion 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03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Quick Sort + Small Array Strategy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28625" y="1966120"/>
            <a:ext cx="8286750" cy="4114800"/>
          </a:xfrm>
          <a:prstGeom prst="rect">
            <a:avLst/>
          </a:prstGeom>
          <a:ln w="635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QUICKSORT(A, left, right)</a:t>
            </a:r>
            <a:b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    IF </a:t>
            </a:r>
            <a:r>
              <a:rPr lang="en-US" altLang="zh-CN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&gt;= right - 10</a:t>
            </a:r>
            <a:b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         INSERTIONSORT(A, left, right)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	       return</a:t>
            </a:r>
            <a:b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    q = PARTITION(A, left, right)</a:t>
            </a:r>
            <a:b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5.    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//q is the position of the pivot</a:t>
            </a:r>
            <a:b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     QUICKSORT(A, left, q-1)           </a:t>
            </a:r>
            <a:b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7.     QUICKSORT(A, q+1, right)</a:t>
            </a:r>
          </a:p>
        </p:txBody>
      </p:sp>
    </p:spTree>
    <p:extLst>
      <p:ext uri="{BB962C8B-B14F-4D97-AF65-F5344CB8AC3E}">
        <p14:creationId xmlns:p14="http://schemas.microsoft.com/office/powerpoint/2010/main" val="2717869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Picking the Pivot- Strategy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3000" dirty="0"/>
                  <a:t>Use the 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first element </a:t>
                </a:r>
                <a:r>
                  <a:rPr lang="en-US" altLang="zh-CN" sz="3000" dirty="0"/>
                  <a:t>as pivot</a:t>
                </a:r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lvl="1"/>
                <a:r>
                  <a:rPr lang="en-US" altLang="zh-CN" sz="2800" dirty="0"/>
                  <a:t>if the input is </a:t>
                </a:r>
                <a:r>
                  <a:rPr lang="en-US" altLang="zh-CN" sz="2800" dirty="0">
                    <a:solidFill>
                      <a:srgbClr val="0070C0"/>
                    </a:solidFill>
                  </a:rPr>
                  <a:t>random</a:t>
                </a:r>
                <a:r>
                  <a:rPr lang="en-US" altLang="zh-CN" sz="2800" dirty="0"/>
                  <a:t>, ok</a:t>
                </a:r>
              </a:p>
              <a:p>
                <a:pPr marL="342900" lvl="1" indent="0">
                  <a:buNone/>
                </a:pPr>
                <a:endParaRPr lang="en-US" altLang="zh-CN" sz="2800" dirty="0"/>
              </a:p>
              <a:p>
                <a:pPr lvl="1"/>
                <a:r>
                  <a:rPr lang="en-US" altLang="zh-CN" sz="2800" dirty="0"/>
                  <a:t>if the input is </a:t>
                </a:r>
                <a:r>
                  <a:rPr lang="en-US" altLang="zh-CN" sz="2800" dirty="0">
                    <a:solidFill>
                      <a:srgbClr val="0070C0"/>
                    </a:solidFill>
                  </a:rPr>
                  <a:t>presorted</a:t>
                </a:r>
                <a:r>
                  <a:rPr lang="en-US" altLang="zh-CN" sz="2800" dirty="0"/>
                  <a:t> (or in reverse order)</a:t>
                </a:r>
              </a:p>
              <a:p>
                <a:pPr lvl="2"/>
                <a:r>
                  <a:rPr lang="en-US" altLang="zh-CN" sz="2400" dirty="0"/>
                  <a:t>all the elements go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2"/>
                <a:r>
                  <a:rPr lang="en-US" altLang="zh-CN" sz="2400" dirty="0"/>
                  <a:t>this happens consistently throughout the recursive calls</a:t>
                </a:r>
              </a:p>
              <a:p>
                <a:pPr lvl="2"/>
                <a:r>
                  <a:rPr lang="en-US" altLang="zh-CN" sz="2400" dirty="0">
                    <a:solidFill>
                      <a:srgbClr val="C00000"/>
                    </a:solidFill>
                  </a:rPr>
                  <a:t>Results in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baseline="30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</a:rPr>
                  <a:t> behavior</a:t>
                </a:r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16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Picking the Pivot- Strategy 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000" dirty="0"/>
              <a:t>Choose the pivot randomly</a:t>
            </a:r>
          </a:p>
          <a:p>
            <a:pPr lvl="1"/>
            <a:r>
              <a:rPr lang="en-US" altLang="zh-CN" sz="2800" dirty="0"/>
              <a:t>generally safe</a:t>
            </a:r>
          </a:p>
          <a:p>
            <a:pPr lvl="1"/>
            <a:r>
              <a:rPr lang="en-US" altLang="zh-CN" sz="2800" dirty="0">
                <a:solidFill>
                  <a:srgbClr val="0070C0"/>
                </a:solidFill>
              </a:rPr>
              <a:t>random number generation</a:t>
            </a:r>
            <a:r>
              <a:rPr lang="en-US" altLang="zh-CN" sz="2800" dirty="0"/>
              <a:t> can be expensive</a:t>
            </a:r>
            <a:endParaRPr lang="zh-CN" alt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53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Picking the Pivot- Strategy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3000" dirty="0"/>
                  <a:t>Use the </a:t>
                </a:r>
                <a:r>
                  <a:rPr lang="en-US" altLang="zh-CN" sz="3000" dirty="0">
                    <a:solidFill>
                      <a:srgbClr val="FF0000"/>
                    </a:solidFill>
                  </a:rPr>
                  <a:t>median (</a:t>
                </a:r>
                <a:r>
                  <a:rPr lang="zh-CN" altLang="en-US" sz="3000" dirty="0">
                    <a:solidFill>
                      <a:srgbClr val="FF0000"/>
                    </a:solidFill>
                  </a:rPr>
                  <a:t>中间值</a:t>
                </a:r>
                <a:r>
                  <a:rPr lang="en-US" altLang="zh-CN" sz="3000" dirty="0">
                    <a:solidFill>
                      <a:srgbClr val="FF0000"/>
                    </a:solidFill>
                  </a:rPr>
                  <a:t>) </a:t>
                </a:r>
                <a:r>
                  <a:rPr lang="en-US" altLang="zh-CN" sz="3000" dirty="0"/>
                  <a:t>of the array </a:t>
                </a:r>
              </a:p>
              <a:p>
                <a:pPr lvl="1"/>
                <a:r>
                  <a:rPr lang="en-US" altLang="zh-CN" sz="2800" dirty="0">
                    <a:ea typeface="宋体" pitchFamily="2" charset="-122"/>
                  </a:rPr>
                  <a:t>The median is the </a:t>
                </a:r>
                <a:r>
                  <a:rPr lang="en-US" altLang="zh-CN" sz="2800" dirty="0">
                    <a:solidFill>
                      <a:srgbClr val="0070C0"/>
                    </a:solidFill>
                    <a:ea typeface="宋体" pitchFamily="2" charset="-122"/>
                  </a:rPr>
                  <a:t>middle element</a:t>
                </a:r>
                <a:r>
                  <a:rPr lang="en-US" altLang="zh-CN" sz="2800" dirty="0">
                    <a:solidFill>
                      <a:schemeClr val="accent6"/>
                    </a:solidFill>
                    <a:ea typeface="宋体" pitchFamily="2" charset="-122"/>
                  </a:rPr>
                  <a:t> </a:t>
                </a:r>
                <a:r>
                  <a:rPr lang="en-US" altLang="zh-CN" sz="2800" dirty="0">
                    <a:ea typeface="宋体" pitchFamily="2" charset="-122"/>
                  </a:rPr>
                  <a:t>if the array is </a:t>
                </a:r>
                <a:r>
                  <a:rPr lang="en-US" altLang="zh-CN" sz="2800" dirty="0">
                    <a:solidFill>
                      <a:srgbClr val="0070C0"/>
                    </a:solidFill>
                    <a:ea typeface="宋体" pitchFamily="2" charset="-122"/>
                  </a:rPr>
                  <a:t>sorted</a:t>
                </a:r>
                <a:r>
                  <a:rPr lang="en-US" altLang="zh-CN" sz="2800" dirty="0">
                    <a:ea typeface="宋体" pitchFamily="2" charset="-122"/>
                  </a:rPr>
                  <a:t>. </a:t>
                </a:r>
              </a:p>
              <a:p>
                <a:pPr lvl="1"/>
                <a:r>
                  <a:rPr lang="en-US" altLang="zh-CN" sz="2800" dirty="0">
                    <a:ea typeface="宋体" pitchFamily="2" charset="-122"/>
                  </a:rPr>
                  <a:t>Partitioning always cuts the array into roughly half</a:t>
                </a:r>
              </a:p>
              <a:p>
                <a:pPr lvl="1"/>
                <a:r>
                  <a:rPr lang="en-US" altLang="zh-CN" sz="2800" dirty="0">
                    <a:ea typeface="宋体" pitchFamily="2" charset="-122"/>
                  </a:rPr>
                  <a:t>An </a:t>
                </a:r>
                <a:r>
                  <a:rPr lang="en-US" altLang="zh-CN" sz="2800" dirty="0">
                    <a:solidFill>
                      <a:schemeClr val="hlink"/>
                    </a:solidFill>
                    <a:ea typeface="宋体" pitchFamily="2" charset="-122"/>
                  </a:rPr>
                  <a:t>optimal</a:t>
                </a:r>
                <a:r>
                  <a:rPr lang="en-US" altLang="zh-CN" sz="2800" dirty="0">
                    <a:ea typeface="宋体" pitchFamily="2" charset="-122"/>
                  </a:rPr>
                  <a:t> quicksort: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𝑂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(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m:rPr>
                        <m:sty m:val="p"/>
                      </m:rPr>
                      <a:rPr lang="en-US" altLang="zh-CN" sz="28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log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⁡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)</m:t>
                    </m:r>
                  </m:oMath>
                </a14:m>
                <a:endParaRPr lang="en-US" altLang="zh-CN" sz="2800" dirty="0">
                  <a:ea typeface="宋体" pitchFamily="2" charset="-122"/>
                </a:endParaRPr>
              </a:p>
              <a:p>
                <a:pPr lvl="1"/>
                <a:r>
                  <a:rPr lang="en-US" altLang="zh-CN" sz="2800" dirty="0">
                    <a:ea typeface="宋体" pitchFamily="2" charset="-122"/>
                  </a:rPr>
                  <a:t>However, </a:t>
                </a:r>
                <a:r>
                  <a:rPr lang="en-US" altLang="zh-CN" sz="2800" dirty="0">
                    <a:solidFill>
                      <a:srgbClr val="0070C0"/>
                    </a:solidFill>
                    <a:ea typeface="宋体" pitchFamily="2" charset="-122"/>
                  </a:rPr>
                  <a:t>expensive</a:t>
                </a:r>
                <a:r>
                  <a:rPr lang="en-US" altLang="zh-CN" sz="2800" dirty="0">
                    <a:ea typeface="宋体" pitchFamily="2" charset="-122"/>
                  </a:rPr>
                  <a:t> to find the exact median</a:t>
                </a:r>
              </a:p>
              <a:p>
                <a:pPr lvl="2"/>
                <a:r>
                  <a:rPr lang="en-US" altLang="zh-CN" sz="2400" dirty="0">
                    <a:ea typeface="宋体" pitchFamily="2" charset="-122"/>
                  </a:rPr>
                  <a:t>For example, sort an array to pick the value in the middle</a:t>
                </a:r>
                <a:endParaRPr lang="zh-CN" altLang="en-US" sz="2400" dirty="0">
                  <a:ea typeface="宋体" pitchFamily="2" charset="-122"/>
                </a:endParaRPr>
              </a:p>
              <a:p>
                <a:pPr lvl="1"/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3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4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Picking the Pivot- Strategy 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000" dirty="0"/>
              <a:t>We will use median of </a:t>
            </a:r>
            <a:r>
              <a:rPr lang="en-US" altLang="zh-CN" sz="3000" dirty="0">
                <a:solidFill>
                  <a:srgbClr val="FF0000"/>
                </a:solidFill>
              </a:rPr>
              <a:t>three elements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/>
              <a:t>Compare just three elements: the </a:t>
            </a:r>
            <a:r>
              <a:rPr lang="en-US" altLang="zh-CN" sz="2800" dirty="0">
                <a:solidFill>
                  <a:srgbClr val="0070C0"/>
                </a:solidFill>
              </a:rPr>
              <a:t>left most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0070C0"/>
                </a:solidFill>
              </a:rPr>
              <a:t>right</a:t>
            </a:r>
            <a:r>
              <a:rPr lang="en-US" altLang="zh-CN" sz="2800" dirty="0">
                <a:solidFill>
                  <a:schemeClr val="accent6"/>
                </a:solidFill>
              </a:rPr>
              <a:t> </a:t>
            </a:r>
            <a:r>
              <a:rPr lang="en-US" altLang="zh-CN" sz="2800" dirty="0">
                <a:solidFill>
                  <a:srgbClr val="0070C0"/>
                </a:solidFill>
              </a:rPr>
              <a:t>most</a:t>
            </a:r>
            <a:r>
              <a:rPr lang="en-US" altLang="zh-CN" sz="2800" dirty="0">
                <a:solidFill>
                  <a:schemeClr val="accent6"/>
                </a:solidFill>
              </a:rPr>
              <a:t> </a:t>
            </a:r>
            <a:r>
              <a:rPr lang="en-US" altLang="zh-CN" sz="2800" dirty="0"/>
              <a:t>and </a:t>
            </a:r>
            <a:r>
              <a:rPr lang="en-US" altLang="zh-CN" sz="2800" dirty="0">
                <a:solidFill>
                  <a:srgbClr val="0070C0"/>
                </a:solidFill>
              </a:rPr>
              <a:t>center</a:t>
            </a:r>
          </a:p>
          <a:p>
            <a:pPr lvl="1">
              <a:lnSpc>
                <a:spcPct val="80000"/>
              </a:lnSpc>
            </a:pPr>
            <a:r>
              <a:rPr lang="en-US" altLang="zh-CN" sz="2800" dirty="0">
                <a:solidFill>
                  <a:srgbClr val="0070C0"/>
                </a:solidFill>
              </a:rPr>
              <a:t>Swap</a:t>
            </a:r>
            <a:r>
              <a:rPr lang="en-US" altLang="zh-CN" sz="2800" dirty="0"/>
              <a:t> these elements if necessary so that </a:t>
            </a:r>
          </a:p>
          <a:p>
            <a:pPr lvl="2">
              <a:lnSpc>
                <a:spcPct val="80000"/>
              </a:lnSpc>
            </a:pPr>
            <a:r>
              <a:rPr lang="en-US" altLang="zh-CN" sz="2400" dirty="0"/>
              <a:t>A[left]	= 	Smallest</a:t>
            </a:r>
          </a:p>
          <a:p>
            <a:pPr lvl="2">
              <a:lnSpc>
                <a:spcPct val="80000"/>
              </a:lnSpc>
            </a:pPr>
            <a:r>
              <a:rPr lang="en-US" altLang="zh-CN" sz="2400" dirty="0"/>
              <a:t>A[right]  	= 	Largest</a:t>
            </a:r>
          </a:p>
          <a:p>
            <a:pPr lvl="2">
              <a:lnSpc>
                <a:spcPct val="80000"/>
              </a:lnSpc>
            </a:pPr>
            <a:r>
              <a:rPr lang="en-US" altLang="zh-CN" sz="2400" dirty="0"/>
              <a:t>A[center] =	Median of three</a:t>
            </a:r>
            <a:endParaRPr lang="en-US" altLang="zh-CN" sz="2200" dirty="0"/>
          </a:p>
          <a:p>
            <a:pPr lvl="1"/>
            <a:r>
              <a:rPr lang="en-US" altLang="zh-CN" sz="2800" dirty="0">
                <a:ea typeface="宋体" pitchFamily="2" charset="-122"/>
              </a:rPr>
              <a:t>Pick 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A[center] </a:t>
            </a:r>
            <a:r>
              <a:rPr lang="en-US" altLang="zh-CN" sz="2800" dirty="0">
                <a:ea typeface="宋体" pitchFamily="2" charset="-122"/>
              </a:rPr>
              <a:t>as the 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pivot</a:t>
            </a:r>
          </a:p>
          <a:p>
            <a:pPr lvl="1">
              <a:lnSpc>
                <a:spcPct val="80000"/>
              </a:lnSpc>
            </a:pPr>
            <a:r>
              <a:rPr lang="en-US" altLang="zh-CN" sz="2800" b="1" dirty="0">
                <a:solidFill>
                  <a:srgbClr val="00B050"/>
                </a:solidFill>
              </a:rPr>
              <a:t>Swap A[center] and A[right – 1] </a:t>
            </a:r>
            <a:r>
              <a:rPr lang="en-US" altLang="zh-CN" sz="2800" dirty="0"/>
              <a:t>so that pivot is at second last position </a:t>
            </a:r>
          </a:p>
          <a:p>
            <a:pPr lvl="2">
              <a:lnSpc>
                <a:spcPct val="80000"/>
              </a:lnSpc>
            </a:pPr>
            <a:r>
              <a:rPr lang="en-US" altLang="zh-CN" sz="2200" dirty="0">
                <a:solidFill>
                  <a:srgbClr val="C00000"/>
                </a:solidFill>
              </a:rPr>
              <a:t>Why?    j=right-1-1 </a:t>
            </a:r>
          </a:p>
          <a:p>
            <a:pPr lvl="1"/>
            <a:endParaRPr lang="zh-CN" alt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60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Median3 Example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7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728463"/>
              </p:ext>
            </p:extLst>
          </p:nvPr>
        </p:nvGraphicFramePr>
        <p:xfrm>
          <a:off x="1066800" y="17526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median3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75256"/>
              </p:ext>
            </p:extLst>
          </p:nvPr>
        </p:nvGraphicFramePr>
        <p:xfrm>
          <a:off x="1066800" y="25908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reposition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136296"/>
              </p:ext>
            </p:extLst>
          </p:nvPr>
        </p:nvGraphicFramePr>
        <p:xfrm>
          <a:off x="1066800" y="34290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pick pivot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92594"/>
              </p:ext>
            </p:extLst>
          </p:nvPr>
        </p:nvGraphicFramePr>
        <p:xfrm>
          <a:off x="1066800" y="4343400"/>
          <a:ext cx="662940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6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swap</a:t>
                      </a:r>
                      <a:endParaRPr lang="zh-CN" altLang="en-US" sz="2000" b="0" dirty="0"/>
                    </a:p>
                  </a:txBody>
                  <a:tcPr anchor="ctr" anchorCtr="1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组合 8"/>
          <p:cNvGrpSpPr/>
          <p:nvPr/>
        </p:nvGrpSpPr>
        <p:grpSpPr>
          <a:xfrm>
            <a:off x="3276600" y="4953000"/>
            <a:ext cx="264816" cy="914400"/>
            <a:chOff x="3048000" y="5671080"/>
            <a:chExt cx="264816" cy="914400"/>
          </a:xfrm>
        </p:grpSpPr>
        <p:cxnSp>
          <p:nvCxnSpPr>
            <p:cNvPr id="12" name="直接箭头连接符 9"/>
            <p:cNvCxnSpPr/>
            <p:nvPr/>
          </p:nvCxnSpPr>
          <p:spPr>
            <a:xfrm flipV="1">
              <a:off x="3180408" y="5671080"/>
              <a:ext cx="0" cy="3976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0"/>
            <p:cNvSpPr/>
            <p:nvPr/>
          </p:nvSpPr>
          <p:spPr>
            <a:xfrm>
              <a:off x="3048000" y="6062260"/>
              <a:ext cx="264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i</a:t>
              </a:r>
              <a:endParaRPr lang="zh-CN" altLang="en-US" sz="2800" dirty="0"/>
            </a:p>
          </p:txBody>
        </p:sp>
      </p:grpSp>
      <p:grpSp>
        <p:nvGrpSpPr>
          <p:cNvPr id="14" name="组合 11"/>
          <p:cNvGrpSpPr/>
          <p:nvPr/>
        </p:nvGrpSpPr>
        <p:grpSpPr>
          <a:xfrm>
            <a:off x="6324600" y="4953000"/>
            <a:ext cx="271228" cy="914400"/>
            <a:chOff x="6629400" y="5671080"/>
            <a:chExt cx="271228" cy="914400"/>
          </a:xfrm>
        </p:grpSpPr>
        <p:cxnSp>
          <p:nvCxnSpPr>
            <p:cNvPr id="15" name="直接箭头连接符 12"/>
            <p:cNvCxnSpPr/>
            <p:nvPr/>
          </p:nvCxnSpPr>
          <p:spPr>
            <a:xfrm flipV="1">
              <a:off x="6761808" y="5671080"/>
              <a:ext cx="0" cy="39768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3"/>
            <p:cNvSpPr/>
            <p:nvPr/>
          </p:nvSpPr>
          <p:spPr>
            <a:xfrm>
              <a:off x="6629400" y="6062260"/>
              <a:ext cx="2712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j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4677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3200400"/>
            <a:ext cx="8458200" cy="1295400"/>
          </a:xfrm>
          <a:prstGeom prst="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Partition with Median3</a:t>
            </a:r>
            <a:endParaRPr lang="zh-CN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52400" y="1295400"/>
            <a:ext cx="8458200" cy="54864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defPPr>
              <a:defRPr lang="en-US"/>
            </a:defPPr>
            <a:lvl1pPr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sz="1800" dirty="0">
                <a:latin typeface="Courier"/>
              </a:rPr>
              <a:t>PARTITION(A, left, right)</a:t>
            </a:r>
            <a:br>
              <a:rPr lang="en-US" altLang="zh-CN" sz="1800" dirty="0">
                <a:latin typeface="Courier"/>
              </a:rPr>
            </a:b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</a:rPr>
              <a:t>1.     MEDIAN3(A, left, right)</a:t>
            </a:r>
            <a:b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US" altLang="zh-CN" sz="1800" dirty="0">
                <a:latin typeface="Courier"/>
              </a:rPr>
              <a:t>2.</a:t>
            </a:r>
            <a:r>
              <a:rPr lang="en-US" altLang="zh-CN" sz="1800" dirty="0">
                <a:solidFill>
                  <a:schemeClr val="accent6"/>
                </a:solidFill>
                <a:latin typeface="Courier"/>
              </a:rPr>
              <a:t>   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Courier"/>
              </a:rPr>
              <a:t>// MEDIAN3 repositions the left, center, and    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Courier"/>
              </a:rPr>
              <a:t>3.//the right elements, and Swap A[center] and A[right-1]</a:t>
            </a:r>
            <a:b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Courier"/>
              </a:rPr>
            </a:br>
            <a:r>
              <a:rPr lang="en-US" altLang="zh-CN" sz="1800" dirty="0">
                <a:latin typeface="Courier"/>
              </a:rPr>
              <a:t>4.</a:t>
            </a:r>
            <a:r>
              <a:rPr lang="en-US" altLang="zh-CN" sz="1800" dirty="0">
                <a:solidFill>
                  <a:schemeClr val="accent6"/>
                </a:solidFill>
                <a:latin typeface="Courier"/>
              </a:rPr>
              <a:t>    </a:t>
            </a:r>
            <a:r>
              <a:rPr lang="en-US" altLang="zh-CN" sz="1800" dirty="0">
                <a:latin typeface="Courier"/>
              </a:rPr>
              <a:t>i = left+1, j = right-2, pivot = A[right-1]</a:t>
            </a:r>
            <a:br>
              <a:rPr lang="en-US" altLang="zh-CN" sz="1800" dirty="0">
                <a:latin typeface="Courier"/>
              </a:rPr>
            </a:br>
            <a:r>
              <a:rPr lang="en-US" altLang="zh-CN" sz="1800" dirty="0">
                <a:latin typeface="Courier"/>
              </a:rPr>
              <a:t>5.    WHILE true           </a:t>
            </a:r>
            <a:br>
              <a:rPr lang="en-US" altLang="zh-CN" sz="1800" dirty="0">
                <a:latin typeface="Courier"/>
              </a:rPr>
            </a:br>
            <a:r>
              <a:rPr lang="en-US" altLang="zh-CN" sz="1800" dirty="0">
                <a:solidFill>
                  <a:schemeClr val="tx1"/>
                </a:solidFill>
                <a:latin typeface="Courier"/>
              </a:rPr>
              <a:t>6.        WHILE A[i]&lt;pivot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Courier"/>
              </a:rPr>
              <a:t>7.            i++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Courier"/>
              </a:rPr>
              <a:t>8.        WHILE A[j]&gt;pivot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Courier"/>
              </a:rPr>
              <a:t>9.            j--</a:t>
            </a:r>
          </a:p>
          <a:p>
            <a:r>
              <a:rPr lang="en-US" altLang="zh-CN" sz="1800" dirty="0">
                <a:latin typeface="Courier"/>
              </a:rPr>
              <a:t>10.       IF i&lt;j</a:t>
            </a:r>
          </a:p>
          <a:p>
            <a:pPr marL="457200" indent="-457200">
              <a:buAutoNum type="arabicPeriod" startAt="11"/>
            </a:pPr>
            <a:r>
              <a:rPr lang="en-US" altLang="zh-CN" sz="1800" dirty="0">
                <a:latin typeface="Courier"/>
              </a:rPr>
              <a:t>         swap A[i] and A[j]</a:t>
            </a:r>
          </a:p>
          <a:p>
            <a:pPr marL="457200" indent="-457200">
              <a:buAutoNum type="arabicPeriod" startAt="11"/>
            </a:pPr>
            <a:r>
              <a:rPr lang="en-US" altLang="zh-CN" sz="1800" dirty="0">
                <a:latin typeface="Courier"/>
              </a:rPr>
              <a:t>         i++, j--</a:t>
            </a:r>
          </a:p>
          <a:p>
            <a:r>
              <a:rPr lang="en-US" altLang="zh-CN" sz="1800" dirty="0">
                <a:latin typeface="Courier"/>
              </a:rPr>
              <a:t>13.       ELSE</a:t>
            </a:r>
          </a:p>
          <a:p>
            <a:r>
              <a:rPr lang="en-US" altLang="zh-CN" sz="1800" dirty="0">
                <a:latin typeface="Courier"/>
              </a:rPr>
              <a:t>14.           BREAK</a:t>
            </a:r>
            <a:endParaRPr lang="zh-CN" altLang="en-US" sz="1800" dirty="0">
              <a:latin typeface="Courier"/>
            </a:endParaRPr>
          </a:p>
          <a:p>
            <a:r>
              <a:rPr lang="en-US" altLang="zh-CN" sz="1800" dirty="0">
                <a:latin typeface="Courier"/>
              </a:rPr>
              <a:t>15.   swap A[i] and A[right-1</a:t>
            </a:r>
            <a:r>
              <a:rPr lang="en-US" altLang="zh-CN" sz="2000" dirty="0">
                <a:latin typeface="Courier"/>
              </a:rPr>
              <a:t>]</a:t>
            </a:r>
          </a:p>
          <a:p>
            <a:r>
              <a:rPr lang="en-US" altLang="zh-CN" sz="1800" dirty="0">
                <a:latin typeface="Courier" charset="0"/>
                <a:ea typeface="Courier" charset="0"/>
                <a:cs typeface="Courier" charset="0"/>
              </a:rPr>
              <a:t>16.</a:t>
            </a:r>
            <a:r>
              <a:rPr lang="zh-CN" altLang="en-US" sz="1800" dirty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altLang="zh-CN" sz="1800" dirty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zh-CN" alt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800" dirty="0">
                <a:latin typeface="Courier" charset="0"/>
                <a:ea typeface="Courier" charset="0"/>
                <a:cs typeface="Courier" charset="0"/>
              </a:rPr>
              <a:t>i</a:t>
            </a:r>
            <a:endParaRPr lang="zh-CN" altLang="en-US" sz="1800" dirty="0">
              <a:latin typeface="Courier" charset="0"/>
              <a:ea typeface="Courier" charset="0"/>
              <a:cs typeface="Courier" charset="0"/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92471" y="3581400"/>
            <a:ext cx="152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 boundary check. Why?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7BA561A-5524-43F3-AD1A-614AF1E09BC2}"/>
              </a:ext>
            </a:extLst>
          </p:cNvPr>
          <p:cNvCxnSpPr>
            <a:cxnSpLocks/>
          </p:cNvCxnSpPr>
          <p:nvPr/>
        </p:nvCxnSpPr>
        <p:spPr>
          <a:xfrm flipV="1">
            <a:off x="5943600" y="1690689"/>
            <a:ext cx="685800" cy="747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8E9E311-3D1A-4CA8-A3D4-773BCE54DD6B}"/>
              </a:ext>
            </a:extLst>
          </p:cNvPr>
          <p:cNvSpPr/>
          <p:nvPr/>
        </p:nvSpPr>
        <p:spPr>
          <a:xfrm>
            <a:off x="6705600" y="1500189"/>
            <a:ext cx="1219200" cy="381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The pivot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5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Quicksort VS </a:t>
            </a:r>
            <a:r>
              <a:rPr lang="en-US" altLang="zh-CN" dirty="0" err="1"/>
              <a:t>Mergesort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pitchFamily="2" charset="-122"/>
                  </a:rPr>
                  <a:t>Both quicksort and </a:t>
                </a:r>
                <a:r>
                  <a:rPr lang="en-US" altLang="zh-CN" dirty="0" err="1">
                    <a:ea typeface="宋体" pitchFamily="2" charset="-122"/>
                  </a:rPr>
                  <a:t>mergesort</a:t>
                </a:r>
                <a:r>
                  <a:rPr lang="en-US" altLang="zh-CN" dirty="0">
                    <a:ea typeface="宋体" pitchFamily="2" charset="-122"/>
                  </a:rPr>
                  <a:t> take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𝑂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(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m:rPr>
                        <m:sty m:val="p"/>
                      </m:rP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log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⁡)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in the </a:t>
                </a:r>
                <a:r>
                  <a:rPr lang="en-US" altLang="zh-CN" dirty="0">
                    <a:solidFill>
                      <a:srgbClr val="0070C0"/>
                    </a:solidFill>
                    <a:ea typeface="宋体" pitchFamily="2" charset="-122"/>
                  </a:rPr>
                  <a:t>average</a:t>
                </a:r>
                <a:r>
                  <a:rPr lang="en-US" altLang="zh-CN" dirty="0">
                    <a:solidFill>
                      <a:schemeClr val="accent6"/>
                    </a:solidFill>
                    <a:ea typeface="宋体" pitchFamily="2" charset="-122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ea typeface="宋体" pitchFamily="2" charset="-122"/>
                  </a:rPr>
                  <a:t>case</a:t>
                </a:r>
                <a:r>
                  <a:rPr lang="en-US" altLang="zh-CN" dirty="0">
                    <a:ea typeface="宋体" pitchFamily="2" charset="-122"/>
                  </a:rPr>
                  <a:t>.</a:t>
                </a:r>
              </a:p>
              <a:p>
                <a:r>
                  <a:rPr lang="en-US" altLang="zh-CN" dirty="0">
                    <a:ea typeface="宋体" pitchFamily="2" charset="-122"/>
                  </a:rPr>
                  <a:t>Why is quicksort </a:t>
                </a:r>
                <a:r>
                  <a:rPr lang="en-US" altLang="zh-CN" dirty="0">
                    <a:solidFill>
                      <a:schemeClr val="hlink"/>
                    </a:solidFill>
                    <a:ea typeface="宋体" pitchFamily="2" charset="-122"/>
                  </a:rPr>
                  <a:t>faster</a:t>
                </a:r>
                <a:r>
                  <a:rPr lang="en-US" altLang="zh-CN" dirty="0">
                    <a:ea typeface="宋体" pitchFamily="2" charset="-122"/>
                  </a:rPr>
                  <a:t> than </a:t>
                </a:r>
                <a:r>
                  <a:rPr lang="en-US" altLang="zh-CN" dirty="0" err="1">
                    <a:ea typeface="宋体" pitchFamily="2" charset="-122"/>
                  </a:rPr>
                  <a:t>mergesort</a:t>
                </a:r>
                <a:r>
                  <a:rPr lang="en-US" altLang="zh-CN" dirty="0">
                    <a:ea typeface="宋体" pitchFamily="2" charset="-122"/>
                  </a:rPr>
                  <a:t>?</a:t>
                </a:r>
              </a:p>
              <a:p>
                <a:pPr lvl="1"/>
                <a:r>
                  <a:rPr lang="en-US" altLang="zh-CN" dirty="0">
                    <a:ea typeface="宋体" pitchFamily="2" charset="-122"/>
                  </a:rPr>
                  <a:t>The inner loop consists of an increment/decrement (by 1, which is fast), a test and a jump. </a:t>
                </a:r>
              </a:p>
              <a:p>
                <a:pPr lvl="1"/>
                <a:r>
                  <a:rPr lang="en-US" altLang="zh-CN" dirty="0">
                    <a:ea typeface="宋体" pitchFamily="2" charset="-122"/>
                  </a:rPr>
                  <a:t>There is no extra juggling as in </a:t>
                </a:r>
                <a:r>
                  <a:rPr lang="en-US" altLang="zh-CN" dirty="0" err="1">
                    <a:ea typeface="宋体" pitchFamily="2" charset="-122"/>
                  </a:rPr>
                  <a:t>mergesort</a:t>
                </a:r>
                <a:r>
                  <a:rPr lang="en-US" altLang="zh-CN" dirty="0">
                    <a:ea typeface="宋体" pitchFamily="2" charset="-122"/>
                  </a:rPr>
                  <a:t>.</a:t>
                </a:r>
              </a:p>
              <a:p>
                <a:pPr lvl="1"/>
                <a:endParaRPr lang="en-US" altLang="zh-CN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241" r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6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7615" y="1447800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Assumptions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Pivot Selection: Median of 3 elements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Base Case</a:t>
            </a:r>
            <a:r>
              <a:rPr lang="en-US" altLang="zh-CN" dirty="0">
                <a:ea typeface="宋体" pitchFamily="2" charset="-122"/>
              </a:rPr>
              <a:t>: Array size &lt;= 10</a:t>
            </a:r>
          </a:p>
          <a:p>
            <a:r>
              <a:rPr lang="en-US" altLang="zh-CN" dirty="0">
                <a:ea typeface="宋体" pitchFamily="2" charset="-122"/>
              </a:rPr>
              <a:t>Running time T(n)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Divide</a:t>
            </a:r>
          </a:p>
          <a:p>
            <a:pPr lvl="2"/>
            <a:r>
              <a:rPr lang="en-US" altLang="zh-CN" sz="2400" dirty="0">
                <a:ea typeface="宋体" pitchFamily="2" charset="-122"/>
              </a:rPr>
              <a:t>Pivot selection: O(1)</a:t>
            </a:r>
          </a:p>
          <a:p>
            <a:pPr lvl="2"/>
            <a:r>
              <a:rPr lang="en-US" altLang="zh-CN" sz="2400" dirty="0">
                <a:ea typeface="宋体" pitchFamily="2" charset="-122"/>
              </a:rPr>
              <a:t>Partitioning: O(n)</a:t>
            </a:r>
          </a:p>
          <a:p>
            <a:pPr lvl="2"/>
            <a:r>
              <a:rPr lang="en-US" altLang="zh-CN" sz="2400" dirty="0"/>
              <a:t>Recursive calls: T(i) + T(n-i-1)</a:t>
            </a:r>
          </a:p>
          <a:p>
            <a:pPr lvl="3"/>
            <a:r>
              <a:rPr lang="en-US" altLang="zh-CN" sz="2400" dirty="0"/>
              <a:t>i: number of elements in S1</a:t>
            </a:r>
          </a:p>
          <a:p>
            <a:pPr lvl="1"/>
            <a:r>
              <a:rPr lang="en-US" altLang="zh-CN" dirty="0"/>
              <a:t>Conquer and Combine: O(1)</a:t>
            </a:r>
          </a:p>
          <a:p>
            <a:pPr lvl="1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81200" y="5523746"/>
                <a:ext cx="47317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523746"/>
                <a:ext cx="4731745" cy="369332"/>
              </a:xfrm>
              <a:prstGeom prst="rect">
                <a:avLst/>
              </a:prstGeom>
              <a:blipFill>
                <a:blip r:embed="rId2"/>
                <a:stretch>
                  <a:fillRect l="-1031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BD8B52FD-0531-44CB-9A5D-DF500AD5659F}"/>
                  </a:ext>
                </a:extLst>
              </p:cNvPr>
              <p:cNvSpPr txBox="1"/>
              <p:nvPr/>
            </p:nvSpPr>
            <p:spPr>
              <a:xfrm>
                <a:off x="1143000" y="5919806"/>
                <a:ext cx="49295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𝑝𝑜𝑠𝑖𝑡𝑖𝑜𝑛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𝑝𝑖𝑣𝑜𝑡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BD8B52FD-0531-44CB-9A5D-DF500AD5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919806"/>
                <a:ext cx="4929555" cy="369332"/>
              </a:xfrm>
              <a:prstGeom prst="rect">
                <a:avLst/>
              </a:prstGeom>
              <a:blipFill>
                <a:blip r:embed="rId3"/>
                <a:stretch>
                  <a:fillRect l="-1114" r="-371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737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Worst-Case 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7615" y="1447800"/>
            <a:ext cx="7886700" cy="160020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What will be the worst case?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pivot is the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smallest</a:t>
            </a:r>
            <a:r>
              <a:rPr lang="en-US" altLang="zh-CN" dirty="0">
                <a:ea typeface="宋体" pitchFamily="2" charset="-122"/>
              </a:rPr>
              <a:t> element, all the time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Partition is always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unbalanced</a:t>
            </a:r>
          </a:p>
          <a:p>
            <a:pPr lvl="1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37614" y="3207344"/>
                <a:ext cx="7515785" cy="22247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/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𝑐𝑛</m:t>
                    </m:r>
                  </m:oMath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b="0" dirty="0">
                    <a:solidFill>
                      <a:schemeClr val="tx1"/>
                    </a:solidFill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𝑐𝑛</m:t>
                    </m:r>
                  </m:oMath>
                </a14:m>
                <a:endParaRPr lang="en-US" altLang="zh-CN" sz="2400" b="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/>
                  <a:t>                           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𝑐𝑛</m:t>
                    </m:r>
                  </m:oMath>
                </a14:m>
                <a:endParaRPr lang="en-US" altLang="zh-CN" sz="2400" b="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/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14" y="3207344"/>
                <a:ext cx="7515785" cy="2224712"/>
              </a:xfrm>
              <a:prstGeom prst="rect">
                <a:avLst/>
              </a:prstGeom>
              <a:blipFill>
                <a:blip r:embed="rId2"/>
                <a:stretch>
                  <a:fillRect b="-414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869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Best-case 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7615" y="1447800"/>
            <a:ext cx="7886700" cy="160020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What will be the best case?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Partition is 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perfectly balanced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Pivot is always in the middle (median of the array)</a:t>
            </a:r>
            <a:endParaRPr lang="en-US" altLang="zh-CN" sz="2800" dirty="0">
              <a:ea typeface="宋体" pitchFamily="2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37615" y="2800257"/>
                <a:ext cx="8277786" cy="40203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altLang="zh-CN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altLang="zh-CN" sz="2400" dirty="0"/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𝑖𝑐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altLang="zh-CN" sz="2400" dirty="0"/>
                  <a:t>Let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400" i="1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sz="2400" i="1" dirty="0">
                  <a:solidFill>
                    <a:schemeClr val="tx1"/>
                  </a:solidFill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𝑖𝑐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15" y="2800257"/>
                <a:ext cx="8277786" cy="40203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769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Average-case Analysis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37614" y="1447800"/>
                <a:ext cx="8049185" cy="25146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pitchFamily="2" charset="-122"/>
                  </a:rPr>
                  <a:t>Assume </a:t>
                </a:r>
              </a:p>
              <a:p>
                <a:pPr lvl="1"/>
                <a:r>
                  <a:rPr lang="en-US" altLang="zh-CN" dirty="0">
                    <a:ea typeface="宋体" pitchFamily="2" charset="-122"/>
                  </a:rPr>
                  <a:t>Each of the sizes for S is equally likely</a:t>
                </a:r>
              </a:p>
              <a:p>
                <a:pPr lvl="1"/>
                <a:r>
                  <a:rPr lang="en-US" altLang="zh-CN" dirty="0">
                    <a:ea typeface="宋体" pitchFamily="2" charset="-122"/>
                  </a:rPr>
                  <a:t>This assumption is valid for our pivoting (median-of-three) strategy</a:t>
                </a:r>
              </a:p>
              <a:p>
                <a:pPr lvl="1"/>
                <a:r>
                  <a:rPr lang="en-US" altLang="zh-CN" dirty="0">
                    <a:ea typeface="宋体" pitchFamily="2" charset="-122"/>
                  </a:rPr>
                  <a:t>On average, the running time is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)</m:t>
                    </m:r>
                  </m:oMath>
                </a14:m>
                <a:endParaRPr lang="en-US" altLang="zh-CN" dirty="0">
                  <a:ea typeface="宋体" pitchFamily="2" charset="-122"/>
                </a:endParaRPr>
              </a:p>
              <a:p>
                <a:pPr lvl="2"/>
                <a:r>
                  <a:rPr lang="en-US" altLang="zh-CN" dirty="0">
                    <a:ea typeface="宋体" pitchFamily="2" charset="-122"/>
                  </a:rPr>
                  <a:t>The proof will be covered in DESIGN AND ANALYSIS OF ALGORITHMS</a:t>
                </a:r>
                <a:r>
                  <a:rPr lang="zh-CN" altLang="en-US" dirty="0">
                    <a:ea typeface="宋体" pitchFamily="2" charset="-122"/>
                  </a:rPr>
                  <a:t> </a:t>
                </a:r>
                <a:r>
                  <a:rPr lang="en-US" altLang="zh-CN" dirty="0">
                    <a:ea typeface="宋体" pitchFamily="2" charset="-122"/>
                  </a:rPr>
                  <a:t>course,</a:t>
                </a:r>
                <a:r>
                  <a:rPr lang="zh-CN" altLang="en-US" dirty="0">
                    <a:ea typeface="宋体" pitchFamily="2" charset="-122"/>
                  </a:rPr>
                  <a:t> </a:t>
                </a:r>
                <a:r>
                  <a:rPr lang="en-US" altLang="zh-CN" dirty="0">
                    <a:ea typeface="宋体" pitchFamily="2" charset="-122"/>
                  </a:rPr>
                  <a:t>randomized</a:t>
                </a:r>
                <a:r>
                  <a:rPr lang="zh-CN" altLang="en-US" dirty="0">
                    <a:ea typeface="宋体" pitchFamily="2" charset="-122"/>
                  </a:rPr>
                  <a:t> </a:t>
                </a:r>
                <a:r>
                  <a:rPr lang="en-US" altLang="zh-CN" dirty="0">
                    <a:ea typeface="宋体" pitchFamily="2" charset="-122"/>
                  </a:rPr>
                  <a:t>algorithm</a:t>
                </a:r>
                <a:r>
                  <a:rPr lang="zh-CN" altLang="en-US" dirty="0">
                    <a:ea typeface="宋体" pitchFamily="2" charset="-122"/>
                  </a:rPr>
                  <a:t> </a:t>
                </a:r>
                <a:r>
                  <a:rPr lang="en-US" altLang="zh-CN" dirty="0">
                    <a:ea typeface="宋体" pitchFamily="2" charset="-122"/>
                  </a:rPr>
                  <a:t>analysis.</a:t>
                </a:r>
              </a:p>
              <a:p>
                <a:pPr lvl="1"/>
                <a:endParaRPr lang="en-US" altLang="zh-CN" dirty="0">
                  <a:ea typeface="宋体" pitchFamily="2" charset="-122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614" y="1447800"/>
                <a:ext cx="8049185" cy="2514600"/>
              </a:xfrm>
              <a:blipFill>
                <a:blip r:embed="rId3"/>
                <a:stretch>
                  <a:fillRect l="-1364" t="-4126" b="-2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BB946508-9C96-4A64-A6CF-3D8ACF552568}"/>
                  </a:ext>
                </a:extLst>
              </p:cNvPr>
              <p:cNvSpPr txBox="1"/>
              <p:nvPr/>
            </p:nvSpPr>
            <p:spPr>
              <a:xfrm>
                <a:off x="457200" y="4131639"/>
                <a:ext cx="7515785" cy="23335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The position of the pivot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can be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∈{0,1,…,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altLang="zh-CN" sz="2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/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BB946508-9C96-4A64-A6CF-3D8ACF552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31639"/>
                <a:ext cx="7515785" cy="2333524"/>
              </a:xfrm>
              <a:prstGeom prst="rect">
                <a:avLst/>
              </a:prstGeom>
              <a:blipFill>
                <a:blip r:embed="rId4"/>
                <a:stretch>
                  <a:fillRect l="-2348" t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087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Special Case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7614" y="1447800"/>
            <a:ext cx="8049185" cy="320040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When all elements are the same?</a:t>
            </a:r>
          </a:p>
          <a:p>
            <a:pPr lvl="1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7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of Quick Sort</a:t>
            </a:r>
            <a:endParaRPr lang="zh-CN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685800" y="4619278"/>
            <a:ext cx="8229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Quick sort is </a:t>
            </a:r>
            <a:r>
              <a:rPr lang="en-US" altLang="zh-CN" sz="2800" dirty="0">
                <a:solidFill>
                  <a:srgbClr val="0070C0"/>
                </a:solidFill>
              </a:rPr>
              <a:t>not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0070C0"/>
                </a:solidFill>
              </a:rPr>
              <a:t>stable. For example: sort A={1,1,1,1}</a:t>
            </a:r>
          </a:p>
          <a:p>
            <a:r>
              <a:rPr lang="en-US" altLang="zh-CN" sz="2800" dirty="0"/>
              <a:t>But it is the </a:t>
            </a:r>
            <a:r>
              <a:rPr lang="en-US" altLang="zh-CN" sz="2800" dirty="0">
                <a:solidFill>
                  <a:srgbClr val="0070C0"/>
                </a:solidFill>
              </a:rPr>
              <a:t>fastest</a:t>
            </a:r>
            <a:r>
              <a:rPr lang="en-US" altLang="zh-CN" sz="2800" dirty="0">
                <a:solidFill>
                  <a:schemeClr val="accent6"/>
                </a:solidFill>
              </a:rPr>
              <a:t> </a:t>
            </a:r>
            <a:r>
              <a:rPr lang="en-US" altLang="zh-CN" sz="2800" dirty="0"/>
              <a:t>in practice</a:t>
            </a:r>
          </a:p>
          <a:p>
            <a:r>
              <a:rPr lang="en-US" altLang="zh-CN" sz="2800" dirty="0"/>
              <a:t>The worst case </a:t>
            </a:r>
            <a:r>
              <a:rPr lang="en-US" altLang="zh-CN" sz="2800" dirty="0">
                <a:solidFill>
                  <a:srgbClr val="0070C0"/>
                </a:solidFill>
              </a:rPr>
              <a:t>seldomly</a:t>
            </a:r>
            <a:r>
              <a:rPr lang="en-US" altLang="zh-CN" sz="2800" dirty="0"/>
              <a:t> happens</a:t>
            </a:r>
            <a:endParaRPr lang="zh-CN" altLang="en-US" sz="28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内容占位符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14963834"/>
                  </p:ext>
                </p:extLst>
              </p:nvPr>
            </p:nvGraphicFramePr>
            <p:xfrm>
              <a:off x="1524000" y="1600200"/>
              <a:ext cx="6172200" cy="2667000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89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>
                              <a:latin typeface="+mn-lt"/>
                            </a:rPr>
                            <a:t>Best-case Running Time</a:t>
                          </a:r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altLang="zh-CN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+mn-lt"/>
                            </a:rPr>
                            <a:t>Worst-case Running Time</a:t>
                          </a:r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 baseline="30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+mn-lt"/>
                            </a:rPr>
                            <a:t>Average Running Time</a:t>
                          </a:r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内容占位符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14963834"/>
                  </p:ext>
                </p:extLst>
              </p:nvPr>
            </p:nvGraphicFramePr>
            <p:xfrm>
              <a:off x="1524000" y="1600200"/>
              <a:ext cx="6172200" cy="2667000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89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altLang="zh-CN" sz="2400" dirty="0" smtClean="0">
                              <a:latin typeface="+mn-lt"/>
                            </a:rPr>
                            <a:t>Best-case Running Time</a:t>
                          </a:r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200296" t="-685" r="-592" b="-202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 smtClean="0">
                              <a:latin typeface="+mn-lt"/>
                            </a:rPr>
                            <a:t>Worst-case Running Time</a:t>
                          </a:r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200296" t="-100685" r="-592" b="-102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9000"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 smtClean="0">
                              <a:latin typeface="+mn-lt"/>
                            </a:rPr>
                            <a:t>Average Running Time</a:t>
                          </a:r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200296" t="-200685" r="-592" b="-2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3799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Lab</a:t>
            </a:r>
            <a:r>
              <a:rPr lang="zh-CN" altLang="en-US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6881"/>
            <a:ext cx="8134350" cy="533400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Submit Lab7.cpp to iSpace which includes the following functions:</a:t>
            </a:r>
            <a:endParaRPr lang="en-US" altLang="zh-CN" sz="2400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void </a:t>
            </a:r>
            <a:r>
              <a:rPr lang="en-US" altLang="zh-CN" dirty="0" err="1">
                <a:solidFill>
                  <a:srgbClr val="0070C0"/>
                </a:solidFill>
              </a:rPr>
              <a:t>QuickSort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*A, 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left, 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right)</a:t>
            </a:r>
          </a:p>
          <a:p>
            <a:pPr lvl="2"/>
            <a:r>
              <a:rPr lang="en-US" altLang="zh-CN" sz="2000" dirty="0"/>
              <a:t>Sort array </a:t>
            </a:r>
            <a:r>
              <a:rPr lang="en-US" altLang="zh-CN" sz="2000" i="1" dirty="0"/>
              <a:t>A</a:t>
            </a:r>
            <a:r>
              <a:rPr lang="en-US" altLang="zh-CN" sz="2000" dirty="0"/>
              <a:t>[</a:t>
            </a:r>
            <a:r>
              <a:rPr lang="en-US" altLang="zh-CN" sz="2000" i="1" dirty="0" err="1"/>
              <a:t>left..right</a:t>
            </a:r>
            <a:r>
              <a:rPr lang="en-US" altLang="zh-CN" sz="2000" dirty="0"/>
              <a:t>] using quick sort</a:t>
            </a:r>
          </a:p>
          <a:p>
            <a:pPr lvl="2"/>
            <a:r>
              <a:rPr lang="en-US" altLang="zh-CN" sz="2000" dirty="0"/>
              <a:t>Pivot is picked using median-of-3 </a:t>
            </a:r>
            <a:endParaRPr lang="en-US" altLang="zh-CN" sz="20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main(void)</a:t>
            </a:r>
          </a:p>
          <a:p>
            <a:pPr lvl="2"/>
            <a:r>
              <a:rPr lang="en-US" altLang="zh-CN" sz="2000" dirty="0"/>
              <a:t>Let</a:t>
            </a:r>
            <a:r>
              <a:rPr lang="zh-CN" altLang="en-US" sz="2000" dirty="0"/>
              <a:t> </a:t>
            </a:r>
            <a:r>
              <a:rPr lang="en-US" altLang="zh-CN" sz="2000" dirty="0"/>
              <a:t>n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size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input</a:t>
            </a:r>
            <a:r>
              <a:rPr lang="zh-CN" altLang="en-US" sz="2000" dirty="0"/>
              <a:t> </a:t>
            </a:r>
            <a:r>
              <a:rPr lang="en-US" altLang="zh-CN" sz="2000" dirty="0"/>
              <a:t>array,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n=10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n=10</a:t>
            </a:r>
            <a:r>
              <a:rPr lang="en-US" altLang="zh-CN" sz="2000" baseline="30000" dirty="0"/>
              <a:t>5</a:t>
            </a:r>
            <a:r>
              <a:rPr lang="en-US" altLang="zh-CN" sz="2000" dirty="0"/>
              <a:t> do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following</a:t>
            </a:r>
            <a:r>
              <a:rPr lang="zh-CN" altLang="en-US" sz="2000" dirty="0"/>
              <a:t> </a:t>
            </a:r>
            <a:r>
              <a:rPr lang="en-US" altLang="zh-CN" sz="2000" dirty="0"/>
              <a:t>operations</a:t>
            </a:r>
          </a:p>
          <a:p>
            <a:pPr lvl="2"/>
            <a:r>
              <a:rPr lang="en-US" altLang="zh-CN" sz="2000" dirty="0"/>
              <a:t>Generate an array, A1, consisting of n</a:t>
            </a:r>
            <a:r>
              <a:rPr lang="zh-CN" altLang="en-US" sz="2000" dirty="0"/>
              <a:t> </a:t>
            </a:r>
            <a:r>
              <a:rPr lang="en-US" altLang="zh-CN" sz="2000" dirty="0"/>
              <a:t>random integers</a:t>
            </a:r>
          </a:p>
          <a:p>
            <a:pPr lvl="3"/>
            <a:r>
              <a:rPr lang="en-US" altLang="zh-CN" sz="2000" dirty="0"/>
              <a:t>Note: Use </a:t>
            </a:r>
            <a:r>
              <a:rPr lang="en-US" altLang="zh-CN" sz="2000" dirty="0" err="1"/>
              <a:t>malloc</a:t>
            </a:r>
            <a:r>
              <a:rPr lang="en-US" altLang="zh-CN" sz="2000" dirty="0"/>
              <a:t> to claim an array</a:t>
            </a:r>
          </a:p>
          <a:p>
            <a:pPr lvl="2"/>
            <a:r>
              <a:rPr lang="en-US" altLang="zh-CN" sz="2000" dirty="0"/>
              <a:t>Sort A1</a:t>
            </a:r>
            <a:r>
              <a:rPr lang="en-US" altLang="zh-CN" sz="2000" i="1" dirty="0"/>
              <a:t> </a:t>
            </a:r>
            <a:r>
              <a:rPr lang="en-US" altLang="zh-CN" sz="2000" dirty="0"/>
              <a:t>using </a:t>
            </a:r>
            <a:r>
              <a:rPr lang="en-US" altLang="zh-CN" sz="2000" dirty="0" err="1"/>
              <a:t>QuickSort</a:t>
            </a:r>
            <a:r>
              <a:rPr lang="en-US" altLang="zh-CN" sz="2000" dirty="0"/>
              <a:t>()</a:t>
            </a:r>
          </a:p>
          <a:p>
            <a:pPr lvl="2"/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input</a:t>
            </a:r>
            <a:r>
              <a:rPr lang="zh-CN" altLang="en-US" sz="2000" dirty="0"/>
              <a:t> </a:t>
            </a:r>
            <a:r>
              <a:rPr lang="en-US" altLang="zh-CN" sz="2000" dirty="0"/>
              <a:t>size</a:t>
            </a:r>
            <a:r>
              <a:rPr lang="zh-CN" altLang="en-US" sz="2000" dirty="0"/>
              <a:t> </a:t>
            </a:r>
            <a:r>
              <a:rPr lang="en-US" altLang="zh-CN" sz="2000" dirty="0"/>
              <a:t>n</a:t>
            </a:r>
            <a:r>
              <a:rPr lang="zh-CN" altLang="en-US" sz="2000" dirty="0"/>
              <a:t> </a:t>
            </a:r>
            <a:r>
              <a:rPr lang="en-US" altLang="zh-CN" sz="2000" dirty="0"/>
              <a:t>=10</a:t>
            </a:r>
            <a:r>
              <a:rPr lang="zh-CN" altLang="en-US" sz="2000" dirty="0"/>
              <a:t> 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print the array</a:t>
            </a:r>
            <a:r>
              <a:rPr lang="zh-CN" altLang="en-US" sz="2000" dirty="0"/>
              <a:t> </a:t>
            </a:r>
            <a:r>
              <a:rPr lang="en-US" altLang="zh-CN" sz="2000" dirty="0"/>
              <a:t>before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after</a:t>
            </a:r>
            <a:r>
              <a:rPr lang="zh-CN" altLang="en-US" sz="2000" dirty="0"/>
              <a:t> </a:t>
            </a:r>
            <a:r>
              <a:rPr lang="en-US" altLang="zh-CN" sz="2000" dirty="0"/>
              <a:t>sorting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input</a:t>
            </a:r>
            <a:r>
              <a:rPr lang="zh-CN" altLang="en-US" sz="2000" dirty="0"/>
              <a:t> </a:t>
            </a:r>
            <a:r>
              <a:rPr lang="en-US" altLang="zh-CN" sz="2000" dirty="0"/>
              <a:t>size</a:t>
            </a:r>
            <a:r>
              <a:rPr lang="zh-CN" altLang="en-US" sz="2000" dirty="0"/>
              <a:t> </a:t>
            </a:r>
            <a:r>
              <a:rPr lang="en-US" altLang="zh-CN" sz="2000" dirty="0"/>
              <a:t>n</a:t>
            </a:r>
            <a:r>
              <a:rPr lang="zh-CN" altLang="en-US" sz="2000" dirty="0"/>
              <a:t> </a:t>
            </a:r>
            <a:r>
              <a:rPr lang="en-US" altLang="zh-CN" sz="2000" dirty="0"/>
              <a:t>=10</a:t>
            </a:r>
            <a:r>
              <a:rPr lang="en-US" altLang="zh-CN" sz="2000" baseline="30000" dirty="0"/>
              <a:t>5</a:t>
            </a:r>
            <a:r>
              <a:rPr lang="zh-CN" altLang="en-US" sz="2000" baseline="30000" dirty="0"/>
              <a:t> </a:t>
            </a:r>
            <a:r>
              <a:rPr lang="en-US" altLang="zh-CN" sz="2000" dirty="0"/>
              <a:t>,print</a:t>
            </a:r>
            <a:r>
              <a:rPr lang="zh-CN" altLang="en-US" sz="2000" dirty="0"/>
              <a:t> </a:t>
            </a:r>
            <a:r>
              <a:rPr lang="en-US" altLang="zh-CN" sz="2000" dirty="0"/>
              <a:t>elapsed time in </a:t>
            </a:r>
            <a:r>
              <a:rPr lang="en-US" altLang="zh-CN" sz="2000" dirty="0">
                <a:solidFill>
                  <a:srgbClr val="C00000"/>
                </a:solidFill>
              </a:rPr>
              <a:t>milliseconds</a:t>
            </a:r>
            <a:r>
              <a:rPr lang="en-US" altLang="zh-CN" sz="2000" dirty="0"/>
              <a:t> for </a:t>
            </a:r>
            <a:r>
              <a:rPr lang="en-US" altLang="zh-CN" sz="2000" dirty="0" err="1"/>
              <a:t>QuickSort</a:t>
            </a:r>
            <a:r>
              <a:rPr lang="en-US" altLang="zh-CN" sz="2000" dirty="0"/>
              <a:t>  function.</a:t>
            </a:r>
          </a:p>
          <a:p>
            <a:endParaRPr lang="en-US" altLang="zh-CN" sz="1400" dirty="0">
              <a:solidFill>
                <a:srgbClr val="C00000"/>
              </a:solidFill>
              <a:latin typeface="+mn-lt"/>
              <a:ea typeface="宋体" charset="-122"/>
            </a:endParaRPr>
          </a:p>
          <a:p>
            <a:endParaRPr lang="en-US" altLang="zh-CN" sz="3200" dirty="0">
              <a:ea typeface="宋体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7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7298</TotalTime>
  <Words>2490</Words>
  <Application>Microsoft Office PowerPoint</Application>
  <PresentationFormat>全屏显示(4:3)</PresentationFormat>
  <Paragraphs>511</Paragraphs>
  <Slides>34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Courier</vt:lpstr>
      <vt:lpstr>DengXian</vt:lpstr>
      <vt:lpstr>宋体</vt:lpstr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Office Theme</vt:lpstr>
      <vt:lpstr>Data Structures and Algorithms  Lecture 7: Quick Sort (快速排序)</vt:lpstr>
      <vt:lpstr>Outline</vt:lpstr>
      <vt:lpstr>Introduction</vt:lpstr>
      <vt:lpstr>The TOP10 Algorithms From The 20th Century</vt:lpstr>
      <vt:lpstr>Divide and Conquer</vt:lpstr>
      <vt:lpstr>Divide</vt:lpstr>
      <vt:lpstr>Conquer</vt:lpstr>
      <vt:lpstr>Combine</vt:lpstr>
      <vt:lpstr>Example</vt:lpstr>
      <vt:lpstr>Animation</vt:lpstr>
      <vt:lpstr>Pseudo Code</vt:lpstr>
      <vt:lpstr>Partitioning</vt:lpstr>
      <vt:lpstr>Partitioning Strategy</vt:lpstr>
      <vt:lpstr>Partitioning Strategy</vt:lpstr>
      <vt:lpstr>Partitioning Strategy</vt:lpstr>
      <vt:lpstr>Partitioning Strategy</vt:lpstr>
      <vt:lpstr>Partitioning Strategy</vt:lpstr>
      <vt:lpstr>Pseudo Code for Partition</vt:lpstr>
      <vt:lpstr>Small Arrays</vt:lpstr>
      <vt:lpstr>Quick Sort + Small Array Strategy</vt:lpstr>
      <vt:lpstr>Picking the Pivot- Strategy 1</vt:lpstr>
      <vt:lpstr>Picking the Pivot- Strategy 2</vt:lpstr>
      <vt:lpstr>Picking the Pivot- Strategy 3</vt:lpstr>
      <vt:lpstr>Picking the Pivot- Strategy 4</vt:lpstr>
      <vt:lpstr>Median3 Example</vt:lpstr>
      <vt:lpstr>Partition with Median3</vt:lpstr>
      <vt:lpstr>Quicksort VS Mergesort</vt:lpstr>
      <vt:lpstr>Analysis</vt:lpstr>
      <vt:lpstr>Worst-Case Analysis</vt:lpstr>
      <vt:lpstr>Best-case Analysis</vt:lpstr>
      <vt:lpstr>Average-case Analysis</vt:lpstr>
      <vt:lpstr>Special Case</vt:lpstr>
      <vt:lpstr>Analysis of Quick Sort</vt:lpstr>
      <vt:lpstr>Lab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Lecture 1: C</dc:title>
  <dc:creator>UIC</dc:creator>
  <cp:lastModifiedBy>Windows User</cp:lastModifiedBy>
  <cp:revision>471</cp:revision>
  <dcterms:created xsi:type="dcterms:W3CDTF">2006-08-16T00:00:00Z</dcterms:created>
  <dcterms:modified xsi:type="dcterms:W3CDTF">2023-11-15T15:35:58Z</dcterms:modified>
</cp:coreProperties>
</file>