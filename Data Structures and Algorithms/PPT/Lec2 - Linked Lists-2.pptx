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0"/>
  </p:notesMasterIdLst>
  <p:sldIdLst>
    <p:sldId id="326" r:id="rId2"/>
    <p:sldId id="285" r:id="rId3"/>
    <p:sldId id="327" r:id="rId4"/>
    <p:sldId id="328" r:id="rId5"/>
    <p:sldId id="289" r:id="rId6"/>
    <p:sldId id="329" r:id="rId7"/>
    <p:sldId id="290" r:id="rId8"/>
    <p:sldId id="330" r:id="rId9"/>
    <p:sldId id="331" r:id="rId10"/>
    <p:sldId id="325" r:id="rId11"/>
    <p:sldId id="294" r:id="rId12"/>
    <p:sldId id="332" r:id="rId13"/>
    <p:sldId id="298" r:id="rId14"/>
    <p:sldId id="299" r:id="rId15"/>
    <p:sldId id="300" r:id="rId16"/>
    <p:sldId id="301" r:id="rId17"/>
    <p:sldId id="333" r:id="rId18"/>
    <p:sldId id="334" r:id="rId19"/>
    <p:sldId id="345" r:id="rId20"/>
    <p:sldId id="346" r:id="rId21"/>
    <p:sldId id="335" r:id="rId22"/>
    <p:sldId id="336" r:id="rId23"/>
    <p:sldId id="337" r:id="rId24"/>
    <p:sldId id="338" r:id="rId25"/>
    <p:sldId id="339" r:id="rId26"/>
    <p:sldId id="323" r:id="rId27"/>
    <p:sldId id="324" r:id="rId28"/>
    <p:sldId id="309" r:id="rId29"/>
    <p:sldId id="340" r:id="rId30"/>
    <p:sldId id="341" r:id="rId31"/>
    <p:sldId id="342" r:id="rId32"/>
    <p:sldId id="343" r:id="rId33"/>
    <p:sldId id="344" r:id="rId34"/>
    <p:sldId id="316" r:id="rId35"/>
    <p:sldId id="317" r:id="rId36"/>
    <p:sldId id="318" r:id="rId37"/>
    <p:sldId id="319" r:id="rId38"/>
    <p:sldId id="320" r:id="rId3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91"/>
    <p:restoredTop sz="72940" autoAdjust="0"/>
  </p:normalViewPr>
  <p:slideViewPr>
    <p:cSldViewPr>
      <p:cViewPr varScale="1">
        <p:scale>
          <a:sx n="48" d="100"/>
          <a:sy n="48" d="100"/>
        </p:scale>
        <p:origin x="161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43F9D-0BE7-4D95-AB29-6EF42525F0B1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DCDC2-C1D2-44CB-8970-27B4CFF25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fld id="{E6EC4856-D67C-4F1F-90E1-0F510B67FE9A}" type="slidenum">
              <a:rPr lang="en-US" altLang="zh-CN" sz="1000">
                <a:latin typeface="Times New Roman" pitchFamily="18" charset="0"/>
              </a:rPr>
              <a:pPr/>
              <a:t>1</a:t>
            </a:fld>
            <a:endParaRPr lang="en-US" altLang="zh-CN" sz="1000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4538"/>
            <a:ext cx="4959350" cy="3719512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discuss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 of the most simple and basic data structures. Virtually every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significant program will use at least one of these structures explicitly, and a stack is always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implicitly used in a program, whether or not you declare one.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List,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Stack,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Queue</a:t>
            </a: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data structure is a specialized format for organizing and storing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Any data structure is designed to organize data to suit a specific purpose so that it can be accessed and worked with in appropriate ways. In computer programming, a data structure may be selected or designed to store data for the purpose of working on it with various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algorithm.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5817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63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abstract data type  (ADT ) is a set of data items together with a set of operations. Abstract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types are mathematical abstractions; nowhere in an ADT ’s definition is there any mention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how  the set of operations is implemented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Abstract - implementation details are not specified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11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interior mechanisms of an implemented ADT should be hidden and inaccessible to the user!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Encapsulation is an important discipline even when the language doesn't fully support it.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35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module is a set of methods that work together as a whole to perform some task or set of related tasks. </a:t>
            </a:r>
          </a:p>
          <a:p>
            <a:r>
              <a:rPr lang="en-US" altLang="zh-CN" dirty="0"/>
              <a:t>A module is ‘encapsulated’</a:t>
            </a:r>
            <a:r>
              <a:rPr lang="en-US" altLang="zh-CN" baseline="0" dirty="0"/>
              <a:t> </a:t>
            </a:r>
            <a:r>
              <a:rPr lang="en-US" altLang="zh-CN" dirty="0"/>
              <a:t>if its implementation is completely hidden, and it can be accessed only through a documented interface.</a:t>
            </a:r>
          </a:p>
          <a:p>
            <a:endParaRPr lang="en-US" altLang="zh-CN" dirty="0"/>
          </a:p>
          <a:p>
            <a:r>
              <a:rPr lang="en-US" altLang="zh-CN" dirty="0"/>
              <a:t>Many ADTs implement generic data structures  that can be reused</a:t>
            </a:r>
            <a:r>
              <a:rPr lang="en-US" altLang="zh-CN" baseline="0" dirty="0"/>
              <a:t> across different projects with few or no modification.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73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C, there is no mechanism for different levels of access control (public, private)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Modular programming in C provides the benefits of information hiding.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declaration and definition and implementations can be included in single source files, not the user source code files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the definition of the implementation is not included in the user source code files, they are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79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these instructions can be implemented just by using an array. </a:t>
            </a:r>
            <a:br>
              <a:rPr lang="en-US" altLang="zh-CN" dirty="0"/>
            </a:b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an array, an estimate of the maximum size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the list was required</a:t>
            </a:r>
            <a:r>
              <a:rPr lang="en-US" altLang="zh-CN" dirty="0"/>
              <a:t> </a:t>
            </a:r>
          </a:p>
          <a:p>
            <a:pPr marL="228600" indent="-228600">
              <a:buAutoNum type="arabicPeriod"/>
            </a:pPr>
            <a:r>
              <a:rPr lang="en-US" altLang="zh-CN" dirty="0"/>
              <a:t>Using</a:t>
            </a:r>
            <a:r>
              <a:rPr lang="en-US" altLang="zh-CN" baseline="0" dirty="0"/>
              <a:t> </a:t>
            </a:r>
            <a:r>
              <a:rPr lang="en-US" altLang="zh-CN" b="1" baseline="0" dirty="0">
                <a:solidFill>
                  <a:srgbClr val="FF0000"/>
                </a:solidFill>
              </a:rPr>
              <a:t>dynamic memory allocation </a:t>
            </a:r>
            <a:r>
              <a:rPr lang="en-US" altLang="zh-CN" baseline="0" dirty="0"/>
              <a:t>for the array initialization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47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printList</a:t>
            </a:r>
            <a:r>
              <a:rPr lang="en-US" altLang="zh-CN" dirty="0"/>
              <a:t> – can be carried</a:t>
            </a:r>
            <a:r>
              <a:rPr lang="en-US" altLang="zh-CN" baseline="0" dirty="0"/>
              <a:t> out in linear time</a:t>
            </a:r>
          </a:p>
          <a:p>
            <a:endParaRPr lang="en-US" altLang="zh-CN" baseline="0" dirty="0"/>
          </a:p>
          <a:p>
            <a:r>
              <a:rPr lang="en-US" altLang="zh-CN" baseline="0" dirty="0" err="1"/>
              <a:t>findKth</a:t>
            </a:r>
            <a:r>
              <a:rPr lang="en-US" altLang="zh-CN" baseline="0" dirty="0"/>
              <a:t> – can be carried out constant time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Insert or delete depends on where the insertion and deletion occur.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Worst case, insertion into position 0 (at the front of the list), requires to push the entire array down one spot to make room</a:t>
            </a:r>
          </a:p>
          <a:p>
            <a:r>
              <a:rPr lang="en-US" altLang="zh-CN" baseline="0" dirty="0"/>
              <a:t>                   deleting the first element requires shifting all the elements in the list up one spot, so the worst case is O(N)</a:t>
            </a:r>
          </a:p>
          <a:p>
            <a:r>
              <a:rPr lang="en-US" altLang="zh-CN" baseline="0" dirty="0"/>
              <a:t>Best case, if insert or delete happens at the end of the list, no elements need to be shifted.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Find – depends on the position of the elements, worst case need to visit every element in the list.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many situations where the list is built up by insertions at the high end,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then only array accesses (i.e.,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findKth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operations) occur. In such a case, the array is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suitable implementation. However, if insertions and deletions occur throughout the list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and, in particular, at the front of the list, then the array is not a good option.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en-US" altLang="zh-CN" baseline="0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Pro:</a:t>
            </a:r>
          </a:p>
          <a:p>
            <a:pPr marL="228600" indent="-228600">
              <a:buAutoNum type="arabicPeriod"/>
            </a:pP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 to use and access </a:t>
            </a:r>
          </a:p>
          <a:p>
            <a:pPr marL="228600" indent="-228600">
              <a:buAutoNum type="arabicPeriod"/>
            </a:pP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 access for position-based array access</a:t>
            </a:r>
          </a:p>
          <a:p>
            <a:pPr marL="0" indent="0">
              <a:buNone/>
            </a:pP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Cons:</a:t>
            </a:r>
          </a:p>
          <a:p>
            <a:pPr marL="228600" indent="-228600">
              <a:buAutoNum type="arabicPeriod"/>
            </a:pP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efficient for insert, remove and find for not high end positions. Not suitable for data which has high update frequency.</a:t>
            </a:r>
          </a:p>
          <a:p>
            <a:pPr marL="228600" indent="-228600">
              <a:buAutoNum type="arabicPeriod"/>
            </a:pP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 has a fixed size of memory, need to estimate the number of elements, resize the array is very inefficient.</a:t>
            </a:r>
          </a:p>
          <a:p>
            <a:pPr marL="228600" indent="-228600">
              <a:buAutoNum type="arabicPeriod"/>
            </a:pP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data in the array-based list must be stored sequentially in memory. Large list will require significant continuous block of memory.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31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order to avoid the linear cost of insertion and deletion, we need to ensure that the list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not stored contiguously, since otherwise entire parts of the list will need to be moved.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linked list consists of a series of nodes, which are not necessarily adjacent in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memory. Each node contains the element and a link to a node containing its successor. We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 this the next link. The last cell’s next link points to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nullptr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altLang="zh-CN" dirty="0"/>
              <a:t> 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34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execute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printList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or find(x), we merely start at the first node in the list and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traverse 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遍历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the list by following the next links. This operation is clearly linear-time, as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array implementation; </a:t>
            </a:r>
            <a:br>
              <a:rPr lang="en-US" altLang="zh-CN" dirty="0"/>
            </a:br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findKth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operation is no longer quite as efficient as an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 implementation;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findKth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takes 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time and works by traversing down the list in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obvious manner.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remove method can be executed in one next pointer change.</a:t>
            </a:r>
          </a:p>
          <a:p>
            <a:r>
              <a:rPr lang="en-US" altLang="zh-CN" dirty="0"/>
              <a:t>insert method</a:t>
            </a:r>
            <a:r>
              <a:rPr lang="en-US" altLang="zh-CN" baseline="0" dirty="0"/>
              <a:t> requires obtaining a new node from the system and executing two next pointers maneuvers.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we can see, in principle, if we know where a change is to be made, inserting or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removing an item from a linked list does not require moving lots of items, and instead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involves only a constant number of changes to node links.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special case of adding to the front or removing the first item is thus a constant time operation, presuming of course that a link to the front of the linked list is maintained.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special case of adding at the end (i.e., making the new item the last item) can be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constant-time, as long as we maintain a link to the last node.</a:t>
            </a:r>
          </a:p>
          <a:p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Removing the last node, we also need to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 every node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maintain a link to its previous node in the list.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Pros:</a:t>
            </a:r>
          </a:p>
          <a:p>
            <a:pPr marL="228600" indent="-228600">
              <a:buAutoNum type="arabicPeriod"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linked list can be of any length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it can grow</a:t>
            </a:r>
          </a:p>
          <a:p>
            <a:pPr marL="228600" indent="-228600">
              <a:buAutoNum type="arabicPeriod"/>
            </a:pP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Elements are not stored contiguous in memory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altLang="zh-CN" dirty="0"/>
              <a:t>Nodes</a:t>
            </a:r>
            <a:r>
              <a:rPr lang="en-US" altLang="zh-CN" baseline="0" dirty="0"/>
              <a:t> can be inserted and deleted in minimal running time</a:t>
            </a:r>
          </a:p>
          <a:p>
            <a:pPr marL="0" indent="0">
              <a:buNone/>
            </a:pPr>
            <a:endParaRPr lang="en-US" altLang="zh-CN" baseline="0" dirty="0"/>
          </a:p>
          <a:p>
            <a:pPr marL="0" indent="0">
              <a:buNone/>
            </a:pPr>
            <a:r>
              <a:rPr lang="en-US" altLang="zh-CN" baseline="0" dirty="0"/>
              <a:t>Cons:</a:t>
            </a:r>
            <a:br>
              <a:rPr lang="en-US" altLang="zh-CN" dirty="0"/>
            </a:br>
            <a:r>
              <a:rPr lang="en-US" altLang="zh-CN" dirty="0"/>
              <a:t>1.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more memory than arrays because of the storage used by their pointers</a:t>
            </a:r>
          </a:p>
          <a:p>
            <a:pPr marL="0" indent="0">
              <a:buNone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No random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access of elements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1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insert/remove – Linked list is better</a:t>
            </a:r>
          </a:p>
          <a:p>
            <a:r>
              <a:rPr lang="en-US" altLang="zh-CN" dirty="0" err="1"/>
              <a:t>findKth</a:t>
            </a:r>
            <a:r>
              <a:rPr lang="en-US" altLang="zh-CN" dirty="0"/>
              <a:t> – Array</a:t>
            </a:r>
            <a:r>
              <a:rPr lang="en-US" altLang="zh-CN" baseline="0" dirty="0"/>
              <a:t> is better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find – same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Space – Array needs contiguous memory</a:t>
            </a:r>
          </a:p>
          <a:p>
            <a:r>
              <a:rPr lang="en-US" altLang="zh-CN" baseline="0" dirty="0"/>
              <a:t>Linked List – Does not need contiguous memory but use more memory than arrays in order to save the pointer information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Array is preferred when once write many times read.</a:t>
            </a:r>
          </a:p>
          <a:p>
            <a:endParaRPr lang="en-US" altLang="zh-CN" baseline="0" dirty="0"/>
          </a:p>
          <a:p>
            <a:r>
              <a:rPr lang="en-US" altLang="zh-CN" baseline="0" dirty="0" err="1"/>
              <a:t>Linkedlist</a:t>
            </a:r>
            <a:r>
              <a:rPr lang="en-US" altLang="zh-CN" baseline="0" dirty="0"/>
              <a:t> is preferred when many times of insert/remove is needed.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74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 that we are defining the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 recursive manner.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C, you cannot reference the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typedef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you're creating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withing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structure itself. You have to use the structure name, as in the following test program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typedef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 { xxx} Node;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 a new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called node</a:t>
            </a:r>
          </a:p>
          <a:p>
            <a:pPr marL="228600" indent="-228600">
              <a:buAutoNum type="arabicPeriod"/>
            </a:pP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this type a new name Node.</a:t>
            </a:r>
          </a:p>
          <a:p>
            <a:pPr marL="0" indent="0">
              <a:buNone/>
            </a:pPr>
            <a:endParaRPr lang="en-US" altLang="zh-CN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 n</a:t>
            </a:r>
            <a:r>
              <a:rPr lang="zh-CN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equivalent with </a:t>
            </a:r>
            <a:r>
              <a:rPr lang="en-US" altLang="zh-CN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 n;</a:t>
            </a:r>
          </a:p>
          <a:p>
            <a:pPr marL="0" indent="0">
              <a:buNone/>
            </a:pPr>
            <a:endParaRPr lang="en-US" altLang="zh-CN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71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00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head</a:t>
            </a:r>
            <a:r>
              <a:rPr lang="zh-CN" altLang="en-US" baseline="0" dirty="0"/>
              <a:t> </a:t>
            </a:r>
            <a:r>
              <a:rPr lang="en-US" altLang="zh-CN" baseline="0" dirty="0"/>
              <a:t>value</a:t>
            </a:r>
            <a:r>
              <a:rPr lang="zh-CN" altLang="en-US" baseline="0" dirty="0"/>
              <a:t> </a:t>
            </a:r>
            <a:r>
              <a:rPr lang="en-US" altLang="zh-CN" baseline="0" dirty="0"/>
              <a:t>to</a:t>
            </a:r>
            <a:r>
              <a:rPr lang="zh-CN" altLang="en-US" baseline="0" dirty="0"/>
              <a:t> </a:t>
            </a:r>
            <a:r>
              <a:rPr lang="en-US" altLang="zh-CN" baseline="0" dirty="0"/>
              <a:t>pointing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new</a:t>
            </a:r>
            <a:r>
              <a:rPr lang="zh-CN" altLang="en-US" baseline="0" dirty="0"/>
              <a:t> </a:t>
            </a:r>
            <a:r>
              <a:rPr lang="en-US" altLang="zh-CN" baseline="0" dirty="0"/>
              <a:t>node</a:t>
            </a:r>
            <a:r>
              <a:rPr lang="zh-CN" altLang="en-US" baseline="0" dirty="0"/>
              <a:t> </a:t>
            </a:r>
            <a:r>
              <a:rPr lang="en-US" altLang="zh-CN" baseline="0" dirty="0"/>
              <a:t>if</a:t>
            </a:r>
            <a:r>
              <a:rPr lang="zh-CN" altLang="en-US" baseline="0" dirty="0"/>
              <a:t> </a:t>
            </a:r>
            <a:r>
              <a:rPr lang="en-US" altLang="zh-CN" baseline="0" dirty="0"/>
              <a:t>new</a:t>
            </a:r>
            <a:r>
              <a:rPr lang="zh-CN" altLang="en-US" baseline="0" dirty="0"/>
              <a:t> </a:t>
            </a:r>
            <a:r>
              <a:rPr lang="en-US" altLang="zh-CN" baseline="0" dirty="0"/>
              <a:t>node</a:t>
            </a:r>
            <a:r>
              <a:rPr lang="zh-CN" altLang="en-US" baseline="0" dirty="0"/>
              <a:t> </a:t>
            </a:r>
            <a:r>
              <a:rPr lang="en-US" altLang="zh-CN" baseline="0" dirty="0"/>
              <a:t>is</a:t>
            </a:r>
            <a:r>
              <a:rPr lang="zh-CN" altLang="en-US" baseline="0" dirty="0"/>
              <a:t> </a:t>
            </a:r>
            <a:r>
              <a:rPr lang="en-US" altLang="zh-CN" baseline="0" dirty="0"/>
              <a:t>insert</a:t>
            </a:r>
            <a:r>
              <a:rPr lang="zh-CN" altLang="en-US" baseline="0" dirty="0"/>
              <a:t> </a:t>
            </a:r>
            <a:r>
              <a:rPr lang="en-US" altLang="zh-CN" baseline="0" dirty="0"/>
              <a:t>as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first</a:t>
            </a:r>
            <a:r>
              <a:rPr lang="zh-CN" altLang="en-US" baseline="0" dirty="0"/>
              <a:t> </a:t>
            </a:r>
            <a:r>
              <a:rPr lang="en-US" altLang="zh-CN" baseline="0" dirty="0"/>
              <a:t>element.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head</a:t>
            </a:r>
            <a:r>
              <a:rPr lang="zh-CN" altLang="en-US" baseline="0" dirty="0"/>
              <a:t> </a:t>
            </a:r>
            <a:r>
              <a:rPr lang="en-US" altLang="zh-CN" baseline="0" dirty="0"/>
              <a:t>is</a:t>
            </a:r>
            <a:r>
              <a:rPr lang="zh-CN" altLang="en-US" baseline="0" dirty="0"/>
              <a:t> </a:t>
            </a:r>
            <a:r>
              <a:rPr lang="en-US" altLang="zh-CN" baseline="0" dirty="0"/>
              <a:t>not</a:t>
            </a:r>
            <a:r>
              <a:rPr lang="zh-CN" altLang="en-US" baseline="0" dirty="0"/>
              <a:t> </a:t>
            </a:r>
            <a:r>
              <a:rPr lang="en-US" altLang="zh-CN" baseline="0" dirty="0"/>
              <a:t>in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return</a:t>
            </a:r>
            <a:r>
              <a:rPr lang="zh-CN" altLang="en-US" baseline="0" dirty="0"/>
              <a:t> </a:t>
            </a:r>
            <a:r>
              <a:rPr lang="en-US" altLang="zh-CN" baseline="0" dirty="0"/>
              <a:t>list,</a:t>
            </a:r>
            <a:r>
              <a:rPr lang="zh-CN" altLang="en-US" baseline="0" dirty="0"/>
              <a:t> </a:t>
            </a:r>
            <a:r>
              <a:rPr lang="en-US" altLang="zh-CN" baseline="0" dirty="0"/>
              <a:t>have</a:t>
            </a:r>
            <a:r>
              <a:rPr lang="zh-CN" altLang="en-US" baseline="0" dirty="0"/>
              <a:t> </a:t>
            </a:r>
            <a:r>
              <a:rPr lang="en-US" altLang="zh-CN" baseline="0" dirty="0"/>
              <a:t>to</a:t>
            </a:r>
            <a:r>
              <a:rPr lang="zh-CN" altLang="en-US" baseline="0" dirty="0"/>
              <a:t> </a:t>
            </a:r>
            <a:r>
              <a:rPr lang="en-US" altLang="zh-CN" baseline="0" dirty="0"/>
              <a:t>using</a:t>
            </a:r>
            <a:r>
              <a:rPr lang="zh-CN" altLang="en-US" baseline="0" dirty="0"/>
              <a:t> </a:t>
            </a:r>
            <a:r>
              <a:rPr lang="en-US" altLang="zh-CN" baseline="0" dirty="0"/>
              <a:t>&amp;head,</a:t>
            </a:r>
            <a:r>
              <a:rPr lang="zh-CN" altLang="en-US" baseline="0" dirty="0"/>
              <a:t> </a:t>
            </a:r>
            <a:r>
              <a:rPr lang="en-US" altLang="zh-CN" baseline="0" dirty="0"/>
              <a:t>to</a:t>
            </a:r>
            <a:r>
              <a:rPr lang="zh-CN" altLang="en-US" baseline="0" dirty="0"/>
              <a:t> </a:t>
            </a:r>
            <a:r>
              <a:rPr lang="en-US" altLang="zh-CN" baseline="0" dirty="0"/>
              <a:t>enable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value</a:t>
            </a:r>
            <a:r>
              <a:rPr lang="zh-CN" altLang="en-US" baseline="0" dirty="0"/>
              <a:t> </a:t>
            </a:r>
            <a:r>
              <a:rPr lang="en-US" altLang="zh-CN" baseline="0" dirty="0"/>
              <a:t>change</a:t>
            </a:r>
            <a:r>
              <a:rPr lang="zh-CN" altLang="en-US" baseline="0" dirty="0"/>
              <a:t> </a:t>
            </a:r>
            <a:r>
              <a:rPr lang="en-US" altLang="zh-CN" baseline="0" dirty="0"/>
              <a:t>inside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InsertNode</a:t>
            </a:r>
            <a:r>
              <a:rPr lang="zh-CN" altLang="en-US" baseline="0" dirty="0"/>
              <a:t> </a:t>
            </a:r>
            <a:r>
              <a:rPr lang="en-US" altLang="zh-CN" baseline="0" dirty="0"/>
              <a:t>function.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Node</a:t>
            </a:r>
            <a:r>
              <a:rPr lang="zh-CN" altLang="en-US" dirty="0"/>
              <a:t> ** </a:t>
            </a:r>
            <a:r>
              <a:rPr lang="en-US" altLang="zh-CN" dirty="0" err="1"/>
              <a:t>phead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head</a:t>
            </a:r>
            <a:endParaRPr lang="en-US" dirty="0"/>
          </a:p>
          <a:p>
            <a:r>
              <a:rPr lang="en-US" altLang="zh-CN" dirty="0"/>
              <a:t>Update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head</a:t>
            </a:r>
            <a:r>
              <a:rPr lang="zh-CN" altLang="en-US" baseline="0" dirty="0"/>
              <a:t> </a:t>
            </a:r>
            <a:r>
              <a:rPr lang="en-US" altLang="zh-CN" baseline="0" dirty="0"/>
              <a:t>value</a:t>
            </a:r>
            <a:r>
              <a:rPr lang="zh-CN" altLang="en-US" baseline="0" dirty="0"/>
              <a:t> </a:t>
            </a:r>
            <a:r>
              <a:rPr lang="en-US" altLang="zh-CN" baseline="0" dirty="0"/>
              <a:t>to</a:t>
            </a:r>
            <a:r>
              <a:rPr lang="zh-CN" altLang="en-US" baseline="0" dirty="0"/>
              <a:t> </a:t>
            </a:r>
            <a:r>
              <a:rPr lang="en-US" altLang="zh-CN" baseline="0" dirty="0"/>
              <a:t>pointing</a:t>
            </a:r>
            <a:r>
              <a:rPr lang="zh-CN" altLang="en-US" baseline="0" dirty="0"/>
              <a:t> </a:t>
            </a:r>
            <a:r>
              <a:rPr lang="en-US" altLang="zh-CN" baseline="0" dirty="0"/>
              <a:t>to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new</a:t>
            </a:r>
            <a:r>
              <a:rPr lang="zh-CN" altLang="en-US" baseline="0" dirty="0"/>
              <a:t> </a:t>
            </a:r>
            <a:r>
              <a:rPr lang="en-US" altLang="zh-CN" baseline="0" dirty="0"/>
              <a:t>inserted</a:t>
            </a:r>
            <a:r>
              <a:rPr lang="zh-CN" altLang="en-US" baseline="0" dirty="0"/>
              <a:t> </a:t>
            </a:r>
            <a:r>
              <a:rPr lang="en-US" altLang="zh-CN" baseline="0" dirty="0"/>
              <a:t>head</a:t>
            </a:r>
          </a:p>
          <a:p>
            <a:endParaRPr lang="en-US" baseline="0" dirty="0"/>
          </a:p>
          <a:p>
            <a:r>
              <a:rPr lang="en-US" altLang="zh-CN" baseline="0" dirty="0" err="1"/>
              <a:t>Ohterwise</a:t>
            </a:r>
            <a:r>
              <a:rPr lang="en-US" altLang="zh-CN" baseline="0" dirty="0"/>
              <a:t>,</a:t>
            </a:r>
            <a:r>
              <a:rPr lang="zh-CN" altLang="en-US" baseline="0" dirty="0"/>
              <a:t> </a:t>
            </a:r>
            <a:r>
              <a:rPr lang="en-US" altLang="zh-CN" baseline="0" dirty="0"/>
              <a:t>we</a:t>
            </a:r>
            <a:r>
              <a:rPr lang="zh-CN" altLang="en-US" baseline="0" dirty="0"/>
              <a:t> </a:t>
            </a:r>
            <a:r>
              <a:rPr lang="en-US" altLang="zh-CN" baseline="0" dirty="0"/>
              <a:t>need</a:t>
            </a:r>
            <a:r>
              <a:rPr lang="zh-CN" altLang="en-US" baseline="0" dirty="0"/>
              <a:t> </a:t>
            </a:r>
            <a:r>
              <a:rPr lang="en-US" altLang="zh-CN" baseline="0" dirty="0"/>
              <a:t>to</a:t>
            </a:r>
            <a:r>
              <a:rPr lang="zh-CN" altLang="en-US" baseline="0" dirty="0"/>
              <a:t> </a:t>
            </a:r>
            <a:r>
              <a:rPr lang="en-US" altLang="zh-CN" baseline="0" dirty="0"/>
              <a:t>change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definition</a:t>
            </a:r>
            <a:r>
              <a:rPr lang="zh-CN" altLang="en-US" baseline="0" dirty="0"/>
              <a:t> </a:t>
            </a:r>
            <a:r>
              <a:rPr lang="en-US" altLang="zh-CN" baseline="0" dirty="0"/>
              <a:t>of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InsertNode</a:t>
            </a:r>
            <a:r>
              <a:rPr lang="zh-CN" altLang="en-US" baseline="0" dirty="0"/>
              <a:t> </a:t>
            </a:r>
            <a:r>
              <a:rPr lang="en-US" altLang="zh-CN" baseline="0" dirty="0"/>
              <a:t>to</a:t>
            </a:r>
            <a:r>
              <a:rPr lang="zh-CN" altLang="en-US" baseline="0" dirty="0"/>
              <a:t> </a:t>
            </a:r>
            <a:r>
              <a:rPr lang="en-US" altLang="zh-CN" baseline="0" dirty="0"/>
              <a:t>return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head</a:t>
            </a:r>
            <a:r>
              <a:rPr lang="zh-CN" altLang="en-US" baseline="0" dirty="0"/>
              <a:t> </a:t>
            </a:r>
            <a:r>
              <a:rPr lang="en-US" altLang="zh-CN" baseline="0" dirty="0"/>
              <a:t>instead</a:t>
            </a:r>
            <a:r>
              <a:rPr lang="zh-CN" altLang="en-US" baseline="0" dirty="0"/>
              <a:t> </a:t>
            </a:r>
            <a:r>
              <a:rPr lang="en-US" altLang="zh-CN" baseline="0" dirty="0"/>
              <a:t>of</a:t>
            </a:r>
            <a:r>
              <a:rPr lang="zh-CN" altLang="en-US" baseline="0" dirty="0"/>
              <a:t> </a:t>
            </a:r>
            <a:r>
              <a:rPr lang="en-US" altLang="zh-CN" baseline="0" dirty="0"/>
              <a:t>the</a:t>
            </a:r>
            <a:r>
              <a:rPr lang="zh-CN" altLang="en-US" baseline="0" dirty="0"/>
              <a:t> </a:t>
            </a:r>
            <a:r>
              <a:rPr lang="en-US" altLang="zh-CN" baseline="0" dirty="0"/>
              <a:t>new</a:t>
            </a:r>
            <a:r>
              <a:rPr lang="zh-CN" altLang="en-US" baseline="0" dirty="0"/>
              <a:t> </a:t>
            </a:r>
            <a:r>
              <a:rPr lang="en-US" altLang="zh-CN" baseline="0" dirty="0"/>
              <a:t>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65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D260C-11B0-8A45-A7A0-4A6AB9993B45}" type="datetime1">
              <a:rPr lang="en-HK" smtClean="0"/>
              <a:t>24/9/2023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4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E51C-2B06-8848-A5BE-933689C988C5}" type="datetime1">
              <a:rPr lang="en-HK" smtClean="0"/>
              <a:t>24/9/2023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8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16E7-DAF6-1F4B-A6B7-FAFFDBB2175F}" type="datetime1">
              <a:rPr lang="en-HK" smtClean="0"/>
              <a:t>24/9/2023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1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E6083-D4A3-FB49-82BE-10E8E3DCD5F2}" type="datetime1">
              <a:rPr lang="en-HK" smtClean="0"/>
              <a:t>24/9/2023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6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9BA21-F586-EB45-A4FA-260400564886}" type="datetime1">
              <a:rPr lang="en-HK" smtClean="0"/>
              <a:t>24/9/2023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3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2AE5D-5097-2E4F-BFD6-534A0C1EA08E}" type="datetime1">
              <a:rPr lang="en-HK" smtClean="0"/>
              <a:t>24/9/2023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4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765D-747E-DA4C-9EBC-C97DD4114443}" type="datetime1">
              <a:rPr lang="en-HK" smtClean="0"/>
              <a:t>24/9/2023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0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55841-23A8-EC42-8419-73522C9D2AAE}" type="datetime1">
              <a:rPr lang="en-HK" smtClean="0"/>
              <a:t>24/9/2023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7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7128D-353C-E74C-998D-B5376324BEDE}" type="datetime1">
              <a:rPr lang="en-HK" smtClean="0"/>
              <a:t>24/9/2023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0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1E05-5434-354A-8CB0-8AFF39CAEAEA}" type="datetime1">
              <a:rPr lang="en-HK" smtClean="0"/>
              <a:t>24/9/2023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31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6D85A-2CCC-2E46-82C5-36A724C868CA}" type="datetime1">
              <a:rPr lang="en-HK" smtClean="0"/>
              <a:t>24/9/2023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4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78316-8967-ED44-94D1-A1435E5B9A6F}" type="datetime1">
              <a:rPr lang="en-HK" smtClean="0"/>
              <a:t>24/9/2023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5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772400" cy="2514600"/>
          </a:xfrm>
          <a:noFill/>
        </p:spPr>
        <p:txBody>
          <a:bodyPr>
            <a:noAutofit/>
          </a:bodyPr>
          <a:lstStyle/>
          <a:p>
            <a:r>
              <a:rPr lang="en-US" altLang="zh-CN" sz="3600" b="0" dirty="0">
                <a:solidFill>
                  <a:srgbClr val="C00000"/>
                </a:solidFill>
              </a:rPr>
              <a:t>Data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Structures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and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Algorithms</a:t>
            </a:r>
            <a:br>
              <a:rPr lang="en-US" altLang="zh-TW" sz="4400" b="1" dirty="0">
                <a:solidFill>
                  <a:srgbClr val="C00000"/>
                </a:solidFill>
              </a:rPr>
            </a:br>
            <a:br>
              <a:rPr lang="en-US" altLang="zh-TW" sz="4400" b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4400" b="0" dirty="0"/>
              <a:t>Lecture</a:t>
            </a:r>
            <a:r>
              <a:rPr lang="en-US" altLang="zh-CN" sz="4400" b="0" dirty="0"/>
              <a:t> 2</a:t>
            </a:r>
            <a:r>
              <a:rPr lang="en-US" altLang="zh-TW" sz="4400" b="0" dirty="0"/>
              <a:t>: </a:t>
            </a:r>
            <a:r>
              <a:rPr lang="en-US" altLang="zh-CN" sz="4400" b="0" dirty="0"/>
              <a:t>Linked Lists</a:t>
            </a:r>
            <a:br>
              <a:rPr lang="en-US" altLang="zh-CN" sz="4400" b="0" dirty="0"/>
            </a:br>
            <a:r>
              <a:rPr lang="en-US" altLang="zh-CN" sz="4400" b="0" dirty="0"/>
              <a:t>            (</a:t>
            </a:r>
            <a:r>
              <a:rPr lang="zh-CN" altLang="en-US" sz="4400" b="0" dirty="0"/>
              <a:t>链表</a:t>
            </a:r>
            <a:r>
              <a:rPr lang="en-US" altLang="zh-CN" sz="4400" b="0" dirty="0"/>
              <a:t>)</a:t>
            </a:r>
            <a:endParaRPr lang="en-US" altLang="zh-TW" sz="4400" b="0" dirty="0"/>
          </a:p>
        </p:txBody>
      </p:sp>
      <p:sp>
        <p:nvSpPr>
          <p:cNvPr id="307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724400"/>
            <a:ext cx="77724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Data</a:t>
            </a:r>
            <a:r>
              <a:rPr lang="zh-CN" altLang="en-US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Science</a:t>
            </a:r>
          </a:p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United International College</a:t>
            </a:r>
          </a:p>
        </p:txBody>
      </p:sp>
    </p:spTree>
    <p:extLst>
      <p:ext uri="{BB962C8B-B14F-4D97-AF65-F5344CB8AC3E}">
        <p14:creationId xmlns:p14="http://schemas.microsoft.com/office/powerpoint/2010/main" val="1492769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Abstract Data Type (ADT) (</a:t>
            </a:r>
            <a:r>
              <a:rPr lang="zh-CN" altLang="en-US" dirty="0">
                <a:ea typeface="宋体" pitchFamily="2" charset="-122"/>
              </a:rPr>
              <a:t>抽象数据类型</a:t>
            </a:r>
            <a:r>
              <a:rPr lang="en-US" altLang="zh-CN" dirty="0">
                <a:ea typeface="宋体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List ADT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Linked lists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2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Abstract Data Type (ADT)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 type = Data + Operation</a:t>
            </a:r>
          </a:p>
          <a:p>
            <a:pPr lvl="1"/>
            <a:r>
              <a:rPr lang="en-US" altLang="zh-CN" dirty="0"/>
              <a:t>Example 1: </a:t>
            </a:r>
            <a:r>
              <a:rPr lang="en-US" altLang="zh-CN" dirty="0">
                <a:solidFill>
                  <a:srgbClr val="0070C0"/>
                </a:solidFill>
              </a:rPr>
              <a:t>integer</a:t>
            </a:r>
          </a:p>
          <a:p>
            <a:pPr lvl="2"/>
            <a:r>
              <a:rPr lang="en-US" altLang="zh-CN" dirty="0"/>
              <a:t>Data: a whole number</a:t>
            </a:r>
          </a:p>
          <a:p>
            <a:pPr lvl="2"/>
            <a:r>
              <a:rPr lang="en-US" altLang="zh-CN" dirty="0"/>
              <a:t>Operations: +, - , *, /,…</a:t>
            </a:r>
          </a:p>
          <a:p>
            <a:pPr lvl="1"/>
            <a:r>
              <a:rPr lang="en-US" altLang="zh-CN" dirty="0"/>
              <a:t>Example 2: </a:t>
            </a:r>
            <a:r>
              <a:rPr lang="en-US" altLang="zh-CN" dirty="0">
                <a:solidFill>
                  <a:srgbClr val="0070C0"/>
                </a:solidFill>
              </a:rPr>
              <a:t>string</a:t>
            </a:r>
          </a:p>
          <a:p>
            <a:pPr lvl="2"/>
            <a:r>
              <a:rPr lang="en-US" altLang="zh-CN" dirty="0"/>
              <a:t>Data: an array of characters</a:t>
            </a:r>
          </a:p>
          <a:p>
            <a:pPr lvl="2"/>
            <a:r>
              <a:rPr lang="en-US" altLang="zh-CN" dirty="0"/>
              <a:t>Operations: </a:t>
            </a:r>
            <a:r>
              <a:rPr lang="en-US" altLang="zh-CN" dirty="0" err="1"/>
              <a:t>strlen</a:t>
            </a:r>
            <a:r>
              <a:rPr lang="en-US" altLang="zh-CN" dirty="0"/>
              <a:t>, </a:t>
            </a:r>
            <a:r>
              <a:rPr lang="en-US" altLang="zh-CN" dirty="0" err="1"/>
              <a:t>strcpy</a:t>
            </a:r>
            <a:r>
              <a:rPr lang="en-US" altLang="zh-CN" dirty="0"/>
              <a:t>, </a:t>
            </a:r>
            <a:r>
              <a:rPr lang="en-US" altLang="zh-CN" dirty="0" err="1"/>
              <a:t>strcat</a:t>
            </a:r>
            <a:r>
              <a:rPr lang="en-US" altLang="zh-CN" dirty="0"/>
              <a:t>, </a:t>
            </a:r>
            <a:r>
              <a:rPr lang="en-US" altLang="zh-CN" dirty="0" err="1"/>
              <a:t>strcmp</a:t>
            </a:r>
            <a:r>
              <a:rPr lang="en-US" altLang="zh-CN" dirty="0"/>
              <a:t>,…</a:t>
            </a:r>
          </a:p>
          <a:p>
            <a:r>
              <a:rPr lang="en-US" altLang="zh-CN" dirty="0"/>
              <a:t>Can this be generalized?</a:t>
            </a:r>
          </a:p>
          <a:p>
            <a:pPr lvl="1"/>
            <a:r>
              <a:rPr lang="en-US" altLang="zh-CN" dirty="0"/>
              <a:t>Abstract Data Type (ADT)</a:t>
            </a:r>
          </a:p>
          <a:p>
            <a:pPr lvl="1"/>
            <a:r>
              <a:rPr lang="en-US" altLang="zh-CN" dirty="0"/>
              <a:t>Encapsulation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封装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5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Encapsulation - What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191000"/>
            <a:ext cx="7886700" cy="1985962"/>
          </a:xfrm>
        </p:spPr>
        <p:txBody>
          <a:bodyPr/>
          <a:lstStyle/>
          <a:p>
            <a:r>
              <a:rPr lang="en-US" altLang="zh-CN" dirty="0"/>
              <a:t>Users of data</a:t>
            </a:r>
          </a:p>
          <a:p>
            <a:pPr lvl="1"/>
            <a:r>
              <a:rPr lang="en-US" altLang="zh-CN" dirty="0"/>
              <a:t>do not touch (handle) data directly</a:t>
            </a:r>
          </a:p>
          <a:p>
            <a:pPr lvl="1"/>
            <a:r>
              <a:rPr lang="en-US" altLang="zh-CN" dirty="0"/>
              <a:t>operates on data by calling the methods</a:t>
            </a:r>
          </a:p>
          <a:p>
            <a:pPr lvl="1"/>
            <a:r>
              <a:rPr lang="en-US" altLang="zh-CN" dirty="0"/>
              <a:t>do not know how the methods are implemented</a:t>
            </a:r>
            <a:endParaRPr lang="zh-CN" altLang="en-US" dirty="0"/>
          </a:p>
        </p:txBody>
      </p:sp>
      <p:grpSp>
        <p:nvGrpSpPr>
          <p:cNvPr id="4" name="组合 2"/>
          <p:cNvGrpSpPr/>
          <p:nvPr/>
        </p:nvGrpSpPr>
        <p:grpSpPr>
          <a:xfrm>
            <a:off x="2209200" y="1676400"/>
            <a:ext cx="4724400" cy="2057400"/>
            <a:chOff x="2209800" y="2385646"/>
            <a:chExt cx="4724400" cy="2057400"/>
          </a:xfrm>
        </p:grpSpPr>
        <p:sp>
          <p:nvSpPr>
            <p:cNvPr id="5" name="流程图: 延期 1"/>
            <p:cNvSpPr/>
            <p:nvPr/>
          </p:nvSpPr>
          <p:spPr>
            <a:xfrm>
              <a:off x="4572000" y="2385646"/>
              <a:ext cx="2362200" cy="2057400"/>
            </a:xfrm>
            <a:prstGeom prst="flowChartDelay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Methods</a:t>
              </a:r>
              <a:endParaRPr lang="zh-CN" altLang="en-US" sz="2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流程图: 延期 5"/>
            <p:cNvSpPr/>
            <p:nvPr/>
          </p:nvSpPr>
          <p:spPr>
            <a:xfrm flipH="1">
              <a:off x="2209800" y="2385646"/>
              <a:ext cx="2361600" cy="2057400"/>
            </a:xfrm>
            <a:prstGeom prst="flowChartDelay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1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Encapsulation - Why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70C0"/>
                </a:solidFill>
                <a:ea typeface="宋体" pitchFamily="2" charset="-122"/>
              </a:rPr>
              <a:t>Modular</a:t>
            </a:r>
            <a:r>
              <a:rPr lang="en-US" altLang="zh-CN" sz="2400" dirty="0">
                <a:ea typeface="宋体" pitchFamily="2" charset="-122"/>
              </a:rPr>
              <a:t>: one module for one ADT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Implementation of the ADT is </a:t>
            </a:r>
            <a:r>
              <a:rPr lang="en-US" altLang="zh-CN" sz="2000" dirty="0">
                <a:solidFill>
                  <a:srgbClr val="C00000"/>
                </a:solidFill>
                <a:ea typeface="宋体" pitchFamily="2" charset="-122"/>
              </a:rPr>
              <a:t>separate</a:t>
            </a:r>
            <a:r>
              <a:rPr lang="en-US" altLang="zh-CN" sz="2000" dirty="0">
                <a:ea typeface="宋体" pitchFamily="2" charset="-122"/>
              </a:rPr>
              <a:t> from its use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Allows parallel development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Easier to debug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Code for the ADT can be </a:t>
            </a:r>
            <a:r>
              <a:rPr lang="en-US" altLang="zh-CN" sz="2400" dirty="0">
                <a:solidFill>
                  <a:srgbClr val="C00000"/>
                </a:solidFill>
                <a:ea typeface="宋体" pitchFamily="2" charset="-122"/>
              </a:rPr>
              <a:t>reused</a:t>
            </a:r>
            <a:r>
              <a:rPr lang="en-US" altLang="zh-CN" sz="2400" dirty="0">
                <a:ea typeface="宋体" pitchFamily="2" charset="-122"/>
              </a:rPr>
              <a:t> in different applications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70C0"/>
                </a:solidFill>
                <a:ea typeface="宋体" pitchFamily="2" charset="-122"/>
              </a:rPr>
              <a:t>Information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ea typeface="宋体" pitchFamily="2" charset="-122"/>
              </a:rPr>
              <a:t>hiding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Protect data from unwanted operations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implementation details can be changed without affecting user programs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Allow rapid </a:t>
            </a:r>
            <a:r>
              <a:rPr lang="en-US" altLang="zh-CN" sz="2400" dirty="0">
                <a:solidFill>
                  <a:srgbClr val="0070C0"/>
                </a:solidFill>
                <a:ea typeface="宋体" pitchFamily="2" charset="-122"/>
              </a:rPr>
              <a:t>prototyping (</a:t>
            </a:r>
            <a:r>
              <a:rPr lang="zh-CN" altLang="en-US" sz="2400" dirty="0">
                <a:solidFill>
                  <a:srgbClr val="0070C0"/>
                </a:solidFill>
                <a:ea typeface="宋体" pitchFamily="2" charset="-122"/>
              </a:rPr>
              <a:t>原型</a:t>
            </a:r>
            <a:r>
              <a:rPr lang="en-US" altLang="zh-CN" sz="2400" dirty="0">
                <a:solidFill>
                  <a:srgbClr val="0070C0"/>
                </a:solidFill>
                <a:ea typeface="宋体" pitchFamily="2" charset="-122"/>
              </a:rPr>
              <a:t>)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Prototype with simple ADT implementations, then tune them later when necessary</a:t>
            </a:r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31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Encapsulation - How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In  Object-Oriented Programming (OOP) Languages: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ADT: Class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Data:  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member variables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Operations: member functions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In C: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Data: variables (usually of a </a:t>
            </a:r>
            <a:r>
              <a:rPr lang="en-US" altLang="zh-CN" dirty="0" err="1">
                <a:ea typeface="宋体" pitchFamily="2" charset="-122"/>
              </a:rPr>
              <a:t>struct</a:t>
            </a:r>
            <a:r>
              <a:rPr lang="en-US" altLang="zh-CN" dirty="0">
                <a:ea typeface="宋体" pitchFamily="2" charset="-122"/>
              </a:rPr>
              <a:t> data type)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Operations: functions</a:t>
            </a:r>
          </a:p>
          <a:p>
            <a:pPr lvl="1">
              <a:defRPr/>
            </a:pPr>
            <a:r>
              <a:rPr lang="en-US" altLang="zh-CN" i="1" dirty="0">
                <a:solidFill>
                  <a:srgbClr val="0070C0"/>
                </a:solidFill>
                <a:ea typeface="宋体" pitchFamily="2" charset="-122"/>
              </a:rPr>
              <a:t>Information hiding is not explicitly supported in C</a:t>
            </a:r>
          </a:p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25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List ADT - Data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defRPr/>
                </a:pPr>
                <a:r>
                  <a:rPr lang="en-US" altLang="zh-CN" dirty="0">
                    <a:ea typeface="宋体" pitchFamily="2" charset="-122"/>
                  </a:rPr>
                  <a:t>A </a:t>
                </a:r>
                <a:r>
                  <a:rPr lang="en-US" altLang="zh-CN" dirty="0">
                    <a:solidFill>
                      <a:srgbClr val="0070C0"/>
                    </a:solidFill>
                    <a:ea typeface="宋体" pitchFamily="2" charset="-122"/>
                  </a:rPr>
                  <a:t>sequence</a:t>
                </a:r>
                <a:r>
                  <a:rPr lang="en-US" altLang="zh-CN" dirty="0">
                    <a:ea typeface="宋体" pitchFamily="2" charset="-122"/>
                  </a:rPr>
                  <a:t> of zero or more elements</a:t>
                </a:r>
              </a:p>
              <a:p>
                <a:pPr algn="ctr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itchFamily="2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ea typeface="宋体" pitchFamily="2" charset="-122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𝑁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: length of the list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pitchFamily="2" charset="-122"/>
                  </a:rPr>
                  <a:t>: first element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  <a:ea typeface="宋体" pitchFamily="2" charset="-122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pitchFamily="2" charset="-122"/>
                  </a:rPr>
                  <a:t>: last element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pitchFamily="2" charset="-122"/>
                  </a:rPr>
                  <a:t>: element at position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𝑖</m:t>
                    </m:r>
                  </m:oMath>
                </a14:m>
                <a:endParaRPr lang="en-US" altLang="zh-CN" dirty="0">
                  <a:ea typeface="宋体" pitchFamily="2" charset="-122"/>
                </a:endParaRPr>
              </a:p>
              <a:p>
                <a:pPr lvl="1">
                  <a:defRPr/>
                </a:pPr>
                <a:r>
                  <a:rPr lang="en-US" altLang="zh-CN" dirty="0">
                    <a:ea typeface="宋体" pitchFamily="2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=0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, then it is an empty list</a:t>
                </a:r>
              </a:p>
              <a:p>
                <a:pPr>
                  <a:defRPr/>
                </a:pPr>
                <a:r>
                  <a:rPr lang="en-US" altLang="zh-CN" dirty="0">
                    <a:ea typeface="宋体" pitchFamily="2" charset="-122"/>
                  </a:rPr>
                  <a:t>Linearly ordered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pitchFamily="2" charset="-122"/>
                  </a:rPr>
                  <a:t> precedes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baseline="-25000" dirty="0">
                  <a:ea typeface="宋体" pitchFamily="2" charset="-122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 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follows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baseline="-25000" dirty="0"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zh-CN" dirty="0"/>
                  <a:t>The elements can be any data type but we use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double</a:t>
                </a:r>
                <a:r>
                  <a:rPr lang="en-US" altLang="zh-CN" dirty="0"/>
                  <a:t> for discussion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21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List ADT - Operations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36295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2600" dirty="0" err="1">
                <a:solidFill>
                  <a:srgbClr val="0070C0"/>
                </a:solidFill>
                <a:latin typeface="Consolas" panose="020B0609020204030204" pitchFamily="49" charset="0"/>
              </a:rPr>
              <a:t>makeEmpty</a:t>
            </a:r>
            <a:r>
              <a:rPr lang="en-US" altLang="zh-CN" sz="2600" dirty="0"/>
              <a:t>: create an empty list</a:t>
            </a:r>
          </a:p>
          <a:p>
            <a:r>
              <a:rPr lang="en-US" altLang="zh-CN" sz="2600" dirty="0">
                <a:solidFill>
                  <a:srgbClr val="0070C0"/>
                </a:solidFill>
                <a:latin typeface="Consolas" panose="020B0609020204030204" pitchFamily="49" charset="0"/>
              </a:rPr>
              <a:t>insert</a:t>
            </a:r>
            <a:r>
              <a:rPr lang="en-US" altLang="zh-CN" sz="2600" dirty="0"/>
              <a:t>: insert an object to a list (insert after</a:t>
            </a:r>
            <a:r>
              <a:rPr lang="zh-CN" altLang="en-US" sz="2600" dirty="0"/>
              <a:t> </a:t>
            </a:r>
            <a:r>
              <a:rPr lang="en-US" altLang="zh-CN" sz="2600" dirty="0"/>
              <a:t>the given position,</a:t>
            </a:r>
            <a:r>
              <a:rPr lang="zh-CN" altLang="en-US" sz="2600" dirty="0"/>
              <a:t> </a:t>
            </a:r>
            <a:r>
              <a:rPr lang="en-US" altLang="zh-CN" sz="2600" dirty="0"/>
              <a:t>starts</a:t>
            </a:r>
            <a:r>
              <a:rPr lang="zh-CN" altLang="en-US" sz="2600" dirty="0"/>
              <a:t> </a:t>
            </a:r>
            <a:r>
              <a:rPr lang="en-US" altLang="zh-CN" sz="2600" dirty="0"/>
              <a:t>at</a:t>
            </a:r>
            <a:r>
              <a:rPr lang="zh-CN" altLang="en-US" sz="2600" dirty="0"/>
              <a:t> </a:t>
            </a:r>
            <a:r>
              <a:rPr lang="en-US" altLang="zh-CN" sz="2600" dirty="0"/>
              <a:t>1)</a:t>
            </a:r>
          </a:p>
          <a:p>
            <a:pPr lvl="1"/>
            <a:r>
              <a:rPr lang="en-US" altLang="zh-CN" sz="2200" dirty="0"/>
              <a:t>List: 34, 12, 52, 16, 12</a:t>
            </a:r>
          </a:p>
          <a:p>
            <a:pPr lvl="1"/>
            <a:r>
              <a:rPr lang="en-US" altLang="zh-CN" sz="2200" dirty="0">
                <a:latin typeface="Consolas" panose="020B0609020204030204" pitchFamily="49" charset="0"/>
              </a:rPr>
              <a:t>insert(x, 2) </a:t>
            </a:r>
            <a:r>
              <a:rPr lang="en-US" altLang="zh-CN" sz="2200" dirty="0"/>
              <a:t>-&gt;  </a:t>
            </a:r>
            <a:r>
              <a:rPr lang="en-US" altLang="zh-CN" sz="2200" dirty="0">
                <a:latin typeface="Consolas" panose="020B0609020204030204" pitchFamily="49" charset="0"/>
              </a:rPr>
              <a:t>34,12,x,52,16,12</a:t>
            </a:r>
          </a:p>
          <a:p>
            <a:r>
              <a:rPr lang="en-US" altLang="zh-CN" sz="2600" dirty="0">
                <a:solidFill>
                  <a:srgbClr val="0070C0"/>
                </a:solidFill>
                <a:latin typeface="Consolas" panose="020B0609020204030204" pitchFamily="49" charset="0"/>
              </a:rPr>
              <a:t>remove</a:t>
            </a:r>
            <a:r>
              <a:rPr lang="en-US" altLang="zh-CN" sz="2600" dirty="0"/>
              <a:t>: delete an element from the list</a:t>
            </a:r>
          </a:p>
          <a:p>
            <a:pPr lvl="1"/>
            <a:r>
              <a:rPr lang="en-US" altLang="zh-CN" sz="2200" dirty="0"/>
              <a:t>List: 34, 12, 52, x, 16, 12</a:t>
            </a:r>
          </a:p>
          <a:p>
            <a:pPr lvl="1"/>
            <a:r>
              <a:rPr lang="en-US" altLang="zh-CN" sz="2200" dirty="0">
                <a:latin typeface="Consolas" panose="020B0609020204030204" pitchFamily="49" charset="0"/>
              </a:rPr>
              <a:t>remove(52) -&gt; 34,12,x,16,12</a:t>
            </a:r>
          </a:p>
          <a:p>
            <a:r>
              <a:rPr lang="en-US" altLang="zh-CN" sz="2600" dirty="0">
                <a:solidFill>
                  <a:srgbClr val="0070C0"/>
                </a:solidFill>
                <a:latin typeface="Consolas" panose="020B0609020204030204" pitchFamily="49" charset="0"/>
              </a:rPr>
              <a:t>find</a:t>
            </a:r>
            <a:r>
              <a:rPr lang="en-US" altLang="zh-CN" sz="2600" dirty="0"/>
              <a:t>: locate the position of the first occurrence of an element in the list</a:t>
            </a:r>
          </a:p>
          <a:p>
            <a:pPr lvl="1"/>
            <a:r>
              <a:rPr lang="en-US" altLang="zh-CN" sz="2200" dirty="0"/>
              <a:t>List: 34, 12, x, 16, 12</a:t>
            </a:r>
          </a:p>
          <a:p>
            <a:pPr lvl="1"/>
            <a:r>
              <a:rPr lang="en-US" altLang="zh-CN" sz="2200" dirty="0">
                <a:latin typeface="Consolas" panose="020B0609020204030204" pitchFamily="49" charset="0"/>
              </a:rPr>
              <a:t>find(12) -&gt; 2</a:t>
            </a:r>
          </a:p>
          <a:p>
            <a:r>
              <a:rPr lang="en-US" altLang="zh-CN" sz="2600" dirty="0" err="1">
                <a:solidFill>
                  <a:srgbClr val="0070C0"/>
                </a:solidFill>
                <a:latin typeface="Consolas" panose="020B0609020204030204" pitchFamily="49" charset="0"/>
              </a:rPr>
              <a:t>findKth</a:t>
            </a:r>
            <a:r>
              <a:rPr lang="en-US" altLang="zh-CN" sz="2600" dirty="0"/>
              <a:t>: retrieve the element at a certain position</a:t>
            </a:r>
          </a:p>
          <a:p>
            <a:pPr lvl="1"/>
            <a:r>
              <a:rPr lang="en-US" altLang="zh-CN" sz="2200" dirty="0"/>
              <a:t>List:</a:t>
            </a:r>
            <a:r>
              <a:rPr lang="zh-CN" altLang="en-US" sz="2200" dirty="0"/>
              <a:t> </a:t>
            </a:r>
            <a:r>
              <a:rPr lang="en-US" altLang="zh-CN" sz="2200" dirty="0"/>
              <a:t>34,</a:t>
            </a:r>
            <a:r>
              <a:rPr lang="zh-CN" altLang="en-US" sz="2200" dirty="0"/>
              <a:t> </a:t>
            </a:r>
            <a:r>
              <a:rPr lang="en-US" altLang="zh-CN" sz="2200" dirty="0"/>
              <a:t>12,</a:t>
            </a:r>
            <a:r>
              <a:rPr lang="zh-CN" altLang="en-US" sz="2200" dirty="0"/>
              <a:t> </a:t>
            </a:r>
            <a:r>
              <a:rPr lang="en-US" altLang="zh-CN" sz="2200" dirty="0"/>
              <a:t>x,</a:t>
            </a:r>
            <a:r>
              <a:rPr lang="zh-CN" altLang="en-US" sz="2200" dirty="0"/>
              <a:t> </a:t>
            </a:r>
            <a:r>
              <a:rPr lang="en-US" altLang="zh-CN" sz="2200" dirty="0"/>
              <a:t>16,</a:t>
            </a:r>
            <a:r>
              <a:rPr lang="zh-CN" altLang="en-US" sz="2200" dirty="0"/>
              <a:t> </a:t>
            </a:r>
            <a:r>
              <a:rPr lang="en-US" altLang="zh-CN" sz="2200" dirty="0"/>
              <a:t>12</a:t>
            </a:r>
          </a:p>
          <a:p>
            <a:pPr lvl="1"/>
            <a:r>
              <a:rPr lang="en-US" altLang="zh-CN" sz="2200" dirty="0">
                <a:latin typeface="Consolas" charset="0"/>
                <a:ea typeface="Consolas" charset="0"/>
                <a:cs typeface="Consolas" charset="0"/>
              </a:rPr>
              <a:t>Find</a:t>
            </a:r>
            <a:r>
              <a:rPr lang="zh-CN" altLang="en-US" sz="2200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2200" dirty="0">
                <a:latin typeface="Consolas" charset="0"/>
                <a:ea typeface="Consolas" charset="0"/>
                <a:cs typeface="Consolas" charset="0"/>
              </a:rPr>
              <a:t>(3)</a:t>
            </a:r>
            <a:r>
              <a:rPr lang="zh-CN" altLang="en-US" sz="2200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2200" dirty="0">
                <a:latin typeface="Consolas" charset="0"/>
                <a:ea typeface="Consolas" charset="0"/>
                <a:cs typeface="Consolas" charset="0"/>
              </a:rPr>
              <a:t>-&gt;</a:t>
            </a:r>
            <a:r>
              <a:rPr lang="zh-CN" altLang="en-US" sz="2200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2200" dirty="0">
                <a:latin typeface="Consolas" charset="0"/>
                <a:ea typeface="Consolas" charset="0"/>
                <a:cs typeface="Consolas" charset="0"/>
              </a:rPr>
              <a:t>x</a:t>
            </a:r>
          </a:p>
          <a:p>
            <a:r>
              <a:rPr lang="en-US" altLang="zh-CN" sz="26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printList</a:t>
            </a:r>
            <a:r>
              <a:rPr lang="en-US" altLang="zh-CN" sz="2600" dirty="0"/>
              <a:t>: print the list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5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Implementation of an ADT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Define data using 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data types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Define operation using 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functions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Two standard implementations for the list ADT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Array-based (</a:t>
            </a:r>
            <a:r>
              <a:rPr lang="zh-CN" altLang="en-US" dirty="0">
                <a:ea typeface="宋体" pitchFamily="2" charset="-122"/>
              </a:rPr>
              <a:t>基于数组</a:t>
            </a:r>
            <a:r>
              <a:rPr lang="en-US" altLang="zh-CN" dirty="0">
                <a:ea typeface="宋体" pitchFamily="2" charset="-122"/>
              </a:rPr>
              <a:t>)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Linked list (</a:t>
            </a:r>
            <a:r>
              <a:rPr lang="zh-CN" altLang="en-US" dirty="0">
                <a:ea typeface="宋体" pitchFamily="2" charset="-122"/>
              </a:rPr>
              <a:t>链表</a:t>
            </a:r>
            <a:r>
              <a:rPr lang="en-US" altLang="zh-CN" dirty="0">
                <a:ea typeface="宋体" pitchFamily="2" charset="-122"/>
              </a:rPr>
              <a:t>)</a:t>
            </a:r>
          </a:p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9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zh-CN" sz="40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Array Implementation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466332"/>
              </p:ext>
            </p:extLst>
          </p:nvPr>
        </p:nvGraphicFramePr>
        <p:xfrm>
          <a:off x="2438400" y="457200"/>
          <a:ext cx="2362200" cy="58674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800" b="0" baseline="-25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800" b="0" baseline="-25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800" b="0" baseline="-25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022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Adobe Gothic Std B" pitchFamily="34" charset="-128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vert="eaVert" anchor="ctr" anchorCtr="1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38925" y="3429000"/>
            <a:ext cx="695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5801380"/>
            <a:ext cx="1895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max_length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39552" y="1943100"/>
            <a:ext cx="67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</p:txBody>
      </p:sp>
      <p:sp>
        <p:nvSpPr>
          <p:cNvPr id="4" name="Right Brace 3"/>
          <p:cNvSpPr/>
          <p:nvPr/>
        </p:nvSpPr>
        <p:spPr>
          <a:xfrm>
            <a:off x="4800600" y="457200"/>
            <a:ext cx="762000" cy="3513438"/>
          </a:xfrm>
          <a:prstGeom prst="rightBrace">
            <a:avLst>
              <a:gd name="adj1" fmla="val 8333"/>
              <a:gd name="adj2" fmla="val 4953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/>
          <p:cNvSpPr/>
          <p:nvPr/>
        </p:nvSpPr>
        <p:spPr>
          <a:xfrm>
            <a:off x="4800600" y="3987114"/>
            <a:ext cx="762000" cy="2337486"/>
          </a:xfrm>
          <a:prstGeom prst="rightBrace">
            <a:avLst>
              <a:gd name="adj1" fmla="val 8333"/>
              <a:gd name="adj2" fmla="val 4953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562600" y="4876800"/>
            <a:ext cx="1116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Empty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97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Discussion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Are these operations </a:t>
            </a:r>
            <a:r>
              <a:rPr lang="en-US" altLang="zh-CN" dirty="0">
                <a:solidFill>
                  <a:srgbClr val="0070C0"/>
                </a:solidFill>
              </a:rPr>
              <a:t>suitable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/>
              <a:t>for the array implementation?</a:t>
            </a:r>
          </a:p>
          <a:p>
            <a:pPr lvl="1"/>
            <a:r>
              <a:rPr lang="en-US" altLang="zh-CN" dirty="0" err="1">
                <a:latin typeface="Consolas" panose="020B0609020204030204" pitchFamily="49" charset="0"/>
                <a:cs typeface="Courier New" panose="02070309020205020404" pitchFamily="49" charset="0"/>
              </a:rPr>
              <a:t>printList</a:t>
            </a:r>
            <a:endParaRPr lang="en-US" altLang="zh-CN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find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insert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remove</a:t>
            </a:r>
          </a:p>
          <a:p>
            <a:pPr lvl="1"/>
            <a:r>
              <a:rPr lang="en-US" altLang="zh-CN" dirty="0" err="1">
                <a:latin typeface="Consolas" panose="020B0609020204030204" pitchFamily="49" charset="0"/>
                <a:cs typeface="Courier New" panose="02070309020205020404" pitchFamily="49" charset="0"/>
              </a:rPr>
              <a:t>findKth</a:t>
            </a:r>
            <a:endParaRPr lang="en-US" altLang="zh-CN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altLang="zh-CN" dirty="0"/>
              <a:t>Any additional </a:t>
            </a:r>
            <a:r>
              <a:rPr lang="en-US" altLang="zh-CN" dirty="0">
                <a:solidFill>
                  <a:srgbClr val="0070C0"/>
                </a:solidFill>
              </a:rPr>
              <a:t>pros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0070C0"/>
                </a:solidFill>
              </a:rPr>
              <a:t>cons</a:t>
            </a:r>
            <a:r>
              <a:rPr lang="en-US" altLang="zh-CN" dirty="0"/>
              <a:t>?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66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ea typeface="宋体" pitchFamily="2" charset="-122"/>
              </a:rPr>
              <a:t>Pointer Implementation (Linked List,</a:t>
            </a:r>
            <a:r>
              <a:rPr lang="zh-CN" altLang="en-US" sz="4000" dirty="0">
                <a:ea typeface="宋体" pitchFamily="2" charset="-122"/>
              </a:rPr>
              <a:t>链表</a:t>
            </a:r>
            <a:r>
              <a:rPr lang="en-US" altLang="zh-CN" sz="4000" dirty="0">
                <a:ea typeface="宋体" pitchFamily="2" charset="-122"/>
              </a:rPr>
              <a:t>)</a:t>
            </a:r>
            <a:endParaRPr lang="zh-CN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956464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Ensure that the list is not stored 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contiguously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A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node (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节点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)  </a:t>
            </a:r>
            <a:r>
              <a:rPr lang="en-US" altLang="zh-CN" dirty="0">
                <a:ea typeface="宋体" pitchFamily="2" charset="-122"/>
              </a:rPr>
              <a:t>stores one element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The address of a node is stored in its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previous node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The </a:t>
            </a:r>
            <a:r>
              <a:rPr lang="en-US" altLang="zh-CN" b="1" dirty="0">
                <a:solidFill>
                  <a:srgbClr val="063DE8"/>
                </a:solidFill>
                <a:ea typeface="宋体" pitchFamily="2" charset="-122"/>
              </a:rPr>
              <a:t>address (</a:t>
            </a:r>
            <a:r>
              <a:rPr lang="zh-CN" altLang="en-US" b="1" dirty="0">
                <a:solidFill>
                  <a:srgbClr val="063DE8"/>
                </a:solidFill>
                <a:ea typeface="宋体" pitchFamily="2" charset="-122"/>
              </a:rPr>
              <a:t>地址</a:t>
            </a:r>
            <a:r>
              <a:rPr lang="en-US" altLang="zh-CN" b="1" dirty="0">
                <a:solidFill>
                  <a:srgbClr val="063DE8"/>
                </a:solidFill>
                <a:ea typeface="宋体" pitchFamily="2" charset="-122"/>
              </a:rPr>
              <a:t>)</a:t>
            </a:r>
            <a:r>
              <a:rPr lang="en-US" altLang="zh-CN" dirty="0">
                <a:ea typeface="宋体" pitchFamily="2" charset="-122"/>
              </a:rPr>
              <a:t> of the</a:t>
            </a:r>
            <a:r>
              <a:rPr lang="en-US" altLang="zh-CN" dirty="0">
                <a:solidFill>
                  <a:srgbClr val="063DE8"/>
                </a:solidFill>
                <a:ea typeface="宋体" pitchFamily="2" charset="-122"/>
              </a:rPr>
              <a:t> </a:t>
            </a:r>
            <a:r>
              <a:rPr lang="en-US" altLang="zh-CN" b="1" dirty="0">
                <a:solidFill>
                  <a:srgbClr val="063DE8"/>
                </a:solidFill>
                <a:ea typeface="宋体" pitchFamily="2" charset="-122"/>
              </a:rPr>
              <a:t>first node </a:t>
            </a:r>
            <a:r>
              <a:rPr lang="en-US" altLang="zh-CN" dirty="0">
                <a:ea typeface="宋体" pitchFamily="2" charset="-122"/>
              </a:rPr>
              <a:t>must be stored</a:t>
            </a:r>
          </a:p>
          <a:p>
            <a:pPr lvl="1">
              <a:defRPr/>
            </a:pP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  The first node is called the head node</a:t>
            </a:r>
          </a:p>
          <a:p>
            <a:pPr lvl="1">
              <a:defRPr/>
            </a:pP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  The last node is called the tail node</a:t>
            </a:r>
          </a:p>
          <a:p>
            <a:endParaRPr lang="zh-CN" altLang="en-US" dirty="0"/>
          </a:p>
        </p:txBody>
      </p:sp>
      <p:sp>
        <p:nvSpPr>
          <p:cNvPr id="4" name="矩形 1"/>
          <p:cNvSpPr/>
          <p:nvPr/>
        </p:nvSpPr>
        <p:spPr>
          <a:xfrm>
            <a:off x="838200" y="4262735"/>
            <a:ext cx="990600" cy="1219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A1</a:t>
            </a:r>
            <a:endParaRPr lang="zh-CN" alt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7"/>
          <p:cNvSpPr/>
          <p:nvPr/>
        </p:nvSpPr>
        <p:spPr>
          <a:xfrm>
            <a:off x="1828800" y="4262735"/>
            <a:ext cx="762000" cy="1219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8"/>
          <p:cNvSpPr/>
          <p:nvPr/>
        </p:nvSpPr>
        <p:spPr>
          <a:xfrm>
            <a:off x="2895600" y="4262735"/>
            <a:ext cx="990600" cy="1219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A2</a:t>
            </a:r>
            <a:endParaRPr lang="zh-CN" alt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9"/>
          <p:cNvSpPr/>
          <p:nvPr/>
        </p:nvSpPr>
        <p:spPr>
          <a:xfrm>
            <a:off x="3886200" y="4262735"/>
            <a:ext cx="762000" cy="1219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3"/>
          <p:cNvCxnSpPr>
            <a:endCxn id="6" idx="1"/>
          </p:cNvCxnSpPr>
          <p:nvPr/>
        </p:nvCxnSpPr>
        <p:spPr>
          <a:xfrm>
            <a:off x="2209800" y="4872335"/>
            <a:ext cx="6858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13"/>
          <p:cNvCxnSpPr/>
          <p:nvPr/>
        </p:nvCxnSpPr>
        <p:spPr>
          <a:xfrm>
            <a:off x="4305300" y="4869404"/>
            <a:ext cx="6858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15"/>
          <p:cNvSpPr/>
          <p:nvPr/>
        </p:nvSpPr>
        <p:spPr>
          <a:xfrm>
            <a:off x="6400800" y="4239289"/>
            <a:ext cx="990600" cy="1219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zh-CN" b="1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zh-CN" altLang="en-US" b="1" baseline="-25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6"/>
          <p:cNvSpPr/>
          <p:nvPr/>
        </p:nvSpPr>
        <p:spPr>
          <a:xfrm>
            <a:off x="7391400" y="4239289"/>
            <a:ext cx="762000" cy="1219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7"/>
          <p:cNvCxnSpPr>
            <a:endCxn id="10" idx="1"/>
          </p:cNvCxnSpPr>
          <p:nvPr/>
        </p:nvCxnSpPr>
        <p:spPr>
          <a:xfrm>
            <a:off x="5715000" y="4848889"/>
            <a:ext cx="6858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03805" y="4544089"/>
            <a:ext cx="787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Dotum" pitchFamily="34" charset="-127"/>
                <a:ea typeface="Dotum" pitchFamily="34" charset="-127"/>
              </a:rPr>
              <a:t>……</a:t>
            </a:r>
            <a:endParaRPr lang="zh-CN" alt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Dotum" pitchFamily="34" charset="-127"/>
              <a:ea typeface="Dotum" pitchFamily="34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939135"/>
            <a:ext cx="830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直接箭头连接符 20"/>
          <p:cNvCxnSpPr/>
          <p:nvPr/>
        </p:nvCxnSpPr>
        <p:spPr>
          <a:xfrm flipV="1">
            <a:off x="1384240" y="5458489"/>
            <a:ext cx="0" cy="55684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27"/>
          <p:cNvCxnSpPr>
            <a:endCxn id="17" idx="2"/>
          </p:cNvCxnSpPr>
          <p:nvPr/>
        </p:nvCxnSpPr>
        <p:spPr>
          <a:xfrm>
            <a:off x="7772400" y="4869404"/>
            <a:ext cx="533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21"/>
          <p:cNvSpPr/>
          <p:nvPr/>
        </p:nvSpPr>
        <p:spPr>
          <a:xfrm>
            <a:off x="8305800" y="4755104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48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Discussion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Are these operations </a:t>
            </a:r>
            <a:r>
              <a:rPr lang="en-US" altLang="zh-CN" dirty="0">
                <a:solidFill>
                  <a:srgbClr val="0070C0"/>
                </a:solidFill>
              </a:rPr>
              <a:t>suitable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/>
              <a:t>for the linked list?</a:t>
            </a:r>
          </a:p>
          <a:p>
            <a:pPr lvl="1"/>
            <a:r>
              <a:rPr lang="en-US" altLang="zh-CN" dirty="0" err="1">
                <a:latin typeface="Consolas" panose="020B0609020204030204" pitchFamily="49" charset="0"/>
                <a:cs typeface="Courier New" panose="02070309020205020404" pitchFamily="49" charset="0"/>
              </a:rPr>
              <a:t>printList</a:t>
            </a:r>
            <a:endParaRPr lang="en-US" altLang="zh-CN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find</a:t>
            </a:r>
          </a:p>
          <a:p>
            <a:pPr lvl="1"/>
            <a:r>
              <a:rPr lang="en-US" altLang="zh-CN" dirty="0" err="1">
                <a:latin typeface="Consolas" panose="020B0609020204030204" pitchFamily="49" charset="0"/>
                <a:cs typeface="Courier New" panose="02070309020205020404" pitchFamily="49" charset="0"/>
              </a:rPr>
              <a:t>findKth</a:t>
            </a:r>
            <a:endParaRPr lang="en-US" altLang="zh-CN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insert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remove</a:t>
            </a:r>
          </a:p>
          <a:p>
            <a:r>
              <a:rPr lang="en-US" altLang="zh-CN" dirty="0"/>
              <a:t>Any additional </a:t>
            </a:r>
            <a:r>
              <a:rPr lang="en-US" altLang="zh-CN" dirty="0">
                <a:solidFill>
                  <a:srgbClr val="0070C0"/>
                </a:solidFill>
              </a:rPr>
              <a:t>pros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0070C0"/>
                </a:solidFill>
              </a:rPr>
              <a:t>cons</a:t>
            </a:r>
            <a:r>
              <a:rPr lang="en-US" altLang="zh-CN" dirty="0"/>
              <a:t>?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35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 Complete list of Comparison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212019"/>
              </p:ext>
            </p:extLst>
          </p:nvPr>
        </p:nvGraphicFramePr>
        <p:xfrm>
          <a:off x="1295400" y="2133600"/>
          <a:ext cx="6629400" cy="2352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Topic</a:t>
                      </a:r>
                      <a:endParaRPr lang="zh-CN" altLang="en-US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Array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Linked List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Efficiency</a:t>
                      </a:r>
                      <a:endParaRPr lang="zh-CN" alt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insert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remove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findKth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9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Linked List 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</a:p>
          <a:p>
            <a:pPr lvl="1"/>
            <a:r>
              <a:rPr lang="en-US" altLang="zh-CN" dirty="0"/>
              <a:t>Nodes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A pointer to the first node</a:t>
            </a:r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935920" y="2758044"/>
            <a:ext cx="403860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>
            <a:spAutoFit/>
          </a:bodyPr>
          <a:lstStyle>
            <a:defPPr>
              <a:defRPr lang="en-US"/>
            </a:defPPr>
            <a:lvl1pPr eaLnBrk="0" hangingPunct="0">
              <a:lnSpc>
                <a:spcPct val="150000"/>
              </a:lnSpc>
              <a:defRPr sz="200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defRPr>
            </a:lvl1pPr>
            <a:lvl2pPr marL="742950" indent="-285750" eaLnBrk="0" hangingPunct="0">
              <a:defRPr sz="2800"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TW" dirty="0">
                <a:solidFill>
                  <a:srgbClr val="C00000"/>
                </a:solidFill>
              </a:rPr>
              <a:t>typedef struct 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node{</a:t>
            </a:r>
          </a:p>
          <a:p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zh-TW" dirty="0">
                <a:solidFill>
                  <a:srgbClr val="C00000"/>
                </a:solidFill>
              </a:rPr>
              <a:t>double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data;</a:t>
            </a:r>
          </a:p>
          <a:p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zh-TW" dirty="0">
                <a:solidFill>
                  <a:srgbClr val="C00000"/>
                </a:solidFill>
              </a:rPr>
              <a:t>struct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next; </a:t>
            </a:r>
          </a:p>
          <a:p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 </a:t>
            </a:r>
            <a:r>
              <a:rPr lang="en-US" altLang="zh-TW" dirty="0">
                <a:solidFill>
                  <a:srgbClr val="0070C0"/>
                </a:solidFill>
              </a:rPr>
              <a:t>Node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968869" y="5661437"/>
            <a:ext cx="4035669" cy="5155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>
            <a:spAutoFit/>
          </a:bodyPr>
          <a:lstStyle>
            <a:defPPr>
              <a:defRPr lang="en-US"/>
            </a:defPPr>
            <a:lvl1pPr eaLnBrk="0" hangingPunct="0">
              <a:lnSpc>
                <a:spcPct val="150000"/>
              </a:lnSpc>
              <a:defRPr sz="200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defRPr>
            </a:lvl1pPr>
            <a:lvl2pPr marL="742950" indent="-285750" eaLnBrk="0" hangingPunct="0">
              <a:defRPr sz="2800"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head;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67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Linked List 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819150" y="2819400"/>
            <a:ext cx="7696200" cy="2956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800" b="1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 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*</a:t>
            </a:r>
            <a:r>
              <a:rPr lang="en-US" altLang="zh-CN" sz="1800" dirty="0" err="1">
                <a:latin typeface="Consolas" panose="020B0609020204030204" pitchFamily="49" charset="0"/>
                <a:cs typeface="Courier New" pitchFamily="49" charset="0"/>
              </a:rPr>
              <a:t>CreatList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(int n);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bool</a:t>
            </a:r>
            <a:r>
              <a:rPr lang="en-US" altLang="zh-CN" sz="1800" dirty="0">
                <a:solidFill>
                  <a:schemeClr val="accent6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urier New" pitchFamily="49" charset="0"/>
              </a:rPr>
              <a:t>IsEmpty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(Node* head);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Node*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urier New" pitchFamily="49" charset="0"/>
              </a:rPr>
              <a:t>InsertNode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(Node* head, 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 index, 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double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 x);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altLang="zh-CN" sz="1800" dirty="0">
                <a:solidFill>
                  <a:schemeClr val="accent6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urier New" pitchFamily="49" charset="0"/>
              </a:rPr>
              <a:t>FindNode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(Node* head, 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double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 x);	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altLang="zh-CN" sz="1800" dirty="0">
                <a:solidFill>
                  <a:schemeClr val="accent6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urier New" pitchFamily="49" charset="0"/>
              </a:rPr>
              <a:t>DeleteNode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(Node** </a:t>
            </a:r>
            <a:r>
              <a:rPr lang="en-US" altLang="zh-CN" sz="1800" dirty="0" err="1">
                <a:latin typeface="Consolas" panose="020B0609020204030204" pitchFamily="49" charset="0"/>
                <a:cs typeface="Courier New" pitchFamily="49" charset="0"/>
              </a:rPr>
              <a:t>phead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double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 x);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void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cs typeface="Courier New" pitchFamily="49" charset="0"/>
              </a:rPr>
              <a:t>DisplayList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(Node* head);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void </a:t>
            </a:r>
            <a:r>
              <a:rPr lang="en-US" altLang="zh-CN" sz="1800" dirty="0" err="1">
                <a:latin typeface="Consolas" panose="020B0609020204030204" pitchFamily="49" charset="0"/>
                <a:cs typeface="Courier New" pitchFamily="49" charset="0"/>
              </a:rPr>
              <a:t>DestroyList</a:t>
            </a:r>
            <a:r>
              <a:rPr lang="en-US" altLang="zh-CN" sz="1800" dirty="0">
                <a:latin typeface="Consolas" panose="020B0609020204030204" pitchFamily="49" charset="0"/>
                <a:cs typeface="Courier New" pitchFamily="49" charset="0"/>
              </a:rPr>
              <a:t>(Node** head);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9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498475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 *</a:t>
            </a:r>
            <a:r>
              <a:rPr lang="en-US" altLang="zh-CN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CreatList</a:t>
            </a:r>
            <a:r>
              <a:rPr lang="en-US" altLang="zh-CN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(int n);</a:t>
            </a:r>
          </a:p>
          <a:p>
            <a:pPr lvl="1"/>
            <a:r>
              <a:rPr lang="en-US" altLang="zh-CN" sz="2000" dirty="0">
                <a:ea typeface="宋体" charset="-122"/>
              </a:rPr>
              <a:t>Create  a list of length n</a:t>
            </a:r>
          </a:p>
          <a:p>
            <a:pPr lvl="1"/>
            <a:r>
              <a:rPr lang="en-US" altLang="zh-CN" sz="2000" i="1" dirty="0">
                <a:ea typeface="宋体" charset="-122"/>
              </a:rPr>
              <a:t> returns a pointer to the head if the creation is </a:t>
            </a:r>
            <a:r>
              <a:rPr lang="en-US" altLang="zh-CN" sz="2000" dirty="0">
                <a:ea typeface="宋体" charset="-122"/>
              </a:rPr>
              <a:t>insertion is successful and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NULL </a:t>
            </a:r>
            <a:r>
              <a:rPr lang="en-US" altLang="zh-CN" sz="2000" dirty="0">
                <a:ea typeface="宋体" charset="-122"/>
              </a:rPr>
              <a:t>otherwise</a:t>
            </a:r>
            <a:endParaRPr lang="en-US" altLang="zh-CN" sz="2000" dirty="0">
              <a:solidFill>
                <a:srgbClr val="0070C0"/>
              </a:solidFill>
              <a:latin typeface="Consolas" panose="020B0609020204030204" pitchFamily="49" charset="0"/>
              <a:ea typeface="宋体" charset="-122"/>
            </a:endParaRPr>
          </a:p>
          <a:p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bool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IsEmpty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Node* head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)</a:t>
            </a:r>
          </a:p>
          <a:p>
            <a:pPr lvl="1"/>
            <a:r>
              <a:rPr lang="en-US" altLang="zh-CN" sz="2000" dirty="0">
                <a:ea typeface="宋体" charset="-122"/>
              </a:rPr>
              <a:t>returns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true</a:t>
            </a:r>
            <a:r>
              <a:rPr lang="en-US" altLang="zh-CN" sz="2000" dirty="0">
                <a:ea typeface="宋体" charset="-122"/>
              </a:rPr>
              <a:t> if the list is empty and </a:t>
            </a:r>
            <a:r>
              <a:rPr lang="en-US" altLang="zh-CN" sz="2000" i="1" dirty="0">
                <a:ea typeface="宋体" charset="-122"/>
              </a:rPr>
              <a:t>false </a:t>
            </a:r>
            <a:r>
              <a:rPr lang="en-US" altLang="zh-CN" sz="2000" dirty="0">
                <a:ea typeface="宋体" charset="-122"/>
              </a:rPr>
              <a:t>otherwise</a:t>
            </a:r>
            <a:endParaRPr lang="en-US" altLang="zh-CN" sz="2000" i="1" dirty="0">
              <a:ea typeface="宋体" charset="-122"/>
            </a:endParaRPr>
          </a:p>
          <a:p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Node*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InsertNode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 **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phead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, int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index, double x)</a:t>
            </a:r>
          </a:p>
          <a:p>
            <a:pPr lvl="1"/>
            <a:r>
              <a:rPr lang="en-US" altLang="zh-CN" sz="2000" dirty="0">
                <a:ea typeface="宋体" charset="-122"/>
              </a:rPr>
              <a:t>insert a new node after position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index</a:t>
            </a:r>
          </a:p>
          <a:p>
            <a:pPr lvl="1"/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position of nodes starts from 1</a:t>
            </a:r>
          </a:p>
          <a:p>
            <a:pPr lvl="1"/>
            <a:r>
              <a:rPr lang="en-US" altLang="zh-CN" sz="2000" dirty="0">
                <a:ea typeface="宋体" charset="-122"/>
              </a:rPr>
              <a:t>insert a new node as the head if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index=0</a:t>
            </a:r>
          </a:p>
          <a:p>
            <a:pPr lvl="1"/>
            <a:r>
              <a:rPr lang="en-US" altLang="zh-CN" sz="2000" dirty="0">
                <a:ea typeface="宋体" charset="-122"/>
              </a:rPr>
              <a:t>returns a pointer to the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new node</a:t>
            </a:r>
            <a:r>
              <a:rPr lang="en-US" altLang="zh-CN" sz="2000" dirty="0">
                <a:ea typeface="宋体" charset="-122"/>
              </a:rPr>
              <a:t> if insertion is successful and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NULL </a:t>
            </a:r>
            <a:r>
              <a:rPr lang="en-US" altLang="zh-CN" sz="2000" dirty="0">
                <a:ea typeface="宋体" charset="-122"/>
              </a:rPr>
              <a:t>otherwise</a:t>
            </a:r>
          </a:p>
          <a:p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int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FindNode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Node* head,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double x)</a:t>
            </a:r>
          </a:p>
          <a:p>
            <a:pPr lvl="1"/>
            <a:r>
              <a:rPr lang="en-US" altLang="zh-CN" sz="2000" dirty="0">
                <a:ea typeface="宋体" charset="-122"/>
              </a:rPr>
              <a:t>returns the position of the first node whose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data=x</a:t>
            </a:r>
          </a:p>
          <a:p>
            <a:pPr lvl="1"/>
            <a:r>
              <a:rPr lang="en-US" altLang="zh-CN" sz="2000" dirty="0">
                <a:ea typeface="宋体" charset="-122"/>
              </a:rPr>
              <a:t>returns 0 if no such node exists</a:t>
            </a:r>
          </a:p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18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Methods (Cont.)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int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DeleteNode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Node**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phead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double x)</a:t>
            </a:r>
          </a:p>
          <a:p>
            <a:pPr lvl="1"/>
            <a:r>
              <a:rPr lang="en-US" altLang="zh-CN" sz="2000" dirty="0">
                <a:ea typeface="宋体" charset="-122"/>
              </a:rPr>
              <a:t>deletes the first node whose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data=x</a:t>
            </a:r>
          </a:p>
          <a:p>
            <a:pPr lvl="1"/>
            <a:r>
              <a:rPr lang="en-US" altLang="zh-CN" sz="2000" dirty="0">
                <a:ea typeface="宋体" charset="-122"/>
              </a:rPr>
              <a:t>returns the position of the deleted node</a:t>
            </a:r>
          </a:p>
          <a:p>
            <a:pPr lvl="1"/>
            <a:r>
              <a:rPr lang="en-US" altLang="zh-CN" sz="2000" dirty="0">
                <a:ea typeface="宋体" charset="-122"/>
              </a:rPr>
              <a:t>returns 0 if no such node exists</a:t>
            </a:r>
          </a:p>
          <a:p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void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DisplayList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Node* head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)</a:t>
            </a:r>
          </a:p>
          <a:p>
            <a:pPr lvl="1"/>
            <a:r>
              <a:rPr lang="en-US" altLang="zh-CN" sz="2000" dirty="0">
                <a:ea typeface="宋体" charset="-122"/>
              </a:rPr>
              <a:t>prints all the nodes in the list</a:t>
            </a:r>
          </a:p>
          <a:p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void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DestroyList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(Node** head)</a:t>
            </a:r>
          </a:p>
          <a:p>
            <a:pPr lvl="1"/>
            <a:r>
              <a:rPr lang="en-US" altLang="zh-CN" sz="2000" dirty="0">
                <a:ea typeface="宋体" charset="-122"/>
              </a:rPr>
              <a:t>deletes all the nodes in the list</a:t>
            </a:r>
          </a:p>
          <a:p>
            <a:pPr lvl="1"/>
            <a:r>
              <a:rPr lang="en-US" altLang="zh-CN" sz="2000" dirty="0">
                <a:ea typeface="宋体" charset="-122"/>
              </a:rPr>
              <a:t>frees the memory allocated to the nodes</a:t>
            </a:r>
          </a:p>
          <a:p>
            <a:pPr lvl="1"/>
            <a:r>
              <a:rPr lang="en-US" altLang="zh-CN" sz="2000" dirty="0">
                <a:ea typeface="宋体" charset="-122"/>
              </a:rPr>
              <a:t>Point the original head to NULL</a:t>
            </a:r>
          </a:p>
          <a:p>
            <a:pPr lvl="1"/>
            <a:endParaRPr lang="en-US" altLang="zh-CN" sz="2000" dirty="0">
              <a:ea typeface="宋体" charset="-122"/>
            </a:endParaRPr>
          </a:p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17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2A10B77-1354-45B5-AA84-CF8C15D32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69" y="1905000"/>
            <a:ext cx="8802324" cy="3657600"/>
          </a:xfr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4DF595-4F7E-4881-9AD7-D21C5BE2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5F4B6D-1D42-4AC1-B813-EE1BF04F5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07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6A5027-D51E-4C7C-9188-D2417BE5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CD3C3B-FA56-4AC1-B72F-D7E832DE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2CC4E0F0-FE91-4F65-B3B3-BBFE9685D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6524"/>
            <a:ext cx="7315200" cy="6416676"/>
          </a:xfrm>
        </p:spPr>
      </p:pic>
    </p:spTree>
    <p:extLst>
      <p:ext uri="{BB962C8B-B14F-4D97-AF65-F5344CB8AC3E}">
        <p14:creationId xmlns:p14="http://schemas.microsoft.com/office/powerpoint/2010/main" val="4060496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Insert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pitchFamily="2" charset="-122"/>
              </a:rPr>
              <a:t>Node*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pitchFamily="2" charset="-122"/>
              </a:rPr>
              <a:t>InsertNode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pitchFamily="2" charset="-12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Node**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phead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  <a:ea typeface="宋体" pitchFamily="2" charset="-122"/>
              </a:rPr>
              <a:t>int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宋体" pitchFamily="2" charset="-122"/>
              </a:rPr>
              <a:t> index, double x) </a:t>
            </a:r>
          </a:p>
          <a:p>
            <a:pPr lvl="1"/>
            <a:r>
              <a:rPr lang="en-US" altLang="zh-CN" sz="2000" dirty="0">
                <a:ea typeface="宋体" charset="-122"/>
              </a:rPr>
              <a:t>insert a new node after position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index</a:t>
            </a:r>
          </a:p>
          <a:p>
            <a:pPr lvl="1"/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position of nodes starts from 1</a:t>
            </a:r>
          </a:p>
          <a:p>
            <a:pPr lvl="1"/>
            <a:r>
              <a:rPr lang="en-US" altLang="zh-CN" sz="2000" dirty="0">
                <a:ea typeface="宋体" charset="-122"/>
              </a:rPr>
              <a:t>insert a new node as the head if </a:t>
            </a:r>
            <a:r>
              <a:rPr lang="en-US" altLang="zh-CN" sz="2000" dirty="0">
                <a:solidFill>
                  <a:srgbClr val="C00000"/>
                </a:solidFill>
                <a:ea typeface="宋体" charset="-122"/>
              </a:rPr>
              <a:t>index=0</a:t>
            </a:r>
          </a:p>
          <a:p>
            <a:pPr lvl="1"/>
            <a:r>
              <a:rPr lang="en-US" altLang="zh-CN" sz="2000" dirty="0">
                <a:ea typeface="宋体" charset="-122"/>
              </a:rPr>
              <a:t>returns a pointer to the new node if insertion is successful and </a:t>
            </a:r>
            <a:r>
              <a:rPr lang="en-US" altLang="zh-CN" sz="2000" i="1" dirty="0">
                <a:ea typeface="宋体" charset="-122"/>
              </a:rPr>
              <a:t>null</a:t>
            </a:r>
            <a:r>
              <a:rPr lang="en-US" altLang="zh-CN" sz="2000" dirty="0">
                <a:ea typeface="宋体" charset="-122"/>
              </a:rPr>
              <a:t> otherwise</a:t>
            </a:r>
          </a:p>
          <a:p>
            <a:r>
              <a:rPr lang="en-US" altLang="zh-CN" sz="2400" dirty="0"/>
              <a:t>Why </a:t>
            </a:r>
            <a:r>
              <a:rPr lang="en-US" altLang="zh-CN" sz="2400" dirty="0">
                <a:solidFill>
                  <a:srgbClr val="C00000"/>
                </a:solidFill>
              </a:rPr>
              <a:t>Node **</a:t>
            </a:r>
            <a:r>
              <a:rPr lang="en-US" altLang="zh-CN" sz="2400" dirty="0" err="1">
                <a:solidFill>
                  <a:srgbClr val="C00000"/>
                </a:solidFill>
              </a:rPr>
              <a:t>phead</a:t>
            </a:r>
            <a:r>
              <a:rPr lang="en-US" altLang="zh-CN" sz="2400" dirty="0"/>
              <a:t>?</a:t>
            </a:r>
            <a:endParaRPr lang="zh-CN" altLang="en-US" sz="2400" dirty="0"/>
          </a:p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58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Insert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Locate</a:t>
            </a:r>
            <a:r>
              <a:rPr lang="en-US" altLang="zh-CN" dirty="0"/>
              <a:t> the element at position index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Allocate memory</a:t>
            </a:r>
            <a:r>
              <a:rPr lang="en-US" altLang="zh-CN" dirty="0"/>
              <a:t> for the new node</a:t>
            </a:r>
          </a:p>
          <a:p>
            <a:r>
              <a:rPr lang="en-US" altLang="zh-CN" dirty="0"/>
              <a:t>Point the new node to its </a:t>
            </a:r>
            <a:r>
              <a:rPr lang="en-US" altLang="zh-CN" dirty="0">
                <a:solidFill>
                  <a:srgbClr val="0070C0"/>
                </a:solidFill>
              </a:rPr>
              <a:t>successor</a:t>
            </a:r>
          </a:p>
          <a:p>
            <a:r>
              <a:rPr lang="en-US" altLang="zh-CN" dirty="0"/>
              <a:t>Point the new node’s </a:t>
            </a:r>
            <a:r>
              <a:rPr lang="en-US" altLang="zh-CN" dirty="0">
                <a:solidFill>
                  <a:srgbClr val="0070C0"/>
                </a:solidFill>
              </a:rPr>
              <a:t>predecessor</a:t>
            </a:r>
            <a:r>
              <a:rPr lang="en-US" altLang="zh-CN" dirty="0"/>
              <a:t> to the new node</a:t>
            </a:r>
          </a:p>
          <a:p>
            <a:endParaRPr lang="zh-CN" alt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1371600" y="4368234"/>
            <a:ext cx="6106391" cy="1880166"/>
            <a:chOff x="1371600" y="4368234"/>
            <a:chExt cx="6106391" cy="1880166"/>
          </a:xfrm>
        </p:grpSpPr>
        <p:sp>
          <p:nvSpPr>
            <p:cNvPr id="4" name="矩形 6"/>
            <p:cNvSpPr/>
            <p:nvPr/>
          </p:nvSpPr>
          <p:spPr>
            <a:xfrm>
              <a:off x="6373091" y="5029200"/>
              <a:ext cx="762000" cy="1219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箭头连接符 8"/>
            <p:cNvCxnSpPr/>
            <p:nvPr/>
          </p:nvCxnSpPr>
          <p:spPr>
            <a:xfrm>
              <a:off x="6792191" y="5635869"/>
              <a:ext cx="685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2571117" y="4368234"/>
              <a:ext cx="4602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rgbClr val="C00000"/>
                  </a:solidFill>
                  <a:latin typeface="Consolas" panose="020B0609020204030204" pitchFamily="49" charset="0"/>
                  <a:cs typeface="Calibri" panose="020F0502020204030204" pitchFamily="34" charset="0"/>
                </a:rPr>
                <a:t>InsertNode</a:t>
              </a:r>
              <a:r>
                <a:rPr lang="en-US" altLang="zh-CN" sz="2400" dirty="0">
                  <a:solidFill>
                    <a:srgbClr val="C00000"/>
                  </a:solidFill>
                  <a:latin typeface="Consolas" panose="020B0609020204030204" pitchFamily="49" charset="0"/>
                  <a:cs typeface="Calibri" panose="020F0502020204030204" pitchFamily="34" charset="0"/>
                </a:rPr>
                <a:t>(&amp;head, 5, 31.6)</a:t>
              </a:r>
              <a:endParaRPr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endParaRPr>
            </a:p>
          </p:txBody>
        </p:sp>
        <p:sp>
          <p:nvSpPr>
            <p:cNvPr id="7" name="矩形 3"/>
            <p:cNvSpPr/>
            <p:nvPr/>
          </p:nvSpPr>
          <p:spPr>
            <a:xfrm>
              <a:off x="1371600" y="5005754"/>
              <a:ext cx="990600" cy="12192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A5</a:t>
              </a:r>
              <a:endParaRPr lang="zh-CN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矩形 4"/>
            <p:cNvSpPr/>
            <p:nvPr/>
          </p:nvSpPr>
          <p:spPr>
            <a:xfrm>
              <a:off x="2362200" y="5005754"/>
              <a:ext cx="762000" cy="1219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5"/>
            <p:cNvSpPr/>
            <p:nvPr/>
          </p:nvSpPr>
          <p:spPr>
            <a:xfrm>
              <a:off x="5410200" y="5029200"/>
              <a:ext cx="990600" cy="1219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A6</a:t>
              </a:r>
              <a:endParaRPr lang="zh-CN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直接箭头连接符 13"/>
            <p:cNvCxnSpPr>
              <a:endCxn id="9" idx="1"/>
            </p:cNvCxnSpPr>
            <p:nvPr/>
          </p:nvCxnSpPr>
          <p:spPr>
            <a:xfrm>
              <a:off x="2743200" y="5635869"/>
              <a:ext cx="2667000" cy="29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8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Insert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Locate</a:t>
            </a:r>
            <a:r>
              <a:rPr lang="en-US" altLang="zh-CN" dirty="0"/>
              <a:t> the element at position index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Allocate memory</a:t>
            </a:r>
            <a:r>
              <a:rPr lang="en-US" altLang="zh-CN" dirty="0"/>
              <a:t> for the new node</a:t>
            </a:r>
          </a:p>
          <a:p>
            <a:r>
              <a:rPr lang="en-US" altLang="zh-CN" dirty="0"/>
              <a:t>Point the new node to its </a:t>
            </a:r>
            <a:r>
              <a:rPr lang="en-US" altLang="zh-CN" dirty="0">
                <a:solidFill>
                  <a:srgbClr val="0070C0"/>
                </a:solidFill>
              </a:rPr>
              <a:t>successor</a:t>
            </a:r>
          </a:p>
          <a:p>
            <a:r>
              <a:rPr lang="en-US" altLang="zh-CN" dirty="0"/>
              <a:t>Point the new node’s </a:t>
            </a:r>
            <a:r>
              <a:rPr lang="en-US" altLang="zh-CN" dirty="0">
                <a:solidFill>
                  <a:srgbClr val="0070C0"/>
                </a:solidFill>
              </a:rPr>
              <a:t>predecessor</a:t>
            </a:r>
            <a:r>
              <a:rPr lang="en-US" altLang="zh-CN" dirty="0"/>
              <a:t> to the new node</a:t>
            </a:r>
          </a:p>
          <a:p>
            <a:endParaRPr lang="zh-CN" alt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1371600" y="3753217"/>
            <a:ext cx="6134100" cy="3028583"/>
            <a:chOff x="1371600" y="3753217"/>
            <a:chExt cx="6134100" cy="3028583"/>
          </a:xfrm>
        </p:grpSpPr>
        <p:grpSp>
          <p:nvGrpSpPr>
            <p:cNvPr id="23" name="Group 22"/>
            <p:cNvGrpSpPr/>
            <p:nvPr/>
          </p:nvGrpSpPr>
          <p:grpSpPr>
            <a:xfrm>
              <a:off x="1371600" y="4343400"/>
              <a:ext cx="1752600" cy="952500"/>
              <a:chOff x="1371600" y="4076700"/>
              <a:chExt cx="1752600" cy="1219200"/>
            </a:xfrm>
          </p:grpSpPr>
          <p:sp>
            <p:nvSpPr>
              <p:cNvPr id="12" name="矩形 3"/>
              <p:cNvSpPr/>
              <p:nvPr/>
            </p:nvSpPr>
            <p:spPr>
              <a:xfrm>
                <a:off x="1371600" y="4076700"/>
                <a:ext cx="990600" cy="121920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A5</a:t>
                </a:r>
                <a:endParaRPr lang="zh-CN" altLang="en-US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矩形 4"/>
              <p:cNvSpPr/>
              <p:nvPr/>
            </p:nvSpPr>
            <p:spPr>
              <a:xfrm>
                <a:off x="2362200" y="4076700"/>
                <a:ext cx="762000" cy="1219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5410200" y="4358054"/>
              <a:ext cx="1752600" cy="975946"/>
              <a:chOff x="5410200" y="4100146"/>
              <a:chExt cx="1752600" cy="1219200"/>
            </a:xfrm>
          </p:grpSpPr>
          <p:sp>
            <p:nvSpPr>
              <p:cNvPr id="14" name="矩形 5"/>
              <p:cNvSpPr/>
              <p:nvPr/>
            </p:nvSpPr>
            <p:spPr>
              <a:xfrm>
                <a:off x="5410200" y="4100146"/>
                <a:ext cx="990600" cy="12192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A7</a:t>
                </a:r>
                <a:endParaRPr lang="zh-CN" altLang="en-US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矩形 6"/>
              <p:cNvSpPr/>
              <p:nvPr/>
            </p:nvSpPr>
            <p:spPr>
              <a:xfrm>
                <a:off x="6400800" y="4100146"/>
                <a:ext cx="762000" cy="1219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6" name="直接箭头连接符 7"/>
            <p:cNvCxnSpPr>
              <a:endCxn id="14" idx="1"/>
            </p:cNvCxnSpPr>
            <p:nvPr/>
          </p:nvCxnSpPr>
          <p:spPr>
            <a:xfrm>
              <a:off x="2743200" y="4846027"/>
              <a:ext cx="2667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8"/>
            <p:cNvCxnSpPr/>
            <p:nvPr/>
          </p:nvCxnSpPr>
          <p:spPr>
            <a:xfrm>
              <a:off x="6819900" y="4846027"/>
              <a:ext cx="685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3429000" y="5791200"/>
              <a:ext cx="1752600" cy="990600"/>
              <a:chOff x="3429000" y="5562600"/>
              <a:chExt cx="1752600" cy="1219200"/>
            </a:xfrm>
          </p:grpSpPr>
          <p:sp>
            <p:nvSpPr>
              <p:cNvPr id="18" name="矩形 10"/>
              <p:cNvSpPr/>
              <p:nvPr/>
            </p:nvSpPr>
            <p:spPr>
              <a:xfrm>
                <a:off x="3429000" y="5562600"/>
                <a:ext cx="990600" cy="1219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31.6</a:t>
                </a:r>
                <a:endParaRPr lang="zh-CN" altLang="en-US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矩形 11"/>
              <p:cNvSpPr/>
              <p:nvPr/>
            </p:nvSpPr>
            <p:spPr>
              <a:xfrm>
                <a:off x="4419600" y="5562600"/>
                <a:ext cx="762000" cy="1219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0" name="直接箭头连接符 13"/>
            <p:cNvCxnSpPr>
              <a:endCxn id="18" idx="1"/>
            </p:cNvCxnSpPr>
            <p:nvPr/>
          </p:nvCxnSpPr>
          <p:spPr>
            <a:xfrm>
              <a:off x="2743200" y="4831373"/>
              <a:ext cx="685800" cy="145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15"/>
            <p:cNvCxnSpPr>
              <a:endCxn id="14" idx="1"/>
            </p:cNvCxnSpPr>
            <p:nvPr/>
          </p:nvCxnSpPr>
          <p:spPr>
            <a:xfrm flipV="1">
              <a:off x="4800600" y="4846027"/>
              <a:ext cx="609600" cy="14658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620096" y="3753217"/>
              <a:ext cx="4602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>
                  <a:solidFill>
                    <a:srgbClr val="C00000"/>
                  </a:solidFill>
                  <a:latin typeface="Consolas" panose="020B0609020204030204" pitchFamily="49" charset="0"/>
                  <a:cs typeface="Calibri" panose="020F0502020204030204" pitchFamily="34" charset="0"/>
                </a:rPr>
                <a:t>InsertNode</a:t>
              </a:r>
              <a:r>
                <a:rPr lang="en-US" altLang="zh-CN" sz="2400" dirty="0">
                  <a:solidFill>
                    <a:srgbClr val="C00000"/>
                  </a:solidFill>
                  <a:latin typeface="Consolas" panose="020B0609020204030204" pitchFamily="49" charset="0"/>
                  <a:cs typeface="Calibri" panose="020F0502020204030204" pitchFamily="34" charset="0"/>
                </a:rPr>
                <a:t>(&amp;head, 5, 31.6)</a:t>
              </a:r>
              <a:endParaRPr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endParaRPr>
            </a:p>
          </p:txBody>
        </p: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42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Insert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Possible cases of </a:t>
            </a:r>
            <a:r>
              <a:rPr lang="en-US" altLang="zh-CN" dirty="0" err="1">
                <a:solidFill>
                  <a:srgbClr val="0070C0"/>
                </a:solidFill>
              </a:rPr>
              <a:t>InsertNode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en-US" altLang="zh-CN" dirty="0"/>
              <a:t>Insert into an empty list</a:t>
            </a:r>
          </a:p>
          <a:p>
            <a:pPr lvl="1"/>
            <a:r>
              <a:rPr lang="en-US" altLang="zh-CN" dirty="0"/>
              <a:t>Insert in front</a:t>
            </a:r>
          </a:p>
          <a:p>
            <a:pPr lvl="1"/>
            <a:r>
              <a:rPr lang="en-US" altLang="zh-CN" dirty="0"/>
              <a:t>Insert at back</a:t>
            </a:r>
          </a:p>
          <a:p>
            <a:pPr lvl="1"/>
            <a:r>
              <a:rPr lang="en-US" altLang="zh-CN" dirty="0"/>
              <a:t>Insert in middle</a:t>
            </a:r>
          </a:p>
          <a:p>
            <a:r>
              <a:rPr lang="en-US" altLang="zh-CN" dirty="0"/>
              <a:t>But, in fact, only need to handle two cases</a:t>
            </a:r>
          </a:p>
          <a:p>
            <a:pPr lvl="1"/>
            <a:r>
              <a:rPr lang="en-US" altLang="zh-CN" dirty="0"/>
              <a:t>Insert as the first node (Case 1 and Case 2)</a:t>
            </a:r>
          </a:p>
          <a:p>
            <a:pPr lvl="1"/>
            <a:r>
              <a:rPr lang="en-US" altLang="zh-CN" dirty="0"/>
              <a:t>Insert in the middle or at the end of the list (Case 3 and Case 4)</a:t>
            </a:r>
          </a:p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94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Two Cases for Insert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Insert as the first node </a:t>
            </a:r>
          </a:p>
          <a:p>
            <a:pPr lvl="1"/>
            <a:r>
              <a:rPr lang="en-US" altLang="zh-CN" dirty="0"/>
              <a:t>handles the </a:t>
            </a:r>
            <a:r>
              <a:rPr lang="en-US" altLang="zh-CN" dirty="0">
                <a:solidFill>
                  <a:srgbClr val="C00000"/>
                </a:solidFill>
              </a:rPr>
              <a:t>next</a:t>
            </a:r>
            <a:r>
              <a:rPr lang="en-US" altLang="zh-CN" dirty="0"/>
              <a:t> pointer of </a:t>
            </a:r>
            <a:r>
              <a:rPr lang="en-US" altLang="zh-CN" dirty="0">
                <a:solidFill>
                  <a:srgbClr val="0070C0"/>
                </a:solidFill>
              </a:rPr>
              <a:t>one node</a:t>
            </a:r>
          </a:p>
          <a:p>
            <a:pPr lvl="1"/>
            <a:r>
              <a:rPr lang="en-US" altLang="zh-CN" dirty="0"/>
              <a:t>updates the </a:t>
            </a:r>
            <a:r>
              <a:rPr lang="en-US" altLang="zh-CN" dirty="0">
                <a:solidFill>
                  <a:srgbClr val="C00000"/>
                </a:solidFill>
              </a:rPr>
              <a:t>head</a:t>
            </a:r>
            <a:r>
              <a:rPr lang="en-US" altLang="zh-CN" dirty="0"/>
              <a:t> pointer</a:t>
            </a:r>
          </a:p>
          <a:p>
            <a:r>
              <a:rPr lang="en-US" altLang="zh-CN" dirty="0"/>
              <a:t>Insert in the middle or at the end</a:t>
            </a:r>
          </a:p>
          <a:p>
            <a:pPr lvl="1"/>
            <a:r>
              <a:rPr lang="en-US" altLang="zh-CN" dirty="0"/>
              <a:t>handles the </a:t>
            </a:r>
            <a:r>
              <a:rPr lang="en-US" altLang="zh-CN" dirty="0">
                <a:solidFill>
                  <a:srgbClr val="C00000"/>
                </a:solidFill>
              </a:rPr>
              <a:t>next</a:t>
            </a:r>
            <a:r>
              <a:rPr lang="en-US" altLang="zh-CN" dirty="0"/>
              <a:t> pointer of </a:t>
            </a:r>
            <a:r>
              <a:rPr lang="en-US" altLang="zh-CN" dirty="0">
                <a:solidFill>
                  <a:srgbClr val="0070C0"/>
                </a:solidFill>
              </a:rPr>
              <a:t>two nodes </a:t>
            </a:r>
          </a:p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74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as the First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0800" y="2256289"/>
            <a:ext cx="4602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InsertNode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(&amp;head, 0, 31.6)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267200" y="3076832"/>
            <a:ext cx="2095500" cy="1879535"/>
            <a:chOff x="4267200" y="3076832"/>
            <a:chExt cx="2095500" cy="1879535"/>
          </a:xfrm>
        </p:grpSpPr>
        <p:sp>
          <p:nvSpPr>
            <p:cNvPr id="4" name="矩形 3"/>
            <p:cNvSpPr/>
            <p:nvPr/>
          </p:nvSpPr>
          <p:spPr>
            <a:xfrm>
              <a:off x="4267200" y="3076832"/>
              <a:ext cx="990600" cy="12192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A1</a:t>
              </a:r>
              <a:endParaRPr lang="zh-CN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257800" y="3076832"/>
              <a:ext cx="762000" cy="1219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8"/>
            <p:cNvCxnSpPr/>
            <p:nvPr/>
          </p:nvCxnSpPr>
          <p:spPr>
            <a:xfrm>
              <a:off x="5676900" y="3671144"/>
              <a:ext cx="685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7"/>
            <p:cNvCxnSpPr/>
            <p:nvPr/>
          </p:nvCxnSpPr>
          <p:spPr>
            <a:xfrm flipH="1" flipV="1">
              <a:off x="4753615" y="4324864"/>
              <a:ext cx="8885" cy="63150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4"/>
          <p:cNvSpPr/>
          <p:nvPr/>
        </p:nvSpPr>
        <p:spPr>
          <a:xfrm>
            <a:off x="4321514" y="4880167"/>
            <a:ext cx="822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head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22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as the First Node</a:t>
            </a:r>
          </a:p>
        </p:txBody>
      </p:sp>
      <p:sp>
        <p:nvSpPr>
          <p:cNvPr id="4" name="矩形 3"/>
          <p:cNvSpPr/>
          <p:nvPr/>
        </p:nvSpPr>
        <p:spPr>
          <a:xfrm>
            <a:off x="4267200" y="3076832"/>
            <a:ext cx="990600" cy="1219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A1</a:t>
            </a:r>
            <a:endParaRPr lang="zh-CN" altLang="en-US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57800" y="3076832"/>
            <a:ext cx="762000" cy="1219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8"/>
          <p:cNvCxnSpPr/>
          <p:nvPr/>
        </p:nvCxnSpPr>
        <p:spPr>
          <a:xfrm>
            <a:off x="5676900" y="3671144"/>
            <a:ext cx="6858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60158" y="2282458"/>
            <a:ext cx="4602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InsertNode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(&amp;head, 0, 31.6)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直接箭头连接符 7"/>
          <p:cNvCxnSpPr>
            <a:stCxn id="13" idx="0"/>
            <a:endCxn id="4" idx="2"/>
          </p:cNvCxnSpPr>
          <p:nvPr/>
        </p:nvCxnSpPr>
        <p:spPr>
          <a:xfrm flipV="1">
            <a:off x="4762500" y="4296032"/>
            <a:ext cx="0" cy="580768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4"/>
          <p:cNvSpPr/>
          <p:nvPr/>
        </p:nvSpPr>
        <p:spPr>
          <a:xfrm>
            <a:off x="4351169" y="4876800"/>
            <a:ext cx="82266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Calibri" charset="0"/>
                <a:ea typeface="Calibri" charset="0"/>
                <a:cs typeface="Calibri" charset="0"/>
              </a:rPr>
              <a:t>head</a:t>
            </a:r>
            <a:endParaRPr lang="zh-CN" alt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矩形 10"/>
          <p:cNvSpPr/>
          <p:nvPr/>
        </p:nvSpPr>
        <p:spPr>
          <a:xfrm>
            <a:off x="2133600" y="3076832"/>
            <a:ext cx="9906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31.6</a:t>
            </a:r>
            <a:endParaRPr lang="zh-CN" altLang="en-US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24200" y="3076832"/>
            <a:ext cx="762000" cy="1219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8"/>
          <p:cNvCxnSpPr>
            <a:endCxn id="4" idx="1"/>
          </p:cNvCxnSpPr>
          <p:nvPr/>
        </p:nvCxnSpPr>
        <p:spPr>
          <a:xfrm flipV="1">
            <a:off x="3543300" y="3686432"/>
            <a:ext cx="723900" cy="41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25"/>
          <p:cNvCxnSpPr>
            <a:stCxn id="13" idx="1"/>
            <a:endCxn id="9" idx="2"/>
          </p:cNvCxnSpPr>
          <p:nvPr/>
        </p:nvCxnSpPr>
        <p:spPr>
          <a:xfrm rot="10800000">
            <a:off x="2628901" y="4296033"/>
            <a:ext cx="1722269" cy="81160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48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33400" y="2819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for Insert</a:t>
            </a:r>
            <a:endParaRPr lang="zh-CN" altLang="en-US" sz="5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02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28600" y="457200"/>
            <a:ext cx="8534400" cy="6114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0" tIns="36000" anchor="ctr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#include 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stdlib.h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InsertNode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Node**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zh-CN" sz="1600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index,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x)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&lt;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= 1;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Node*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*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while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&amp;&amp; index &gt;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++;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&gt; 0 &amp;&amp;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==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FFFF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Node*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= (Node*)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malloc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sizeof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(Node));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-&gt;data	= x;	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== 0)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else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73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/>
          <p:nvPr/>
        </p:nvSpPr>
        <p:spPr>
          <a:xfrm>
            <a:off x="1066800" y="1524000"/>
            <a:ext cx="6019800" cy="1752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28600" y="457200"/>
            <a:ext cx="8534400" cy="6114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0" tIns="36000" anchor="ctr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#include 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stdlib.h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InsertNode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Node**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zh-CN" sz="1600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index,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x)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&lt;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= 1;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Node*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*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while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&amp;&amp; index &gt;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++;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&gt; 0 &amp;&amp;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==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FFFF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Node*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= (Node*)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malloc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sizeof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(Node));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-&gt;data	= x;	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== 0)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else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7086600" y="1524000"/>
            <a:ext cx="1600200" cy="1752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Try to locate the node at position </a:t>
            </a:r>
            <a:r>
              <a:rPr lang="en-US" altLang="zh-CN" i="1" dirty="0">
                <a:solidFill>
                  <a:schemeClr val="bg1"/>
                </a:solidFill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index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. If it does not exist, return </a:t>
            </a:r>
            <a:r>
              <a:rPr lang="en-US" altLang="zh-CN" i="1" dirty="0">
                <a:solidFill>
                  <a:schemeClr val="bg1"/>
                </a:solidFill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null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.</a:t>
            </a:r>
            <a:endParaRPr lang="zh-CN" alt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62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/>
        </p:nvSpPr>
        <p:spPr>
          <a:xfrm>
            <a:off x="1066800" y="3431932"/>
            <a:ext cx="6019800" cy="606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28600" y="457200"/>
            <a:ext cx="8534400" cy="6114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0" tIns="36000" anchor="ctr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#include 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stdlib.h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InsertNode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Node**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zh-CN" sz="1600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index,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x)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&lt;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= 1;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Node*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*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while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&amp;&amp; index &gt;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++;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&gt; 0 &amp;&amp;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==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FFFF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Node*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= (Node*)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malloc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sizeof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(Node))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-&gt;data	= x;	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== 0)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else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11" name="矩形 6"/>
          <p:cNvSpPr/>
          <p:nvPr/>
        </p:nvSpPr>
        <p:spPr>
          <a:xfrm>
            <a:off x="7086600" y="3431932"/>
            <a:ext cx="1600200" cy="6066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charset="0"/>
                <a:ea typeface="宋体" pitchFamily="2" charset="-122"/>
              </a:rPr>
              <a:t>Create a new Node.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67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4"/>
          <p:cNvSpPr/>
          <p:nvPr/>
        </p:nvSpPr>
        <p:spPr>
          <a:xfrm>
            <a:off x="1087315" y="3962400"/>
            <a:ext cx="6019800" cy="100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28600" y="457200"/>
            <a:ext cx="8534400" cy="6114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0" tIns="36000" anchor="ctr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#include 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stdlib.h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InsertNode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Node**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zh-CN" sz="1600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index,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x)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&lt;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= 1;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Node*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*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while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&amp;&amp; index &gt;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++;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&gt; 0 &amp;&amp;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==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FFFF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Node*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= (Node*)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malloc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sizeof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(Node));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-&gt;data	= x;	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== 0)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else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8" name="矩形 6"/>
          <p:cNvSpPr/>
          <p:nvPr/>
        </p:nvSpPr>
        <p:spPr>
          <a:xfrm>
            <a:off x="7107115" y="3962400"/>
            <a:ext cx="1600200" cy="10023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Insert as the new head.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151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6800" y="4953000"/>
            <a:ext cx="6019800" cy="10228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28600" y="457200"/>
            <a:ext cx="8534400" cy="6114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0" tIns="36000" anchor="ctr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#include 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stdlib.h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InsertNode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Node**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zh-CN" sz="1600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index,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double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x)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&lt;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= 1;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Node*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*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while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&amp;&amp; index &gt;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 {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currIndex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++;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&gt; 0 &amp;&amp; 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== 0) 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0;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rgbClr val="FFFF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Node*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= (Node*)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malloc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sizeof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(Node))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-&gt;data	= x;	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(index == 0)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*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phead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else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	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currNode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-&gt;next =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}</a:t>
            </a:r>
          </a:p>
          <a:p>
            <a:pPr eaLnBrk="0" hangingPunct="0">
              <a:defRPr/>
            </a:pP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altLang="zh-CN" sz="1600" dirty="0">
                <a:solidFill>
                  <a:schemeClr val="accent6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return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16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newNode</a:t>
            </a:r>
            <a:r>
              <a:rPr lang="en-US" altLang="zh-CN" sz="16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eaLnBrk="0" hangingPunct="0"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6" name="矩形 6"/>
          <p:cNvSpPr/>
          <p:nvPr/>
        </p:nvSpPr>
        <p:spPr>
          <a:xfrm>
            <a:off x="7086600" y="4953000"/>
            <a:ext cx="1600200" cy="10228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Insert after </a:t>
            </a:r>
            <a:r>
              <a:rPr lang="en-US" altLang="zh-CN" dirty="0" err="1">
                <a:solidFill>
                  <a:schemeClr val="bg1"/>
                </a:solidFill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currNode</a:t>
            </a:r>
            <a:r>
              <a:rPr lang="en-US" altLang="zh-CN" dirty="0">
                <a:solidFill>
                  <a:schemeClr val="bg1"/>
                </a:solidFill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60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Find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int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 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FindNode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(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Node* head, 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double x)</a:t>
            </a:r>
          </a:p>
          <a:p>
            <a:pPr lvl="1"/>
            <a:r>
              <a:rPr lang="en-US" altLang="zh-CN" dirty="0">
                <a:ea typeface="宋体" charset="-122"/>
              </a:rPr>
              <a:t>returns the position of the first node whose </a:t>
            </a: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data=x</a:t>
            </a:r>
          </a:p>
          <a:p>
            <a:pPr lvl="1"/>
            <a:r>
              <a:rPr lang="en-US" altLang="zh-CN" dirty="0">
                <a:ea typeface="宋体" charset="-122"/>
              </a:rPr>
              <a:t>returns 0 if no such node exists</a:t>
            </a:r>
          </a:p>
          <a:p>
            <a:r>
              <a:rPr lang="en-US" altLang="zh-CN" dirty="0">
                <a:ea typeface="宋体" charset="-122"/>
              </a:rPr>
              <a:t>Steps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Search for a node with the value equal to </a:t>
            </a:r>
            <a:r>
              <a:rPr lang="en-US" altLang="zh-CN" dirty="0">
                <a:solidFill>
                  <a:srgbClr val="C00000"/>
                </a:solidFill>
                <a:ea typeface="宋体" pitchFamily="2" charset="-122"/>
              </a:rPr>
              <a:t>x</a:t>
            </a:r>
            <a:r>
              <a:rPr lang="en-US" altLang="zh-CN" dirty="0">
                <a:ea typeface="宋体" pitchFamily="2" charset="-122"/>
              </a:rPr>
              <a:t> in the list.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If such a node is found, return its position. Otherwise, return 0.</a:t>
            </a:r>
          </a:p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499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int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 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DeleteNode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(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Node** 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phead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double x)</a:t>
            </a:r>
          </a:p>
          <a:p>
            <a:pPr lvl="1"/>
            <a:r>
              <a:rPr lang="en-US" altLang="zh-CN" dirty="0">
                <a:ea typeface="宋体" charset="-122"/>
              </a:rPr>
              <a:t>deletes a node whose </a:t>
            </a: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data=x</a:t>
            </a:r>
          </a:p>
          <a:p>
            <a:pPr lvl="1"/>
            <a:r>
              <a:rPr lang="en-US" altLang="zh-CN" dirty="0">
                <a:ea typeface="宋体" charset="-122"/>
              </a:rPr>
              <a:t>returns the position of the deleted node</a:t>
            </a:r>
          </a:p>
          <a:p>
            <a:pPr lvl="1"/>
            <a:r>
              <a:rPr lang="en-US" altLang="zh-CN" dirty="0">
                <a:ea typeface="宋体" charset="-122"/>
              </a:rPr>
              <a:t>returns 0 if no such node exists</a:t>
            </a:r>
          </a:p>
          <a:p>
            <a:r>
              <a:rPr lang="en-US" altLang="zh-CN" dirty="0"/>
              <a:t>Steps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CN" dirty="0">
                <a:ea typeface="宋体" pitchFamily="2" charset="-122"/>
                <a:cs typeface="Courier New" pitchFamily="49" charset="0"/>
              </a:rPr>
              <a:t>Find the desirable node (similar to </a:t>
            </a:r>
            <a:r>
              <a:rPr lang="en-US" altLang="zh-CN" dirty="0" err="1">
                <a:solidFill>
                  <a:srgbClr val="C00000"/>
                </a:solidFill>
                <a:ea typeface="宋体" pitchFamily="2" charset="-122"/>
                <a:cs typeface="Courier New" pitchFamily="49" charset="0"/>
              </a:rPr>
              <a:t>FindNode</a:t>
            </a:r>
            <a:r>
              <a:rPr lang="en-US" altLang="zh-CN" dirty="0">
                <a:ea typeface="宋体" pitchFamily="2" charset="-122"/>
                <a:cs typeface="Courier New" pitchFamily="49" charset="0"/>
              </a:rPr>
              <a:t>)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CN" dirty="0">
                <a:ea typeface="宋体" pitchFamily="2" charset="-122"/>
                <a:cs typeface="Courier New" pitchFamily="49" charset="0"/>
              </a:rPr>
              <a:t>In addition, record the node’s </a:t>
            </a:r>
            <a:r>
              <a:rPr lang="en-US" altLang="zh-CN" dirty="0">
                <a:solidFill>
                  <a:srgbClr val="C00000"/>
                </a:solidFill>
                <a:ea typeface="宋体" pitchFamily="2" charset="-122"/>
                <a:cs typeface="Courier New" pitchFamily="49" charset="0"/>
              </a:rPr>
              <a:t>predecessor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CN" dirty="0">
                <a:ea typeface="宋体" pitchFamily="2" charset="-122"/>
                <a:cs typeface="Courier New" pitchFamily="49" charset="0"/>
              </a:rPr>
              <a:t>Set</a:t>
            </a:r>
            <a:r>
              <a:rPr lang="zh-CN" altLang="en-US" dirty="0"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dirty="0">
                <a:ea typeface="宋体" pitchFamily="2" charset="-122"/>
                <a:cs typeface="Courier New" pitchFamily="49" charset="0"/>
              </a:rPr>
              <a:t>the</a:t>
            </a:r>
            <a:r>
              <a:rPr lang="zh-CN" altLang="en-US" dirty="0"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dirty="0">
                <a:ea typeface="宋体" pitchFamily="2" charset="-122"/>
                <a:cs typeface="Courier New" pitchFamily="49" charset="0"/>
              </a:rPr>
              <a:t>pointers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CN" dirty="0">
                <a:solidFill>
                  <a:srgbClr val="C00000"/>
                </a:solidFill>
                <a:ea typeface="宋体" pitchFamily="2" charset="-122"/>
                <a:cs typeface="Courier New" pitchFamily="49" charset="0"/>
              </a:rPr>
              <a:t>Free the memory </a:t>
            </a:r>
            <a:r>
              <a:rPr lang="en-US" altLang="zh-CN" dirty="0">
                <a:ea typeface="宋体" pitchFamily="2" charset="-122"/>
                <a:cs typeface="Courier New" pitchFamily="49" charset="0"/>
              </a:rPr>
              <a:t>occupied by the found node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65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Deleting a middle or an end node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371600" y="3228320"/>
            <a:ext cx="990600" cy="1219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+mj-lt"/>
              </a:rPr>
              <a:t>A5</a:t>
            </a:r>
            <a:endParaRPr lang="zh-CN" alt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62200" y="3228320"/>
            <a:ext cx="762000" cy="1219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410200" y="3251766"/>
            <a:ext cx="990600" cy="1219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+mj-lt"/>
              </a:rPr>
              <a:t>A7</a:t>
            </a:r>
            <a:endParaRPr lang="zh-CN" alt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79177" y="3251766"/>
            <a:ext cx="9906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+mj-lt"/>
              </a:rPr>
              <a:t>31.6</a:t>
            </a:r>
            <a:endParaRPr lang="zh-CN" alt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69777" y="3251766"/>
            <a:ext cx="762000" cy="1219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endCxn id="6" idx="1"/>
          </p:cNvCxnSpPr>
          <p:nvPr/>
        </p:nvCxnSpPr>
        <p:spPr>
          <a:xfrm>
            <a:off x="4750777" y="3861366"/>
            <a:ext cx="659423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8826" y="2590800"/>
            <a:ext cx="4092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DeleteNode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(&amp;head, 31.6)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cxnSp>
        <p:nvCxnSpPr>
          <p:cNvPr id="26" name="肘形连接符 25"/>
          <p:cNvCxnSpPr>
            <a:endCxn id="6" idx="2"/>
          </p:cNvCxnSpPr>
          <p:nvPr/>
        </p:nvCxnSpPr>
        <p:spPr>
          <a:xfrm>
            <a:off x="2743200" y="3858435"/>
            <a:ext cx="3162300" cy="612531"/>
          </a:xfrm>
          <a:prstGeom prst="bentConnector4">
            <a:avLst>
              <a:gd name="adj1" fmla="val 186"/>
              <a:gd name="adj2" fmla="val 21626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371600" y="3225389"/>
            <a:ext cx="6134100" cy="1245577"/>
            <a:chOff x="1371600" y="3225389"/>
            <a:chExt cx="6134100" cy="1245577"/>
          </a:xfrm>
        </p:grpSpPr>
        <p:sp>
          <p:nvSpPr>
            <p:cNvPr id="7" name="矩形 6"/>
            <p:cNvSpPr/>
            <p:nvPr/>
          </p:nvSpPr>
          <p:spPr>
            <a:xfrm>
              <a:off x="6400800" y="3251766"/>
              <a:ext cx="762000" cy="1219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/>
            <p:cNvCxnSpPr>
              <a:endCxn id="10" idx="1"/>
            </p:cNvCxnSpPr>
            <p:nvPr/>
          </p:nvCxnSpPr>
          <p:spPr>
            <a:xfrm>
              <a:off x="2743200" y="3858435"/>
              <a:ext cx="635977" cy="293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6819900" y="3858435"/>
              <a:ext cx="685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3"/>
            <p:cNvSpPr/>
            <p:nvPr/>
          </p:nvSpPr>
          <p:spPr>
            <a:xfrm>
              <a:off x="1371600" y="3225389"/>
              <a:ext cx="990600" cy="12192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A5</a:t>
              </a:r>
              <a:endParaRPr lang="zh-CN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矩形 4"/>
            <p:cNvSpPr/>
            <p:nvPr/>
          </p:nvSpPr>
          <p:spPr>
            <a:xfrm>
              <a:off x="2362200" y="3225389"/>
              <a:ext cx="762000" cy="1219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5"/>
            <p:cNvSpPr/>
            <p:nvPr/>
          </p:nvSpPr>
          <p:spPr>
            <a:xfrm>
              <a:off x="5410200" y="3248835"/>
              <a:ext cx="990600" cy="12192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A7</a:t>
              </a:r>
              <a:endParaRPr lang="zh-CN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矩形 9"/>
            <p:cNvSpPr/>
            <p:nvPr/>
          </p:nvSpPr>
          <p:spPr>
            <a:xfrm>
              <a:off x="3379177" y="3248835"/>
              <a:ext cx="990600" cy="1219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31.6</a:t>
              </a:r>
              <a:endParaRPr lang="zh-CN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矩形 10"/>
            <p:cNvSpPr/>
            <p:nvPr/>
          </p:nvSpPr>
          <p:spPr>
            <a:xfrm>
              <a:off x="4369777" y="3248835"/>
              <a:ext cx="762000" cy="1219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2"/>
            <p:cNvCxnSpPr>
              <a:endCxn id="17" idx="1"/>
            </p:cNvCxnSpPr>
            <p:nvPr/>
          </p:nvCxnSpPr>
          <p:spPr>
            <a:xfrm>
              <a:off x="4750777" y="3858435"/>
              <a:ext cx="65942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28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Deleting the head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598826" y="2590800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DeleteNode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(&amp;head, 2.3)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434004" y="3254697"/>
            <a:ext cx="4271596" cy="2236168"/>
            <a:chOff x="2434004" y="3254697"/>
            <a:chExt cx="4271596" cy="2236168"/>
          </a:xfrm>
        </p:grpSpPr>
        <p:sp>
          <p:nvSpPr>
            <p:cNvPr id="6" name="矩形 5"/>
            <p:cNvSpPr/>
            <p:nvPr/>
          </p:nvSpPr>
          <p:spPr>
            <a:xfrm>
              <a:off x="4610100" y="3254697"/>
              <a:ext cx="990600" cy="12192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A2</a:t>
              </a:r>
              <a:endParaRPr lang="zh-CN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600700" y="3254697"/>
              <a:ext cx="762000" cy="1219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/>
            <p:cNvCxnSpPr>
              <a:endCxn id="10" idx="2"/>
            </p:cNvCxnSpPr>
            <p:nvPr/>
          </p:nvCxnSpPr>
          <p:spPr>
            <a:xfrm flipH="1" flipV="1">
              <a:off x="2929304" y="4473897"/>
              <a:ext cx="8885" cy="63150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6019800" y="3861366"/>
              <a:ext cx="685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34004" y="3254697"/>
              <a:ext cx="990600" cy="1219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2.3</a:t>
              </a:r>
              <a:endParaRPr lang="zh-CN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24604" y="3254697"/>
              <a:ext cx="762000" cy="1219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endCxn id="6" idx="1"/>
            </p:cNvCxnSpPr>
            <p:nvPr/>
          </p:nvCxnSpPr>
          <p:spPr>
            <a:xfrm>
              <a:off x="3805604" y="3864297"/>
              <a:ext cx="8044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肘形连接符 25"/>
            <p:cNvCxnSpPr>
              <a:stCxn id="15" idx="3"/>
              <a:endCxn id="6" idx="2"/>
            </p:cNvCxnSpPr>
            <p:nvPr/>
          </p:nvCxnSpPr>
          <p:spPr>
            <a:xfrm flipV="1">
              <a:off x="3319864" y="4473897"/>
              <a:ext cx="1785536" cy="786136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2497203" y="5029200"/>
              <a:ext cx="82266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head</a:t>
              </a:r>
              <a:endParaRPr lang="zh-CN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80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Destory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void 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DestroyList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(Node*</a:t>
            </a:r>
            <a:r>
              <a:rPr lang="zh-CN" altLang="en-US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*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宋体" charset="-122"/>
              </a:rPr>
              <a:t> head)</a:t>
            </a:r>
          </a:p>
          <a:p>
            <a:pPr lvl="1"/>
            <a:r>
              <a:rPr lang="en-US" altLang="zh-CN" dirty="0">
                <a:ea typeface="宋体" charset="-122"/>
              </a:rPr>
              <a:t>deletes all the nodes in the list</a:t>
            </a:r>
          </a:p>
          <a:p>
            <a:pPr lvl="1"/>
            <a:r>
              <a:rPr lang="en-US" altLang="zh-CN" dirty="0">
                <a:ea typeface="宋体" charset="-122"/>
              </a:rPr>
              <a:t>frees the memory allocated to the nodes</a:t>
            </a:r>
          </a:p>
          <a:p>
            <a:pPr lvl="1"/>
            <a:r>
              <a:rPr lang="en-US" altLang="zh-CN" dirty="0">
                <a:ea typeface="宋体" charset="-122"/>
              </a:rPr>
              <a:t>Point the original head to NULL</a:t>
            </a:r>
          </a:p>
          <a:p>
            <a:r>
              <a:rPr lang="en-US" altLang="zh-CN" dirty="0"/>
              <a:t>Steps</a:t>
            </a:r>
          </a:p>
          <a:p>
            <a:pPr lvl="1"/>
            <a:r>
              <a:rPr lang="en-US" altLang="zh-CN" dirty="0">
                <a:ea typeface="宋体" pitchFamily="2" charset="-122"/>
                <a:cs typeface="Courier New" pitchFamily="49" charset="0"/>
              </a:rPr>
              <a:t>Step through the list and delete each node one by one.</a:t>
            </a:r>
          </a:p>
          <a:p>
            <a:pPr lvl="1"/>
            <a:r>
              <a:rPr lang="en-US" altLang="zh-CN" dirty="0"/>
              <a:t>Before deleting a node, obtain its next node.</a:t>
            </a:r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29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4338</TotalTime>
  <Words>3772</Words>
  <Application>Microsoft Office PowerPoint</Application>
  <PresentationFormat>全屏显示(4:3)</PresentationFormat>
  <Paragraphs>565</Paragraphs>
  <Slides>38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Adobe Gothic Std B</vt:lpstr>
      <vt:lpstr>Dotum</vt:lpstr>
      <vt:lpstr>Monotype Sorts</vt:lpstr>
      <vt:lpstr>PMingLiU</vt:lpstr>
      <vt:lpstr>等线</vt:lpstr>
      <vt:lpstr>等线 Light</vt:lpstr>
      <vt:lpstr>宋体</vt:lpstr>
      <vt:lpstr>Arial</vt:lpstr>
      <vt:lpstr>Calibri</vt:lpstr>
      <vt:lpstr>Cambria Math</vt:lpstr>
      <vt:lpstr>Consolas</vt:lpstr>
      <vt:lpstr>Courier New</vt:lpstr>
      <vt:lpstr>Symbol</vt:lpstr>
      <vt:lpstr>Times New Roman</vt:lpstr>
      <vt:lpstr>Office Theme</vt:lpstr>
      <vt:lpstr>Data Structures and Algorithms  Lecture 2: Linked Lists             (链表)</vt:lpstr>
      <vt:lpstr>Outline</vt:lpstr>
      <vt:lpstr>Abstract Data Type (ADT)</vt:lpstr>
      <vt:lpstr>Encapsulation - What</vt:lpstr>
      <vt:lpstr>Encapsulation - Why</vt:lpstr>
      <vt:lpstr>Encapsulation - How</vt:lpstr>
      <vt:lpstr>The List ADT - Data</vt:lpstr>
      <vt:lpstr>The List ADT - Operations</vt:lpstr>
      <vt:lpstr>Implementation of an ADT</vt:lpstr>
      <vt:lpstr>Array Implementation</vt:lpstr>
      <vt:lpstr>Discussion</vt:lpstr>
      <vt:lpstr>Pointer Implementation (Linked List,链表)</vt:lpstr>
      <vt:lpstr>Discussion</vt:lpstr>
      <vt:lpstr>A Complete list of Comparison</vt:lpstr>
      <vt:lpstr>Linked List Implementation</vt:lpstr>
      <vt:lpstr>Linked List Implementation</vt:lpstr>
      <vt:lpstr>Methods</vt:lpstr>
      <vt:lpstr>Methods (Cont.)</vt:lpstr>
      <vt:lpstr>PowerPoint 演示文稿</vt:lpstr>
      <vt:lpstr>PowerPoint 演示文稿</vt:lpstr>
      <vt:lpstr>Insert</vt:lpstr>
      <vt:lpstr>Insert</vt:lpstr>
      <vt:lpstr>Insert</vt:lpstr>
      <vt:lpstr>Insert</vt:lpstr>
      <vt:lpstr>Two Cases for Insert</vt:lpstr>
      <vt:lpstr>Insert as the First Node</vt:lpstr>
      <vt:lpstr>Insert as the First Node</vt:lpstr>
      <vt:lpstr>Code for Insert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Find</vt:lpstr>
      <vt:lpstr>Delete</vt:lpstr>
      <vt:lpstr>Delete</vt:lpstr>
      <vt:lpstr>Delete</vt:lpstr>
      <vt:lpstr>Destory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 Lecture 1: C</dc:title>
  <dc:creator>UIC</dc:creator>
  <cp:lastModifiedBy>Windows User</cp:lastModifiedBy>
  <cp:revision>246</cp:revision>
  <cp:lastPrinted>2019-02-24T12:01:43Z</cp:lastPrinted>
  <dcterms:created xsi:type="dcterms:W3CDTF">2006-08-16T00:00:00Z</dcterms:created>
  <dcterms:modified xsi:type="dcterms:W3CDTF">2023-09-24T15:39:14Z</dcterms:modified>
</cp:coreProperties>
</file>