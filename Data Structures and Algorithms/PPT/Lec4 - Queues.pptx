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26"/>
  </p:notesMasterIdLst>
  <p:sldIdLst>
    <p:sldId id="306" r:id="rId2"/>
    <p:sldId id="307" r:id="rId3"/>
    <p:sldId id="286" r:id="rId4"/>
    <p:sldId id="289" r:id="rId5"/>
    <p:sldId id="288" r:id="rId6"/>
    <p:sldId id="312" r:id="rId7"/>
    <p:sldId id="290" r:id="rId8"/>
    <p:sldId id="291" r:id="rId9"/>
    <p:sldId id="292" r:id="rId10"/>
    <p:sldId id="313" r:id="rId11"/>
    <p:sldId id="314" r:id="rId12"/>
    <p:sldId id="315" r:id="rId13"/>
    <p:sldId id="316" r:id="rId14"/>
    <p:sldId id="317" r:id="rId15"/>
    <p:sldId id="318" r:id="rId16"/>
    <p:sldId id="319" r:id="rId17"/>
    <p:sldId id="293" r:id="rId18"/>
    <p:sldId id="320" r:id="rId19"/>
    <p:sldId id="321" r:id="rId20"/>
    <p:sldId id="295" r:id="rId21"/>
    <p:sldId id="297" r:id="rId22"/>
    <p:sldId id="298" r:id="rId23"/>
    <p:sldId id="311" r:id="rId24"/>
    <p:sldId id="322"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3D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193"/>
    <p:restoredTop sz="80060" autoAdjust="0"/>
  </p:normalViewPr>
  <p:slideViewPr>
    <p:cSldViewPr>
      <p:cViewPr varScale="1">
        <p:scale>
          <a:sx n="53" d="100"/>
          <a:sy n="53" d="100"/>
        </p:scale>
        <p:origin x="1292"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2B43F9D-0BE7-4D95-AB29-6EF42525F0B1}" type="datetimeFigureOut">
              <a:rPr lang="en-US" smtClean="0"/>
              <a:t>10/23/2023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2EDCDC2-C1D2-44CB-8970-27B4CFF2503B}" type="slidenum">
              <a:rPr lang="en-US" smtClean="0"/>
              <a:t>‹#›</a:t>
            </a:fld>
            <a:endParaRPr lang="en-US"/>
          </a:p>
        </p:txBody>
      </p:sp>
    </p:spTree>
    <p:extLst>
      <p:ext uri="{BB962C8B-B14F-4D97-AF65-F5344CB8AC3E}">
        <p14:creationId xmlns:p14="http://schemas.microsoft.com/office/powerpoint/2010/main" val="37842224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2800">
                <a:solidFill>
                  <a:schemeClr val="tx1"/>
                </a:solidFill>
                <a:latin typeface="Tahoma" pitchFamily="34" charset="0"/>
                <a:ea typeface="宋体" pitchFamily="2" charset="-122"/>
              </a:defRPr>
            </a:lvl1pPr>
            <a:lvl2pPr marL="742950" indent="-285750" defTabSz="954088" eaLnBrk="0" hangingPunct="0">
              <a:defRPr sz="2800">
                <a:solidFill>
                  <a:schemeClr val="tx1"/>
                </a:solidFill>
                <a:latin typeface="Tahoma" pitchFamily="34" charset="0"/>
                <a:ea typeface="宋体" pitchFamily="2" charset="-122"/>
              </a:defRPr>
            </a:lvl2pPr>
            <a:lvl3pPr marL="1143000" indent="-228600" defTabSz="954088" eaLnBrk="0" hangingPunct="0">
              <a:defRPr sz="2800">
                <a:solidFill>
                  <a:schemeClr val="tx1"/>
                </a:solidFill>
                <a:latin typeface="Tahoma" pitchFamily="34" charset="0"/>
                <a:ea typeface="宋体" pitchFamily="2" charset="-122"/>
              </a:defRPr>
            </a:lvl3pPr>
            <a:lvl4pPr marL="1600200" indent="-228600" defTabSz="954088" eaLnBrk="0" hangingPunct="0">
              <a:defRPr sz="2800">
                <a:solidFill>
                  <a:schemeClr val="tx1"/>
                </a:solidFill>
                <a:latin typeface="Tahoma" pitchFamily="34" charset="0"/>
                <a:ea typeface="宋体" pitchFamily="2" charset="-122"/>
              </a:defRPr>
            </a:lvl4pPr>
            <a:lvl5pPr marL="2057400" indent="-228600" defTabSz="954088" eaLnBrk="0" hangingPunct="0">
              <a:defRPr sz="2800">
                <a:solidFill>
                  <a:schemeClr val="tx1"/>
                </a:solidFill>
                <a:latin typeface="Tahoma" pitchFamily="34" charset="0"/>
                <a:ea typeface="宋体" pitchFamily="2" charset="-122"/>
              </a:defRPr>
            </a:lvl5pPr>
            <a:lvl6pPr marL="25146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defTabSz="954088" eaLnBrk="0" fontAlgn="base" hangingPunct="0">
              <a:spcBef>
                <a:spcPct val="0"/>
              </a:spcBef>
              <a:spcAft>
                <a:spcPct val="0"/>
              </a:spcAft>
              <a:defRPr sz="2800">
                <a:solidFill>
                  <a:schemeClr val="tx1"/>
                </a:solidFill>
                <a:latin typeface="Tahoma" pitchFamily="34" charset="0"/>
                <a:ea typeface="宋体" pitchFamily="2" charset="-122"/>
              </a:defRPr>
            </a:lvl9pPr>
          </a:lstStyle>
          <a:p>
            <a:fld id="{E6EC4856-D67C-4F1F-90E1-0F510B67FE9A}" type="slidenum">
              <a:rPr lang="en-US" altLang="zh-CN" sz="1000">
                <a:latin typeface="Times New Roman" pitchFamily="18" charset="0"/>
              </a:rPr>
              <a:pPr/>
              <a:t>1</a:t>
            </a:fld>
            <a:endParaRPr lang="en-US" altLang="zh-CN" sz="1000">
              <a:latin typeface="Times New Roman" pitchFamily="18" charset="0"/>
            </a:endParaRPr>
          </a:p>
        </p:txBody>
      </p:sp>
      <p:sp>
        <p:nvSpPr>
          <p:cNvPr id="14339" name="Rectangle 2"/>
          <p:cNvSpPr>
            <a:spLocks noGrp="1" noRot="1" noChangeAspect="1" noChangeArrowheads="1" noTextEdit="1"/>
          </p:cNvSpPr>
          <p:nvPr>
            <p:ph type="sldImg"/>
          </p:nvPr>
        </p:nvSpPr>
        <p:spPr>
          <a:xfrm>
            <a:off x="911225" y="744538"/>
            <a:ext cx="4959350" cy="3719512"/>
          </a:xfrm>
          <a:ln/>
        </p:spPr>
      </p:sp>
      <p:sp>
        <p:nvSpPr>
          <p:cNvPr id="14340" name="Rectangle 3"/>
          <p:cNvSpPr>
            <a:spLocks noGrp="1" noChangeArrowheads="1"/>
          </p:cNvSpPr>
          <p:nvPr>
            <p:ph type="body" idx="1"/>
          </p:nvPr>
        </p:nvSpPr>
        <p:spPr>
          <a:xfrm>
            <a:off x="677863" y="4711700"/>
            <a:ext cx="5426075" cy="44624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1359533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56AE6F9D-7203-446D-82C1-2590DD051B44}" type="slidenum">
              <a:rPr lang="zh-CN" altLang="en-US" sz="1200">
                <a:latin typeface="Arial" charset="0"/>
              </a:rPr>
              <a:pPr eaLnBrk="1" hangingPunct="1"/>
              <a:t>5</a:t>
            </a:fld>
            <a:endParaRPr lang="en-US" altLang="zh-CN" sz="1200">
              <a:latin typeface="Arial"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6997990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56AE6F9D-7203-446D-82C1-2590DD051B44}" type="slidenum">
              <a:rPr lang="zh-CN" altLang="en-US" sz="1200">
                <a:latin typeface="Arial" charset="0"/>
              </a:rPr>
              <a:pPr eaLnBrk="1" hangingPunct="1"/>
              <a:t>6</a:t>
            </a:fld>
            <a:endParaRPr lang="en-US" altLang="zh-CN" sz="1200">
              <a:latin typeface="Arial"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6620832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u="none" strike="noStrike" kern="1200" dirty="0">
                <a:solidFill>
                  <a:schemeClr val="tx1"/>
                </a:solidFill>
                <a:effectLst/>
                <a:latin typeface="+mn-lt"/>
                <a:ea typeface="+mn-ea"/>
                <a:cs typeface="+mn-cs"/>
              </a:rPr>
              <a:t>Because the processes of reading and writing data to a disk are relatively slow, many programs keep track of data changes in a buffer and then copy the buffer to a disk. For example, word processors employ a buffer to keep track of changes to files. Then when you save  the file, the word processor updates the disk file with the contents of the buffer. This is much more efficient than accessing the file on the disk each time you make a change to the file.</a:t>
            </a:r>
          </a:p>
        </p:txBody>
      </p:sp>
      <p:sp>
        <p:nvSpPr>
          <p:cNvPr id="4" name="Slide Number Placeholder 3"/>
          <p:cNvSpPr>
            <a:spLocks noGrp="1"/>
          </p:cNvSpPr>
          <p:nvPr>
            <p:ph type="sldNum" sz="quarter" idx="10"/>
          </p:nvPr>
        </p:nvSpPr>
        <p:spPr/>
        <p:txBody>
          <a:bodyPr/>
          <a:lstStyle/>
          <a:p>
            <a:fld id="{92EDCDC2-C1D2-44CB-8970-27B4CFF2503B}" type="slidenum">
              <a:rPr lang="en-US" smtClean="0"/>
              <a:t>7</a:t>
            </a:fld>
            <a:endParaRPr lang="en-US"/>
          </a:p>
        </p:txBody>
      </p:sp>
    </p:spTree>
    <p:extLst>
      <p:ext uri="{BB962C8B-B14F-4D97-AF65-F5344CB8AC3E}">
        <p14:creationId xmlns:p14="http://schemas.microsoft.com/office/powerpoint/2010/main" val="2102933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As with stacks, any list implementation is legal for queues. </a:t>
            </a:r>
          </a:p>
          <a:p>
            <a:r>
              <a:rPr lang="en-US" altLang="zh-CN" sz="1200" b="0" i="0" kern="1200" dirty="0">
                <a:solidFill>
                  <a:schemeClr val="tx1"/>
                </a:solidFill>
                <a:effectLst/>
                <a:latin typeface="+mn-lt"/>
                <a:ea typeface="+mn-ea"/>
                <a:cs typeface="+mn-cs"/>
              </a:rPr>
              <a:t>Like stacks, both the linked list</a:t>
            </a:r>
            <a:r>
              <a:rPr lang="en-US" altLang="zh-CN" sz="1200" b="0" i="0" kern="1200" baseline="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and array implementations give fast </a:t>
            </a:r>
            <a:r>
              <a:rPr lang="en-US" altLang="zh-CN" sz="1200" b="0" i="1" kern="1200" dirty="0">
                <a:solidFill>
                  <a:schemeClr val="tx1"/>
                </a:solidFill>
                <a:effectLst/>
                <a:latin typeface="+mn-lt"/>
                <a:ea typeface="+mn-ea"/>
                <a:cs typeface="+mn-cs"/>
              </a:rPr>
              <a:t>O</a:t>
            </a:r>
            <a:r>
              <a:rPr lang="en-US" altLang="zh-CN" sz="1200" b="0" i="0" kern="1200" dirty="0">
                <a:solidFill>
                  <a:schemeClr val="tx1"/>
                </a:solidFill>
                <a:effectLst/>
                <a:latin typeface="+mn-lt"/>
                <a:ea typeface="+mn-ea"/>
                <a:cs typeface="+mn-cs"/>
              </a:rPr>
              <a:t>(1) running times for every operation. </a:t>
            </a:r>
          </a:p>
          <a:p>
            <a:r>
              <a:rPr lang="en-US" altLang="zh-CN" sz="1200" b="0" i="0" kern="1200" dirty="0">
                <a:solidFill>
                  <a:schemeClr val="tx1"/>
                </a:solidFill>
                <a:effectLst/>
                <a:latin typeface="+mn-lt"/>
                <a:ea typeface="+mn-ea"/>
                <a:cs typeface="+mn-cs"/>
              </a:rPr>
              <a:t>The linked</a:t>
            </a:r>
            <a:r>
              <a:rPr lang="en-US" altLang="zh-CN" sz="1200" b="0" i="0" kern="1200" baseline="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list implementation is straightforward and left as an exercise. We will now discuss an array</a:t>
            </a:r>
            <a:r>
              <a:rPr lang="en-US" altLang="zh-CN" sz="1200" b="0" i="0" kern="1200" baseline="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implementation of queues.</a:t>
            </a:r>
            <a:r>
              <a:rPr lang="en-US" altLang="zh-CN" dirty="0"/>
              <a:t> </a:t>
            </a:r>
            <a:br>
              <a:rPr lang="en-US" altLang="zh-CN" dirty="0"/>
            </a:br>
            <a:endParaRPr lang="en-US" dirty="0"/>
          </a:p>
        </p:txBody>
      </p:sp>
      <p:sp>
        <p:nvSpPr>
          <p:cNvPr id="4" name="Slide Number Placeholder 3"/>
          <p:cNvSpPr>
            <a:spLocks noGrp="1"/>
          </p:cNvSpPr>
          <p:nvPr>
            <p:ph type="sldNum" sz="quarter" idx="10"/>
          </p:nvPr>
        </p:nvSpPr>
        <p:spPr/>
        <p:txBody>
          <a:bodyPr/>
          <a:lstStyle/>
          <a:p>
            <a:fld id="{92EDCDC2-C1D2-44CB-8970-27B4CFF2503B}" type="slidenum">
              <a:rPr lang="en-US" smtClean="0"/>
              <a:t>8</a:t>
            </a:fld>
            <a:endParaRPr lang="en-US"/>
          </a:p>
        </p:txBody>
      </p:sp>
    </p:spTree>
    <p:extLst>
      <p:ext uri="{BB962C8B-B14F-4D97-AF65-F5344CB8AC3E}">
        <p14:creationId xmlns:p14="http://schemas.microsoft.com/office/powerpoint/2010/main" val="1208538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For an empty queue, the front is 0, and rear is -1.</a:t>
            </a:r>
          </a:p>
          <a:p>
            <a:endParaRPr lang="zh-CN" altLang="en-US" dirty="0"/>
          </a:p>
        </p:txBody>
      </p:sp>
      <p:sp>
        <p:nvSpPr>
          <p:cNvPr id="4" name="灯片编号占位符 3"/>
          <p:cNvSpPr>
            <a:spLocks noGrp="1"/>
          </p:cNvSpPr>
          <p:nvPr>
            <p:ph type="sldNum" sz="quarter" idx="5"/>
          </p:nvPr>
        </p:nvSpPr>
        <p:spPr/>
        <p:txBody>
          <a:bodyPr/>
          <a:lstStyle/>
          <a:p>
            <a:fld id="{92EDCDC2-C1D2-44CB-8970-27B4CFF2503B}" type="slidenum">
              <a:rPr lang="en-US" smtClean="0"/>
              <a:t>9</a:t>
            </a:fld>
            <a:endParaRPr lang="en-US"/>
          </a:p>
        </p:txBody>
      </p:sp>
    </p:spTree>
    <p:extLst>
      <p:ext uri="{BB962C8B-B14F-4D97-AF65-F5344CB8AC3E}">
        <p14:creationId xmlns:p14="http://schemas.microsoft.com/office/powerpoint/2010/main" val="2166167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After several </a:t>
            </a:r>
            <a:r>
              <a:rPr lang="en-US" altLang="zh-CN" sz="1200" b="0" i="0" kern="1200" dirty="0" err="1">
                <a:solidFill>
                  <a:schemeClr val="tx1"/>
                </a:solidFill>
                <a:effectLst/>
                <a:latin typeface="+mn-lt"/>
                <a:ea typeface="+mn-ea"/>
                <a:cs typeface="+mn-cs"/>
              </a:rPr>
              <a:t>enqueues</a:t>
            </a:r>
            <a:r>
              <a:rPr lang="en-US" altLang="zh-CN" sz="1200" b="0" i="0" kern="1200" dirty="0">
                <a:solidFill>
                  <a:schemeClr val="tx1"/>
                </a:solidFill>
                <a:effectLst/>
                <a:latin typeface="+mn-lt"/>
                <a:ea typeface="+mn-ea"/>
                <a:cs typeface="+mn-cs"/>
              </a:rPr>
              <a:t>, the queue</a:t>
            </a:r>
            <a:r>
              <a:rPr lang="en-US" altLang="zh-CN" sz="1200" b="0" i="0" kern="1200" baseline="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appears to be full, since rear is now at the last array index, and the next </a:t>
            </a:r>
            <a:r>
              <a:rPr lang="en-US" altLang="zh-CN" sz="1200" b="0" i="0" kern="1200" dirty="0" err="1">
                <a:solidFill>
                  <a:schemeClr val="tx1"/>
                </a:solidFill>
                <a:effectLst/>
                <a:latin typeface="+mn-lt"/>
                <a:ea typeface="+mn-ea"/>
                <a:cs typeface="+mn-cs"/>
              </a:rPr>
              <a:t>enqueue</a:t>
            </a:r>
            <a:r>
              <a:rPr lang="en-US" altLang="zh-CN" sz="1200" b="0" i="0" kern="1200" dirty="0">
                <a:solidFill>
                  <a:schemeClr val="tx1"/>
                </a:solidFill>
                <a:effectLst/>
                <a:latin typeface="+mn-lt"/>
                <a:ea typeface="+mn-ea"/>
                <a:cs typeface="+mn-cs"/>
              </a:rPr>
              <a:t> would</a:t>
            </a:r>
            <a:br>
              <a:rPr lang="en-US" altLang="zh-CN" sz="1200" b="0" i="0" kern="1200" dirty="0">
                <a:solidFill>
                  <a:schemeClr val="tx1"/>
                </a:solidFill>
                <a:effectLst/>
                <a:latin typeface="+mn-lt"/>
                <a:ea typeface="+mn-ea"/>
                <a:cs typeface="+mn-cs"/>
              </a:rPr>
            </a:br>
            <a:r>
              <a:rPr lang="en-US" altLang="zh-CN" sz="1200" b="0" i="0" kern="1200" dirty="0">
                <a:solidFill>
                  <a:schemeClr val="tx1"/>
                </a:solidFill>
                <a:effectLst/>
                <a:latin typeface="+mn-lt"/>
                <a:ea typeface="+mn-ea"/>
                <a:cs typeface="+mn-cs"/>
              </a:rPr>
              <a:t>be in a nonexistent position. </a:t>
            </a:r>
          </a:p>
          <a:p>
            <a:r>
              <a:rPr lang="en-US" altLang="zh-CN" sz="1200" b="0" i="0" kern="1200" dirty="0">
                <a:solidFill>
                  <a:schemeClr val="tx1"/>
                </a:solidFill>
                <a:effectLst/>
                <a:latin typeface="+mn-lt"/>
                <a:ea typeface="+mn-ea"/>
                <a:cs typeface="+mn-cs"/>
              </a:rPr>
              <a:t>However, there might only be a few elements in the queue,</a:t>
            </a:r>
            <a:r>
              <a:rPr lang="en-US" altLang="zh-CN" sz="1200" b="0" i="0" kern="1200" baseline="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because several elements may have already been </a:t>
            </a:r>
            <a:r>
              <a:rPr lang="en-US" altLang="zh-CN" sz="1200" b="0" i="0" kern="1200" dirty="0" err="1">
                <a:solidFill>
                  <a:schemeClr val="tx1"/>
                </a:solidFill>
                <a:effectLst/>
                <a:latin typeface="+mn-lt"/>
                <a:ea typeface="+mn-ea"/>
                <a:cs typeface="+mn-cs"/>
              </a:rPr>
              <a:t>dequeued</a:t>
            </a:r>
            <a:r>
              <a:rPr lang="en-US" altLang="zh-CN" sz="1200" b="0" i="0" kern="1200" dirty="0">
                <a:solidFill>
                  <a:schemeClr val="tx1"/>
                </a:solidFill>
                <a:effectLst/>
                <a:latin typeface="+mn-lt"/>
                <a:ea typeface="+mn-ea"/>
                <a:cs typeface="+mn-cs"/>
              </a:rPr>
              <a:t>. </a:t>
            </a:r>
          </a:p>
          <a:p>
            <a:br>
              <a:rPr lang="en-US" altLang="zh-CN" dirty="0"/>
            </a:br>
            <a:endParaRPr lang="zh-CN" altLang="en-US" dirty="0"/>
          </a:p>
        </p:txBody>
      </p:sp>
      <p:sp>
        <p:nvSpPr>
          <p:cNvPr id="4" name="Slide Number Placeholder 3"/>
          <p:cNvSpPr>
            <a:spLocks noGrp="1"/>
          </p:cNvSpPr>
          <p:nvPr>
            <p:ph type="sldNum" sz="quarter" idx="10"/>
          </p:nvPr>
        </p:nvSpPr>
        <p:spPr/>
        <p:txBody>
          <a:bodyPr/>
          <a:lstStyle/>
          <a:p>
            <a:fld id="{92EDCDC2-C1D2-44CB-8970-27B4CFF2503B}" type="slidenum">
              <a:rPr lang="en-US" smtClean="0"/>
              <a:t>12</a:t>
            </a:fld>
            <a:endParaRPr lang="en-US"/>
          </a:p>
        </p:txBody>
      </p:sp>
    </p:spTree>
    <p:extLst>
      <p:ext uri="{BB962C8B-B14F-4D97-AF65-F5344CB8AC3E}">
        <p14:creationId xmlns:p14="http://schemas.microsoft.com/office/powerpoint/2010/main" val="31169176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After several </a:t>
            </a:r>
            <a:r>
              <a:rPr lang="en-US" altLang="zh-CN" sz="1200" b="0" i="0" kern="1200" dirty="0" err="1">
                <a:solidFill>
                  <a:schemeClr val="tx1"/>
                </a:solidFill>
                <a:effectLst/>
                <a:latin typeface="+mn-lt"/>
                <a:ea typeface="+mn-ea"/>
                <a:cs typeface="+mn-cs"/>
              </a:rPr>
              <a:t>enqueues</a:t>
            </a:r>
            <a:r>
              <a:rPr lang="en-US" altLang="zh-CN" sz="1200" b="0" i="0" kern="1200" dirty="0">
                <a:solidFill>
                  <a:schemeClr val="tx1"/>
                </a:solidFill>
                <a:effectLst/>
                <a:latin typeface="+mn-lt"/>
                <a:ea typeface="+mn-ea"/>
                <a:cs typeface="+mn-cs"/>
              </a:rPr>
              <a:t>, the queue</a:t>
            </a:r>
            <a:r>
              <a:rPr lang="en-US" altLang="zh-CN" sz="1200" b="0" i="0" kern="1200" baseline="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appears to be full, since rear is now at the last array index, and the next </a:t>
            </a:r>
            <a:r>
              <a:rPr lang="en-US" altLang="zh-CN" sz="1200" b="0" i="0" kern="1200" dirty="0" err="1">
                <a:solidFill>
                  <a:schemeClr val="tx1"/>
                </a:solidFill>
                <a:effectLst/>
                <a:latin typeface="+mn-lt"/>
                <a:ea typeface="+mn-ea"/>
                <a:cs typeface="+mn-cs"/>
              </a:rPr>
              <a:t>enqueue</a:t>
            </a:r>
            <a:r>
              <a:rPr lang="en-US" altLang="zh-CN" sz="1200" b="0" i="0" kern="1200" dirty="0">
                <a:solidFill>
                  <a:schemeClr val="tx1"/>
                </a:solidFill>
                <a:effectLst/>
                <a:latin typeface="+mn-lt"/>
                <a:ea typeface="+mn-ea"/>
                <a:cs typeface="+mn-cs"/>
              </a:rPr>
              <a:t> would</a:t>
            </a:r>
            <a:br>
              <a:rPr lang="en-US" altLang="zh-CN" sz="1200" b="0" i="0" kern="1200" dirty="0">
                <a:solidFill>
                  <a:schemeClr val="tx1"/>
                </a:solidFill>
                <a:effectLst/>
                <a:latin typeface="+mn-lt"/>
                <a:ea typeface="+mn-ea"/>
                <a:cs typeface="+mn-cs"/>
              </a:rPr>
            </a:br>
            <a:r>
              <a:rPr lang="en-US" altLang="zh-CN" sz="1200" b="0" i="0" kern="1200" dirty="0">
                <a:solidFill>
                  <a:schemeClr val="tx1"/>
                </a:solidFill>
                <a:effectLst/>
                <a:latin typeface="+mn-lt"/>
                <a:ea typeface="+mn-ea"/>
                <a:cs typeface="+mn-cs"/>
              </a:rPr>
              <a:t>be in a nonexistent position. </a:t>
            </a:r>
          </a:p>
          <a:p>
            <a:r>
              <a:rPr lang="en-US" altLang="zh-CN" sz="1200" b="0" i="0" kern="1200" dirty="0">
                <a:solidFill>
                  <a:schemeClr val="tx1"/>
                </a:solidFill>
                <a:effectLst/>
                <a:latin typeface="+mn-lt"/>
                <a:ea typeface="+mn-ea"/>
                <a:cs typeface="+mn-cs"/>
              </a:rPr>
              <a:t>However, there might only be a few elements in the queue,</a:t>
            </a:r>
            <a:r>
              <a:rPr lang="en-US" altLang="zh-CN" sz="1200" b="0" i="0" kern="1200" baseline="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because several elements may have already been </a:t>
            </a:r>
            <a:r>
              <a:rPr lang="en-US" altLang="zh-CN" sz="1200" b="0" i="0" kern="1200" dirty="0" err="1">
                <a:solidFill>
                  <a:schemeClr val="tx1"/>
                </a:solidFill>
                <a:effectLst/>
                <a:latin typeface="+mn-lt"/>
                <a:ea typeface="+mn-ea"/>
                <a:cs typeface="+mn-cs"/>
              </a:rPr>
              <a:t>dequeued</a:t>
            </a:r>
            <a:r>
              <a:rPr lang="en-US" altLang="zh-CN" sz="1200" b="0" i="0" kern="1200" dirty="0">
                <a:solidFill>
                  <a:schemeClr val="tx1"/>
                </a:solidFill>
                <a:effectLst/>
                <a:latin typeface="+mn-lt"/>
                <a:ea typeface="+mn-ea"/>
                <a:cs typeface="+mn-cs"/>
              </a:rPr>
              <a:t>. </a:t>
            </a:r>
          </a:p>
          <a:p>
            <a:br>
              <a:rPr lang="en-US" altLang="zh-CN" dirty="0"/>
            </a:br>
            <a:endParaRPr lang="zh-CN" altLang="en-US" dirty="0"/>
          </a:p>
        </p:txBody>
      </p:sp>
      <p:sp>
        <p:nvSpPr>
          <p:cNvPr id="4" name="Slide Number Placeholder 3"/>
          <p:cNvSpPr>
            <a:spLocks noGrp="1"/>
          </p:cNvSpPr>
          <p:nvPr>
            <p:ph type="sldNum" sz="quarter" idx="10"/>
          </p:nvPr>
        </p:nvSpPr>
        <p:spPr/>
        <p:txBody>
          <a:bodyPr/>
          <a:lstStyle/>
          <a:p>
            <a:fld id="{92EDCDC2-C1D2-44CB-8970-27B4CFF2503B}" type="slidenum">
              <a:rPr lang="en-US" smtClean="0"/>
              <a:t>13</a:t>
            </a:fld>
            <a:endParaRPr lang="en-US"/>
          </a:p>
        </p:txBody>
      </p:sp>
    </p:spTree>
    <p:extLst>
      <p:ext uri="{BB962C8B-B14F-4D97-AF65-F5344CB8AC3E}">
        <p14:creationId xmlns:p14="http://schemas.microsoft.com/office/powerpoint/2010/main" val="18944240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It is</a:t>
            </a:r>
            <a:r>
              <a:rPr lang="en-US" altLang="zh-CN" baseline="0" dirty="0"/>
              <a:t> full, so enqueuer will fail</a:t>
            </a:r>
            <a:br>
              <a:rPr lang="en-US" altLang="zh-CN" dirty="0"/>
            </a:br>
            <a:endParaRPr lang="zh-CN" altLang="en-US" dirty="0"/>
          </a:p>
        </p:txBody>
      </p:sp>
      <p:sp>
        <p:nvSpPr>
          <p:cNvPr id="4" name="Slide Number Placeholder 3"/>
          <p:cNvSpPr>
            <a:spLocks noGrp="1"/>
          </p:cNvSpPr>
          <p:nvPr>
            <p:ph type="sldNum" sz="quarter" idx="10"/>
          </p:nvPr>
        </p:nvSpPr>
        <p:spPr/>
        <p:txBody>
          <a:bodyPr/>
          <a:lstStyle/>
          <a:p>
            <a:fld id="{92EDCDC2-C1D2-44CB-8970-27B4CFF2503B}" type="slidenum">
              <a:rPr lang="en-US" smtClean="0"/>
              <a:t>14</a:t>
            </a:fld>
            <a:endParaRPr lang="en-US"/>
          </a:p>
        </p:txBody>
      </p:sp>
    </p:spTree>
    <p:extLst>
      <p:ext uri="{BB962C8B-B14F-4D97-AF65-F5344CB8AC3E}">
        <p14:creationId xmlns:p14="http://schemas.microsoft.com/office/powerpoint/2010/main" val="42610807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92EDCDC2-C1D2-44CB-8970-27B4CFF2503B}" type="slidenum">
              <a:rPr lang="en-US" smtClean="0"/>
              <a:t>15</a:t>
            </a:fld>
            <a:endParaRPr lang="en-US"/>
          </a:p>
        </p:txBody>
      </p:sp>
    </p:spTree>
    <p:extLst>
      <p:ext uri="{BB962C8B-B14F-4D97-AF65-F5344CB8AC3E}">
        <p14:creationId xmlns:p14="http://schemas.microsoft.com/office/powerpoint/2010/main" val="23005014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After several </a:t>
            </a:r>
            <a:r>
              <a:rPr lang="en-US" altLang="zh-CN" sz="1200" b="0" i="0" kern="1200" dirty="0" err="1">
                <a:solidFill>
                  <a:schemeClr val="tx1"/>
                </a:solidFill>
                <a:effectLst/>
                <a:latin typeface="+mn-lt"/>
                <a:ea typeface="+mn-ea"/>
                <a:cs typeface="+mn-cs"/>
              </a:rPr>
              <a:t>enqueues</a:t>
            </a:r>
            <a:r>
              <a:rPr lang="en-US" altLang="zh-CN" sz="1200" b="0" i="0" kern="1200" dirty="0">
                <a:solidFill>
                  <a:schemeClr val="tx1"/>
                </a:solidFill>
                <a:effectLst/>
                <a:latin typeface="+mn-lt"/>
                <a:ea typeface="+mn-ea"/>
                <a:cs typeface="+mn-cs"/>
              </a:rPr>
              <a:t>, the queue</a:t>
            </a:r>
            <a:r>
              <a:rPr lang="en-US" altLang="zh-CN" sz="1200" b="0" i="0" kern="1200" baseline="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appears to be full, since rear is now at the last array index, and the next </a:t>
            </a:r>
            <a:r>
              <a:rPr lang="en-US" altLang="zh-CN" sz="1200" b="0" i="0" kern="1200" dirty="0" err="1">
                <a:solidFill>
                  <a:schemeClr val="tx1"/>
                </a:solidFill>
                <a:effectLst/>
                <a:latin typeface="+mn-lt"/>
                <a:ea typeface="+mn-ea"/>
                <a:cs typeface="+mn-cs"/>
              </a:rPr>
              <a:t>enqueue</a:t>
            </a:r>
            <a:r>
              <a:rPr lang="en-US" altLang="zh-CN" sz="1200" b="0" i="0" kern="1200" dirty="0">
                <a:solidFill>
                  <a:schemeClr val="tx1"/>
                </a:solidFill>
                <a:effectLst/>
                <a:latin typeface="+mn-lt"/>
                <a:ea typeface="+mn-ea"/>
                <a:cs typeface="+mn-cs"/>
              </a:rPr>
              <a:t> would</a:t>
            </a:r>
            <a:br>
              <a:rPr lang="en-US" altLang="zh-CN" sz="1200" b="0" i="0" kern="1200" dirty="0">
                <a:solidFill>
                  <a:schemeClr val="tx1"/>
                </a:solidFill>
                <a:effectLst/>
                <a:latin typeface="+mn-lt"/>
                <a:ea typeface="+mn-ea"/>
                <a:cs typeface="+mn-cs"/>
              </a:rPr>
            </a:br>
            <a:r>
              <a:rPr lang="en-US" altLang="zh-CN" sz="1200" b="0" i="0" kern="1200" dirty="0">
                <a:solidFill>
                  <a:schemeClr val="tx1"/>
                </a:solidFill>
                <a:effectLst/>
                <a:latin typeface="+mn-lt"/>
                <a:ea typeface="+mn-ea"/>
                <a:cs typeface="+mn-cs"/>
              </a:rPr>
              <a:t>be in a nonexistent position. </a:t>
            </a:r>
          </a:p>
          <a:p>
            <a:r>
              <a:rPr lang="en-US" altLang="zh-CN" sz="1200" b="0" i="0" kern="1200" dirty="0">
                <a:solidFill>
                  <a:schemeClr val="tx1"/>
                </a:solidFill>
                <a:effectLst/>
                <a:latin typeface="+mn-lt"/>
                <a:ea typeface="+mn-ea"/>
                <a:cs typeface="+mn-cs"/>
              </a:rPr>
              <a:t>However, there might only be a few elements in the queue,</a:t>
            </a:r>
            <a:r>
              <a:rPr lang="en-US" altLang="zh-CN" sz="1200" b="0" i="0" kern="1200" baseline="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because several elements may have already been </a:t>
            </a:r>
            <a:r>
              <a:rPr lang="en-US" altLang="zh-CN" sz="1200" b="0" i="0" kern="1200" dirty="0" err="1">
                <a:solidFill>
                  <a:schemeClr val="tx1"/>
                </a:solidFill>
                <a:effectLst/>
                <a:latin typeface="+mn-lt"/>
                <a:ea typeface="+mn-ea"/>
                <a:cs typeface="+mn-cs"/>
              </a:rPr>
              <a:t>dequeued</a:t>
            </a:r>
            <a:r>
              <a:rPr lang="en-US" altLang="zh-CN" sz="1200" b="0" i="0" kern="1200" dirty="0">
                <a:solidFill>
                  <a:schemeClr val="tx1"/>
                </a:solidFill>
                <a:effectLst/>
                <a:latin typeface="+mn-lt"/>
                <a:ea typeface="+mn-ea"/>
                <a:cs typeface="+mn-cs"/>
              </a:rPr>
              <a:t>. </a:t>
            </a:r>
          </a:p>
          <a:p>
            <a:br>
              <a:rPr lang="en-US" altLang="zh-CN" dirty="0"/>
            </a:br>
            <a:endParaRPr lang="zh-CN" altLang="en-US" dirty="0"/>
          </a:p>
        </p:txBody>
      </p:sp>
      <p:sp>
        <p:nvSpPr>
          <p:cNvPr id="4" name="Slide Number Placeholder 3"/>
          <p:cNvSpPr>
            <a:spLocks noGrp="1"/>
          </p:cNvSpPr>
          <p:nvPr>
            <p:ph type="sldNum" sz="quarter" idx="10"/>
          </p:nvPr>
        </p:nvSpPr>
        <p:spPr/>
        <p:txBody>
          <a:bodyPr/>
          <a:lstStyle/>
          <a:p>
            <a:fld id="{92EDCDC2-C1D2-44CB-8970-27B4CFF2503B}" type="slidenum">
              <a:rPr lang="en-US" smtClean="0"/>
              <a:t>16</a:t>
            </a:fld>
            <a:endParaRPr lang="en-US"/>
          </a:p>
        </p:txBody>
      </p:sp>
    </p:spTree>
    <p:extLst>
      <p:ext uri="{BB962C8B-B14F-4D97-AF65-F5344CB8AC3E}">
        <p14:creationId xmlns:p14="http://schemas.microsoft.com/office/powerpoint/2010/main" val="4214757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Initialize front = 0 and rear = -1 =&gt; when </a:t>
            </a:r>
            <a:r>
              <a:rPr lang="en-US" altLang="zh-CN" dirty="0" err="1"/>
              <a:t>enqueue</a:t>
            </a:r>
            <a:r>
              <a:rPr lang="en-US" altLang="zh-CN" dirty="0"/>
              <a:t>,</a:t>
            </a:r>
            <a:r>
              <a:rPr lang="en-US" altLang="zh-CN" baseline="0" dirty="0"/>
              <a:t> firstly increment the rear by 1 and add the value to values[rear] (rear denotes the last position of current queue, front denotes the first element if the queue is not empty)</a:t>
            </a:r>
            <a:endParaRPr lang="en-US" altLang="zh-CN" dirty="0"/>
          </a:p>
          <a:p>
            <a:endParaRPr lang="en-US" altLang="zh-CN" dirty="0"/>
          </a:p>
          <a:p>
            <a:r>
              <a:rPr lang="en-US" altLang="zh-CN" dirty="0"/>
              <a:t>Can initialize front = -1 and rear = -1  =&gt; when dequeue, firstly</a:t>
            </a:r>
            <a:r>
              <a:rPr lang="en-US" altLang="zh-CN" baseline="0" dirty="0"/>
              <a:t> increment front by 1 and then get the value; display, also increment front by 1 and start display.</a:t>
            </a:r>
          </a:p>
          <a:p>
            <a:endParaRPr lang="en-US" altLang="zh-CN" baseline="0" dirty="0"/>
          </a:p>
          <a:p>
            <a:r>
              <a:rPr lang="en-US" altLang="zh-CN" baseline="0" dirty="0"/>
              <a:t>Can initialize front = 0 and rear = 0 =&gt; when enqueue, firstly add the value to current rear and then add rear by 1.</a:t>
            </a:r>
            <a:endParaRPr lang="zh-CN" altLang="en-US" dirty="0"/>
          </a:p>
        </p:txBody>
      </p:sp>
      <p:sp>
        <p:nvSpPr>
          <p:cNvPr id="4" name="Slide Number Placeholder 3"/>
          <p:cNvSpPr>
            <a:spLocks noGrp="1"/>
          </p:cNvSpPr>
          <p:nvPr>
            <p:ph type="sldNum" sz="quarter" idx="10"/>
          </p:nvPr>
        </p:nvSpPr>
        <p:spPr/>
        <p:txBody>
          <a:bodyPr/>
          <a:lstStyle/>
          <a:p>
            <a:fld id="{92EDCDC2-C1D2-44CB-8970-27B4CFF2503B}" type="slidenum">
              <a:rPr lang="en-US" smtClean="0"/>
              <a:t>21</a:t>
            </a:fld>
            <a:endParaRPr lang="en-US"/>
          </a:p>
        </p:txBody>
      </p:sp>
    </p:spTree>
    <p:extLst>
      <p:ext uri="{BB962C8B-B14F-4D97-AF65-F5344CB8AC3E}">
        <p14:creationId xmlns:p14="http://schemas.microsoft.com/office/powerpoint/2010/main" val="9377308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42E4179C-F361-AA43-A93D-34D11CB0F650}" type="datetime1">
              <a:rPr lang="en-HK" altLang="zh-CN" smtClean="0"/>
              <a:t>23/10/2023</a:t>
            </a:fld>
            <a:endParaRPr lang="en-US"/>
          </a:p>
        </p:txBody>
      </p:sp>
      <p:sp>
        <p:nvSpPr>
          <p:cNvPr id="5" name="Footer Placeholder 4"/>
          <p:cNvSpPr>
            <a:spLocks noGrp="1"/>
          </p:cNvSpPr>
          <p:nvPr>
            <p:ph type="ftr" sz="quarter" idx="11"/>
          </p:nvPr>
        </p:nvSpPr>
        <p:spPr/>
        <p:txBody>
          <a:bodyPr/>
          <a:lstStyle/>
          <a:p>
            <a:r>
              <a:rPr lang="en-US"/>
              <a:t>Data Structures and Algorithms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51708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400">
                <a:solidFill>
                  <a:srgbClr val="C00000"/>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CDD9B5D-014B-B748-A80C-53EB61A546C0}" type="datetime1">
              <a:rPr lang="en-HK" altLang="zh-CN" smtClean="0"/>
              <a:t>23/10/2023</a:t>
            </a:fld>
            <a:endParaRPr lang="en-US"/>
          </a:p>
        </p:txBody>
      </p:sp>
      <p:sp>
        <p:nvSpPr>
          <p:cNvPr id="5" name="Footer Placeholder 4"/>
          <p:cNvSpPr>
            <a:spLocks noGrp="1"/>
          </p:cNvSpPr>
          <p:nvPr>
            <p:ph type="ftr" sz="quarter" idx="11"/>
          </p:nvPr>
        </p:nvSpPr>
        <p:spPr/>
        <p:txBody>
          <a:bodyPr/>
          <a:lstStyle/>
          <a:p>
            <a:r>
              <a:rPr lang="en-US"/>
              <a:t>Data Structures and Algorithms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99283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24F575-9EFC-D24D-A411-BE932C8A1A71}" type="datetime1">
              <a:rPr lang="en-HK" altLang="zh-CN" smtClean="0"/>
              <a:t>23/10/2023</a:t>
            </a:fld>
            <a:endParaRPr lang="en-US"/>
          </a:p>
        </p:txBody>
      </p:sp>
      <p:sp>
        <p:nvSpPr>
          <p:cNvPr id="5" name="Footer Placeholder 4"/>
          <p:cNvSpPr>
            <a:spLocks noGrp="1"/>
          </p:cNvSpPr>
          <p:nvPr>
            <p:ph type="ftr" sz="quarter" idx="11"/>
          </p:nvPr>
        </p:nvSpPr>
        <p:spPr/>
        <p:txBody>
          <a:bodyPr/>
          <a:lstStyle/>
          <a:p>
            <a:r>
              <a:rPr lang="en-US"/>
              <a:t>Data Structures and Algorithms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66325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17EA8BD-A95D-A248-9230-B22100A07360}" type="datetime1">
              <a:rPr lang="en-HK" altLang="zh-CN" smtClean="0"/>
              <a:t>23/10/2023</a:t>
            </a:fld>
            <a:endParaRPr lang="en-US"/>
          </a:p>
        </p:txBody>
      </p:sp>
      <p:sp>
        <p:nvSpPr>
          <p:cNvPr id="6" name="Footer Placeholder 5"/>
          <p:cNvSpPr>
            <a:spLocks noGrp="1"/>
          </p:cNvSpPr>
          <p:nvPr>
            <p:ph type="ftr" sz="quarter" idx="11"/>
          </p:nvPr>
        </p:nvSpPr>
        <p:spPr/>
        <p:txBody>
          <a:bodyPr/>
          <a:lstStyle/>
          <a:p>
            <a:r>
              <a:rPr lang="en-US"/>
              <a:t>Data Structures and Algorithms</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72682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C8832BE-3985-3145-8585-62A330D28277}" type="datetime1">
              <a:rPr lang="en-HK" altLang="zh-CN" smtClean="0"/>
              <a:t>23/10/2023</a:t>
            </a:fld>
            <a:endParaRPr lang="en-US"/>
          </a:p>
        </p:txBody>
      </p:sp>
      <p:sp>
        <p:nvSpPr>
          <p:cNvPr id="8" name="Footer Placeholder 7"/>
          <p:cNvSpPr>
            <a:spLocks noGrp="1"/>
          </p:cNvSpPr>
          <p:nvPr>
            <p:ph type="ftr" sz="quarter" idx="11"/>
          </p:nvPr>
        </p:nvSpPr>
        <p:spPr/>
        <p:txBody>
          <a:bodyPr/>
          <a:lstStyle/>
          <a:p>
            <a:r>
              <a:rPr lang="en-US"/>
              <a:t>Data Structures and Algorithms</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0630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0EB15C0-5029-CF48-A08B-C7A897FABB52}" type="datetime1">
              <a:rPr lang="en-HK" altLang="zh-CN" smtClean="0"/>
              <a:t>23/10/2023</a:t>
            </a:fld>
            <a:endParaRPr lang="en-US"/>
          </a:p>
        </p:txBody>
      </p:sp>
      <p:sp>
        <p:nvSpPr>
          <p:cNvPr id="4" name="Footer Placeholder 3"/>
          <p:cNvSpPr>
            <a:spLocks noGrp="1"/>
          </p:cNvSpPr>
          <p:nvPr>
            <p:ph type="ftr" sz="quarter" idx="11"/>
          </p:nvPr>
        </p:nvSpPr>
        <p:spPr/>
        <p:txBody>
          <a:bodyPr/>
          <a:lstStyle/>
          <a:p>
            <a:r>
              <a:rPr lang="en-US"/>
              <a:t>Data Structures and Algorithms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90800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35B6B7-92C6-F441-A6F0-4FD9F2154165}" type="datetime1">
              <a:rPr lang="en-HK" altLang="zh-CN" smtClean="0"/>
              <a:t>23/10/2023</a:t>
            </a:fld>
            <a:endParaRPr lang="en-US"/>
          </a:p>
        </p:txBody>
      </p:sp>
      <p:sp>
        <p:nvSpPr>
          <p:cNvPr id="3" name="Footer Placeholder 2"/>
          <p:cNvSpPr>
            <a:spLocks noGrp="1"/>
          </p:cNvSpPr>
          <p:nvPr>
            <p:ph type="ftr" sz="quarter" idx="11"/>
          </p:nvPr>
        </p:nvSpPr>
        <p:spPr/>
        <p:txBody>
          <a:bodyPr/>
          <a:lstStyle/>
          <a:p>
            <a:r>
              <a:rPr lang="en-US"/>
              <a:t>Data Structures and Algorithms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72167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34F6B98-213B-864F-A462-DF81625F4E70}" type="datetime1">
              <a:rPr lang="en-HK" altLang="zh-CN" smtClean="0"/>
              <a:t>23/10/2023</a:t>
            </a:fld>
            <a:endParaRPr lang="en-US"/>
          </a:p>
        </p:txBody>
      </p:sp>
      <p:sp>
        <p:nvSpPr>
          <p:cNvPr id="6" name="Footer Placeholder 5"/>
          <p:cNvSpPr>
            <a:spLocks noGrp="1"/>
          </p:cNvSpPr>
          <p:nvPr>
            <p:ph type="ftr" sz="quarter" idx="11"/>
          </p:nvPr>
        </p:nvSpPr>
        <p:spPr/>
        <p:txBody>
          <a:bodyPr/>
          <a:lstStyle/>
          <a:p>
            <a:r>
              <a:rPr lang="en-US"/>
              <a:t>Data Structures and Algorithms</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73060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9B22E980-83ED-7E48-917B-C03F43CC9E59}" type="datetime1">
              <a:rPr lang="en-HK" altLang="zh-CN" smtClean="0"/>
              <a:t>23/10/2023</a:t>
            </a:fld>
            <a:endParaRPr lang="en-US"/>
          </a:p>
        </p:txBody>
      </p:sp>
      <p:sp>
        <p:nvSpPr>
          <p:cNvPr id="6" name="Footer Placeholder 5"/>
          <p:cNvSpPr>
            <a:spLocks noGrp="1"/>
          </p:cNvSpPr>
          <p:nvPr>
            <p:ph type="ftr" sz="quarter" idx="11"/>
          </p:nvPr>
        </p:nvSpPr>
        <p:spPr/>
        <p:txBody>
          <a:bodyPr/>
          <a:lstStyle/>
          <a:p>
            <a:r>
              <a:rPr lang="en-US"/>
              <a:t>Data Structures and Algorithms</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9695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1D23F2-64AB-1B4A-88A5-6AD6FDF3590C}" type="datetime1">
              <a:rPr lang="en-HK" altLang="zh-CN" smtClean="0"/>
              <a:t>23/10/2023</a:t>
            </a:fld>
            <a:endParaRPr lang="en-US"/>
          </a:p>
        </p:txBody>
      </p:sp>
      <p:sp>
        <p:nvSpPr>
          <p:cNvPr id="5" name="Footer Placeholder 4"/>
          <p:cNvSpPr>
            <a:spLocks noGrp="1"/>
          </p:cNvSpPr>
          <p:nvPr>
            <p:ph type="ftr" sz="quarter" idx="11"/>
          </p:nvPr>
        </p:nvSpPr>
        <p:spPr/>
        <p:txBody>
          <a:bodyPr/>
          <a:lstStyle/>
          <a:p>
            <a:r>
              <a:rPr lang="en-US"/>
              <a:t>Data Structures and Algorithms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7581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5B7EAC-9E57-F54B-BF88-19AA56910B74}" type="datetime1">
              <a:rPr lang="en-HK" altLang="zh-CN" smtClean="0"/>
              <a:t>23/10/2023</a:t>
            </a:fld>
            <a:endParaRPr lang="en-US"/>
          </a:p>
        </p:txBody>
      </p:sp>
      <p:sp>
        <p:nvSpPr>
          <p:cNvPr id="5" name="Footer Placeholder 4"/>
          <p:cNvSpPr>
            <a:spLocks noGrp="1"/>
          </p:cNvSpPr>
          <p:nvPr>
            <p:ph type="ftr" sz="quarter" idx="11"/>
          </p:nvPr>
        </p:nvSpPr>
        <p:spPr/>
        <p:txBody>
          <a:bodyPr/>
          <a:lstStyle/>
          <a:p>
            <a:r>
              <a:rPr lang="en-US"/>
              <a:t>Data Structures and Algorithms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83204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73E0E727-23F7-3F45-9A1A-D1CF1AF21F33}" type="datetime1">
              <a:rPr lang="en-HK" altLang="zh-CN" smtClean="0"/>
              <a:t>23/10/2023</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Data Structures and Algorithms</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75602219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685800" rtl="0" eaLnBrk="1" latinLnBrk="0" hangingPunct="1">
        <a:lnSpc>
          <a:spcPct val="90000"/>
        </a:lnSpc>
        <a:spcBef>
          <a:spcPct val="0"/>
        </a:spcBef>
        <a:buNone/>
        <a:defRPr sz="3300" kern="1200">
          <a:solidFill>
            <a:schemeClr val="tx1"/>
          </a:solidFill>
          <a:latin typeface="Calibri" charset="0"/>
          <a:ea typeface="Calibri" charset="0"/>
          <a:cs typeface="Calibri" charset="0"/>
        </a:defRPr>
      </a:lvl1pPr>
    </p:titleStyle>
    <p:bodyStyle>
      <a:lvl1pPr marL="171450" indent="-171450" algn="l" defTabSz="685800" rtl="0" eaLnBrk="1" latinLnBrk="0" hangingPunct="1">
        <a:lnSpc>
          <a:spcPct val="90000"/>
        </a:lnSpc>
        <a:spcBef>
          <a:spcPts val="750"/>
        </a:spcBef>
        <a:buFont typeface="Arial"/>
        <a:buChar char="•"/>
        <a:defRPr sz="2800" kern="1200">
          <a:solidFill>
            <a:schemeClr val="tx1"/>
          </a:solidFill>
          <a:latin typeface="Calibri" charset="0"/>
          <a:ea typeface="Calibri" charset="0"/>
          <a:cs typeface="Calibri" charset="0"/>
        </a:defRPr>
      </a:lvl1pPr>
      <a:lvl2pPr marL="514350" indent="-171450" algn="l" defTabSz="685800" rtl="0" eaLnBrk="1" latinLnBrk="0" hangingPunct="1">
        <a:lnSpc>
          <a:spcPct val="90000"/>
        </a:lnSpc>
        <a:spcBef>
          <a:spcPts val="375"/>
        </a:spcBef>
        <a:buFont typeface="Arial"/>
        <a:buChar char="•"/>
        <a:defRPr sz="2400" kern="1200">
          <a:solidFill>
            <a:schemeClr val="tx1"/>
          </a:solidFill>
          <a:latin typeface="Calibri" charset="0"/>
          <a:ea typeface="Calibri" charset="0"/>
          <a:cs typeface="Calibri" charset="0"/>
        </a:defRPr>
      </a:lvl2pPr>
      <a:lvl3pPr marL="857250" indent="-171450" algn="l" defTabSz="685800" rtl="0" eaLnBrk="1" latinLnBrk="0" hangingPunct="1">
        <a:lnSpc>
          <a:spcPct val="90000"/>
        </a:lnSpc>
        <a:spcBef>
          <a:spcPts val="375"/>
        </a:spcBef>
        <a:buFont typeface="Arial"/>
        <a:buChar char="•"/>
        <a:defRPr sz="1800" kern="1200">
          <a:solidFill>
            <a:schemeClr val="tx1"/>
          </a:solidFill>
          <a:latin typeface="Calibri" charset="0"/>
          <a:ea typeface="Calibri" charset="0"/>
          <a:cs typeface="Calibri" charset="0"/>
        </a:defRPr>
      </a:lvl3pPr>
      <a:lvl4pPr marL="1200150" indent="-171450" algn="l" defTabSz="685800" rtl="0" eaLnBrk="1" latinLnBrk="0" hangingPunct="1">
        <a:lnSpc>
          <a:spcPct val="90000"/>
        </a:lnSpc>
        <a:spcBef>
          <a:spcPts val="375"/>
        </a:spcBef>
        <a:buFont typeface="Arial"/>
        <a:buChar char="•"/>
        <a:defRPr sz="1600" kern="1200">
          <a:solidFill>
            <a:schemeClr val="tx1"/>
          </a:solidFill>
          <a:latin typeface="Calibri" charset="0"/>
          <a:ea typeface="Calibri" charset="0"/>
          <a:cs typeface="Calibri" charset="0"/>
        </a:defRPr>
      </a:lvl4pPr>
      <a:lvl5pPr marL="1543050" indent="-171450" algn="l" defTabSz="685800" rtl="0" eaLnBrk="1" latinLnBrk="0" hangingPunct="1">
        <a:lnSpc>
          <a:spcPct val="90000"/>
        </a:lnSpc>
        <a:spcBef>
          <a:spcPts val="375"/>
        </a:spcBef>
        <a:buFont typeface="Arial"/>
        <a:buChar char="•"/>
        <a:defRPr sz="1600" kern="1200">
          <a:solidFill>
            <a:schemeClr val="tx1"/>
          </a:solidFill>
          <a:latin typeface="Calibri" charset="0"/>
          <a:ea typeface="Calibri" charset="0"/>
          <a:cs typeface="Calibri" charset="0"/>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www.cs.armstrong.edu/liang/animation/web/Queue.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6"/>
          <p:cNvSpPr>
            <a:spLocks noGrp="1" noChangeArrowheads="1"/>
          </p:cNvSpPr>
          <p:nvPr>
            <p:ph type="ctrTitle"/>
          </p:nvPr>
        </p:nvSpPr>
        <p:spPr>
          <a:xfrm>
            <a:off x="685800" y="1295400"/>
            <a:ext cx="7772400" cy="2514600"/>
          </a:xfrm>
          <a:noFill/>
        </p:spPr>
        <p:txBody>
          <a:bodyPr>
            <a:noAutofit/>
          </a:bodyPr>
          <a:lstStyle/>
          <a:p>
            <a:r>
              <a:rPr lang="en-US" altLang="zh-CN" sz="3600" b="0" dirty="0">
                <a:solidFill>
                  <a:srgbClr val="C00000"/>
                </a:solidFill>
              </a:rPr>
              <a:t>Data</a:t>
            </a:r>
            <a:r>
              <a:rPr lang="zh-CN" altLang="en-US" sz="3600" b="0" dirty="0">
                <a:solidFill>
                  <a:srgbClr val="C00000"/>
                </a:solidFill>
              </a:rPr>
              <a:t> </a:t>
            </a:r>
            <a:r>
              <a:rPr lang="en-US" altLang="zh-CN" sz="3600" b="0" dirty="0">
                <a:solidFill>
                  <a:srgbClr val="C00000"/>
                </a:solidFill>
              </a:rPr>
              <a:t>Structures</a:t>
            </a:r>
            <a:r>
              <a:rPr lang="zh-CN" altLang="en-US" sz="3600" b="0" dirty="0">
                <a:solidFill>
                  <a:srgbClr val="C00000"/>
                </a:solidFill>
              </a:rPr>
              <a:t> </a:t>
            </a:r>
            <a:r>
              <a:rPr lang="en-US" altLang="zh-CN" sz="3600" b="0" dirty="0">
                <a:solidFill>
                  <a:srgbClr val="C00000"/>
                </a:solidFill>
              </a:rPr>
              <a:t>and</a:t>
            </a:r>
            <a:r>
              <a:rPr lang="zh-CN" altLang="en-US" sz="3600" b="0" dirty="0">
                <a:solidFill>
                  <a:srgbClr val="C00000"/>
                </a:solidFill>
              </a:rPr>
              <a:t> </a:t>
            </a:r>
            <a:r>
              <a:rPr lang="en-US" altLang="zh-CN" sz="3600" b="0" dirty="0">
                <a:solidFill>
                  <a:srgbClr val="C00000"/>
                </a:solidFill>
              </a:rPr>
              <a:t>Algorithms</a:t>
            </a:r>
            <a:br>
              <a:rPr lang="en-US" altLang="zh-TW" sz="4400" b="1" dirty="0">
                <a:solidFill>
                  <a:srgbClr val="C00000"/>
                </a:solidFill>
              </a:rPr>
            </a:br>
            <a:br>
              <a:rPr lang="en-US" altLang="zh-TW" sz="4400" b="1" dirty="0">
                <a:solidFill>
                  <a:schemeClr val="bg1">
                    <a:lumMod val="65000"/>
                  </a:schemeClr>
                </a:solidFill>
              </a:rPr>
            </a:br>
            <a:r>
              <a:rPr lang="en-US" altLang="zh-TW" sz="4400" b="0" dirty="0"/>
              <a:t>Lecture</a:t>
            </a:r>
            <a:r>
              <a:rPr lang="en-US" altLang="zh-CN" sz="4400" b="0" dirty="0"/>
              <a:t> 4</a:t>
            </a:r>
            <a:r>
              <a:rPr lang="en-US" altLang="zh-TW" sz="4400" b="0" dirty="0"/>
              <a:t>: </a:t>
            </a:r>
            <a:r>
              <a:rPr lang="en-US" altLang="zh-CN" sz="4400" b="0" dirty="0"/>
              <a:t>Queues (</a:t>
            </a:r>
            <a:r>
              <a:rPr lang="zh-CN" altLang="en-US" sz="4400" b="0" dirty="0"/>
              <a:t>队列</a:t>
            </a:r>
            <a:r>
              <a:rPr lang="en-US" altLang="zh-CN" sz="4400" b="0" dirty="0"/>
              <a:t>)</a:t>
            </a:r>
            <a:endParaRPr lang="en-US" altLang="zh-TW" sz="4400" b="0" dirty="0"/>
          </a:p>
        </p:txBody>
      </p:sp>
      <p:sp>
        <p:nvSpPr>
          <p:cNvPr id="3075" name="Rectangle 7"/>
          <p:cNvSpPr>
            <a:spLocks noGrp="1" noChangeArrowheads="1"/>
          </p:cNvSpPr>
          <p:nvPr>
            <p:ph type="subTitle" idx="1"/>
          </p:nvPr>
        </p:nvSpPr>
        <p:spPr>
          <a:xfrm>
            <a:off x="685800" y="4724400"/>
            <a:ext cx="7772400" cy="1371600"/>
          </a:xfrm>
          <a:noFill/>
        </p:spPr>
        <p:txBody>
          <a:bodyPr>
            <a:noAutofit/>
          </a:bodyPr>
          <a:lstStyle/>
          <a:p>
            <a:pPr eaLnBrk="1" hangingPunct="1"/>
            <a:r>
              <a:rPr lang="en-US" altLang="zh-CN" sz="2400" dirty="0">
                <a:latin typeface="Calibri" panose="020F0502020204030204" pitchFamily="34" charset="0"/>
                <a:ea typeface="宋体" pitchFamily="2" charset="-122"/>
                <a:cs typeface="Calibri" panose="020F0502020204030204" pitchFamily="34" charset="0"/>
              </a:rPr>
              <a:t>Data</a:t>
            </a:r>
            <a:r>
              <a:rPr lang="zh-CN" altLang="en-US" sz="2400" dirty="0">
                <a:latin typeface="Calibri" panose="020F0502020204030204" pitchFamily="34" charset="0"/>
                <a:ea typeface="宋体" pitchFamily="2" charset="-122"/>
                <a:cs typeface="Calibri" panose="020F0502020204030204" pitchFamily="34" charset="0"/>
              </a:rPr>
              <a:t> </a:t>
            </a:r>
            <a:r>
              <a:rPr lang="en-US" altLang="zh-CN" sz="2400" dirty="0">
                <a:latin typeface="Calibri" panose="020F0502020204030204" pitchFamily="34" charset="0"/>
                <a:ea typeface="宋体" pitchFamily="2" charset="-122"/>
                <a:cs typeface="Calibri" panose="020F0502020204030204" pitchFamily="34" charset="0"/>
              </a:rPr>
              <a:t>Science</a:t>
            </a:r>
          </a:p>
          <a:p>
            <a:pPr eaLnBrk="1" hangingPunct="1"/>
            <a:r>
              <a:rPr lang="en-US" altLang="zh-CN" sz="2400" dirty="0">
                <a:latin typeface="Calibri" panose="020F0502020204030204" pitchFamily="34" charset="0"/>
                <a:ea typeface="宋体" pitchFamily="2" charset="-122"/>
                <a:cs typeface="Calibri" panose="020F0502020204030204" pitchFamily="34" charset="0"/>
              </a:rPr>
              <a:t>United International College</a:t>
            </a:r>
          </a:p>
        </p:txBody>
      </p:sp>
    </p:spTree>
    <p:extLst>
      <p:ext uri="{BB962C8B-B14F-4D97-AF65-F5344CB8AC3E}">
        <p14:creationId xmlns:p14="http://schemas.microsoft.com/office/powerpoint/2010/main" val="1178405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Outline</a:t>
            </a:r>
            <a:endParaRPr lang="en-US" dirty="0"/>
          </a:p>
        </p:txBody>
      </p:sp>
      <p:sp>
        <p:nvSpPr>
          <p:cNvPr id="3" name="Content Placeholder 2"/>
          <p:cNvSpPr>
            <a:spLocks noGrp="1"/>
          </p:cNvSpPr>
          <p:nvPr>
            <p:ph idx="1"/>
          </p:nvPr>
        </p:nvSpPr>
        <p:spPr/>
        <p:txBody>
          <a:bodyPr/>
          <a:lstStyle/>
          <a:p>
            <a:r>
              <a:rPr lang="en-US" altLang="zh-CN" dirty="0"/>
              <a:t>Queue</a:t>
            </a:r>
            <a:r>
              <a:rPr lang="zh-CN" altLang="en-US" dirty="0"/>
              <a:t>  </a:t>
            </a:r>
            <a:r>
              <a:rPr lang="en-US" altLang="zh-CN" b="1" dirty="0">
                <a:solidFill>
                  <a:srgbClr val="FF0000"/>
                </a:solidFill>
              </a:rPr>
              <a:t>A</a:t>
            </a:r>
            <a:r>
              <a:rPr lang="en-US" altLang="zh-CN" dirty="0"/>
              <a:t>bstract </a:t>
            </a:r>
            <a:r>
              <a:rPr lang="en-US" altLang="zh-CN" b="1" dirty="0">
                <a:solidFill>
                  <a:srgbClr val="FF0000"/>
                </a:solidFill>
              </a:rPr>
              <a:t>D</a:t>
            </a:r>
            <a:r>
              <a:rPr lang="en-US" altLang="zh-CN" dirty="0"/>
              <a:t>ata </a:t>
            </a:r>
            <a:r>
              <a:rPr lang="en-US" altLang="zh-CN" b="1" dirty="0">
                <a:solidFill>
                  <a:srgbClr val="FF0000"/>
                </a:solidFill>
              </a:rPr>
              <a:t>T</a:t>
            </a:r>
            <a:r>
              <a:rPr lang="en-US" altLang="zh-CN" dirty="0"/>
              <a:t>ype</a:t>
            </a:r>
            <a:r>
              <a:rPr lang="zh-CN" altLang="en-US" dirty="0"/>
              <a:t> </a:t>
            </a:r>
            <a:r>
              <a:rPr lang="en-US" altLang="zh-CN" dirty="0"/>
              <a:t>(</a:t>
            </a:r>
            <a:r>
              <a:rPr lang="en-US" altLang="zh-CN" dirty="0">
                <a:solidFill>
                  <a:srgbClr val="FF0000"/>
                </a:solidFill>
              </a:rPr>
              <a:t>ADT</a:t>
            </a:r>
            <a:r>
              <a:rPr lang="en-US" altLang="zh-CN" dirty="0"/>
              <a:t>)</a:t>
            </a:r>
          </a:p>
          <a:p>
            <a:r>
              <a:rPr lang="en-US" altLang="zh-CN" dirty="0"/>
              <a:t>Basic</a:t>
            </a:r>
            <a:r>
              <a:rPr lang="zh-CN" altLang="en-US" dirty="0"/>
              <a:t> </a:t>
            </a:r>
            <a:r>
              <a:rPr lang="en-US" altLang="zh-CN" dirty="0"/>
              <a:t>operations</a:t>
            </a:r>
            <a:r>
              <a:rPr lang="zh-CN" altLang="en-US" dirty="0"/>
              <a:t> </a:t>
            </a:r>
            <a:r>
              <a:rPr lang="en-US" altLang="zh-CN" dirty="0"/>
              <a:t>of</a:t>
            </a:r>
            <a:r>
              <a:rPr lang="zh-CN" altLang="en-US" dirty="0"/>
              <a:t> </a:t>
            </a:r>
            <a:r>
              <a:rPr lang="en-US" altLang="zh-CN" dirty="0"/>
              <a:t>queues</a:t>
            </a:r>
          </a:p>
          <a:p>
            <a:r>
              <a:rPr lang="en-US" altLang="zh-CN" dirty="0"/>
              <a:t>Applications</a:t>
            </a:r>
            <a:r>
              <a:rPr lang="zh-CN" altLang="en-US" dirty="0"/>
              <a:t> </a:t>
            </a:r>
            <a:r>
              <a:rPr lang="en-US" altLang="zh-CN" dirty="0"/>
              <a:t>of</a:t>
            </a:r>
            <a:r>
              <a:rPr lang="zh-CN" altLang="en-US" dirty="0"/>
              <a:t> </a:t>
            </a:r>
            <a:r>
              <a:rPr lang="en-US" altLang="zh-CN" dirty="0"/>
              <a:t>queues</a:t>
            </a:r>
          </a:p>
          <a:p>
            <a:r>
              <a:rPr lang="en-US" altLang="zh-CN" dirty="0"/>
              <a:t>Implementations</a:t>
            </a:r>
            <a:r>
              <a:rPr lang="zh-CN" altLang="en-US" dirty="0"/>
              <a:t> </a:t>
            </a:r>
            <a:r>
              <a:rPr lang="en-US" altLang="zh-CN" dirty="0"/>
              <a:t>of</a:t>
            </a:r>
            <a:r>
              <a:rPr lang="zh-CN" altLang="en-US" dirty="0"/>
              <a:t> </a:t>
            </a:r>
            <a:r>
              <a:rPr lang="en-US" altLang="zh-CN" dirty="0"/>
              <a:t>queues</a:t>
            </a:r>
            <a:endParaRPr lang="en-US" dirty="0"/>
          </a:p>
        </p:txBody>
      </p:sp>
      <p:sp>
        <p:nvSpPr>
          <p:cNvPr id="4" name="Footer Placeholder 3"/>
          <p:cNvSpPr>
            <a:spLocks noGrp="1"/>
          </p:cNvSpPr>
          <p:nvPr>
            <p:ph type="ftr" sz="quarter" idx="11"/>
          </p:nvPr>
        </p:nvSpPr>
        <p:spPr/>
        <p:txBody>
          <a:bodyPr/>
          <a:lstStyle/>
          <a:p>
            <a:r>
              <a:rPr lang="en-US"/>
              <a:t>Data Structures and Algorithms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505220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Queue</a:t>
            </a:r>
            <a:r>
              <a:rPr lang="zh-CN" altLang="en-US" dirty="0"/>
              <a:t> </a:t>
            </a:r>
            <a:r>
              <a:rPr lang="en-US" altLang="zh-CN" dirty="0"/>
              <a:t>ADT</a:t>
            </a:r>
            <a:endParaRPr lang="zh-CN" altLang="en-US" dirty="0"/>
          </a:p>
        </p:txBody>
      </p:sp>
      <p:sp>
        <p:nvSpPr>
          <p:cNvPr id="3" name="内容占位符 2"/>
          <p:cNvSpPr>
            <a:spLocks noGrp="1"/>
          </p:cNvSpPr>
          <p:nvPr>
            <p:ph idx="1"/>
          </p:nvPr>
        </p:nvSpPr>
        <p:spPr>
          <a:xfrm>
            <a:off x="628650" y="1645382"/>
            <a:ext cx="8058150" cy="2667000"/>
          </a:xfrm>
        </p:spPr>
        <p:txBody>
          <a:bodyPr>
            <a:normAutofit/>
          </a:bodyPr>
          <a:lstStyle/>
          <a:p>
            <a:r>
              <a:rPr lang="en-US" altLang="zh-CN" sz="3200" dirty="0"/>
              <a:t>Like a stack, a </a:t>
            </a:r>
            <a:r>
              <a:rPr lang="en-US" altLang="zh-CN" sz="3200" dirty="0">
                <a:solidFill>
                  <a:srgbClr val="0070C0"/>
                </a:solidFill>
              </a:rPr>
              <a:t>queue</a:t>
            </a:r>
            <a:r>
              <a:rPr lang="en-US" altLang="zh-CN" sz="3200" dirty="0"/>
              <a:t> is also a </a:t>
            </a:r>
            <a:r>
              <a:rPr lang="en-US" altLang="zh-CN" sz="3200" dirty="0">
                <a:solidFill>
                  <a:srgbClr val="FF0000"/>
                </a:solidFill>
              </a:rPr>
              <a:t>list</a:t>
            </a:r>
            <a:r>
              <a:rPr lang="en-US" altLang="zh-CN" sz="3200" dirty="0"/>
              <a:t>.</a:t>
            </a:r>
          </a:p>
          <a:p>
            <a:r>
              <a:rPr lang="en-US" altLang="zh-CN" sz="3200" dirty="0"/>
              <a:t>However, </a:t>
            </a:r>
            <a:r>
              <a:rPr lang="en-US" altLang="zh-CN" sz="3200" b="1" dirty="0">
                <a:solidFill>
                  <a:schemeClr val="accent6"/>
                </a:solidFill>
              </a:rPr>
              <a:t>within</a:t>
            </a:r>
            <a:r>
              <a:rPr lang="en-US" altLang="zh-CN" sz="3200" dirty="0"/>
              <a:t> a queue</a:t>
            </a:r>
          </a:p>
          <a:p>
            <a:pPr lvl="1">
              <a:buFont typeface="Arial" charset="0"/>
              <a:buChar char="•"/>
            </a:pPr>
            <a:r>
              <a:rPr lang="en-US" altLang="zh-CN" sz="2800" dirty="0">
                <a:solidFill>
                  <a:srgbClr val="C00000"/>
                </a:solidFill>
              </a:rPr>
              <a:t>insertion</a:t>
            </a:r>
            <a:r>
              <a:rPr lang="en-US" altLang="zh-CN" sz="2800" dirty="0"/>
              <a:t> is done at one end,</a:t>
            </a:r>
            <a:r>
              <a:rPr lang="zh-CN" altLang="en-US" sz="2800" dirty="0"/>
              <a:t> </a:t>
            </a:r>
            <a:r>
              <a:rPr lang="en-US" altLang="zh-CN" sz="2800" dirty="0"/>
              <a:t>i.e.,</a:t>
            </a:r>
            <a:r>
              <a:rPr lang="zh-CN" altLang="en-US" sz="2800" dirty="0"/>
              <a:t> </a:t>
            </a:r>
            <a:r>
              <a:rPr lang="en-US" altLang="zh-CN" sz="2800" dirty="0">
                <a:solidFill>
                  <a:srgbClr val="0070C0"/>
                </a:solidFill>
              </a:rPr>
              <a:t>the rear (</a:t>
            </a:r>
            <a:r>
              <a:rPr lang="zh-CN" altLang="en-US" sz="2800" dirty="0">
                <a:solidFill>
                  <a:srgbClr val="0070C0"/>
                </a:solidFill>
              </a:rPr>
              <a:t>尾部</a:t>
            </a:r>
            <a:r>
              <a:rPr lang="en-US" altLang="zh-CN" sz="2800" dirty="0">
                <a:solidFill>
                  <a:srgbClr val="0070C0"/>
                </a:solidFill>
              </a:rPr>
              <a:t>)</a:t>
            </a:r>
            <a:endParaRPr lang="en-US" altLang="zh-CN" sz="2000" dirty="0">
              <a:solidFill>
                <a:srgbClr val="0070C0"/>
              </a:solidFill>
            </a:endParaRPr>
          </a:p>
          <a:p>
            <a:pPr lvl="1"/>
            <a:r>
              <a:rPr lang="en-US" altLang="zh-CN" sz="2800" dirty="0">
                <a:solidFill>
                  <a:srgbClr val="C00000"/>
                </a:solidFill>
              </a:rPr>
              <a:t>deletion</a:t>
            </a:r>
            <a:r>
              <a:rPr lang="en-US" altLang="zh-CN" sz="2800" dirty="0"/>
              <a:t> is performed at the other end,</a:t>
            </a:r>
            <a:r>
              <a:rPr lang="zh-CN" altLang="en-US" sz="2800" dirty="0"/>
              <a:t> </a:t>
            </a:r>
            <a:r>
              <a:rPr lang="en-US" altLang="zh-CN" sz="2800" dirty="0" err="1"/>
              <a:t>i.e</a:t>
            </a:r>
            <a:r>
              <a:rPr lang="en-US" altLang="zh-CN" sz="2800" dirty="0"/>
              <a:t>,</a:t>
            </a:r>
            <a:r>
              <a:rPr lang="zh-CN" altLang="en-US" sz="2800" dirty="0"/>
              <a:t> </a:t>
            </a:r>
            <a:r>
              <a:rPr lang="en-US" altLang="zh-CN" sz="2800" dirty="0">
                <a:solidFill>
                  <a:srgbClr val="0070C0"/>
                </a:solidFill>
              </a:rPr>
              <a:t>the</a:t>
            </a:r>
            <a:r>
              <a:rPr lang="zh-CN" altLang="en-US" sz="2800" dirty="0">
                <a:solidFill>
                  <a:srgbClr val="0070C0"/>
                </a:solidFill>
              </a:rPr>
              <a:t> </a:t>
            </a:r>
            <a:r>
              <a:rPr lang="en-US" altLang="zh-CN" sz="2800" dirty="0">
                <a:solidFill>
                  <a:srgbClr val="0070C0"/>
                </a:solidFill>
              </a:rPr>
              <a:t>front (</a:t>
            </a:r>
            <a:r>
              <a:rPr lang="zh-CN" altLang="en-US" sz="2800" dirty="0">
                <a:solidFill>
                  <a:srgbClr val="0070C0"/>
                </a:solidFill>
              </a:rPr>
              <a:t>前端</a:t>
            </a:r>
            <a:r>
              <a:rPr lang="en-US" altLang="zh-CN" sz="2800" dirty="0">
                <a:solidFill>
                  <a:srgbClr val="0070C0"/>
                </a:solidFill>
              </a:rPr>
              <a:t>)</a:t>
            </a:r>
          </a:p>
        </p:txBody>
      </p:sp>
      <p:sp>
        <p:nvSpPr>
          <p:cNvPr id="4" name="灯片编号占位符 3"/>
          <p:cNvSpPr>
            <a:spLocks noGrp="1"/>
          </p:cNvSpPr>
          <p:nvPr>
            <p:ph type="sldNum" sz="quarter" idx="12"/>
          </p:nvPr>
        </p:nvSpPr>
        <p:spPr/>
        <p:txBody>
          <a:bodyPr/>
          <a:lstStyle/>
          <a:p>
            <a:fld id="{B6F15528-21DE-4FAA-801E-634DDDAF4B2B}" type="slidenum">
              <a:rPr lang="en-US" smtClean="0"/>
              <a:pPr/>
              <a:t>3</a:t>
            </a:fld>
            <a:endParaRPr lang="en-US"/>
          </a:p>
        </p:txBody>
      </p:sp>
      <p:sp>
        <p:nvSpPr>
          <p:cNvPr id="7" name="Footer Placeholder 6"/>
          <p:cNvSpPr>
            <a:spLocks noGrp="1"/>
          </p:cNvSpPr>
          <p:nvPr>
            <p:ph type="ftr" sz="quarter" idx="11"/>
          </p:nvPr>
        </p:nvSpPr>
        <p:spPr/>
        <p:txBody>
          <a:bodyPr/>
          <a:lstStyle/>
          <a:p>
            <a:r>
              <a:rPr lang="en-US"/>
              <a:t>Data Structures and Algorithms</a:t>
            </a:r>
          </a:p>
        </p:txBody>
      </p:sp>
      <p:sp>
        <p:nvSpPr>
          <p:cNvPr id="11" name="TextBox 10"/>
          <p:cNvSpPr txBox="1"/>
          <p:nvPr/>
        </p:nvSpPr>
        <p:spPr>
          <a:xfrm>
            <a:off x="710701" y="4526476"/>
            <a:ext cx="1293944" cy="461665"/>
          </a:xfrm>
          <a:prstGeom prst="rect">
            <a:avLst/>
          </a:prstGeom>
          <a:noFill/>
        </p:spPr>
        <p:txBody>
          <a:bodyPr wrap="none" rtlCol="0">
            <a:spAutoFit/>
          </a:bodyPr>
          <a:lstStyle/>
          <a:p>
            <a:r>
              <a:rPr lang="en-US" altLang="zh-CN" sz="2400" dirty="0" err="1">
                <a:latin typeface="Calibri" charset="0"/>
                <a:ea typeface="Calibri" charset="0"/>
                <a:cs typeface="Calibri" charset="0"/>
              </a:rPr>
              <a:t>dequeue</a:t>
            </a:r>
            <a:endParaRPr lang="zh-CN" altLang="en-US" sz="2000" dirty="0">
              <a:latin typeface="Calibri" charset="0"/>
              <a:ea typeface="Calibri" charset="0"/>
              <a:cs typeface="Calibri" charset="0"/>
            </a:endParaRPr>
          </a:p>
        </p:txBody>
      </p:sp>
      <p:cxnSp>
        <p:nvCxnSpPr>
          <p:cNvPr id="12" name="直接箭头连接符 7"/>
          <p:cNvCxnSpPr/>
          <p:nvPr/>
        </p:nvCxnSpPr>
        <p:spPr>
          <a:xfrm flipH="1">
            <a:off x="838200" y="5040868"/>
            <a:ext cx="11430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6978156" y="4573948"/>
            <a:ext cx="1293944" cy="461665"/>
          </a:xfrm>
          <a:prstGeom prst="rect">
            <a:avLst/>
          </a:prstGeom>
          <a:noFill/>
        </p:spPr>
        <p:txBody>
          <a:bodyPr wrap="none" rtlCol="0">
            <a:spAutoFit/>
          </a:bodyPr>
          <a:lstStyle/>
          <a:p>
            <a:r>
              <a:rPr lang="en-US" altLang="zh-CN" sz="2400" dirty="0" err="1">
                <a:latin typeface="Calibri" charset="0"/>
                <a:ea typeface="Calibri" charset="0"/>
                <a:cs typeface="Calibri" charset="0"/>
              </a:rPr>
              <a:t>enqueue</a:t>
            </a:r>
            <a:endParaRPr lang="zh-CN" altLang="en-US" dirty="0">
              <a:latin typeface="Calibri" charset="0"/>
              <a:ea typeface="Calibri" charset="0"/>
              <a:cs typeface="Calibri" charset="0"/>
            </a:endParaRPr>
          </a:p>
        </p:txBody>
      </p:sp>
      <p:cxnSp>
        <p:nvCxnSpPr>
          <p:cNvPr id="14" name="直接箭头连接符 9"/>
          <p:cNvCxnSpPr/>
          <p:nvPr/>
        </p:nvCxnSpPr>
        <p:spPr>
          <a:xfrm flipH="1">
            <a:off x="6934201" y="5040868"/>
            <a:ext cx="125633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5" name="表格 6"/>
          <p:cNvGraphicFramePr>
            <a:graphicFrameLocks noGrp="1"/>
          </p:cNvGraphicFramePr>
          <p:nvPr>
            <p:extLst>
              <p:ext uri="{D42A27DB-BD31-4B8C-83A1-F6EECF244321}">
                <p14:modId xmlns:p14="http://schemas.microsoft.com/office/powerpoint/2010/main" val="956054872"/>
              </p:ext>
            </p:extLst>
          </p:nvPr>
        </p:nvGraphicFramePr>
        <p:xfrm>
          <a:off x="2057400" y="4478215"/>
          <a:ext cx="4847490" cy="1066800"/>
        </p:xfrm>
        <a:graphic>
          <a:graphicData uri="http://schemas.openxmlformats.org/drawingml/2006/table">
            <a:tbl>
              <a:tblPr>
                <a:tableStyleId>{BC89EF96-8CEA-46FF-86C4-4CE0E7609802}</a:tableStyleId>
              </a:tblPr>
              <a:tblGrid>
                <a:gridCol w="538610">
                  <a:extLst>
                    <a:ext uri="{9D8B030D-6E8A-4147-A177-3AD203B41FA5}">
                      <a16:colId xmlns:a16="http://schemas.microsoft.com/office/drawing/2014/main" val="20000"/>
                    </a:ext>
                  </a:extLst>
                </a:gridCol>
                <a:gridCol w="538610">
                  <a:extLst>
                    <a:ext uri="{9D8B030D-6E8A-4147-A177-3AD203B41FA5}">
                      <a16:colId xmlns:a16="http://schemas.microsoft.com/office/drawing/2014/main" val="20001"/>
                    </a:ext>
                  </a:extLst>
                </a:gridCol>
                <a:gridCol w="538610">
                  <a:extLst>
                    <a:ext uri="{9D8B030D-6E8A-4147-A177-3AD203B41FA5}">
                      <a16:colId xmlns:a16="http://schemas.microsoft.com/office/drawing/2014/main" val="20002"/>
                    </a:ext>
                  </a:extLst>
                </a:gridCol>
                <a:gridCol w="2693050">
                  <a:extLst>
                    <a:ext uri="{9D8B030D-6E8A-4147-A177-3AD203B41FA5}">
                      <a16:colId xmlns:a16="http://schemas.microsoft.com/office/drawing/2014/main" val="20003"/>
                    </a:ext>
                  </a:extLst>
                </a:gridCol>
                <a:gridCol w="538610">
                  <a:extLst>
                    <a:ext uri="{9D8B030D-6E8A-4147-A177-3AD203B41FA5}">
                      <a16:colId xmlns:a16="http://schemas.microsoft.com/office/drawing/2014/main" val="20004"/>
                    </a:ext>
                  </a:extLst>
                </a:gridCol>
              </a:tblGrid>
              <a:tr h="1066800">
                <a:tc>
                  <a:txBody>
                    <a:bodyPr/>
                    <a:lstStyle/>
                    <a:p>
                      <a:pPr algn="ctr"/>
                      <a:r>
                        <a:rPr lang="en-US" altLang="zh-CN" sz="1600" dirty="0">
                          <a:solidFill>
                            <a:sysClr val="windowText" lastClr="000000"/>
                          </a:solidFill>
                          <a:latin typeface="Calibri" charset="0"/>
                          <a:ea typeface="Calibri" charset="0"/>
                          <a:cs typeface="Calibri" charset="0"/>
                        </a:rPr>
                        <a:t>3</a:t>
                      </a:r>
                      <a:endParaRPr lang="zh-CN" altLang="en-US" dirty="0">
                        <a:solidFill>
                          <a:sysClr val="windowText" lastClr="000000"/>
                        </a:solidFill>
                        <a:latin typeface="Calibri" charset="0"/>
                        <a:ea typeface="Calibri" charset="0"/>
                        <a:cs typeface="Calibri" charset="0"/>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altLang="zh-CN" sz="1600" dirty="0">
                          <a:solidFill>
                            <a:sysClr val="windowText" lastClr="000000"/>
                          </a:solidFill>
                        </a:rPr>
                        <a:t>4</a:t>
                      </a:r>
                      <a:endParaRPr lang="zh-CN" altLang="en-US"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altLang="zh-CN" sz="1600" dirty="0">
                          <a:solidFill>
                            <a:sysClr val="windowText" lastClr="000000"/>
                          </a:solidFill>
                          <a:latin typeface="Calibri" charset="0"/>
                          <a:ea typeface="Calibri" charset="0"/>
                          <a:cs typeface="Calibri" charset="0"/>
                        </a:rPr>
                        <a:t>8</a:t>
                      </a:r>
                      <a:endParaRPr lang="zh-CN" altLang="en-US" dirty="0">
                        <a:solidFill>
                          <a:sysClr val="windowText" lastClr="000000"/>
                        </a:solidFill>
                        <a:latin typeface="Calibri" charset="0"/>
                        <a:ea typeface="Calibri" charset="0"/>
                        <a:cs typeface="Calibri" charset="0"/>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altLang="zh-CN" dirty="0">
                          <a:solidFill>
                            <a:sysClr val="windowText" lastClr="000000"/>
                          </a:solidFill>
                        </a:rPr>
                        <a:t>…</a:t>
                      </a:r>
                      <a:endParaRPr lang="zh-CN" altLang="en-US"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dirty="0">
                          <a:solidFill>
                            <a:sysClr val="windowText" lastClr="000000"/>
                          </a:solidFill>
                        </a:rPr>
                        <a:t>6</a:t>
                      </a:r>
                      <a:endParaRPr lang="zh-CN" altLang="en-US" dirty="0">
                        <a:solidFill>
                          <a:sysClr val="windowText" lastClr="000000"/>
                        </a:solidFill>
                      </a:endParaRPr>
                    </a:p>
                    <a:p>
                      <a:pPr algn="ctr"/>
                      <a:endParaRPr lang="zh-CN" altLang="en-US"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bl>
          </a:graphicData>
        </a:graphic>
      </p:graphicFrame>
      <p:sp>
        <p:nvSpPr>
          <p:cNvPr id="16" name="TextBox 15"/>
          <p:cNvSpPr txBox="1"/>
          <p:nvPr/>
        </p:nvSpPr>
        <p:spPr>
          <a:xfrm>
            <a:off x="1975338" y="5650468"/>
            <a:ext cx="702436" cy="400110"/>
          </a:xfrm>
          <a:prstGeom prst="rect">
            <a:avLst/>
          </a:prstGeom>
          <a:noFill/>
        </p:spPr>
        <p:txBody>
          <a:bodyPr wrap="none" rtlCol="0">
            <a:spAutoFit/>
          </a:bodyPr>
          <a:lstStyle/>
          <a:p>
            <a:r>
              <a:rPr lang="en-US" altLang="zh-CN" sz="2000" dirty="0">
                <a:solidFill>
                  <a:srgbClr val="0070C0"/>
                </a:solidFill>
                <a:latin typeface="Calibri" charset="0"/>
                <a:ea typeface="Calibri" charset="0"/>
                <a:cs typeface="Calibri" charset="0"/>
              </a:rPr>
              <a:t>front</a:t>
            </a:r>
            <a:endParaRPr lang="zh-CN" altLang="en-US" sz="2000" dirty="0">
              <a:solidFill>
                <a:srgbClr val="0070C0"/>
              </a:solidFill>
              <a:latin typeface="Calibri" charset="0"/>
              <a:ea typeface="Calibri" charset="0"/>
              <a:cs typeface="Calibri" charset="0"/>
            </a:endParaRPr>
          </a:p>
        </p:txBody>
      </p:sp>
      <p:sp>
        <p:nvSpPr>
          <p:cNvPr id="17" name="TextBox 16"/>
          <p:cNvSpPr txBox="1"/>
          <p:nvPr/>
        </p:nvSpPr>
        <p:spPr>
          <a:xfrm>
            <a:off x="6354451" y="5650468"/>
            <a:ext cx="621067" cy="400110"/>
          </a:xfrm>
          <a:prstGeom prst="rect">
            <a:avLst/>
          </a:prstGeom>
          <a:noFill/>
        </p:spPr>
        <p:txBody>
          <a:bodyPr wrap="none" rtlCol="0">
            <a:spAutoFit/>
          </a:bodyPr>
          <a:lstStyle/>
          <a:p>
            <a:r>
              <a:rPr lang="en-US" altLang="zh-CN" sz="2000" dirty="0">
                <a:solidFill>
                  <a:srgbClr val="0070C0"/>
                </a:solidFill>
                <a:latin typeface="Calibri" charset="0"/>
                <a:ea typeface="Calibri" charset="0"/>
                <a:cs typeface="Calibri" charset="0"/>
              </a:rPr>
              <a:t>rear</a:t>
            </a:r>
            <a:endParaRPr lang="zh-CN" altLang="en-US" dirty="0">
              <a:solidFill>
                <a:srgbClr val="0070C0"/>
              </a:solidFill>
              <a:latin typeface="Calibri" charset="0"/>
              <a:ea typeface="Calibri" charset="0"/>
              <a:cs typeface="Calibri" charset="0"/>
            </a:endParaRPr>
          </a:p>
        </p:txBody>
      </p:sp>
    </p:spTree>
    <p:extLst>
      <p:ext uri="{BB962C8B-B14F-4D97-AF65-F5344CB8AC3E}">
        <p14:creationId xmlns:p14="http://schemas.microsoft.com/office/powerpoint/2010/main" val="131806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Queue</a:t>
            </a:r>
            <a:r>
              <a:rPr lang="zh-CN" altLang="en-US" dirty="0"/>
              <a:t> </a:t>
            </a:r>
            <a:r>
              <a:rPr lang="en-US" altLang="zh-CN" dirty="0"/>
              <a:t>Animation </a:t>
            </a:r>
            <a:endParaRPr lang="zh-CN" altLang="en-US" dirty="0"/>
          </a:p>
        </p:txBody>
      </p:sp>
      <p:sp>
        <p:nvSpPr>
          <p:cNvPr id="3" name="内容占位符 2"/>
          <p:cNvSpPr>
            <a:spLocks noGrp="1"/>
          </p:cNvSpPr>
          <p:nvPr>
            <p:ph idx="1"/>
          </p:nvPr>
        </p:nvSpPr>
        <p:spPr/>
        <p:txBody>
          <a:bodyPr/>
          <a:lstStyle/>
          <a:p>
            <a:endParaRPr lang="en-US" altLang="zh-CN" dirty="0">
              <a:solidFill>
                <a:schemeClr val="bg2">
                  <a:lumMod val="75000"/>
                </a:schemeClr>
              </a:solidFill>
              <a:ea typeface="宋体" pitchFamily="2" charset="-122"/>
              <a:hlinkClick r:id="rId2"/>
            </a:endParaRPr>
          </a:p>
          <a:p>
            <a:r>
              <a:rPr lang="en-US" altLang="zh-CN" dirty="0">
                <a:ea typeface="宋体" pitchFamily="2" charset="-122"/>
                <a:hlinkClick r:id="rId2"/>
              </a:rPr>
              <a:t>http://www.cs.armstrong.edu/liang/animation/web/Queue.html</a:t>
            </a:r>
            <a:endParaRPr lang="en-US" altLang="zh-CN" dirty="0">
              <a:ea typeface="宋体" pitchFamily="2" charset="-122"/>
            </a:endParaRPr>
          </a:p>
          <a:p>
            <a:pPr marL="0" indent="0">
              <a:buNone/>
            </a:pPr>
            <a:endParaRPr lang="en-US" altLang="zh-CN" dirty="0">
              <a:ea typeface="宋体" pitchFamily="2" charset="-122"/>
            </a:endParaRPr>
          </a:p>
          <a:p>
            <a:r>
              <a:rPr lang="en-US" altLang="zh-CN" dirty="0">
                <a:ea typeface="宋体" pitchFamily="2" charset="-122"/>
              </a:rPr>
              <a:t>Queues are known as </a:t>
            </a:r>
            <a:r>
              <a:rPr lang="en-US" altLang="zh-CN" dirty="0">
                <a:solidFill>
                  <a:srgbClr val="0070C0"/>
                </a:solidFill>
                <a:ea typeface="宋体" pitchFamily="2" charset="-122"/>
              </a:rPr>
              <a:t>FIFO</a:t>
            </a:r>
            <a:r>
              <a:rPr lang="en-US" altLang="zh-CN" dirty="0">
                <a:solidFill>
                  <a:schemeClr val="accent1"/>
                </a:solidFill>
                <a:ea typeface="宋体" pitchFamily="2" charset="-122"/>
              </a:rPr>
              <a:t> </a:t>
            </a:r>
            <a:r>
              <a:rPr lang="en-US" altLang="zh-CN" dirty="0">
                <a:ea typeface="宋体" pitchFamily="2" charset="-122"/>
              </a:rPr>
              <a:t>(</a:t>
            </a:r>
            <a:r>
              <a:rPr lang="en-US" altLang="zh-CN" dirty="0">
                <a:solidFill>
                  <a:srgbClr val="0070C0"/>
                </a:solidFill>
                <a:ea typeface="宋体" pitchFamily="2" charset="-122"/>
              </a:rPr>
              <a:t>First In, First Out</a:t>
            </a:r>
            <a:r>
              <a:rPr lang="en-US" altLang="zh-CN" dirty="0">
                <a:ea typeface="宋体" pitchFamily="2" charset="-122"/>
              </a:rPr>
              <a:t>) lists.</a:t>
            </a:r>
          </a:p>
          <a:p>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B6F15528-21DE-4FAA-801E-634DDDAF4B2B}" type="slidenum">
              <a:rPr lang="en-US" smtClean="0"/>
              <a:pPr/>
              <a:t>4</a:t>
            </a:fld>
            <a:endParaRPr lang="en-US"/>
          </a:p>
        </p:txBody>
      </p:sp>
      <p:sp>
        <p:nvSpPr>
          <p:cNvPr id="5" name="Footer Placeholder 4"/>
          <p:cNvSpPr>
            <a:spLocks noGrp="1"/>
          </p:cNvSpPr>
          <p:nvPr>
            <p:ph type="ftr" sz="quarter" idx="11"/>
          </p:nvPr>
        </p:nvSpPr>
        <p:spPr/>
        <p:txBody>
          <a:bodyPr/>
          <a:lstStyle/>
          <a:p>
            <a:r>
              <a:rPr lang="en-US"/>
              <a:t>Data Structures and Algorithms</a:t>
            </a:r>
          </a:p>
        </p:txBody>
      </p:sp>
    </p:spTree>
    <p:extLst>
      <p:ext uri="{BB962C8B-B14F-4D97-AF65-F5344CB8AC3E}">
        <p14:creationId xmlns:p14="http://schemas.microsoft.com/office/powerpoint/2010/main" val="4129261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en-US" altLang="zh-CN" dirty="0" err="1">
                <a:ea typeface="宋体" pitchFamily="2" charset="-122"/>
              </a:rPr>
              <a:t>Enqueue</a:t>
            </a:r>
            <a:r>
              <a:rPr lang="en-US" altLang="zh-CN" dirty="0">
                <a:ea typeface="宋体" pitchFamily="2" charset="-122"/>
              </a:rPr>
              <a:t> and </a:t>
            </a:r>
            <a:r>
              <a:rPr lang="en-US" altLang="zh-CN" dirty="0" err="1">
                <a:ea typeface="宋体" pitchFamily="2" charset="-122"/>
              </a:rPr>
              <a:t>Dequeue</a:t>
            </a:r>
            <a:endParaRPr lang="en-US" altLang="zh-CN" dirty="0">
              <a:ea typeface="宋体" pitchFamily="2" charset="-122"/>
            </a:endParaRPr>
          </a:p>
        </p:txBody>
      </p:sp>
      <p:sp>
        <p:nvSpPr>
          <p:cNvPr id="7172" name="Rectangle 3"/>
          <p:cNvSpPr>
            <a:spLocks noGrp="1" noChangeArrowheads="1"/>
          </p:cNvSpPr>
          <p:nvPr>
            <p:ph idx="1"/>
          </p:nvPr>
        </p:nvSpPr>
        <p:spPr>
          <a:xfrm>
            <a:off x="381000" y="1981200"/>
            <a:ext cx="8382000" cy="2895600"/>
          </a:xfrm>
        </p:spPr>
        <p:txBody>
          <a:bodyPr>
            <a:normAutofit fontScale="85000" lnSpcReduction="10000"/>
          </a:bodyPr>
          <a:lstStyle/>
          <a:p>
            <a:pPr eaLnBrk="1" hangingPunct="1"/>
            <a:r>
              <a:rPr lang="en-US" altLang="zh-CN" sz="3200" dirty="0">
                <a:ea typeface="宋体" pitchFamily="2" charset="-122"/>
              </a:rPr>
              <a:t>Primary operations: </a:t>
            </a:r>
            <a:r>
              <a:rPr lang="en-US" altLang="zh-CN" sz="3200" dirty="0">
                <a:solidFill>
                  <a:srgbClr val="0070C0"/>
                </a:solidFill>
                <a:ea typeface="宋体" pitchFamily="2" charset="-122"/>
              </a:rPr>
              <a:t>Enqueue (</a:t>
            </a:r>
            <a:r>
              <a:rPr lang="zh-CN" altLang="en-US" sz="3200" dirty="0">
                <a:solidFill>
                  <a:srgbClr val="0070C0"/>
                </a:solidFill>
                <a:ea typeface="宋体" pitchFamily="2" charset="-122"/>
              </a:rPr>
              <a:t>入列</a:t>
            </a:r>
            <a:r>
              <a:rPr lang="en-US" altLang="zh-CN" sz="3200" dirty="0">
                <a:solidFill>
                  <a:srgbClr val="0070C0"/>
                </a:solidFill>
                <a:ea typeface="宋体" pitchFamily="2" charset="-122"/>
              </a:rPr>
              <a:t>)</a:t>
            </a:r>
            <a:r>
              <a:rPr lang="zh-CN" altLang="en-US" sz="3200" dirty="0">
                <a:solidFill>
                  <a:srgbClr val="0070C0"/>
                </a:solidFill>
                <a:ea typeface="宋体" pitchFamily="2" charset="-122"/>
              </a:rPr>
              <a:t> </a:t>
            </a:r>
            <a:r>
              <a:rPr lang="en-US" altLang="zh-CN" sz="3200" dirty="0">
                <a:ea typeface="宋体" pitchFamily="2" charset="-122"/>
              </a:rPr>
              <a:t>and </a:t>
            </a:r>
            <a:r>
              <a:rPr lang="en-US" altLang="zh-CN" sz="3200" dirty="0">
                <a:solidFill>
                  <a:srgbClr val="0070C0"/>
                </a:solidFill>
                <a:ea typeface="宋体" pitchFamily="2" charset="-122"/>
              </a:rPr>
              <a:t>Dequeue (</a:t>
            </a:r>
            <a:r>
              <a:rPr lang="zh-CN" altLang="en-US" sz="3200" dirty="0">
                <a:solidFill>
                  <a:srgbClr val="0070C0"/>
                </a:solidFill>
                <a:ea typeface="宋体" pitchFamily="2" charset="-122"/>
              </a:rPr>
              <a:t>出列</a:t>
            </a:r>
            <a:r>
              <a:rPr lang="en-US" altLang="zh-CN" sz="3200" dirty="0">
                <a:solidFill>
                  <a:srgbClr val="0070C0"/>
                </a:solidFill>
                <a:ea typeface="宋体" pitchFamily="2" charset="-122"/>
              </a:rPr>
              <a:t>)</a:t>
            </a:r>
          </a:p>
          <a:p>
            <a:pPr marL="0" indent="0" eaLnBrk="1" hangingPunct="1">
              <a:buNone/>
            </a:pPr>
            <a:endParaRPr lang="en-US" altLang="zh-CN" sz="3200" dirty="0">
              <a:solidFill>
                <a:srgbClr val="0070C0"/>
              </a:solidFill>
              <a:ea typeface="宋体" pitchFamily="2" charset="-122"/>
            </a:endParaRPr>
          </a:p>
          <a:p>
            <a:r>
              <a:rPr lang="en-US" altLang="zh-CN" sz="3200" dirty="0" err="1">
                <a:ea typeface="宋体" pitchFamily="2" charset="-122"/>
              </a:rPr>
              <a:t>Enqueue</a:t>
            </a:r>
            <a:r>
              <a:rPr lang="en-US" altLang="zh-CN" sz="3200" dirty="0">
                <a:ea typeface="宋体" pitchFamily="2" charset="-122"/>
              </a:rPr>
              <a:t>:</a:t>
            </a:r>
            <a:r>
              <a:rPr lang="zh-CN" altLang="en-US" sz="3200" dirty="0">
                <a:ea typeface="宋体" pitchFamily="2" charset="-122"/>
              </a:rPr>
              <a:t> </a:t>
            </a:r>
            <a:endParaRPr lang="en-US" altLang="zh-CN" sz="3200" dirty="0">
              <a:ea typeface="宋体" pitchFamily="2" charset="-122"/>
            </a:endParaRPr>
          </a:p>
          <a:p>
            <a:pPr lvl="1"/>
            <a:r>
              <a:rPr lang="en-US" altLang="zh-CN" sz="2800" dirty="0">
                <a:ea typeface="宋体" pitchFamily="2" charset="-122"/>
              </a:rPr>
              <a:t> </a:t>
            </a:r>
            <a:r>
              <a:rPr lang="en-US" altLang="zh-CN" sz="2800" dirty="0">
                <a:solidFill>
                  <a:srgbClr val="FF0000"/>
                </a:solidFill>
                <a:ea typeface="宋体" pitchFamily="2" charset="-122"/>
              </a:rPr>
              <a:t>insert</a:t>
            </a:r>
            <a:r>
              <a:rPr lang="en-US" altLang="zh-CN" sz="2800" dirty="0">
                <a:ea typeface="宋体" pitchFamily="2" charset="-122"/>
              </a:rPr>
              <a:t> an element at the </a:t>
            </a:r>
            <a:r>
              <a:rPr lang="en-US" altLang="zh-CN" sz="2800" dirty="0">
                <a:solidFill>
                  <a:schemeClr val="hlink"/>
                </a:solidFill>
                <a:ea typeface="宋体" pitchFamily="2" charset="-122"/>
              </a:rPr>
              <a:t>rear</a:t>
            </a:r>
            <a:r>
              <a:rPr lang="en-US" altLang="zh-CN" sz="2800" dirty="0">
                <a:ea typeface="宋体" pitchFamily="2" charset="-122"/>
              </a:rPr>
              <a:t> of the queue</a:t>
            </a:r>
          </a:p>
          <a:p>
            <a:pPr marL="342900" lvl="1" indent="0">
              <a:buNone/>
            </a:pPr>
            <a:endParaRPr lang="en-US" altLang="zh-CN" sz="2800" dirty="0">
              <a:ea typeface="宋体" pitchFamily="2" charset="-122"/>
            </a:endParaRPr>
          </a:p>
          <a:p>
            <a:r>
              <a:rPr lang="en-US" altLang="zh-CN" sz="3200" dirty="0" err="1">
                <a:ea typeface="宋体" pitchFamily="2" charset="-122"/>
              </a:rPr>
              <a:t>Dequeue</a:t>
            </a:r>
            <a:endParaRPr lang="en-US" altLang="zh-CN" sz="3200" dirty="0">
              <a:ea typeface="宋体" pitchFamily="2" charset="-122"/>
            </a:endParaRPr>
          </a:p>
          <a:p>
            <a:pPr lvl="1"/>
            <a:r>
              <a:rPr lang="en-US" altLang="zh-CN" sz="2800" dirty="0">
                <a:solidFill>
                  <a:srgbClr val="FF0000"/>
                </a:solidFill>
                <a:ea typeface="宋体" pitchFamily="2" charset="-122"/>
              </a:rPr>
              <a:t> remove</a:t>
            </a:r>
            <a:r>
              <a:rPr lang="en-US" altLang="zh-CN" sz="2800" dirty="0">
                <a:ea typeface="宋体" pitchFamily="2" charset="-122"/>
              </a:rPr>
              <a:t> an element from the </a:t>
            </a:r>
            <a:r>
              <a:rPr lang="en-US" altLang="zh-CN" sz="2800" dirty="0">
                <a:solidFill>
                  <a:schemeClr val="hlink"/>
                </a:solidFill>
                <a:ea typeface="宋体" pitchFamily="2" charset="-122"/>
              </a:rPr>
              <a:t>front</a:t>
            </a:r>
            <a:r>
              <a:rPr lang="en-US" altLang="zh-CN" sz="2800" dirty="0">
                <a:ea typeface="宋体" pitchFamily="2" charset="-122"/>
              </a:rPr>
              <a:t> of the queue</a:t>
            </a:r>
          </a:p>
        </p:txBody>
      </p:sp>
      <p:sp>
        <p:nvSpPr>
          <p:cNvPr id="7170" name="灯片编号占位符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D458796E-B373-4873-A00C-2CD4867340CC}" type="slidenum">
              <a:rPr lang="zh-CN" altLang="en-US" sz="1400">
                <a:solidFill>
                  <a:schemeClr val="bg2">
                    <a:lumMod val="75000"/>
                  </a:schemeClr>
                </a:solidFill>
                <a:latin typeface="+mn-lt"/>
              </a:rPr>
              <a:pPr eaLnBrk="1" hangingPunct="1"/>
              <a:t>5</a:t>
            </a:fld>
            <a:endParaRPr lang="en-US" altLang="zh-CN" sz="1400">
              <a:solidFill>
                <a:schemeClr val="bg2">
                  <a:lumMod val="75000"/>
                </a:schemeClr>
              </a:solidFill>
              <a:latin typeface="+mn-lt"/>
            </a:endParaRPr>
          </a:p>
        </p:txBody>
      </p:sp>
      <p:sp>
        <p:nvSpPr>
          <p:cNvPr id="3" name="Footer Placeholder 2"/>
          <p:cNvSpPr>
            <a:spLocks noGrp="1"/>
          </p:cNvSpPr>
          <p:nvPr>
            <p:ph type="ftr" sz="quarter" idx="11"/>
          </p:nvPr>
        </p:nvSpPr>
        <p:spPr/>
        <p:txBody>
          <a:bodyPr/>
          <a:lstStyle/>
          <a:p>
            <a:r>
              <a:rPr lang="en-US"/>
              <a:t>Data Structures and Algorithms</a:t>
            </a:r>
          </a:p>
        </p:txBody>
      </p:sp>
    </p:spTree>
    <p:extLst>
      <p:ext uri="{BB962C8B-B14F-4D97-AF65-F5344CB8AC3E}">
        <p14:creationId xmlns:p14="http://schemas.microsoft.com/office/powerpoint/2010/main" val="4167757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en-US" altLang="zh-CN" dirty="0" err="1">
                <a:ea typeface="宋体" pitchFamily="2" charset="-122"/>
              </a:rPr>
              <a:t>Enqueue</a:t>
            </a:r>
            <a:r>
              <a:rPr lang="en-US" altLang="zh-CN" dirty="0">
                <a:ea typeface="宋体" pitchFamily="2" charset="-122"/>
              </a:rPr>
              <a:t> and </a:t>
            </a:r>
            <a:r>
              <a:rPr lang="en-US" altLang="zh-CN" dirty="0" err="1">
                <a:ea typeface="宋体" pitchFamily="2" charset="-122"/>
              </a:rPr>
              <a:t>Dequeue</a:t>
            </a:r>
            <a:endParaRPr lang="en-US" altLang="zh-CN" dirty="0">
              <a:ea typeface="宋体" pitchFamily="2" charset="-122"/>
            </a:endParaRPr>
          </a:p>
        </p:txBody>
      </p:sp>
      <p:sp>
        <p:nvSpPr>
          <p:cNvPr id="7170" name="灯片编号占位符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D458796E-B373-4873-A00C-2CD4867340CC}" type="slidenum">
              <a:rPr lang="zh-CN" altLang="en-US" sz="1400">
                <a:solidFill>
                  <a:schemeClr val="bg2">
                    <a:lumMod val="75000"/>
                  </a:schemeClr>
                </a:solidFill>
                <a:latin typeface="+mn-lt"/>
              </a:rPr>
              <a:pPr eaLnBrk="1" hangingPunct="1"/>
              <a:t>6</a:t>
            </a:fld>
            <a:endParaRPr lang="en-US" altLang="zh-CN" sz="1400">
              <a:solidFill>
                <a:schemeClr val="bg2">
                  <a:lumMod val="75000"/>
                </a:schemeClr>
              </a:solidFill>
              <a:latin typeface="+mn-lt"/>
            </a:endParaRPr>
          </a:p>
        </p:txBody>
      </p:sp>
      <p:sp>
        <p:nvSpPr>
          <p:cNvPr id="3" name="Footer Placeholder 2"/>
          <p:cNvSpPr>
            <a:spLocks noGrp="1"/>
          </p:cNvSpPr>
          <p:nvPr>
            <p:ph type="ftr" sz="quarter" idx="11"/>
          </p:nvPr>
        </p:nvSpPr>
        <p:spPr/>
        <p:txBody>
          <a:bodyPr/>
          <a:lstStyle/>
          <a:p>
            <a:r>
              <a:rPr lang="en-US"/>
              <a:t>Data Structures and Algorithms</a:t>
            </a:r>
          </a:p>
        </p:txBody>
      </p:sp>
      <p:graphicFrame>
        <p:nvGraphicFramePr>
          <p:cNvPr id="7" name="表格 2"/>
          <p:cNvGraphicFramePr>
            <a:graphicFrameLocks noGrp="1"/>
          </p:cNvGraphicFramePr>
          <p:nvPr>
            <p:extLst>
              <p:ext uri="{D42A27DB-BD31-4B8C-83A1-F6EECF244321}">
                <p14:modId xmlns:p14="http://schemas.microsoft.com/office/powerpoint/2010/main" val="2896096532"/>
              </p:ext>
            </p:extLst>
          </p:nvPr>
        </p:nvGraphicFramePr>
        <p:xfrm>
          <a:off x="949851" y="2043809"/>
          <a:ext cx="2029544" cy="779640"/>
        </p:xfrm>
        <a:graphic>
          <a:graphicData uri="http://schemas.openxmlformats.org/drawingml/2006/table">
            <a:tbl>
              <a:tblPr>
                <a:tableStyleId>{912C8C85-51F0-491E-9774-3900AFEF0FD7}</a:tableStyleId>
              </a:tblPr>
              <a:tblGrid>
                <a:gridCol w="507386">
                  <a:extLst>
                    <a:ext uri="{9D8B030D-6E8A-4147-A177-3AD203B41FA5}">
                      <a16:colId xmlns:a16="http://schemas.microsoft.com/office/drawing/2014/main" val="20000"/>
                    </a:ext>
                  </a:extLst>
                </a:gridCol>
                <a:gridCol w="507386">
                  <a:extLst>
                    <a:ext uri="{9D8B030D-6E8A-4147-A177-3AD203B41FA5}">
                      <a16:colId xmlns:a16="http://schemas.microsoft.com/office/drawing/2014/main" val="20001"/>
                    </a:ext>
                  </a:extLst>
                </a:gridCol>
                <a:gridCol w="507386">
                  <a:extLst>
                    <a:ext uri="{9D8B030D-6E8A-4147-A177-3AD203B41FA5}">
                      <a16:colId xmlns:a16="http://schemas.microsoft.com/office/drawing/2014/main" val="20002"/>
                    </a:ext>
                  </a:extLst>
                </a:gridCol>
                <a:gridCol w="507386">
                  <a:extLst>
                    <a:ext uri="{9D8B030D-6E8A-4147-A177-3AD203B41FA5}">
                      <a16:colId xmlns:a16="http://schemas.microsoft.com/office/drawing/2014/main" val="20003"/>
                    </a:ext>
                  </a:extLst>
                </a:gridCol>
              </a:tblGrid>
              <a:tr h="779640">
                <a:tc>
                  <a:txBody>
                    <a:bodyPr/>
                    <a:lstStyle/>
                    <a:p>
                      <a:endParaRPr lang="zh-CN" altLang="en-US" dirty="0"/>
                    </a:p>
                  </a:txBody>
                  <a:tcPr anchor="ctr" anchorCtr="1">
                    <a:lnL w="12700" cap="flat" cmpd="sng" algn="ctr">
                      <a:noFill/>
                      <a:prstDash val="solid"/>
                      <a:round/>
                      <a:headEnd type="none" w="med" len="med"/>
                      <a:tailEnd type="none" w="med" len="med"/>
                    </a:lnL>
                  </a:tcPr>
                </a:tc>
                <a:tc>
                  <a:txBody>
                    <a:bodyPr/>
                    <a:lstStyle/>
                    <a:p>
                      <a:endParaRPr lang="zh-CN" altLang="en-US" dirty="0"/>
                    </a:p>
                  </a:txBody>
                  <a:tcPr anchor="ctr" anchorCtr="1"/>
                </a:tc>
                <a:tc>
                  <a:txBody>
                    <a:bodyPr/>
                    <a:lstStyle/>
                    <a:p>
                      <a:endParaRPr lang="zh-CN" altLang="en-US" dirty="0"/>
                    </a:p>
                  </a:txBody>
                  <a:tcPr anchor="ctr" anchorCtr="1"/>
                </a:tc>
                <a:tc>
                  <a:txBody>
                    <a:bodyPr/>
                    <a:lstStyle/>
                    <a:p>
                      <a:endParaRPr lang="zh-CN" altLang="en-US" dirty="0"/>
                    </a:p>
                  </a:txBody>
                  <a:tcPr anchor="ctr" anchorCtr="1"/>
                </a:tc>
                <a:extLst>
                  <a:ext uri="{0D108BD9-81ED-4DB2-BD59-A6C34878D82A}">
                    <a16:rowId xmlns:a16="http://schemas.microsoft.com/office/drawing/2014/main" val="10000"/>
                  </a:ext>
                </a:extLst>
              </a:tr>
            </a:tbl>
          </a:graphicData>
        </a:graphic>
      </p:graphicFrame>
      <p:sp>
        <p:nvSpPr>
          <p:cNvPr id="8" name="TextBox 7"/>
          <p:cNvSpPr txBox="1"/>
          <p:nvPr/>
        </p:nvSpPr>
        <p:spPr>
          <a:xfrm>
            <a:off x="914400" y="2888332"/>
            <a:ext cx="2100447" cy="523220"/>
          </a:xfrm>
          <a:prstGeom prst="rect">
            <a:avLst/>
          </a:prstGeom>
          <a:noFill/>
        </p:spPr>
        <p:txBody>
          <a:bodyPr wrap="none" rtlCol="0">
            <a:spAutoFit/>
          </a:bodyPr>
          <a:lstStyle/>
          <a:p>
            <a:r>
              <a:rPr lang="en-US" altLang="zh-CN" sz="2800" dirty="0">
                <a:latin typeface="+mj-lt"/>
              </a:rPr>
              <a:t>Empty queue</a:t>
            </a:r>
            <a:endParaRPr lang="zh-CN" altLang="en-US" sz="2800" dirty="0">
              <a:latin typeface="+mj-lt"/>
            </a:endParaRPr>
          </a:p>
        </p:txBody>
      </p:sp>
      <p:sp>
        <p:nvSpPr>
          <p:cNvPr id="10" name="TextBox 9"/>
          <p:cNvSpPr txBox="1"/>
          <p:nvPr/>
        </p:nvSpPr>
        <p:spPr>
          <a:xfrm>
            <a:off x="3630792" y="2899649"/>
            <a:ext cx="1875835" cy="523220"/>
          </a:xfrm>
          <a:prstGeom prst="rect">
            <a:avLst/>
          </a:prstGeom>
          <a:noFill/>
        </p:spPr>
        <p:txBody>
          <a:bodyPr wrap="none" rtlCol="0">
            <a:spAutoFit/>
          </a:bodyPr>
          <a:lstStyle/>
          <a:p>
            <a:r>
              <a:rPr lang="en-US" altLang="zh-CN" sz="2800" dirty="0" err="1">
                <a:latin typeface="+mj-lt"/>
              </a:rPr>
              <a:t>Enqueue</a:t>
            </a:r>
            <a:r>
              <a:rPr lang="en-US" altLang="zh-CN" sz="2800" dirty="0">
                <a:latin typeface="+mj-lt"/>
              </a:rPr>
              <a:t>(A)</a:t>
            </a:r>
            <a:endParaRPr lang="zh-CN" altLang="en-US" sz="2800" dirty="0">
              <a:latin typeface="+mj-lt"/>
            </a:endParaRPr>
          </a:p>
        </p:txBody>
      </p:sp>
      <p:sp>
        <p:nvSpPr>
          <p:cNvPr id="19" name="TextBox 18"/>
          <p:cNvSpPr txBox="1"/>
          <p:nvPr/>
        </p:nvSpPr>
        <p:spPr>
          <a:xfrm>
            <a:off x="6277565" y="2905780"/>
            <a:ext cx="1875835" cy="523220"/>
          </a:xfrm>
          <a:prstGeom prst="rect">
            <a:avLst/>
          </a:prstGeom>
          <a:noFill/>
        </p:spPr>
        <p:txBody>
          <a:bodyPr wrap="none" rtlCol="0">
            <a:spAutoFit/>
          </a:bodyPr>
          <a:lstStyle/>
          <a:p>
            <a:r>
              <a:rPr lang="en-US" altLang="zh-CN" sz="2800" dirty="0" err="1">
                <a:latin typeface="+mj-lt"/>
              </a:rPr>
              <a:t>Enqueue</a:t>
            </a:r>
            <a:r>
              <a:rPr lang="en-US" altLang="zh-CN" sz="2800" dirty="0">
                <a:latin typeface="+mj-lt"/>
              </a:rPr>
              <a:t>(B)</a:t>
            </a:r>
            <a:endParaRPr lang="zh-CN" altLang="en-US" sz="2800" dirty="0">
              <a:latin typeface="+mj-lt"/>
            </a:endParaRPr>
          </a:p>
        </p:txBody>
      </p:sp>
      <p:graphicFrame>
        <p:nvGraphicFramePr>
          <p:cNvPr id="23" name="表格 2"/>
          <p:cNvGraphicFramePr>
            <a:graphicFrameLocks noGrp="1"/>
          </p:cNvGraphicFramePr>
          <p:nvPr>
            <p:extLst>
              <p:ext uri="{D42A27DB-BD31-4B8C-83A1-F6EECF244321}">
                <p14:modId xmlns:p14="http://schemas.microsoft.com/office/powerpoint/2010/main" val="2663675494"/>
              </p:ext>
            </p:extLst>
          </p:nvPr>
        </p:nvGraphicFramePr>
        <p:xfrm>
          <a:off x="3553937" y="2043809"/>
          <a:ext cx="2029544" cy="779640"/>
        </p:xfrm>
        <a:graphic>
          <a:graphicData uri="http://schemas.openxmlformats.org/drawingml/2006/table">
            <a:tbl>
              <a:tblPr>
                <a:tableStyleId>{912C8C85-51F0-491E-9774-3900AFEF0FD7}</a:tableStyleId>
              </a:tblPr>
              <a:tblGrid>
                <a:gridCol w="1522158">
                  <a:extLst>
                    <a:ext uri="{9D8B030D-6E8A-4147-A177-3AD203B41FA5}">
                      <a16:colId xmlns:a16="http://schemas.microsoft.com/office/drawing/2014/main" val="20000"/>
                    </a:ext>
                  </a:extLst>
                </a:gridCol>
                <a:gridCol w="507386">
                  <a:extLst>
                    <a:ext uri="{9D8B030D-6E8A-4147-A177-3AD203B41FA5}">
                      <a16:colId xmlns:a16="http://schemas.microsoft.com/office/drawing/2014/main" val="20003"/>
                    </a:ext>
                  </a:extLst>
                </a:gridCol>
              </a:tblGrid>
              <a:tr h="779640">
                <a:tc>
                  <a:txBody>
                    <a:bodyPr/>
                    <a:lstStyle/>
                    <a:p>
                      <a:endParaRPr lang="zh-CN" altLang="en-US" dirty="0"/>
                    </a:p>
                  </a:txBody>
                  <a:tcPr anchor="ctr" anchorCtr="1">
                    <a:lnL w="12700" cap="flat" cmpd="sng" algn="ctr">
                      <a:no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tcPr>
                </a:tc>
                <a:tc>
                  <a:txBody>
                    <a:bodyPr/>
                    <a:lstStyle/>
                    <a:p>
                      <a:r>
                        <a:rPr lang="en-US" altLang="zh-CN" sz="2400" dirty="0"/>
                        <a:t>A</a:t>
                      </a:r>
                      <a:endParaRPr lang="zh-CN" altLang="en-US" sz="2400" dirty="0"/>
                    </a:p>
                  </a:txBody>
                  <a:tcPr anchor="ctr" anchorCtr="1">
                    <a:lnL w="12700" cap="flat" cmpd="sng" algn="ctr">
                      <a:solidFill>
                        <a:schemeClr val="accent6">
                          <a:lumMod val="60000"/>
                          <a:lumOff val="40000"/>
                        </a:schemeClr>
                      </a:solidFill>
                      <a:prstDash val="solid"/>
                      <a:round/>
                      <a:headEnd type="none" w="med" len="med"/>
                      <a:tailEnd type="none" w="med" len="med"/>
                    </a:lnL>
                  </a:tcPr>
                </a:tc>
                <a:extLst>
                  <a:ext uri="{0D108BD9-81ED-4DB2-BD59-A6C34878D82A}">
                    <a16:rowId xmlns:a16="http://schemas.microsoft.com/office/drawing/2014/main" val="10000"/>
                  </a:ext>
                </a:extLst>
              </a:tr>
            </a:tbl>
          </a:graphicData>
        </a:graphic>
      </p:graphicFrame>
      <p:graphicFrame>
        <p:nvGraphicFramePr>
          <p:cNvPr id="24" name="表格 2"/>
          <p:cNvGraphicFramePr>
            <a:graphicFrameLocks noGrp="1"/>
          </p:cNvGraphicFramePr>
          <p:nvPr>
            <p:extLst>
              <p:ext uri="{D42A27DB-BD31-4B8C-83A1-F6EECF244321}">
                <p14:modId xmlns:p14="http://schemas.microsoft.com/office/powerpoint/2010/main" val="1711610715"/>
              </p:ext>
            </p:extLst>
          </p:nvPr>
        </p:nvGraphicFramePr>
        <p:xfrm>
          <a:off x="6174485" y="2043809"/>
          <a:ext cx="2029544" cy="779640"/>
        </p:xfrm>
        <a:graphic>
          <a:graphicData uri="http://schemas.openxmlformats.org/drawingml/2006/table">
            <a:tbl>
              <a:tblPr>
                <a:tableStyleId>{912C8C85-51F0-491E-9774-3900AFEF0FD7}</a:tableStyleId>
              </a:tblPr>
              <a:tblGrid>
                <a:gridCol w="1014772">
                  <a:extLst>
                    <a:ext uri="{9D8B030D-6E8A-4147-A177-3AD203B41FA5}">
                      <a16:colId xmlns:a16="http://schemas.microsoft.com/office/drawing/2014/main" val="20000"/>
                    </a:ext>
                  </a:extLst>
                </a:gridCol>
                <a:gridCol w="507386">
                  <a:extLst>
                    <a:ext uri="{9D8B030D-6E8A-4147-A177-3AD203B41FA5}">
                      <a16:colId xmlns:a16="http://schemas.microsoft.com/office/drawing/2014/main" val="20002"/>
                    </a:ext>
                  </a:extLst>
                </a:gridCol>
                <a:gridCol w="507386">
                  <a:extLst>
                    <a:ext uri="{9D8B030D-6E8A-4147-A177-3AD203B41FA5}">
                      <a16:colId xmlns:a16="http://schemas.microsoft.com/office/drawing/2014/main" val="20003"/>
                    </a:ext>
                  </a:extLst>
                </a:gridCol>
              </a:tblGrid>
              <a:tr h="779640">
                <a:tc>
                  <a:txBody>
                    <a:bodyPr/>
                    <a:lstStyle/>
                    <a:p>
                      <a:endParaRPr lang="zh-CN" altLang="en-US" dirty="0"/>
                    </a:p>
                  </a:txBody>
                  <a:tcPr anchor="ctr" anchorCtr="1">
                    <a:lnL w="12700" cap="flat" cmpd="sng" algn="ctr">
                      <a:no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tcPr>
                </a:tc>
                <a:tc>
                  <a:txBody>
                    <a:bodyPr/>
                    <a:lstStyle/>
                    <a:p>
                      <a:r>
                        <a:rPr lang="en-US" altLang="zh-CN" sz="2400" dirty="0"/>
                        <a:t>A</a:t>
                      </a:r>
                      <a:endParaRPr lang="zh-CN" altLang="en-US" dirty="0"/>
                    </a:p>
                  </a:txBody>
                  <a:tcPr anchor="ctr" anchorCtr="1">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tcPr>
                </a:tc>
                <a:tc>
                  <a:txBody>
                    <a:bodyPr/>
                    <a:lstStyle/>
                    <a:p>
                      <a:r>
                        <a:rPr lang="en-US" altLang="zh-CN" sz="2400" dirty="0"/>
                        <a:t>B</a:t>
                      </a:r>
                      <a:endParaRPr lang="zh-CN" altLang="en-US" sz="2400" dirty="0"/>
                    </a:p>
                  </a:txBody>
                  <a:tcPr anchor="ctr" anchorCtr="1">
                    <a:lnL w="12700" cap="flat" cmpd="sng" algn="ctr">
                      <a:solidFill>
                        <a:schemeClr val="accent6">
                          <a:lumMod val="60000"/>
                          <a:lumOff val="40000"/>
                        </a:schemeClr>
                      </a:solidFill>
                      <a:prstDash val="solid"/>
                      <a:round/>
                      <a:headEnd type="none" w="med" len="med"/>
                      <a:tailEnd type="none" w="med" len="med"/>
                    </a:lnL>
                  </a:tcPr>
                </a:tc>
                <a:extLst>
                  <a:ext uri="{0D108BD9-81ED-4DB2-BD59-A6C34878D82A}">
                    <a16:rowId xmlns:a16="http://schemas.microsoft.com/office/drawing/2014/main" val="10000"/>
                  </a:ext>
                </a:extLst>
              </a:tr>
            </a:tbl>
          </a:graphicData>
        </a:graphic>
      </p:graphicFrame>
      <p:graphicFrame>
        <p:nvGraphicFramePr>
          <p:cNvPr id="25" name="表格 2"/>
          <p:cNvGraphicFramePr>
            <a:graphicFrameLocks noGrp="1"/>
          </p:cNvGraphicFramePr>
          <p:nvPr>
            <p:extLst>
              <p:ext uri="{D42A27DB-BD31-4B8C-83A1-F6EECF244321}">
                <p14:modId xmlns:p14="http://schemas.microsoft.com/office/powerpoint/2010/main" val="4227176059"/>
              </p:ext>
            </p:extLst>
          </p:nvPr>
        </p:nvGraphicFramePr>
        <p:xfrm>
          <a:off x="949851" y="3996342"/>
          <a:ext cx="2029544" cy="779640"/>
        </p:xfrm>
        <a:graphic>
          <a:graphicData uri="http://schemas.openxmlformats.org/drawingml/2006/table">
            <a:tbl>
              <a:tblPr>
                <a:tableStyleId>{912C8C85-51F0-491E-9774-3900AFEF0FD7}</a:tableStyleId>
              </a:tblPr>
              <a:tblGrid>
                <a:gridCol w="507386">
                  <a:extLst>
                    <a:ext uri="{9D8B030D-6E8A-4147-A177-3AD203B41FA5}">
                      <a16:colId xmlns:a16="http://schemas.microsoft.com/office/drawing/2014/main" val="20000"/>
                    </a:ext>
                  </a:extLst>
                </a:gridCol>
                <a:gridCol w="507386">
                  <a:extLst>
                    <a:ext uri="{9D8B030D-6E8A-4147-A177-3AD203B41FA5}">
                      <a16:colId xmlns:a16="http://schemas.microsoft.com/office/drawing/2014/main" val="20001"/>
                    </a:ext>
                  </a:extLst>
                </a:gridCol>
                <a:gridCol w="507386">
                  <a:extLst>
                    <a:ext uri="{9D8B030D-6E8A-4147-A177-3AD203B41FA5}">
                      <a16:colId xmlns:a16="http://schemas.microsoft.com/office/drawing/2014/main" val="20002"/>
                    </a:ext>
                  </a:extLst>
                </a:gridCol>
                <a:gridCol w="507386">
                  <a:extLst>
                    <a:ext uri="{9D8B030D-6E8A-4147-A177-3AD203B41FA5}">
                      <a16:colId xmlns:a16="http://schemas.microsoft.com/office/drawing/2014/main" val="20003"/>
                    </a:ext>
                  </a:extLst>
                </a:gridCol>
              </a:tblGrid>
              <a:tr h="779640">
                <a:tc>
                  <a:txBody>
                    <a:bodyPr/>
                    <a:lstStyle/>
                    <a:p>
                      <a:endParaRPr lang="zh-CN" altLang="en-US" dirty="0"/>
                    </a:p>
                  </a:txBody>
                  <a:tcPr anchor="ctr" anchorCtr="1">
                    <a:lnL w="12700" cap="flat" cmpd="sng" algn="ctr">
                      <a:no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tcPr>
                </a:tc>
                <a:tc>
                  <a:txBody>
                    <a:bodyPr/>
                    <a:lstStyle/>
                    <a:p>
                      <a:r>
                        <a:rPr lang="en-US" altLang="zh-CN" sz="2400" dirty="0"/>
                        <a:t>A</a:t>
                      </a:r>
                      <a:endParaRPr lang="zh-CN" altLang="en-US" sz="2400" dirty="0"/>
                    </a:p>
                  </a:txBody>
                  <a:tcPr anchor="ctr" anchorCtr="1">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tcPr>
                </a:tc>
                <a:tc>
                  <a:txBody>
                    <a:bodyPr/>
                    <a:lstStyle/>
                    <a:p>
                      <a:r>
                        <a:rPr lang="en-US" altLang="zh-CN" sz="2400" dirty="0"/>
                        <a:t>B</a:t>
                      </a:r>
                      <a:endParaRPr lang="zh-CN" altLang="en-US" sz="2400" dirty="0"/>
                    </a:p>
                  </a:txBody>
                  <a:tcPr anchor="ctr" anchorCtr="1">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tcPr>
                </a:tc>
                <a:tc>
                  <a:txBody>
                    <a:bodyPr/>
                    <a:lstStyle/>
                    <a:p>
                      <a:r>
                        <a:rPr lang="en-US" altLang="zh-CN" sz="2400" dirty="0"/>
                        <a:t>C</a:t>
                      </a:r>
                      <a:endParaRPr lang="zh-CN" altLang="en-US" sz="2400" dirty="0"/>
                    </a:p>
                  </a:txBody>
                  <a:tcPr anchor="ctr" anchorCtr="1">
                    <a:lnL w="12700" cap="flat" cmpd="sng" algn="ctr">
                      <a:solidFill>
                        <a:schemeClr val="accent6">
                          <a:lumMod val="60000"/>
                          <a:lumOff val="40000"/>
                        </a:schemeClr>
                      </a:solidFill>
                      <a:prstDash val="solid"/>
                      <a:round/>
                      <a:headEnd type="none" w="med" len="med"/>
                      <a:tailEnd type="none" w="med" len="med"/>
                    </a:lnL>
                  </a:tcPr>
                </a:tc>
                <a:extLst>
                  <a:ext uri="{0D108BD9-81ED-4DB2-BD59-A6C34878D82A}">
                    <a16:rowId xmlns:a16="http://schemas.microsoft.com/office/drawing/2014/main" val="10000"/>
                  </a:ext>
                </a:extLst>
              </a:tr>
            </a:tbl>
          </a:graphicData>
        </a:graphic>
      </p:graphicFrame>
      <p:sp>
        <p:nvSpPr>
          <p:cNvPr id="26" name="TextBox 25"/>
          <p:cNvSpPr txBox="1"/>
          <p:nvPr/>
        </p:nvSpPr>
        <p:spPr>
          <a:xfrm>
            <a:off x="914400" y="4869532"/>
            <a:ext cx="1866217" cy="523220"/>
          </a:xfrm>
          <a:prstGeom prst="rect">
            <a:avLst/>
          </a:prstGeom>
          <a:noFill/>
        </p:spPr>
        <p:txBody>
          <a:bodyPr wrap="none" rtlCol="0">
            <a:spAutoFit/>
          </a:bodyPr>
          <a:lstStyle/>
          <a:p>
            <a:r>
              <a:rPr lang="en-US" altLang="zh-CN" sz="2800" dirty="0" err="1">
                <a:latin typeface="+mj-lt"/>
              </a:rPr>
              <a:t>Enqueue</a:t>
            </a:r>
            <a:r>
              <a:rPr lang="en-US" altLang="zh-CN" sz="2800" dirty="0">
                <a:latin typeface="+mj-lt"/>
              </a:rPr>
              <a:t>(C)</a:t>
            </a:r>
            <a:endParaRPr lang="zh-CN" altLang="en-US" sz="2800" dirty="0">
              <a:latin typeface="+mj-lt"/>
            </a:endParaRPr>
          </a:p>
        </p:txBody>
      </p:sp>
      <p:sp>
        <p:nvSpPr>
          <p:cNvPr id="27" name="TextBox 26"/>
          <p:cNvSpPr txBox="1"/>
          <p:nvPr/>
        </p:nvSpPr>
        <p:spPr>
          <a:xfrm>
            <a:off x="3630792" y="4880849"/>
            <a:ext cx="1709122" cy="523220"/>
          </a:xfrm>
          <a:prstGeom prst="rect">
            <a:avLst/>
          </a:prstGeom>
          <a:noFill/>
        </p:spPr>
        <p:txBody>
          <a:bodyPr wrap="none" rtlCol="0">
            <a:spAutoFit/>
          </a:bodyPr>
          <a:lstStyle/>
          <a:p>
            <a:r>
              <a:rPr lang="en-US" altLang="zh-CN" sz="2800" dirty="0" err="1">
                <a:latin typeface="+mj-lt"/>
              </a:rPr>
              <a:t>Dequeue</a:t>
            </a:r>
            <a:r>
              <a:rPr lang="en-US" altLang="zh-CN" sz="2800" dirty="0">
                <a:latin typeface="+mj-lt"/>
              </a:rPr>
              <a:t>()</a:t>
            </a:r>
            <a:endParaRPr lang="zh-CN" altLang="en-US" sz="2800" dirty="0">
              <a:latin typeface="+mj-lt"/>
            </a:endParaRPr>
          </a:p>
        </p:txBody>
      </p:sp>
      <p:sp>
        <p:nvSpPr>
          <p:cNvPr id="28" name="TextBox 27"/>
          <p:cNvSpPr txBox="1"/>
          <p:nvPr/>
        </p:nvSpPr>
        <p:spPr>
          <a:xfrm>
            <a:off x="6277565" y="4886980"/>
            <a:ext cx="1709122" cy="523220"/>
          </a:xfrm>
          <a:prstGeom prst="rect">
            <a:avLst/>
          </a:prstGeom>
          <a:noFill/>
        </p:spPr>
        <p:txBody>
          <a:bodyPr wrap="none" rtlCol="0">
            <a:spAutoFit/>
          </a:bodyPr>
          <a:lstStyle/>
          <a:p>
            <a:r>
              <a:rPr lang="en-US" altLang="zh-CN" sz="2800" dirty="0" err="1">
                <a:latin typeface="+mj-lt"/>
              </a:rPr>
              <a:t>Dequeue</a:t>
            </a:r>
            <a:r>
              <a:rPr lang="en-US" altLang="zh-CN" sz="2800" dirty="0">
                <a:latin typeface="+mj-lt"/>
              </a:rPr>
              <a:t>()</a:t>
            </a:r>
            <a:endParaRPr lang="zh-CN" altLang="en-US" sz="2800" dirty="0">
              <a:latin typeface="+mj-lt"/>
            </a:endParaRPr>
          </a:p>
        </p:txBody>
      </p:sp>
      <p:graphicFrame>
        <p:nvGraphicFramePr>
          <p:cNvPr id="31" name="表格 2"/>
          <p:cNvGraphicFramePr>
            <a:graphicFrameLocks noGrp="1"/>
          </p:cNvGraphicFramePr>
          <p:nvPr>
            <p:extLst>
              <p:ext uri="{D42A27DB-BD31-4B8C-83A1-F6EECF244321}">
                <p14:modId xmlns:p14="http://schemas.microsoft.com/office/powerpoint/2010/main" val="1909410440"/>
              </p:ext>
            </p:extLst>
          </p:nvPr>
        </p:nvGraphicFramePr>
        <p:xfrm>
          <a:off x="3553937" y="3996342"/>
          <a:ext cx="2029544" cy="779640"/>
        </p:xfrm>
        <a:graphic>
          <a:graphicData uri="http://schemas.openxmlformats.org/drawingml/2006/table">
            <a:tbl>
              <a:tblPr>
                <a:tableStyleId>{912C8C85-51F0-491E-9774-3900AFEF0FD7}</a:tableStyleId>
              </a:tblPr>
              <a:tblGrid>
                <a:gridCol w="1014772">
                  <a:extLst>
                    <a:ext uri="{9D8B030D-6E8A-4147-A177-3AD203B41FA5}">
                      <a16:colId xmlns:a16="http://schemas.microsoft.com/office/drawing/2014/main" val="20000"/>
                    </a:ext>
                  </a:extLst>
                </a:gridCol>
                <a:gridCol w="507386">
                  <a:extLst>
                    <a:ext uri="{9D8B030D-6E8A-4147-A177-3AD203B41FA5}">
                      <a16:colId xmlns:a16="http://schemas.microsoft.com/office/drawing/2014/main" val="20002"/>
                    </a:ext>
                  </a:extLst>
                </a:gridCol>
                <a:gridCol w="507386">
                  <a:extLst>
                    <a:ext uri="{9D8B030D-6E8A-4147-A177-3AD203B41FA5}">
                      <a16:colId xmlns:a16="http://schemas.microsoft.com/office/drawing/2014/main" val="20003"/>
                    </a:ext>
                  </a:extLst>
                </a:gridCol>
              </a:tblGrid>
              <a:tr h="779640">
                <a:tc>
                  <a:txBody>
                    <a:bodyPr/>
                    <a:lstStyle/>
                    <a:p>
                      <a:endParaRPr lang="zh-CN" altLang="en-US" dirty="0"/>
                    </a:p>
                  </a:txBody>
                  <a:tcPr anchor="ctr" anchorCtr="1">
                    <a:lnL w="12700" cap="flat" cmpd="sng" algn="ctr">
                      <a:no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tcPr>
                </a:tc>
                <a:tc>
                  <a:txBody>
                    <a:bodyPr/>
                    <a:lstStyle/>
                    <a:p>
                      <a:r>
                        <a:rPr lang="en-US" altLang="zh-CN" sz="2400" dirty="0"/>
                        <a:t>B</a:t>
                      </a:r>
                      <a:endParaRPr lang="zh-CN" altLang="en-US" dirty="0"/>
                    </a:p>
                  </a:txBody>
                  <a:tcPr anchor="ctr" anchorCtr="1">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tcPr>
                </a:tc>
                <a:tc>
                  <a:txBody>
                    <a:bodyPr/>
                    <a:lstStyle/>
                    <a:p>
                      <a:r>
                        <a:rPr lang="en-US" altLang="zh-CN" sz="2400" dirty="0"/>
                        <a:t>C</a:t>
                      </a:r>
                      <a:endParaRPr lang="zh-CN" altLang="en-US" sz="2400" dirty="0"/>
                    </a:p>
                  </a:txBody>
                  <a:tcPr anchor="ctr" anchorCtr="1">
                    <a:lnL w="12700" cap="flat" cmpd="sng" algn="ctr">
                      <a:solidFill>
                        <a:schemeClr val="accent6">
                          <a:lumMod val="60000"/>
                          <a:lumOff val="40000"/>
                        </a:schemeClr>
                      </a:solidFill>
                      <a:prstDash val="solid"/>
                      <a:round/>
                      <a:headEnd type="none" w="med" len="med"/>
                      <a:tailEnd type="none" w="med" len="med"/>
                    </a:lnL>
                  </a:tcPr>
                </a:tc>
                <a:extLst>
                  <a:ext uri="{0D108BD9-81ED-4DB2-BD59-A6C34878D82A}">
                    <a16:rowId xmlns:a16="http://schemas.microsoft.com/office/drawing/2014/main" val="10000"/>
                  </a:ext>
                </a:extLst>
              </a:tr>
            </a:tbl>
          </a:graphicData>
        </a:graphic>
      </p:graphicFrame>
      <p:graphicFrame>
        <p:nvGraphicFramePr>
          <p:cNvPr id="32" name="表格 2"/>
          <p:cNvGraphicFramePr>
            <a:graphicFrameLocks noGrp="1"/>
          </p:cNvGraphicFramePr>
          <p:nvPr>
            <p:extLst>
              <p:ext uri="{D42A27DB-BD31-4B8C-83A1-F6EECF244321}">
                <p14:modId xmlns:p14="http://schemas.microsoft.com/office/powerpoint/2010/main" val="3270220963"/>
              </p:ext>
            </p:extLst>
          </p:nvPr>
        </p:nvGraphicFramePr>
        <p:xfrm>
          <a:off x="6174485" y="3996342"/>
          <a:ext cx="2029544" cy="779640"/>
        </p:xfrm>
        <a:graphic>
          <a:graphicData uri="http://schemas.openxmlformats.org/drawingml/2006/table">
            <a:tbl>
              <a:tblPr>
                <a:tableStyleId>{912C8C85-51F0-491E-9774-3900AFEF0FD7}</a:tableStyleId>
              </a:tblPr>
              <a:tblGrid>
                <a:gridCol w="1522158">
                  <a:extLst>
                    <a:ext uri="{9D8B030D-6E8A-4147-A177-3AD203B41FA5}">
                      <a16:colId xmlns:a16="http://schemas.microsoft.com/office/drawing/2014/main" val="20000"/>
                    </a:ext>
                  </a:extLst>
                </a:gridCol>
                <a:gridCol w="507386">
                  <a:extLst>
                    <a:ext uri="{9D8B030D-6E8A-4147-A177-3AD203B41FA5}">
                      <a16:colId xmlns:a16="http://schemas.microsoft.com/office/drawing/2014/main" val="20003"/>
                    </a:ext>
                  </a:extLst>
                </a:gridCol>
              </a:tblGrid>
              <a:tr h="779640">
                <a:tc>
                  <a:txBody>
                    <a:bodyPr/>
                    <a:lstStyle/>
                    <a:p>
                      <a:endParaRPr lang="zh-CN" altLang="en-US" dirty="0"/>
                    </a:p>
                  </a:txBody>
                  <a:tcPr anchor="ctr" anchorCtr="1">
                    <a:lnL w="12700" cap="flat" cmpd="sng" algn="ctr">
                      <a:noFill/>
                      <a:prstDash val="solid"/>
                      <a:round/>
                      <a:headEnd type="none" w="med" len="med"/>
                      <a:tailEnd type="none" w="med" len="med"/>
                    </a:lnL>
                  </a:tcPr>
                </a:tc>
                <a:tc>
                  <a:txBody>
                    <a:bodyPr/>
                    <a:lstStyle/>
                    <a:p>
                      <a:r>
                        <a:rPr lang="en-US" altLang="zh-CN" sz="2400" dirty="0"/>
                        <a:t>C</a:t>
                      </a:r>
                      <a:endParaRPr lang="zh-CN" altLang="en-US" sz="2400" dirty="0"/>
                    </a:p>
                  </a:txBody>
                  <a:tcPr anchor="ctr" anchorCtr="1"/>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699529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9" grpId="0"/>
      <p:bldP spid="26" grpId="0"/>
      <p:bldP spid="27" grpId="0"/>
      <p:bldP spid="2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Queue</a:t>
            </a:r>
            <a:r>
              <a:rPr lang="zh-CN" altLang="en-US" dirty="0"/>
              <a:t> </a:t>
            </a:r>
            <a:r>
              <a:rPr lang="en-US" altLang="zh-CN" dirty="0"/>
              <a:t>Applications</a:t>
            </a:r>
            <a:endParaRPr lang="zh-CN" altLang="en-US" dirty="0"/>
          </a:p>
        </p:txBody>
      </p:sp>
      <p:sp>
        <p:nvSpPr>
          <p:cNvPr id="3" name="内容占位符 2"/>
          <p:cNvSpPr>
            <a:spLocks noGrp="1"/>
          </p:cNvSpPr>
          <p:nvPr>
            <p:ph idx="1"/>
          </p:nvPr>
        </p:nvSpPr>
        <p:spPr/>
        <p:txBody>
          <a:bodyPr>
            <a:normAutofit fontScale="85000" lnSpcReduction="20000"/>
          </a:bodyPr>
          <a:lstStyle/>
          <a:p>
            <a:r>
              <a:rPr lang="en-US" altLang="zh-CN" sz="3200" dirty="0"/>
              <a:t>Printer Queue</a:t>
            </a:r>
          </a:p>
          <a:p>
            <a:pPr lvl="1"/>
            <a:r>
              <a:rPr lang="en-US" altLang="zh-CN" dirty="0"/>
              <a:t>When jobs are submitted to a printer, they are arranged in order of arrival. Thus, essentially, jobs sent to a printer are placed on a queue</a:t>
            </a:r>
            <a:r>
              <a:rPr lang="en-US" altLang="zh-CN" sz="2800" dirty="0"/>
              <a:t>.</a:t>
            </a:r>
          </a:p>
          <a:p>
            <a:r>
              <a:rPr lang="en-US" altLang="zh-CN" sz="3200" dirty="0"/>
              <a:t>Web Crawler</a:t>
            </a:r>
          </a:p>
          <a:p>
            <a:pPr lvl="1"/>
            <a:r>
              <a:rPr lang="en-US" altLang="zh-CN" sz="2800" dirty="0"/>
              <a:t>Basic web crawler operation will begin with “seed” URLs.</a:t>
            </a:r>
          </a:p>
          <a:p>
            <a:pPr lvl="1"/>
            <a:r>
              <a:rPr lang="en-US" altLang="zh-CN" sz="2800" dirty="0"/>
              <a:t>Fetch and parse them, then extract URLs they point to and place the URLs on a queue.</a:t>
            </a:r>
          </a:p>
          <a:p>
            <a:pPr lvl="1"/>
            <a:r>
              <a:rPr lang="en-US" altLang="zh-CN" sz="2800" dirty="0"/>
              <a:t>Fetch each URL on the queue and repeat.</a:t>
            </a:r>
          </a:p>
          <a:p>
            <a:r>
              <a:rPr lang="en-US" altLang="zh-CN" sz="3200" dirty="0"/>
              <a:t>System Buffer</a:t>
            </a:r>
          </a:p>
          <a:p>
            <a:pPr lvl="1"/>
            <a:r>
              <a:rPr lang="en-US" altLang="zh-CN" sz="2800" dirty="0"/>
              <a:t>Buffers are used in computers as a temporary memory area, usually used in a FIFO (first in, first out) method, outputting data in the order it arrived.</a:t>
            </a:r>
          </a:p>
          <a:p>
            <a:pPr marL="0" indent="0" algn="ctr">
              <a:buNone/>
            </a:pPr>
            <a:r>
              <a:rPr lang="en-US" altLang="zh-CN" sz="3300" dirty="0">
                <a:solidFill>
                  <a:srgbClr val="0070C0"/>
                </a:solidFill>
              </a:rPr>
              <a:t>Any sequence maintained in a FIFO order</a:t>
            </a:r>
          </a:p>
        </p:txBody>
      </p:sp>
      <p:sp>
        <p:nvSpPr>
          <p:cNvPr id="4" name="灯片编号占位符 3"/>
          <p:cNvSpPr>
            <a:spLocks noGrp="1"/>
          </p:cNvSpPr>
          <p:nvPr>
            <p:ph type="sldNum" sz="quarter" idx="12"/>
          </p:nvPr>
        </p:nvSpPr>
        <p:spPr/>
        <p:txBody>
          <a:bodyPr/>
          <a:lstStyle/>
          <a:p>
            <a:fld id="{B6F15528-21DE-4FAA-801E-634DDDAF4B2B}" type="slidenum">
              <a:rPr lang="en-US" smtClean="0"/>
              <a:pPr/>
              <a:t>7</a:t>
            </a:fld>
            <a:endParaRPr lang="en-US"/>
          </a:p>
        </p:txBody>
      </p:sp>
      <p:sp>
        <p:nvSpPr>
          <p:cNvPr id="5" name="Footer Placeholder 4"/>
          <p:cNvSpPr>
            <a:spLocks noGrp="1"/>
          </p:cNvSpPr>
          <p:nvPr>
            <p:ph type="ftr" sz="quarter" idx="11"/>
          </p:nvPr>
        </p:nvSpPr>
        <p:spPr/>
        <p:txBody>
          <a:bodyPr/>
          <a:lstStyle/>
          <a:p>
            <a:r>
              <a:rPr lang="en-US"/>
              <a:t>Data Structures and Algorithms</a:t>
            </a:r>
          </a:p>
        </p:txBody>
      </p:sp>
    </p:spTree>
    <p:extLst>
      <p:ext uri="{BB962C8B-B14F-4D97-AF65-F5344CB8AC3E}">
        <p14:creationId xmlns:p14="http://schemas.microsoft.com/office/powerpoint/2010/main" val="2242716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a typeface="宋体" pitchFamily="2" charset="-122"/>
              </a:rPr>
              <a:t>Implementation of Queues</a:t>
            </a:r>
            <a:endParaRPr lang="zh-CN" altLang="en-US" dirty="0"/>
          </a:p>
        </p:txBody>
      </p:sp>
      <p:sp>
        <p:nvSpPr>
          <p:cNvPr id="3" name="内容占位符 2"/>
          <p:cNvSpPr>
            <a:spLocks noGrp="1"/>
          </p:cNvSpPr>
          <p:nvPr>
            <p:ph idx="1"/>
          </p:nvPr>
        </p:nvSpPr>
        <p:spPr/>
        <p:txBody>
          <a:bodyPr/>
          <a:lstStyle/>
          <a:p>
            <a:r>
              <a:rPr lang="en-US" altLang="zh-CN" sz="3200" dirty="0"/>
              <a:t>Recall the reason why we usually</a:t>
            </a:r>
          </a:p>
          <a:p>
            <a:pPr lvl="1"/>
            <a:r>
              <a:rPr lang="en-US" altLang="zh-CN" sz="2800" dirty="0"/>
              <a:t>Implement</a:t>
            </a:r>
            <a:r>
              <a:rPr lang="zh-CN" altLang="en-US" sz="2800" dirty="0"/>
              <a:t> </a:t>
            </a:r>
            <a:r>
              <a:rPr lang="en-US" altLang="zh-CN" sz="2800" dirty="0"/>
              <a:t>a</a:t>
            </a:r>
            <a:r>
              <a:rPr lang="zh-CN" altLang="en-US" sz="2800" dirty="0"/>
              <a:t> </a:t>
            </a:r>
            <a:r>
              <a:rPr lang="en-US" altLang="zh-CN" sz="2800" dirty="0">
                <a:solidFill>
                  <a:srgbClr val="0070C0"/>
                </a:solidFill>
              </a:rPr>
              <a:t>list</a:t>
            </a:r>
            <a:r>
              <a:rPr lang="zh-CN" altLang="en-US" sz="2800" dirty="0">
                <a:solidFill>
                  <a:srgbClr val="0070C0"/>
                </a:solidFill>
              </a:rPr>
              <a:t> </a:t>
            </a:r>
            <a:r>
              <a:rPr lang="en-US" altLang="zh-CN" sz="2800" dirty="0"/>
              <a:t>using</a:t>
            </a:r>
            <a:r>
              <a:rPr lang="zh-CN" altLang="en-US" sz="2800" dirty="0"/>
              <a:t> </a:t>
            </a:r>
            <a:r>
              <a:rPr lang="en-US" altLang="zh-CN" sz="2800" dirty="0">
                <a:solidFill>
                  <a:srgbClr val="0070C0"/>
                </a:solidFill>
              </a:rPr>
              <a:t>linked lists</a:t>
            </a:r>
            <a:r>
              <a:rPr lang="en-US" altLang="zh-CN" sz="2800" dirty="0"/>
              <a:t>?</a:t>
            </a:r>
          </a:p>
          <a:p>
            <a:pPr lvl="1"/>
            <a:r>
              <a:rPr lang="en-US" altLang="zh-CN" sz="2800" dirty="0"/>
              <a:t>Implement</a:t>
            </a:r>
            <a:r>
              <a:rPr lang="zh-CN" altLang="en-US" sz="2800" dirty="0"/>
              <a:t> </a:t>
            </a:r>
            <a:r>
              <a:rPr lang="en-US" altLang="zh-CN" sz="2800" dirty="0"/>
              <a:t>a</a:t>
            </a:r>
            <a:r>
              <a:rPr lang="zh-CN" altLang="en-US" sz="2800" dirty="0"/>
              <a:t> </a:t>
            </a:r>
            <a:r>
              <a:rPr lang="en-US" altLang="zh-CN" sz="2800" dirty="0">
                <a:solidFill>
                  <a:srgbClr val="0070C0"/>
                </a:solidFill>
              </a:rPr>
              <a:t>stack</a:t>
            </a:r>
            <a:r>
              <a:rPr lang="zh-CN" altLang="en-US" sz="2800" dirty="0">
                <a:solidFill>
                  <a:srgbClr val="0070C0"/>
                </a:solidFill>
              </a:rPr>
              <a:t> </a:t>
            </a:r>
            <a:r>
              <a:rPr lang="en-US" altLang="zh-CN" sz="2800" dirty="0"/>
              <a:t>using</a:t>
            </a:r>
            <a:r>
              <a:rPr lang="zh-CN" altLang="en-US" sz="2800" dirty="0"/>
              <a:t> </a:t>
            </a:r>
            <a:r>
              <a:rPr lang="en-US" altLang="zh-CN" sz="2800" dirty="0">
                <a:solidFill>
                  <a:srgbClr val="0070C0"/>
                </a:solidFill>
              </a:rPr>
              <a:t>array</a:t>
            </a:r>
            <a:r>
              <a:rPr lang="en-US" altLang="zh-CN" sz="2800" dirty="0"/>
              <a:t>?</a:t>
            </a:r>
            <a:endParaRPr lang="zh-CN" altLang="en-US" sz="2800" dirty="0"/>
          </a:p>
        </p:txBody>
      </p:sp>
      <p:sp>
        <p:nvSpPr>
          <p:cNvPr id="4" name="灯片编号占位符 3"/>
          <p:cNvSpPr>
            <a:spLocks noGrp="1"/>
          </p:cNvSpPr>
          <p:nvPr>
            <p:ph type="sldNum" sz="quarter" idx="12"/>
          </p:nvPr>
        </p:nvSpPr>
        <p:spPr/>
        <p:txBody>
          <a:bodyPr/>
          <a:lstStyle/>
          <a:p>
            <a:fld id="{B6F15528-21DE-4FAA-801E-634DDDAF4B2B}" type="slidenum">
              <a:rPr lang="en-US" smtClean="0"/>
              <a:pPr/>
              <a:t>8</a:t>
            </a:fld>
            <a:endParaRPr lang="en-US"/>
          </a:p>
        </p:txBody>
      </p:sp>
      <p:graphicFrame>
        <p:nvGraphicFramePr>
          <p:cNvPr id="5" name="内容占位符 4"/>
          <p:cNvGraphicFramePr>
            <a:graphicFrameLocks/>
          </p:cNvGraphicFramePr>
          <p:nvPr>
            <p:extLst>
              <p:ext uri="{D42A27DB-BD31-4B8C-83A1-F6EECF244321}">
                <p14:modId xmlns:p14="http://schemas.microsoft.com/office/powerpoint/2010/main" val="433050585"/>
              </p:ext>
            </p:extLst>
          </p:nvPr>
        </p:nvGraphicFramePr>
        <p:xfrm>
          <a:off x="990600" y="4001294"/>
          <a:ext cx="6629400" cy="1584960"/>
        </p:xfrm>
        <a:graphic>
          <a:graphicData uri="http://schemas.openxmlformats.org/drawingml/2006/table">
            <a:tbl>
              <a:tblPr firstRow="1" bandRow="1">
                <a:tableStyleId>{BC89EF96-8CEA-46FF-86C4-4CE0E7609802}</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98120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370840">
                <a:tc gridSpan="2">
                  <a:txBody>
                    <a:bodyPr/>
                    <a:lstStyle/>
                    <a:p>
                      <a:pPr algn="ctr"/>
                      <a:r>
                        <a:rPr lang="en-US" altLang="zh-CN" sz="2000" dirty="0">
                          <a:solidFill>
                            <a:schemeClr val="tx1"/>
                          </a:solidFill>
                          <a:latin typeface="+mj-lt"/>
                        </a:rPr>
                        <a:t>Topic</a:t>
                      </a:r>
                      <a:endParaRPr lang="zh-CN" altLang="en-US" sz="2000" dirty="0">
                        <a:solidFill>
                          <a:schemeClr val="tx1"/>
                        </a:solidFill>
                        <a:latin typeface="+mj-lt"/>
                      </a:endParaRP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tcPr>
                </a:tc>
                <a:tc hMerge="1">
                  <a:txBody>
                    <a:bodyPr/>
                    <a:lstStyle/>
                    <a:p>
                      <a:endParaRPr lang="zh-CN" altLang="en-US"/>
                    </a:p>
                  </a:txBody>
                  <a:tcPr/>
                </a:tc>
                <a:tc>
                  <a:txBody>
                    <a:bodyPr/>
                    <a:lstStyle/>
                    <a:p>
                      <a:pPr algn="ctr"/>
                      <a:r>
                        <a:rPr lang="en-US" altLang="zh-CN" sz="2000" dirty="0">
                          <a:solidFill>
                            <a:schemeClr val="tx1"/>
                          </a:solidFill>
                          <a:latin typeface="+mj-lt"/>
                        </a:rPr>
                        <a:t>Array</a:t>
                      </a:r>
                      <a:endParaRPr lang="zh-CN" altLang="en-US" sz="2000" dirty="0">
                        <a:solidFill>
                          <a:schemeClr val="tx1"/>
                        </a:solidFill>
                        <a:latin typeface="+mj-lt"/>
                      </a:endParaRP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tcPr>
                </a:tc>
                <a:tc>
                  <a:txBody>
                    <a:bodyPr/>
                    <a:lstStyle/>
                    <a:p>
                      <a:pPr algn="ctr"/>
                      <a:r>
                        <a:rPr lang="en-US" altLang="zh-CN" sz="2000" dirty="0">
                          <a:solidFill>
                            <a:schemeClr val="tx1"/>
                          </a:solidFill>
                          <a:latin typeface="+mj-lt"/>
                        </a:rPr>
                        <a:t>Linked List</a:t>
                      </a:r>
                      <a:endParaRPr lang="zh-CN" altLang="en-US" sz="2000" dirty="0">
                        <a:solidFill>
                          <a:schemeClr val="tx1"/>
                        </a:solidFill>
                        <a:latin typeface="+mj-lt"/>
                      </a:endParaRP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tcPr>
                </a:tc>
                <a:extLst>
                  <a:ext uri="{0D108BD9-81ED-4DB2-BD59-A6C34878D82A}">
                    <a16:rowId xmlns:a16="http://schemas.microsoft.com/office/drawing/2014/main" val="10000"/>
                  </a:ext>
                </a:extLst>
              </a:tr>
              <a:tr h="370840">
                <a:tc rowSpan="2">
                  <a:txBody>
                    <a:bodyPr/>
                    <a:lstStyle/>
                    <a:p>
                      <a:pPr algn="ctr"/>
                      <a:r>
                        <a:rPr lang="en-US" altLang="zh-CN" sz="2000" dirty="0">
                          <a:latin typeface="+mn-lt"/>
                        </a:rPr>
                        <a:t>Efficiency</a:t>
                      </a:r>
                      <a:endParaRPr lang="zh-CN" altLang="en-US" sz="2000" dirty="0">
                        <a:latin typeface="+mn-lt"/>
                      </a:endParaRPr>
                    </a:p>
                  </a:txBody>
                  <a:tcPr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tcPr>
                </a:tc>
                <a:tc>
                  <a:txBody>
                    <a:bodyPr/>
                    <a:lstStyle/>
                    <a:p>
                      <a:pPr algn="r"/>
                      <a:r>
                        <a:rPr lang="en-US" altLang="zh-CN" sz="2000" dirty="0" err="1">
                          <a:solidFill>
                            <a:schemeClr val="tx1"/>
                          </a:solidFill>
                          <a:latin typeface="+mn-lt"/>
                        </a:rPr>
                        <a:t>Enqueue</a:t>
                      </a:r>
                      <a:endParaRPr lang="zh-CN" altLang="en-US" sz="2000" dirty="0">
                        <a:solidFill>
                          <a:schemeClr val="tx1">
                            <a:lumMod val="65000"/>
                            <a:lumOff val="35000"/>
                          </a:schemeClr>
                        </a:solidFill>
                        <a:latin typeface="+mn-lt"/>
                      </a:endParaRP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tcPr>
                </a:tc>
                <a:tc>
                  <a:txBody>
                    <a:bodyPr/>
                    <a:lstStyle/>
                    <a:p>
                      <a:endParaRPr lang="zh-CN" altLang="en-US" sz="2000" dirty="0">
                        <a:solidFill>
                          <a:schemeClr val="tx1">
                            <a:lumMod val="65000"/>
                            <a:lumOff val="35000"/>
                          </a:schemeClr>
                        </a:solidFill>
                        <a:latin typeface="+mn-lt"/>
                      </a:endParaRP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tcPr>
                </a:tc>
                <a:tc>
                  <a:txBody>
                    <a:bodyPr/>
                    <a:lstStyle/>
                    <a:p>
                      <a:endParaRPr lang="zh-CN" altLang="en-US" sz="2000" dirty="0">
                        <a:solidFill>
                          <a:schemeClr val="tx1">
                            <a:lumMod val="65000"/>
                            <a:lumOff val="35000"/>
                          </a:schemeClr>
                        </a:solidFill>
                        <a:latin typeface="+mn-lt"/>
                      </a:endParaRP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tcPr>
                </a:tc>
                <a:extLst>
                  <a:ext uri="{0D108BD9-81ED-4DB2-BD59-A6C34878D82A}">
                    <a16:rowId xmlns:a16="http://schemas.microsoft.com/office/drawing/2014/main" val="10001"/>
                  </a:ext>
                </a:extLst>
              </a:tr>
              <a:tr h="370840">
                <a:tc vMerge="1">
                  <a:txBody>
                    <a:bodyPr/>
                    <a:lstStyle/>
                    <a:p>
                      <a:endParaRPr lang="zh-CN" altLang="en-US" dirty="0"/>
                    </a:p>
                  </a:txBody>
                  <a:tcPr>
                    <a:lnR w="12700" cap="flat" cmpd="sng" algn="ctr">
                      <a:solidFill>
                        <a:schemeClr val="tx2">
                          <a:lumMod val="60000"/>
                          <a:lumOff val="40000"/>
                        </a:schemeClr>
                      </a:solidFill>
                      <a:prstDash val="solid"/>
                      <a:round/>
                      <a:headEnd type="none" w="med" len="med"/>
                      <a:tailEnd type="none" w="med" len="med"/>
                    </a:lnR>
                  </a:tcPr>
                </a:tc>
                <a:tc>
                  <a:txBody>
                    <a:bodyPr/>
                    <a:lstStyle/>
                    <a:p>
                      <a:pPr algn="r"/>
                      <a:r>
                        <a:rPr lang="en-US" altLang="zh-CN" sz="2000" dirty="0" err="1">
                          <a:latin typeface="+mn-lt"/>
                        </a:rPr>
                        <a:t>Dequeue</a:t>
                      </a:r>
                      <a:endParaRPr lang="zh-CN" altLang="en-US" sz="2000" dirty="0">
                        <a:solidFill>
                          <a:schemeClr val="tx1">
                            <a:lumMod val="65000"/>
                            <a:lumOff val="35000"/>
                          </a:schemeClr>
                        </a:solidFill>
                        <a:latin typeface="+mn-lt"/>
                      </a:endParaRP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tcPr>
                </a:tc>
                <a:tc>
                  <a:txBody>
                    <a:bodyPr/>
                    <a:lstStyle/>
                    <a:p>
                      <a:endParaRPr lang="zh-CN" altLang="en-US" sz="2000" dirty="0">
                        <a:solidFill>
                          <a:schemeClr val="tx1">
                            <a:lumMod val="65000"/>
                            <a:lumOff val="35000"/>
                          </a:schemeClr>
                        </a:solidFill>
                        <a:latin typeface="+mn-lt"/>
                      </a:endParaRP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tcPr>
                </a:tc>
                <a:tc>
                  <a:txBody>
                    <a:bodyPr/>
                    <a:lstStyle/>
                    <a:p>
                      <a:endParaRPr lang="zh-CN" altLang="en-US" sz="2000">
                        <a:solidFill>
                          <a:schemeClr val="tx1">
                            <a:lumMod val="65000"/>
                            <a:lumOff val="35000"/>
                          </a:schemeClr>
                        </a:solidFill>
                        <a:latin typeface="+mn-lt"/>
                      </a:endParaRP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tcPr>
                </a:tc>
                <a:extLst>
                  <a:ext uri="{0D108BD9-81ED-4DB2-BD59-A6C34878D82A}">
                    <a16:rowId xmlns:a16="http://schemas.microsoft.com/office/drawing/2014/main" val="10002"/>
                  </a:ext>
                </a:extLst>
              </a:tr>
              <a:tr h="370840">
                <a:tc gridSpan="2">
                  <a:txBody>
                    <a:bodyPr/>
                    <a:lstStyle/>
                    <a:p>
                      <a:pPr algn="r"/>
                      <a:r>
                        <a:rPr lang="en-US" altLang="zh-CN" sz="2000" dirty="0">
                          <a:latin typeface="+mn-lt"/>
                        </a:rPr>
                        <a:t>space</a:t>
                      </a:r>
                      <a:endParaRPr lang="zh-CN" altLang="en-US" sz="2000" dirty="0">
                        <a:solidFill>
                          <a:schemeClr val="tx1">
                            <a:lumMod val="65000"/>
                            <a:lumOff val="35000"/>
                          </a:schemeClr>
                        </a:solidFill>
                        <a:latin typeface="+mn-lt"/>
                      </a:endParaRP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tcPr>
                </a:tc>
                <a:tc hMerge="1">
                  <a:txBody>
                    <a:bodyPr/>
                    <a:lstStyle/>
                    <a:p>
                      <a:endParaRPr lang="zh-CN" altLang="en-US"/>
                    </a:p>
                  </a:txBody>
                  <a:tcPr/>
                </a:tc>
                <a:tc>
                  <a:txBody>
                    <a:bodyPr/>
                    <a:lstStyle/>
                    <a:p>
                      <a:endParaRPr lang="zh-CN" altLang="en-US" sz="2000" dirty="0">
                        <a:solidFill>
                          <a:schemeClr val="tx1">
                            <a:lumMod val="65000"/>
                            <a:lumOff val="35000"/>
                          </a:schemeClr>
                        </a:solidFill>
                        <a:latin typeface="+mn-lt"/>
                      </a:endParaRP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tcPr>
                </a:tc>
                <a:tc>
                  <a:txBody>
                    <a:bodyPr/>
                    <a:lstStyle/>
                    <a:p>
                      <a:endParaRPr lang="zh-CN" altLang="en-US" sz="2000" dirty="0">
                        <a:solidFill>
                          <a:schemeClr val="tx1">
                            <a:lumMod val="65000"/>
                            <a:lumOff val="35000"/>
                          </a:schemeClr>
                        </a:solidFill>
                        <a:latin typeface="+mn-lt"/>
                      </a:endParaRPr>
                    </a:p>
                  </a:txBody>
                  <a:tcP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Footer Placeholder 5"/>
          <p:cNvSpPr>
            <a:spLocks noGrp="1"/>
          </p:cNvSpPr>
          <p:nvPr>
            <p:ph type="ftr" sz="quarter" idx="11"/>
          </p:nvPr>
        </p:nvSpPr>
        <p:spPr/>
        <p:txBody>
          <a:bodyPr/>
          <a:lstStyle/>
          <a:p>
            <a:r>
              <a:rPr lang="en-US"/>
              <a:t>Data Structures and Algorithms</a:t>
            </a:r>
          </a:p>
        </p:txBody>
      </p:sp>
    </p:spTree>
    <p:extLst>
      <p:ext uri="{BB962C8B-B14F-4D97-AF65-F5344CB8AC3E}">
        <p14:creationId xmlns:p14="http://schemas.microsoft.com/office/powerpoint/2010/main" val="724752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Queue</a:t>
            </a:r>
            <a:r>
              <a:rPr lang="zh-CN" altLang="en-US" dirty="0"/>
              <a:t> </a:t>
            </a:r>
            <a:r>
              <a:rPr lang="en-US" altLang="zh-CN" dirty="0"/>
              <a:t>Implementation</a:t>
            </a:r>
            <a:endParaRPr lang="zh-CN" altLang="en-US" dirty="0"/>
          </a:p>
        </p:txBody>
      </p:sp>
      <p:sp>
        <p:nvSpPr>
          <p:cNvPr id="3" name="内容占位符 2"/>
          <p:cNvSpPr>
            <a:spLocks noGrp="1"/>
          </p:cNvSpPr>
          <p:nvPr>
            <p:ph idx="1"/>
          </p:nvPr>
        </p:nvSpPr>
        <p:spPr>
          <a:xfrm>
            <a:off x="457200" y="1600201"/>
            <a:ext cx="8229600" cy="2362200"/>
          </a:xfrm>
        </p:spPr>
        <p:txBody>
          <a:bodyPr>
            <a:normAutofit/>
          </a:bodyPr>
          <a:lstStyle/>
          <a:p>
            <a:r>
              <a:rPr lang="en-US" altLang="zh-CN" dirty="0">
                <a:ea typeface="宋体" pitchFamily="2" charset="-122"/>
              </a:rPr>
              <a:t>There are several different algorithms to implement </a:t>
            </a:r>
            <a:r>
              <a:rPr lang="en-US" altLang="zh-CN" dirty="0">
                <a:solidFill>
                  <a:srgbClr val="0070C0"/>
                </a:solidFill>
                <a:ea typeface="宋体" pitchFamily="2" charset="-122"/>
              </a:rPr>
              <a:t>Enqueue (</a:t>
            </a:r>
            <a:r>
              <a:rPr lang="zh-CN" altLang="en-US" dirty="0">
                <a:solidFill>
                  <a:srgbClr val="0070C0"/>
                </a:solidFill>
                <a:ea typeface="宋体" pitchFamily="2" charset="-122"/>
              </a:rPr>
              <a:t>入队</a:t>
            </a:r>
            <a:r>
              <a:rPr lang="en-US" altLang="zh-CN" dirty="0">
                <a:solidFill>
                  <a:srgbClr val="0070C0"/>
                </a:solidFill>
                <a:ea typeface="宋体" pitchFamily="2" charset="-122"/>
              </a:rPr>
              <a:t>) </a:t>
            </a:r>
            <a:r>
              <a:rPr lang="en-US" altLang="zh-CN" dirty="0">
                <a:ea typeface="宋体" pitchFamily="2" charset="-122"/>
              </a:rPr>
              <a:t>and </a:t>
            </a:r>
            <a:r>
              <a:rPr lang="en-US" altLang="zh-CN" dirty="0">
                <a:solidFill>
                  <a:srgbClr val="0070C0"/>
                </a:solidFill>
                <a:ea typeface="宋体" pitchFamily="2" charset="-122"/>
              </a:rPr>
              <a:t>Dequeue (</a:t>
            </a:r>
            <a:r>
              <a:rPr lang="zh-CN" altLang="en-US" dirty="0">
                <a:solidFill>
                  <a:srgbClr val="0070C0"/>
                </a:solidFill>
                <a:ea typeface="宋体" pitchFamily="2" charset="-122"/>
              </a:rPr>
              <a:t>出队</a:t>
            </a:r>
            <a:r>
              <a:rPr lang="en-US" altLang="zh-CN" dirty="0">
                <a:solidFill>
                  <a:srgbClr val="0070C0"/>
                </a:solidFill>
                <a:ea typeface="宋体" pitchFamily="2" charset="-122"/>
              </a:rPr>
              <a:t>)</a:t>
            </a:r>
          </a:p>
          <a:p>
            <a:r>
              <a:rPr lang="en-US" altLang="zh-CN" dirty="0">
                <a:latin typeface="+mn-lt"/>
                <a:ea typeface="宋体" pitchFamily="2" charset="-122"/>
              </a:rPr>
              <a:t>Naïve</a:t>
            </a:r>
            <a:r>
              <a:rPr lang="zh-CN" altLang="en-US" dirty="0">
                <a:latin typeface="+mn-lt"/>
                <a:ea typeface="宋体" pitchFamily="2" charset="-122"/>
              </a:rPr>
              <a:t> </a:t>
            </a:r>
            <a:r>
              <a:rPr lang="en-US" altLang="zh-CN" dirty="0">
                <a:latin typeface="+mn-lt"/>
                <a:ea typeface="宋体" pitchFamily="2" charset="-122"/>
              </a:rPr>
              <a:t>way: in</a:t>
            </a:r>
            <a:r>
              <a:rPr lang="zh-CN" altLang="en-US" dirty="0">
                <a:solidFill>
                  <a:srgbClr val="0070C0"/>
                </a:solidFill>
                <a:latin typeface="+mn-lt"/>
                <a:ea typeface="宋体" pitchFamily="2" charset="-122"/>
              </a:rPr>
              <a:t> </a:t>
            </a:r>
            <a:r>
              <a:rPr lang="en-US" altLang="zh-CN" dirty="0" err="1">
                <a:solidFill>
                  <a:srgbClr val="0070C0"/>
                </a:solidFill>
                <a:latin typeface="+mn-lt"/>
                <a:ea typeface="宋体" pitchFamily="2" charset="-122"/>
              </a:rPr>
              <a:t>Enqueue</a:t>
            </a:r>
            <a:endParaRPr lang="en-US" altLang="zh-CN" dirty="0">
              <a:latin typeface="+mn-lt"/>
              <a:ea typeface="宋体" pitchFamily="2" charset="-122"/>
            </a:endParaRPr>
          </a:p>
          <a:p>
            <a:pPr lvl="1"/>
            <a:r>
              <a:rPr lang="en-US" altLang="zh-CN" dirty="0">
                <a:ea typeface="宋体" pitchFamily="2" charset="-122"/>
              </a:rPr>
              <a:t>the </a:t>
            </a:r>
            <a:r>
              <a:rPr lang="en-US" altLang="zh-CN" dirty="0">
                <a:solidFill>
                  <a:srgbClr val="C00000"/>
                </a:solidFill>
                <a:ea typeface="宋体" pitchFamily="2" charset="-122"/>
              </a:rPr>
              <a:t>front index</a:t>
            </a:r>
            <a:r>
              <a:rPr lang="en-US" altLang="zh-CN" dirty="0">
                <a:solidFill>
                  <a:schemeClr val="bg2">
                    <a:lumMod val="75000"/>
                  </a:schemeClr>
                </a:solidFill>
                <a:ea typeface="宋体" pitchFamily="2" charset="-122"/>
              </a:rPr>
              <a:t> </a:t>
            </a:r>
            <a:r>
              <a:rPr lang="en-US" altLang="zh-CN" dirty="0">
                <a:ea typeface="宋体" pitchFamily="2" charset="-122"/>
              </a:rPr>
              <a:t>is always fixed</a:t>
            </a:r>
          </a:p>
          <a:p>
            <a:pPr lvl="1"/>
            <a:r>
              <a:rPr lang="en-US" altLang="zh-CN" dirty="0">
                <a:ea typeface="宋体" pitchFamily="2" charset="-122"/>
              </a:rPr>
              <a:t>the </a:t>
            </a:r>
            <a:r>
              <a:rPr lang="en-US" altLang="zh-CN" dirty="0">
                <a:solidFill>
                  <a:srgbClr val="C00000"/>
                </a:solidFill>
                <a:ea typeface="宋体" pitchFamily="2" charset="-122"/>
              </a:rPr>
              <a:t>rear index</a:t>
            </a:r>
            <a:r>
              <a:rPr lang="en-US" altLang="zh-CN" dirty="0">
                <a:solidFill>
                  <a:schemeClr val="bg2">
                    <a:lumMod val="75000"/>
                  </a:schemeClr>
                </a:solidFill>
                <a:ea typeface="宋体" pitchFamily="2" charset="-122"/>
              </a:rPr>
              <a:t> </a:t>
            </a:r>
            <a:r>
              <a:rPr lang="en-US" altLang="zh-CN" dirty="0">
                <a:ea typeface="宋体" pitchFamily="2" charset="-122"/>
              </a:rPr>
              <a:t>moves forward in the array.</a:t>
            </a:r>
            <a:endParaRPr lang="zh-CN" altLang="en-US" dirty="0"/>
          </a:p>
        </p:txBody>
      </p:sp>
      <p:sp>
        <p:nvSpPr>
          <p:cNvPr id="4" name="灯片编号占位符 3"/>
          <p:cNvSpPr>
            <a:spLocks noGrp="1"/>
          </p:cNvSpPr>
          <p:nvPr>
            <p:ph type="sldNum" sz="quarter" idx="12"/>
          </p:nvPr>
        </p:nvSpPr>
        <p:spPr>
          <a:xfrm>
            <a:off x="6991350" y="6356351"/>
            <a:ext cx="2057400" cy="365125"/>
          </a:xfrm>
        </p:spPr>
        <p:txBody>
          <a:bodyPr/>
          <a:lstStyle/>
          <a:p>
            <a:fld id="{B6F15528-21DE-4FAA-801E-634DDDAF4B2B}" type="slidenum">
              <a:rPr lang="en-US" smtClean="0"/>
              <a:pPr/>
              <a:t>9</a:t>
            </a:fld>
            <a:endParaRPr lang="en-US"/>
          </a:p>
        </p:txBody>
      </p:sp>
      <p:sp>
        <p:nvSpPr>
          <p:cNvPr id="7" name="Rectangle 4"/>
          <p:cNvSpPr>
            <a:spLocks noChangeArrowheads="1"/>
          </p:cNvSpPr>
          <p:nvPr/>
        </p:nvSpPr>
        <p:spPr bwMode="auto">
          <a:xfrm>
            <a:off x="25908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t>3</a:t>
            </a:r>
            <a:endParaRPr lang="zh-CN" altLang="en-US" dirty="0"/>
          </a:p>
        </p:txBody>
      </p:sp>
      <p:sp>
        <p:nvSpPr>
          <p:cNvPr id="8" name="Rectangle 5"/>
          <p:cNvSpPr>
            <a:spLocks noChangeArrowheads="1"/>
          </p:cNvSpPr>
          <p:nvPr/>
        </p:nvSpPr>
        <p:spPr bwMode="auto">
          <a:xfrm>
            <a:off x="32004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a:p>
        </p:txBody>
      </p:sp>
      <p:sp>
        <p:nvSpPr>
          <p:cNvPr id="9" name="Rectangle 6"/>
          <p:cNvSpPr>
            <a:spLocks noChangeArrowheads="1"/>
          </p:cNvSpPr>
          <p:nvPr/>
        </p:nvSpPr>
        <p:spPr bwMode="auto">
          <a:xfrm>
            <a:off x="38100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a:p>
        </p:txBody>
      </p:sp>
      <p:grpSp>
        <p:nvGrpSpPr>
          <p:cNvPr id="10" name="Group 12"/>
          <p:cNvGrpSpPr>
            <a:grpSpLocks/>
          </p:cNvGrpSpPr>
          <p:nvPr/>
        </p:nvGrpSpPr>
        <p:grpSpPr bwMode="auto">
          <a:xfrm>
            <a:off x="2514600" y="5410200"/>
            <a:ext cx="990600" cy="765175"/>
            <a:chOff x="2928" y="2736"/>
            <a:chExt cx="624" cy="482"/>
          </a:xfrm>
        </p:grpSpPr>
        <p:sp>
          <p:nvSpPr>
            <p:cNvPr id="11" name="Text Box 7"/>
            <p:cNvSpPr txBox="1">
              <a:spLocks noChangeArrowheads="1"/>
            </p:cNvSpPr>
            <p:nvPr/>
          </p:nvSpPr>
          <p:spPr bwMode="auto">
            <a:xfrm>
              <a:off x="2928" y="2966"/>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front=0</a:t>
              </a:r>
            </a:p>
          </p:txBody>
        </p:sp>
        <p:sp>
          <p:nvSpPr>
            <p:cNvPr id="12" name="Line 8"/>
            <p:cNvSpPr>
              <a:spLocks noChangeShapeType="1"/>
            </p:cNvSpPr>
            <p:nvPr/>
          </p:nvSpPr>
          <p:spPr bwMode="auto">
            <a:xfrm flipV="1">
              <a:off x="3168" y="2736"/>
              <a:ext cx="0" cy="288"/>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3" name="Group 11"/>
          <p:cNvGrpSpPr>
            <a:grpSpLocks/>
          </p:cNvGrpSpPr>
          <p:nvPr/>
        </p:nvGrpSpPr>
        <p:grpSpPr bwMode="auto">
          <a:xfrm>
            <a:off x="2562225" y="3886200"/>
            <a:ext cx="990600" cy="869950"/>
            <a:chOff x="2974" y="1776"/>
            <a:chExt cx="624" cy="548"/>
          </a:xfrm>
        </p:grpSpPr>
        <p:sp>
          <p:nvSpPr>
            <p:cNvPr id="14" name="Text Box 9"/>
            <p:cNvSpPr txBox="1">
              <a:spLocks noChangeArrowheads="1"/>
            </p:cNvSpPr>
            <p:nvPr/>
          </p:nvSpPr>
          <p:spPr bwMode="auto">
            <a:xfrm>
              <a:off x="2974" y="177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rear=0</a:t>
              </a:r>
            </a:p>
          </p:txBody>
        </p:sp>
        <p:sp>
          <p:nvSpPr>
            <p:cNvPr id="15" name="Line 10"/>
            <p:cNvSpPr>
              <a:spLocks noChangeShapeType="1"/>
            </p:cNvSpPr>
            <p:nvPr/>
          </p:nvSpPr>
          <p:spPr bwMode="auto">
            <a:xfrm>
              <a:off x="3194" y="1988"/>
              <a:ext cx="0" cy="336"/>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6" name="Text Box 14"/>
          <p:cNvSpPr txBox="1">
            <a:spLocks noChangeArrowheads="1"/>
          </p:cNvSpPr>
          <p:nvPr/>
        </p:nvSpPr>
        <p:spPr bwMode="auto">
          <a:xfrm>
            <a:off x="2651125" y="6200775"/>
            <a:ext cx="1768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b="1">
                <a:solidFill>
                  <a:schemeClr val="hlink"/>
                </a:solidFill>
                <a:latin typeface="Arial" charset="0"/>
              </a:rPr>
              <a:t>Enqueue(3)</a:t>
            </a:r>
          </a:p>
        </p:txBody>
      </p:sp>
      <p:sp>
        <p:nvSpPr>
          <p:cNvPr id="17" name="Rectangle 17"/>
          <p:cNvSpPr>
            <a:spLocks noChangeArrowheads="1"/>
          </p:cNvSpPr>
          <p:nvPr/>
        </p:nvSpPr>
        <p:spPr bwMode="auto">
          <a:xfrm>
            <a:off x="4857750" y="48133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t>3</a:t>
            </a:r>
            <a:endParaRPr lang="zh-CN" altLang="en-US" dirty="0"/>
          </a:p>
        </p:txBody>
      </p:sp>
      <p:sp>
        <p:nvSpPr>
          <p:cNvPr id="18" name="Rectangle 18"/>
          <p:cNvSpPr>
            <a:spLocks noChangeArrowheads="1"/>
          </p:cNvSpPr>
          <p:nvPr/>
        </p:nvSpPr>
        <p:spPr bwMode="auto">
          <a:xfrm>
            <a:off x="5467350" y="48133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solidFill>
                  <a:schemeClr val="tx1"/>
                </a:solidFill>
              </a:rPr>
              <a:t>6</a:t>
            </a:r>
            <a:endParaRPr lang="zh-CN" altLang="en-US" dirty="0">
              <a:solidFill>
                <a:schemeClr val="tx1"/>
              </a:solidFill>
            </a:endParaRPr>
          </a:p>
        </p:txBody>
      </p:sp>
      <p:sp>
        <p:nvSpPr>
          <p:cNvPr id="19" name="Rectangle 19"/>
          <p:cNvSpPr>
            <a:spLocks noChangeArrowheads="1"/>
          </p:cNvSpPr>
          <p:nvPr/>
        </p:nvSpPr>
        <p:spPr bwMode="auto">
          <a:xfrm>
            <a:off x="6076950" y="48133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a:p>
        </p:txBody>
      </p:sp>
      <p:grpSp>
        <p:nvGrpSpPr>
          <p:cNvPr id="20" name="Group 20"/>
          <p:cNvGrpSpPr>
            <a:grpSpLocks/>
          </p:cNvGrpSpPr>
          <p:nvPr/>
        </p:nvGrpSpPr>
        <p:grpSpPr bwMode="auto">
          <a:xfrm>
            <a:off x="4781550" y="5422900"/>
            <a:ext cx="990600" cy="765175"/>
            <a:chOff x="2928" y="2736"/>
            <a:chExt cx="624" cy="482"/>
          </a:xfrm>
        </p:grpSpPr>
        <p:sp>
          <p:nvSpPr>
            <p:cNvPr id="21" name="Text Box 21"/>
            <p:cNvSpPr txBox="1">
              <a:spLocks noChangeArrowheads="1"/>
            </p:cNvSpPr>
            <p:nvPr/>
          </p:nvSpPr>
          <p:spPr bwMode="auto">
            <a:xfrm>
              <a:off x="2928" y="2966"/>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front=0</a:t>
              </a:r>
            </a:p>
          </p:txBody>
        </p:sp>
        <p:sp>
          <p:nvSpPr>
            <p:cNvPr id="22" name="Line 22"/>
            <p:cNvSpPr>
              <a:spLocks noChangeShapeType="1"/>
            </p:cNvSpPr>
            <p:nvPr/>
          </p:nvSpPr>
          <p:spPr bwMode="auto">
            <a:xfrm flipV="1">
              <a:off x="3168" y="2736"/>
              <a:ext cx="0" cy="288"/>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3" name="Group 23"/>
          <p:cNvGrpSpPr>
            <a:grpSpLocks/>
          </p:cNvGrpSpPr>
          <p:nvPr/>
        </p:nvGrpSpPr>
        <p:grpSpPr bwMode="auto">
          <a:xfrm>
            <a:off x="5467350" y="3898900"/>
            <a:ext cx="990600" cy="869950"/>
            <a:chOff x="2974" y="1776"/>
            <a:chExt cx="624" cy="548"/>
          </a:xfrm>
        </p:grpSpPr>
        <p:sp>
          <p:nvSpPr>
            <p:cNvPr id="24" name="Text Box 24"/>
            <p:cNvSpPr txBox="1">
              <a:spLocks noChangeArrowheads="1"/>
            </p:cNvSpPr>
            <p:nvPr/>
          </p:nvSpPr>
          <p:spPr bwMode="auto">
            <a:xfrm>
              <a:off x="2974" y="177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rear=1</a:t>
              </a:r>
            </a:p>
          </p:txBody>
        </p:sp>
        <p:sp>
          <p:nvSpPr>
            <p:cNvPr id="25" name="Line 25"/>
            <p:cNvSpPr>
              <a:spLocks noChangeShapeType="1"/>
            </p:cNvSpPr>
            <p:nvPr/>
          </p:nvSpPr>
          <p:spPr bwMode="auto">
            <a:xfrm>
              <a:off x="3194" y="1988"/>
              <a:ext cx="0" cy="336"/>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6" name="Text Box 26"/>
          <p:cNvSpPr txBox="1">
            <a:spLocks noChangeArrowheads="1"/>
          </p:cNvSpPr>
          <p:nvPr/>
        </p:nvSpPr>
        <p:spPr bwMode="auto">
          <a:xfrm>
            <a:off x="4918075" y="6213475"/>
            <a:ext cx="1768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b="1">
                <a:solidFill>
                  <a:schemeClr val="hlink"/>
                </a:solidFill>
                <a:latin typeface="Arial" charset="0"/>
              </a:rPr>
              <a:t>Enqueue(6)</a:t>
            </a:r>
          </a:p>
        </p:txBody>
      </p:sp>
      <p:sp>
        <p:nvSpPr>
          <p:cNvPr id="27" name="Rectangle 29"/>
          <p:cNvSpPr>
            <a:spLocks noChangeArrowheads="1"/>
          </p:cNvSpPr>
          <p:nvPr/>
        </p:nvSpPr>
        <p:spPr bwMode="auto">
          <a:xfrm>
            <a:off x="69342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t>3</a:t>
            </a:r>
            <a:endParaRPr lang="zh-CN" altLang="en-US" dirty="0"/>
          </a:p>
        </p:txBody>
      </p:sp>
      <p:sp>
        <p:nvSpPr>
          <p:cNvPr id="28" name="Rectangle 30"/>
          <p:cNvSpPr>
            <a:spLocks noChangeArrowheads="1"/>
          </p:cNvSpPr>
          <p:nvPr/>
        </p:nvSpPr>
        <p:spPr bwMode="auto">
          <a:xfrm>
            <a:off x="75438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t>6</a:t>
            </a:r>
            <a:endParaRPr lang="zh-CN" altLang="en-US" dirty="0"/>
          </a:p>
        </p:txBody>
      </p:sp>
      <p:sp>
        <p:nvSpPr>
          <p:cNvPr id="29" name="Rectangle 31"/>
          <p:cNvSpPr>
            <a:spLocks noChangeArrowheads="1"/>
          </p:cNvSpPr>
          <p:nvPr/>
        </p:nvSpPr>
        <p:spPr bwMode="auto">
          <a:xfrm>
            <a:off x="81534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solidFill>
                  <a:schemeClr val="tx1"/>
                </a:solidFill>
              </a:rPr>
              <a:t>9</a:t>
            </a:r>
            <a:endParaRPr lang="zh-CN" altLang="en-US" dirty="0">
              <a:solidFill>
                <a:schemeClr val="tx1"/>
              </a:solidFill>
            </a:endParaRPr>
          </a:p>
        </p:txBody>
      </p:sp>
      <p:grpSp>
        <p:nvGrpSpPr>
          <p:cNvPr id="30" name="Group 32"/>
          <p:cNvGrpSpPr>
            <a:grpSpLocks/>
          </p:cNvGrpSpPr>
          <p:nvPr/>
        </p:nvGrpSpPr>
        <p:grpSpPr bwMode="auto">
          <a:xfrm>
            <a:off x="6858000" y="5410200"/>
            <a:ext cx="990600" cy="765175"/>
            <a:chOff x="2928" y="2736"/>
            <a:chExt cx="624" cy="482"/>
          </a:xfrm>
        </p:grpSpPr>
        <p:sp>
          <p:nvSpPr>
            <p:cNvPr id="31" name="Text Box 33"/>
            <p:cNvSpPr txBox="1">
              <a:spLocks noChangeArrowheads="1"/>
            </p:cNvSpPr>
            <p:nvPr/>
          </p:nvSpPr>
          <p:spPr bwMode="auto">
            <a:xfrm>
              <a:off x="2928" y="2966"/>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front=0</a:t>
              </a:r>
            </a:p>
          </p:txBody>
        </p:sp>
        <p:sp>
          <p:nvSpPr>
            <p:cNvPr id="32" name="Line 34"/>
            <p:cNvSpPr>
              <a:spLocks noChangeShapeType="1"/>
            </p:cNvSpPr>
            <p:nvPr/>
          </p:nvSpPr>
          <p:spPr bwMode="auto">
            <a:xfrm flipV="1">
              <a:off x="3168" y="2736"/>
              <a:ext cx="0" cy="288"/>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3" name="Group 35"/>
          <p:cNvGrpSpPr>
            <a:grpSpLocks/>
          </p:cNvGrpSpPr>
          <p:nvPr/>
        </p:nvGrpSpPr>
        <p:grpSpPr bwMode="auto">
          <a:xfrm>
            <a:off x="8077200" y="3886200"/>
            <a:ext cx="990600" cy="869950"/>
            <a:chOff x="2974" y="1776"/>
            <a:chExt cx="624" cy="548"/>
          </a:xfrm>
        </p:grpSpPr>
        <p:sp>
          <p:nvSpPr>
            <p:cNvPr id="34" name="Text Box 36"/>
            <p:cNvSpPr txBox="1">
              <a:spLocks noChangeArrowheads="1"/>
            </p:cNvSpPr>
            <p:nvPr/>
          </p:nvSpPr>
          <p:spPr bwMode="auto">
            <a:xfrm>
              <a:off x="2974" y="177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rear=2</a:t>
              </a:r>
            </a:p>
          </p:txBody>
        </p:sp>
        <p:sp>
          <p:nvSpPr>
            <p:cNvPr id="35" name="Line 37"/>
            <p:cNvSpPr>
              <a:spLocks noChangeShapeType="1"/>
            </p:cNvSpPr>
            <p:nvPr/>
          </p:nvSpPr>
          <p:spPr bwMode="auto">
            <a:xfrm>
              <a:off x="3194" y="1988"/>
              <a:ext cx="0" cy="336"/>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6" name="Text Box 38"/>
          <p:cNvSpPr txBox="1">
            <a:spLocks noChangeArrowheads="1"/>
          </p:cNvSpPr>
          <p:nvPr/>
        </p:nvSpPr>
        <p:spPr bwMode="auto">
          <a:xfrm>
            <a:off x="6994525" y="6200775"/>
            <a:ext cx="1768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b="1">
                <a:solidFill>
                  <a:schemeClr val="hlink"/>
                </a:solidFill>
                <a:latin typeface="Arial" charset="0"/>
              </a:rPr>
              <a:t>Enqueue(9)</a:t>
            </a:r>
          </a:p>
        </p:txBody>
      </p:sp>
      <p:sp>
        <p:nvSpPr>
          <p:cNvPr id="37" name="Rectangle 4"/>
          <p:cNvSpPr>
            <a:spLocks noChangeArrowheads="1"/>
          </p:cNvSpPr>
          <p:nvPr/>
        </p:nvSpPr>
        <p:spPr bwMode="auto">
          <a:xfrm>
            <a:off x="5334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p>
        </p:txBody>
      </p:sp>
      <p:sp>
        <p:nvSpPr>
          <p:cNvPr id="38" name="Rectangle 5"/>
          <p:cNvSpPr>
            <a:spLocks noChangeArrowheads="1"/>
          </p:cNvSpPr>
          <p:nvPr/>
        </p:nvSpPr>
        <p:spPr bwMode="auto">
          <a:xfrm>
            <a:off x="11430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a:p>
        </p:txBody>
      </p:sp>
      <p:sp>
        <p:nvSpPr>
          <p:cNvPr id="39" name="Rectangle 6"/>
          <p:cNvSpPr>
            <a:spLocks noChangeArrowheads="1"/>
          </p:cNvSpPr>
          <p:nvPr/>
        </p:nvSpPr>
        <p:spPr bwMode="auto">
          <a:xfrm>
            <a:off x="17526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a:p>
        </p:txBody>
      </p:sp>
      <p:grpSp>
        <p:nvGrpSpPr>
          <p:cNvPr id="40" name="Group 12"/>
          <p:cNvGrpSpPr>
            <a:grpSpLocks/>
          </p:cNvGrpSpPr>
          <p:nvPr/>
        </p:nvGrpSpPr>
        <p:grpSpPr bwMode="auto">
          <a:xfrm>
            <a:off x="457199" y="5410202"/>
            <a:ext cx="1295397" cy="768763"/>
            <a:chOff x="2928" y="2736"/>
            <a:chExt cx="624" cy="480"/>
          </a:xfrm>
        </p:grpSpPr>
        <p:sp>
          <p:nvSpPr>
            <p:cNvPr id="41" name="Text Box 7"/>
            <p:cNvSpPr txBox="1">
              <a:spLocks noChangeArrowheads="1"/>
            </p:cNvSpPr>
            <p:nvPr/>
          </p:nvSpPr>
          <p:spPr bwMode="auto">
            <a:xfrm>
              <a:off x="2928" y="296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b="1" dirty="0">
                  <a:solidFill>
                    <a:srgbClr val="FF0000"/>
                  </a:solidFill>
                  <a:latin typeface="+mn-lt"/>
                </a:rPr>
                <a:t>front=0</a:t>
              </a:r>
            </a:p>
          </p:txBody>
        </p:sp>
        <p:sp>
          <p:nvSpPr>
            <p:cNvPr id="42" name="Line 8"/>
            <p:cNvSpPr>
              <a:spLocks noChangeShapeType="1"/>
            </p:cNvSpPr>
            <p:nvPr/>
          </p:nvSpPr>
          <p:spPr bwMode="auto">
            <a:xfrm flipV="1">
              <a:off x="3168" y="2736"/>
              <a:ext cx="0" cy="288"/>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3" name="Group 11"/>
          <p:cNvGrpSpPr>
            <a:grpSpLocks/>
          </p:cNvGrpSpPr>
          <p:nvPr/>
        </p:nvGrpSpPr>
        <p:grpSpPr bwMode="auto">
          <a:xfrm>
            <a:off x="-76200" y="3886200"/>
            <a:ext cx="990600" cy="869950"/>
            <a:chOff x="2974" y="1776"/>
            <a:chExt cx="624" cy="548"/>
          </a:xfrm>
        </p:grpSpPr>
        <p:sp>
          <p:nvSpPr>
            <p:cNvPr id="44" name="Text Box 9"/>
            <p:cNvSpPr txBox="1">
              <a:spLocks noChangeArrowheads="1"/>
            </p:cNvSpPr>
            <p:nvPr/>
          </p:nvSpPr>
          <p:spPr bwMode="auto">
            <a:xfrm>
              <a:off x="2974" y="177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b="1" dirty="0">
                  <a:solidFill>
                    <a:srgbClr val="00B0F0"/>
                  </a:solidFill>
                  <a:latin typeface="+mn-lt"/>
                </a:rPr>
                <a:t>rear=-1</a:t>
              </a:r>
            </a:p>
          </p:txBody>
        </p:sp>
        <p:sp>
          <p:nvSpPr>
            <p:cNvPr id="45" name="Line 10"/>
            <p:cNvSpPr>
              <a:spLocks noChangeShapeType="1"/>
            </p:cNvSpPr>
            <p:nvPr/>
          </p:nvSpPr>
          <p:spPr bwMode="auto">
            <a:xfrm>
              <a:off x="3194" y="1988"/>
              <a:ext cx="0" cy="336"/>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6" name="Text Box 14"/>
          <p:cNvSpPr txBox="1">
            <a:spLocks noChangeArrowheads="1"/>
          </p:cNvSpPr>
          <p:nvPr/>
        </p:nvSpPr>
        <p:spPr bwMode="auto">
          <a:xfrm>
            <a:off x="593725" y="6200775"/>
            <a:ext cx="1768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endParaRPr lang="en-US" altLang="zh-CN" sz="2000" b="1" dirty="0">
              <a:solidFill>
                <a:schemeClr val="hlink"/>
              </a:solidFill>
              <a:latin typeface="Arial" charset="0"/>
            </a:endParaRPr>
          </a:p>
        </p:txBody>
      </p:sp>
    </p:spTree>
    <p:extLst>
      <p:ext uri="{BB962C8B-B14F-4D97-AF65-F5344CB8AC3E}">
        <p14:creationId xmlns:p14="http://schemas.microsoft.com/office/powerpoint/2010/main" val="1091782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par>
                                <p:cTn id="15" presetID="1" presetClass="entr" presetSubtype="0" fill="hold" grpId="0" nodeType="withEffect" nodePh="1">
                                  <p:stCondLst>
                                    <p:cond delay="0"/>
                                  </p:stCondLst>
                                  <p:endCondLst>
                                    <p:cond evt="begin" delay="0">
                                      <p:tn val="15"/>
                                    </p:cond>
                                  </p:endCondLst>
                                  <p:childTnLst>
                                    <p:set>
                                      <p:cBhvr>
                                        <p:cTn id="16" dur="1" fill="hold">
                                          <p:stCondLst>
                                            <p:cond delay="0"/>
                                          </p:stCondLst>
                                        </p:cTn>
                                        <p:tgtEl>
                                          <p:spTgt spid="4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6" grpId="0"/>
      <p:bldP spid="17" grpId="0" animBg="1"/>
      <p:bldP spid="18" grpId="0" animBg="1"/>
      <p:bldP spid="19" grpId="0" animBg="1"/>
      <p:bldP spid="26" grpId="0"/>
      <p:bldP spid="27" grpId="0" animBg="1"/>
      <p:bldP spid="28" grpId="0" animBg="1"/>
      <p:bldP spid="29" grpId="0" animBg="1"/>
      <p:bldP spid="36" grpId="0"/>
      <p:bldP spid="37" grpId="0" animBg="1"/>
      <p:bldP spid="38" grpId="0" animBg="1"/>
      <p:bldP spid="39" grpId="0" animBg="1"/>
      <p:bldP spid="4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Queue</a:t>
            </a:r>
            <a:r>
              <a:rPr lang="zh-CN" altLang="en-US" dirty="0"/>
              <a:t> </a:t>
            </a:r>
            <a:r>
              <a:rPr lang="en-US" altLang="zh-CN" dirty="0"/>
              <a:t>Implementation</a:t>
            </a:r>
            <a:endParaRPr lang="zh-CN" altLang="en-US" dirty="0"/>
          </a:p>
        </p:txBody>
      </p:sp>
      <p:sp>
        <p:nvSpPr>
          <p:cNvPr id="3" name="内容占位符 2"/>
          <p:cNvSpPr>
            <a:spLocks noGrp="1"/>
          </p:cNvSpPr>
          <p:nvPr>
            <p:ph idx="1"/>
          </p:nvPr>
        </p:nvSpPr>
        <p:spPr>
          <a:xfrm>
            <a:off x="457200" y="1600201"/>
            <a:ext cx="8229600" cy="2362200"/>
          </a:xfrm>
        </p:spPr>
        <p:txBody>
          <a:bodyPr>
            <a:normAutofit/>
          </a:bodyPr>
          <a:lstStyle/>
          <a:p>
            <a:r>
              <a:rPr lang="en-US" altLang="zh-CN" dirty="0">
                <a:latin typeface="+mn-lt"/>
                <a:ea typeface="宋体" pitchFamily="2" charset="-122"/>
              </a:rPr>
              <a:t>Naïve</a:t>
            </a:r>
            <a:r>
              <a:rPr lang="zh-CN" altLang="en-US" dirty="0">
                <a:latin typeface="+mn-lt"/>
                <a:ea typeface="宋体" pitchFamily="2" charset="-122"/>
              </a:rPr>
              <a:t> </a:t>
            </a:r>
            <a:r>
              <a:rPr lang="en-US" altLang="zh-CN" dirty="0">
                <a:latin typeface="+mn-lt"/>
                <a:ea typeface="宋体" pitchFamily="2" charset="-122"/>
              </a:rPr>
              <a:t>way:</a:t>
            </a:r>
            <a:r>
              <a:rPr lang="zh-CN" altLang="en-US" dirty="0">
                <a:solidFill>
                  <a:srgbClr val="0070C0"/>
                </a:solidFill>
                <a:latin typeface="+mn-lt"/>
                <a:ea typeface="宋体" pitchFamily="2" charset="-122"/>
              </a:rPr>
              <a:t> </a:t>
            </a:r>
            <a:r>
              <a:rPr lang="en-US" altLang="zh-CN" dirty="0">
                <a:solidFill>
                  <a:srgbClr val="0070C0"/>
                </a:solidFill>
                <a:latin typeface="+mn-lt"/>
                <a:ea typeface="宋体" pitchFamily="2" charset="-122"/>
              </a:rPr>
              <a:t>in </a:t>
            </a:r>
            <a:r>
              <a:rPr lang="en-US" altLang="zh-CN" dirty="0">
                <a:solidFill>
                  <a:srgbClr val="FF0000"/>
                </a:solidFill>
                <a:latin typeface="+mn-lt"/>
                <a:ea typeface="宋体" pitchFamily="2" charset="-122"/>
              </a:rPr>
              <a:t>Dequeue</a:t>
            </a:r>
          </a:p>
          <a:p>
            <a:pPr lvl="1"/>
            <a:r>
              <a:rPr lang="en-US" altLang="zh-CN" dirty="0">
                <a:ea typeface="宋体" pitchFamily="2" charset="-122"/>
              </a:rPr>
              <a:t>the front index is fixed</a:t>
            </a:r>
          </a:p>
          <a:p>
            <a:pPr lvl="1"/>
            <a:r>
              <a:rPr lang="en-US" altLang="zh-CN" dirty="0">
                <a:ea typeface="宋体" pitchFamily="2" charset="-122"/>
              </a:rPr>
              <a:t>the element </a:t>
            </a:r>
            <a:r>
              <a:rPr lang="en-US" altLang="zh-CN" b="1" dirty="0">
                <a:solidFill>
                  <a:srgbClr val="FF0000"/>
                </a:solidFill>
                <a:ea typeface="宋体" pitchFamily="2" charset="-122"/>
              </a:rPr>
              <a:t>at the front </a:t>
            </a:r>
            <a:r>
              <a:rPr lang="en-US" altLang="zh-CN" dirty="0">
                <a:ea typeface="宋体" pitchFamily="2" charset="-122"/>
              </a:rPr>
              <a:t>of the queue is removed</a:t>
            </a:r>
          </a:p>
          <a:p>
            <a:pPr lvl="1"/>
            <a:r>
              <a:rPr lang="en-US" altLang="zh-CN" dirty="0">
                <a:solidFill>
                  <a:srgbClr val="C00000"/>
                </a:solidFill>
                <a:ea typeface="宋体" pitchFamily="2" charset="-122"/>
              </a:rPr>
              <a:t>Move all the elements after it by one position. </a:t>
            </a:r>
          </a:p>
        </p:txBody>
      </p:sp>
      <p:sp>
        <p:nvSpPr>
          <p:cNvPr id="4" name="灯片编号占位符 3"/>
          <p:cNvSpPr>
            <a:spLocks noGrp="1"/>
          </p:cNvSpPr>
          <p:nvPr>
            <p:ph type="sldNum" sz="quarter" idx="12"/>
          </p:nvPr>
        </p:nvSpPr>
        <p:spPr>
          <a:xfrm>
            <a:off x="4629150" y="6356351"/>
            <a:ext cx="2057400" cy="365125"/>
          </a:xfrm>
        </p:spPr>
        <p:txBody>
          <a:bodyPr/>
          <a:lstStyle/>
          <a:p>
            <a:fld id="{B6F15528-21DE-4FAA-801E-634DDDAF4B2B}" type="slidenum">
              <a:rPr lang="en-US" smtClean="0"/>
              <a:pPr/>
              <a:t>10</a:t>
            </a:fld>
            <a:endParaRPr lang="en-US"/>
          </a:p>
        </p:txBody>
      </p:sp>
      <p:sp>
        <p:nvSpPr>
          <p:cNvPr id="6" name="Footer Placeholder 5"/>
          <p:cNvSpPr>
            <a:spLocks noGrp="1"/>
          </p:cNvSpPr>
          <p:nvPr>
            <p:ph type="ftr" sz="quarter" idx="11"/>
          </p:nvPr>
        </p:nvSpPr>
        <p:spPr>
          <a:xfrm>
            <a:off x="2571750" y="6356351"/>
            <a:ext cx="3086100" cy="365125"/>
          </a:xfrm>
        </p:spPr>
        <p:txBody>
          <a:bodyPr/>
          <a:lstStyle/>
          <a:p>
            <a:r>
              <a:rPr lang="en-US"/>
              <a:t>Data Structures and Algorithms</a:t>
            </a:r>
          </a:p>
        </p:txBody>
      </p:sp>
      <p:sp>
        <p:nvSpPr>
          <p:cNvPr id="7" name="Rectangle 4"/>
          <p:cNvSpPr>
            <a:spLocks noChangeArrowheads="1"/>
          </p:cNvSpPr>
          <p:nvPr/>
        </p:nvSpPr>
        <p:spPr bwMode="auto">
          <a:xfrm>
            <a:off x="3810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t>3</a:t>
            </a:r>
            <a:endParaRPr lang="zh-CN" altLang="en-US" dirty="0"/>
          </a:p>
        </p:txBody>
      </p:sp>
      <p:sp>
        <p:nvSpPr>
          <p:cNvPr id="8" name="Rectangle 5"/>
          <p:cNvSpPr>
            <a:spLocks noChangeArrowheads="1"/>
          </p:cNvSpPr>
          <p:nvPr/>
        </p:nvSpPr>
        <p:spPr bwMode="auto">
          <a:xfrm>
            <a:off x="9906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t>6</a:t>
            </a:r>
            <a:endParaRPr lang="zh-CN" altLang="en-US" dirty="0"/>
          </a:p>
        </p:txBody>
      </p:sp>
      <p:sp>
        <p:nvSpPr>
          <p:cNvPr id="9" name="Rectangle 6"/>
          <p:cNvSpPr>
            <a:spLocks noChangeArrowheads="1"/>
          </p:cNvSpPr>
          <p:nvPr/>
        </p:nvSpPr>
        <p:spPr bwMode="auto">
          <a:xfrm>
            <a:off x="16002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solidFill>
                  <a:schemeClr val="tx1"/>
                </a:solidFill>
              </a:rPr>
              <a:t>9</a:t>
            </a:r>
            <a:endParaRPr lang="zh-CN" altLang="en-US" dirty="0">
              <a:solidFill>
                <a:schemeClr val="tx1"/>
              </a:solidFill>
            </a:endParaRPr>
          </a:p>
        </p:txBody>
      </p:sp>
      <p:grpSp>
        <p:nvGrpSpPr>
          <p:cNvPr id="10" name="Group 12"/>
          <p:cNvGrpSpPr>
            <a:grpSpLocks/>
          </p:cNvGrpSpPr>
          <p:nvPr/>
        </p:nvGrpSpPr>
        <p:grpSpPr bwMode="auto">
          <a:xfrm>
            <a:off x="304800" y="5410200"/>
            <a:ext cx="990600" cy="765175"/>
            <a:chOff x="2928" y="2736"/>
            <a:chExt cx="624" cy="482"/>
          </a:xfrm>
        </p:grpSpPr>
        <p:sp>
          <p:nvSpPr>
            <p:cNvPr id="11" name="Text Box 7"/>
            <p:cNvSpPr txBox="1">
              <a:spLocks noChangeArrowheads="1"/>
            </p:cNvSpPr>
            <p:nvPr/>
          </p:nvSpPr>
          <p:spPr bwMode="auto">
            <a:xfrm>
              <a:off x="2928" y="2966"/>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front=0</a:t>
              </a:r>
            </a:p>
          </p:txBody>
        </p:sp>
        <p:sp>
          <p:nvSpPr>
            <p:cNvPr id="12" name="Line 8"/>
            <p:cNvSpPr>
              <a:spLocks noChangeShapeType="1"/>
            </p:cNvSpPr>
            <p:nvPr/>
          </p:nvSpPr>
          <p:spPr bwMode="auto">
            <a:xfrm flipV="1">
              <a:off x="3168" y="2736"/>
              <a:ext cx="0" cy="288"/>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3" name="Group 11"/>
          <p:cNvGrpSpPr>
            <a:grpSpLocks/>
          </p:cNvGrpSpPr>
          <p:nvPr/>
        </p:nvGrpSpPr>
        <p:grpSpPr bwMode="auto">
          <a:xfrm>
            <a:off x="1600200" y="3886200"/>
            <a:ext cx="990600" cy="869950"/>
            <a:chOff x="2974" y="1776"/>
            <a:chExt cx="624" cy="548"/>
          </a:xfrm>
        </p:grpSpPr>
        <p:sp>
          <p:nvSpPr>
            <p:cNvPr id="14" name="Text Box 9"/>
            <p:cNvSpPr txBox="1">
              <a:spLocks noChangeArrowheads="1"/>
            </p:cNvSpPr>
            <p:nvPr/>
          </p:nvSpPr>
          <p:spPr bwMode="auto">
            <a:xfrm>
              <a:off x="2974" y="177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rear=2</a:t>
              </a:r>
            </a:p>
          </p:txBody>
        </p:sp>
        <p:sp>
          <p:nvSpPr>
            <p:cNvPr id="15" name="Line 10"/>
            <p:cNvSpPr>
              <a:spLocks noChangeShapeType="1"/>
            </p:cNvSpPr>
            <p:nvPr/>
          </p:nvSpPr>
          <p:spPr bwMode="auto">
            <a:xfrm>
              <a:off x="3194" y="1988"/>
              <a:ext cx="0" cy="336"/>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7" name="Rectangle 17"/>
          <p:cNvSpPr>
            <a:spLocks noChangeArrowheads="1"/>
          </p:cNvSpPr>
          <p:nvPr/>
        </p:nvSpPr>
        <p:spPr bwMode="auto">
          <a:xfrm>
            <a:off x="2438400" y="48133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t>6</a:t>
            </a:r>
            <a:endParaRPr lang="zh-CN" altLang="en-US" dirty="0"/>
          </a:p>
        </p:txBody>
      </p:sp>
      <p:sp>
        <p:nvSpPr>
          <p:cNvPr id="18" name="Rectangle 18"/>
          <p:cNvSpPr>
            <a:spLocks noChangeArrowheads="1"/>
          </p:cNvSpPr>
          <p:nvPr/>
        </p:nvSpPr>
        <p:spPr bwMode="auto">
          <a:xfrm>
            <a:off x="3048000" y="48133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solidFill>
                  <a:schemeClr val="tx1"/>
                </a:solidFill>
              </a:rPr>
              <a:t>9</a:t>
            </a:r>
            <a:endParaRPr lang="zh-CN" altLang="en-US" dirty="0">
              <a:solidFill>
                <a:schemeClr val="tx1"/>
              </a:solidFill>
            </a:endParaRPr>
          </a:p>
        </p:txBody>
      </p:sp>
      <p:sp>
        <p:nvSpPr>
          <p:cNvPr id="19" name="Rectangle 19"/>
          <p:cNvSpPr>
            <a:spLocks noChangeArrowheads="1"/>
          </p:cNvSpPr>
          <p:nvPr/>
        </p:nvSpPr>
        <p:spPr bwMode="auto">
          <a:xfrm>
            <a:off x="3657600" y="48133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a:p>
        </p:txBody>
      </p:sp>
      <p:grpSp>
        <p:nvGrpSpPr>
          <p:cNvPr id="20" name="Group 20"/>
          <p:cNvGrpSpPr>
            <a:grpSpLocks/>
          </p:cNvGrpSpPr>
          <p:nvPr/>
        </p:nvGrpSpPr>
        <p:grpSpPr bwMode="auto">
          <a:xfrm>
            <a:off x="2362200" y="5422900"/>
            <a:ext cx="990600" cy="765175"/>
            <a:chOff x="2928" y="2736"/>
            <a:chExt cx="624" cy="482"/>
          </a:xfrm>
        </p:grpSpPr>
        <p:sp>
          <p:nvSpPr>
            <p:cNvPr id="21" name="Text Box 21"/>
            <p:cNvSpPr txBox="1">
              <a:spLocks noChangeArrowheads="1"/>
            </p:cNvSpPr>
            <p:nvPr/>
          </p:nvSpPr>
          <p:spPr bwMode="auto">
            <a:xfrm>
              <a:off x="2928" y="2966"/>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front=0</a:t>
              </a:r>
            </a:p>
          </p:txBody>
        </p:sp>
        <p:sp>
          <p:nvSpPr>
            <p:cNvPr id="22" name="Line 22"/>
            <p:cNvSpPr>
              <a:spLocks noChangeShapeType="1"/>
            </p:cNvSpPr>
            <p:nvPr/>
          </p:nvSpPr>
          <p:spPr bwMode="auto">
            <a:xfrm flipV="1">
              <a:off x="3168" y="2736"/>
              <a:ext cx="0" cy="288"/>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3" name="Group 23"/>
          <p:cNvGrpSpPr>
            <a:grpSpLocks/>
          </p:cNvGrpSpPr>
          <p:nvPr/>
        </p:nvGrpSpPr>
        <p:grpSpPr bwMode="auto">
          <a:xfrm>
            <a:off x="3048000" y="3898900"/>
            <a:ext cx="990600" cy="869950"/>
            <a:chOff x="2974" y="1776"/>
            <a:chExt cx="624" cy="548"/>
          </a:xfrm>
        </p:grpSpPr>
        <p:sp>
          <p:nvSpPr>
            <p:cNvPr id="24" name="Text Box 24"/>
            <p:cNvSpPr txBox="1">
              <a:spLocks noChangeArrowheads="1"/>
            </p:cNvSpPr>
            <p:nvPr/>
          </p:nvSpPr>
          <p:spPr bwMode="auto">
            <a:xfrm>
              <a:off x="2974" y="177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rear=1</a:t>
              </a:r>
            </a:p>
          </p:txBody>
        </p:sp>
        <p:sp>
          <p:nvSpPr>
            <p:cNvPr id="25" name="Line 25"/>
            <p:cNvSpPr>
              <a:spLocks noChangeShapeType="1"/>
            </p:cNvSpPr>
            <p:nvPr/>
          </p:nvSpPr>
          <p:spPr bwMode="auto">
            <a:xfrm>
              <a:off x="3194" y="1988"/>
              <a:ext cx="0" cy="336"/>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6" name="Text Box 26"/>
          <p:cNvSpPr txBox="1">
            <a:spLocks noChangeArrowheads="1"/>
          </p:cNvSpPr>
          <p:nvPr/>
        </p:nvSpPr>
        <p:spPr bwMode="auto">
          <a:xfrm>
            <a:off x="2498725" y="6048376"/>
            <a:ext cx="1768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b="1" dirty="0" err="1">
                <a:solidFill>
                  <a:schemeClr val="hlink"/>
                </a:solidFill>
                <a:latin typeface="Arial" charset="0"/>
              </a:rPr>
              <a:t>Dequeue</a:t>
            </a:r>
            <a:r>
              <a:rPr lang="en-US" altLang="zh-CN" sz="2000" b="1" dirty="0">
                <a:solidFill>
                  <a:schemeClr val="hlink"/>
                </a:solidFill>
                <a:latin typeface="Arial" charset="0"/>
              </a:rPr>
              <a:t>()</a:t>
            </a:r>
          </a:p>
        </p:txBody>
      </p:sp>
      <p:sp>
        <p:nvSpPr>
          <p:cNvPr id="27" name="Rectangle 29"/>
          <p:cNvSpPr>
            <a:spLocks noChangeArrowheads="1"/>
          </p:cNvSpPr>
          <p:nvPr/>
        </p:nvSpPr>
        <p:spPr bwMode="auto">
          <a:xfrm>
            <a:off x="45720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t>9</a:t>
            </a:r>
            <a:endParaRPr lang="zh-CN" altLang="en-US" dirty="0"/>
          </a:p>
        </p:txBody>
      </p:sp>
      <p:sp>
        <p:nvSpPr>
          <p:cNvPr id="28" name="Rectangle 30"/>
          <p:cNvSpPr>
            <a:spLocks noChangeArrowheads="1"/>
          </p:cNvSpPr>
          <p:nvPr/>
        </p:nvSpPr>
        <p:spPr bwMode="auto">
          <a:xfrm>
            <a:off x="51816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p>
        </p:txBody>
      </p:sp>
      <p:sp>
        <p:nvSpPr>
          <p:cNvPr id="29" name="Rectangle 31"/>
          <p:cNvSpPr>
            <a:spLocks noChangeArrowheads="1"/>
          </p:cNvSpPr>
          <p:nvPr/>
        </p:nvSpPr>
        <p:spPr bwMode="auto">
          <a:xfrm>
            <a:off x="57912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b="1" dirty="0">
              <a:solidFill>
                <a:schemeClr val="bg2">
                  <a:lumMod val="75000"/>
                </a:schemeClr>
              </a:solidFill>
            </a:endParaRPr>
          </a:p>
        </p:txBody>
      </p:sp>
      <p:grpSp>
        <p:nvGrpSpPr>
          <p:cNvPr id="30" name="Group 32"/>
          <p:cNvGrpSpPr>
            <a:grpSpLocks/>
          </p:cNvGrpSpPr>
          <p:nvPr/>
        </p:nvGrpSpPr>
        <p:grpSpPr bwMode="auto">
          <a:xfrm>
            <a:off x="4495800" y="5410200"/>
            <a:ext cx="990600" cy="765175"/>
            <a:chOff x="2928" y="2736"/>
            <a:chExt cx="624" cy="482"/>
          </a:xfrm>
        </p:grpSpPr>
        <p:sp>
          <p:nvSpPr>
            <p:cNvPr id="31" name="Text Box 33"/>
            <p:cNvSpPr txBox="1">
              <a:spLocks noChangeArrowheads="1"/>
            </p:cNvSpPr>
            <p:nvPr/>
          </p:nvSpPr>
          <p:spPr bwMode="auto">
            <a:xfrm>
              <a:off x="2928" y="2966"/>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front=0</a:t>
              </a:r>
            </a:p>
          </p:txBody>
        </p:sp>
        <p:sp>
          <p:nvSpPr>
            <p:cNvPr id="32" name="Line 34"/>
            <p:cNvSpPr>
              <a:spLocks noChangeShapeType="1"/>
            </p:cNvSpPr>
            <p:nvPr/>
          </p:nvSpPr>
          <p:spPr bwMode="auto">
            <a:xfrm flipV="1">
              <a:off x="3168" y="2736"/>
              <a:ext cx="0" cy="288"/>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3" name="Group 35"/>
          <p:cNvGrpSpPr>
            <a:grpSpLocks/>
          </p:cNvGrpSpPr>
          <p:nvPr/>
        </p:nvGrpSpPr>
        <p:grpSpPr bwMode="auto">
          <a:xfrm>
            <a:off x="4572000" y="3886200"/>
            <a:ext cx="990600" cy="869950"/>
            <a:chOff x="2974" y="1776"/>
            <a:chExt cx="624" cy="548"/>
          </a:xfrm>
        </p:grpSpPr>
        <p:sp>
          <p:nvSpPr>
            <p:cNvPr id="34" name="Text Box 36"/>
            <p:cNvSpPr txBox="1">
              <a:spLocks noChangeArrowheads="1"/>
            </p:cNvSpPr>
            <p:nvPr/>
          </p:nvSpPr>
          <p:spPr bwMode="auto">
            <a:xfrm>
              <a:off x="2974" y="177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rear=0</a:t>
              </a:r>
            </a:p>
          </p:txBody>
        </p:sp>
        <p:sp>
          <p:nvSpPr>
            <p:cNvPr id="35" name="Line 37"/>
            <p:cNvSpPr>
              <a:spLocks noChangeShapeType="1"/>
            </p:cNvSpPr>
            <p:nvPr/>
          </p:nvSpPr>
          <p:spPr bwMode="auto">
            <a:xfrm>
              <a:off x="3194" y="1988"/>
              <a:ext cx="0" cy="336"/>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6" name="Text Box 38"/>
          <p:cNvSpPr txBox="1">
            <a:spLocks noChangeArrowheads="1"/>
          </p:cNvSpPr>
          <p:nvPr/>
        </p:nvSpPr>
        <p:spPr bwMode="auto">
          <a:xfrm>
            <a:off x="4632325" y="6035676"/>
            <a:ext cx="1768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b="1" dirty="0" err="1">
                <a:solidFill>
                  <a:schemeClr val="hlink"/>
                </a:solidFill>
                <a:latin typeface="Arial" charset="0"/>
              </a:rPr>
              <a:t>Dequeue</a:t>
            </a:r>
            <a:r>
              <a:rPr lang="en-US" altLang="zh-CN" sz="2000" b="1" dirty="0">
                <a:solidFill>
                  <a:schemeClr val="hlink"/>
                </a:solidFill>
                <a:latin typeface="Arial" charset="0"/>
              </a:rPr>
              <a:t>()</a:t>
            </a:r>
          </a:p>
        </p:txBody>
      </p:sp>
      <p:sp>
        <p:nvSpPr>
          <p:cNvPr id="37" name="灯片编号占位符 3"/>
          <p:cNvSpPr txBox="1">
            <a:spLocks/>
          </p:cNvSpPr>
          <p:nvPr/>
        </p:nvSpPr>
        <p:spPr>
          <a:xfrm>
            <a:off x="6762750" y="6340475"/>
            <a:ext cx="20574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10</a:t>
            </a:fld>
            <a:endParaRPr lang="en-US"/>
          </a:p>
        </p:txBody>
      </p:sp>
      <p:sp>
        <p:nvSpPr>
          <p:cNvPr id="38" name="Rectangle 29"/>
          <p:cNvSpPr>
            <a:spLocks noChangeArrowheads="1"/>
          </p:cNvSpPr>
          <p:nvPr/>
        </p:nvSpPr>
        <p:spPr bwMode="auto">
          <a:xfrm>
            <a:off x="6705600" y="4784724"/>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p>
        </p:txBody>
      </p:sp>
      <p:sp>
        <p:nvSpPr>
          <p:cNvPr id="39" name="Rectangle 30"/>
          <p:cNvSpPr>
            <a:spLocks noChangeArrowheads="1"/>
          </p:cNvSpPr>
          <p:nvPr/>
        </p:nvSpPr>
        <p:spPr bwMode="auto">
          <a:xfrm>
            <a:off x="7315200" y="4784724"/>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p>
        </p:txBody>
      </p:sp>
      <p:sp>
        <p:nvSpPr>
          <p:cNvPr id="40" name="Rectangle 31"/>
          <p:cNvSpPr>
            <a:spLocks noChangeArrowheads="1"/>
          </p:cNvSpPr>
          <p:nvPr/>
        </p:nvSpPr>
        <p:spPr bwMode="auto">
          <a:xfrm>
            <a:off x="7924800" y="4784724"/>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b="1" dirty="0">
              <a:solidFill>
                <a:schemeClr val="bg2">
                  <a:lumMod val="75000"/>
                </a:schemeClr>
              </a:solidFill>
            </a:endParaRPr>
          </a:p>
        </p:txBody>
      </p:sp>
      <p:grpSp>
        <p:nvGrpSpPr>
          <p:cNvPr id="41" name="Group 32"/>
          <p:cNvGrpSpPr>
            <a:grpSpLocks/>
          </p:cNvGrpSpPr>
          <p:nvPr/>
        </p:nvGrpSpPr>
        <p:grpSpPr bwMode="auto">
          <a:xfrm>
            <a:off x="6629400" y="5394324"/>
            <a:ext cx="990600" cy="765175"/>
            <a:chOff x="2928" y="2736"/>
            <a:chExt cx="624" cy="482"/>
          </a:xfrm>
        </p:grpSpPr>
        <p:sp>
          <p:nvSpPr>
            <p:cNvPr id="42" name="Text Box 33"/>
            <p:cNvSpPr txBox="1">
              <a:spLocks noChangeArrowheads="1"/>
            </p:cNvSpPr>
            <p:nvPr/>
          </p:nvSpPr>
          <p:spPr bwMode="auto">
            <a:xfrm>
              <a:off x="2928" y="2966"/>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front=0</a:t>
              </a:r>
            </a:p>
          </p:txBody>
        </p:sp>
        <p:sp>
          <p:nvSpPr>
            <p:cNvPr id="43" name="Line 34"/>
            <p:cNvSpPr>
              <a:spLocks noChangeShapeType="1"/>
            </p:cNvSpPr>
            <p:nvPr/>
          </p:nvSpPr>
          <p:spPr bwMode="auto">
            <a:xfrm flipV="1">
              <a:off x="3168" y="2736"/>
              <a:ext cx="0" cy="288"/>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4" name="Group 35"/>
          <p:cNvGrpSpPr>
            <a:grpSpLocks/>
          </p:cNvGrpSpPr>
          <p:nvPr/>
        </p:nvGrpSpPr>
        <p:grpSpPr bwMode="auto">
          <a:xfrm>
            <a:off x="6209933" y="3898198"/>
            <a:ext cx="1142999" cy="916562"/>
            <a:chOff x="2953" y="1793"/>
            <a:chExt cx="624" cy="559"/>
          </a:xfrm>
        </p:grpSpPr>
        <p:sp>
          <p:nvSpPr>
            <p:cNvPr id="45" name="Text Box 36"/>
            <p:cNvSpPr txBox="1">
              <a:spLocks noChangeArrowheads="1"/>
            </p:cNvSpPr>
            <p:nvPr/>
          </p:nvSpPr>
          <p:spPr bwMode="auto">
            <a:xfrm>
              <a:off x="2953" y="1793"/>
              <a:ext cx="624"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rear= -1</a:t>
              </a:r>
            </a:p>
          </p:txBody>
        </p:sp>
        <p:sp>
          <p:nvSpPr>
            <p:cNvPr id="46" name="Line 37"/>
            <p:cNvSpPr>
              <a:spLocks noChangeShapeType="1"/>
            </p:cNvSpPr>
            <p:nvPr/>
          </p:nvSpPr>
          <p:spPr bwMode="auto">
            <a:xfrm>
              <a:off x="3174" y="2016"/>
              <a:ext cx="0" cy="336"/>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7" name="Text Box 38"/>
          <p:cNvSpPr txBox="1">
            <a:spLocks noChangeArrowheads="1"/>
          </p:cNvSpPr>
          <p:nvPr/>
        </p:nvSpPr>
        <p:spPr bwMode="auto">
          <a:xfrm>
            <a:off x="6765925" y="6019800"/>
            <a:ext cx="1768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b="1" dirty="0" err="1">
                <a:solidFill>
                  <a:schemeClr val="hlink"/>
                </a:solidFill>
                <a:latin typeface="Arial" charset="0"/>
              </a:rPr>
              <a:t>Dequeue</a:t>
            </a:r>
            <a:r>
              <a:rPr lang="en-US" altLang="zh-CN" sz="2000" b="1" dirty="0">
                <a:solidFill>
                  <a:schemeClr val="hlink"/>
                </a:solidFill>
                <a:latin typeface="Arial" charset="0"/>
              </a:rPr>
              <a:t>()</a:t>
            </a:r>
          </a:p>
        </p:txBody>
      </p:sp>
    </p:spTree>
    <p:extLst>
      <p:ext uri="{BB962C8B-B14F-4D97-AF65-F5344CB8AC3E}">
        <p14:creationId xmlns:p14="http://schemas.microsoft.com/office/powerpoint/2010/main" val="65815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7" grpId="0" animBg="1"/>
      <p:bldP spid="18" grpId="0" animBg="1"/>
      <p:bldP spid="19" grpId="0" animBg="1"/>
      <p:bldP spid="26" grpId="0"/>
      <p:bldP spid="27" grpId="0" animBg="1"/>
      <p:bldP spid="28" grpId="0" animBg="1"/>
      <p:bldP spid="29" grpId="0" animBg="1"/>
      <p:bldP spid="36" grpId="0"/>
      <p:bldP spid="38" grpId="0" animBg="1"/>
      <p:bldP spid="39" grpId="0" animBg="1"/>
      <p:bldP spid="40" grpId="0" animBg="1"/>
      <p:bldP spid="4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Queue</a:t>
            </a:r>
            <a:r>
              <a:rPr lang="zh-CN" altLang="en-US" dirty="0"/>
              <a:t> </a:t>
            </a:r>
            <a:r>
              <a:rPr lang="en-US" altLang="zh-CN" dirty="0"/>
              <a:t>Implementation</a:t>
            </a:r>
            <a:endParaRPr lang="zh-CN" altLang="en-US" dirty="0"/>
          </a:p>
        </p:txBody>
      </p:sp>
      <p:sp>
        <p:nvSpPr>
          <p:cNvPr id="3" name="内容占位符 2"/>
          <p:cNvSpPr>
            <a:spLocks noGrp="1"/>
          </p:cNvSpPr>
          <p:nvPr>
            <p:ph idx="1"/>
          </p:nvPr>
        </p:nvSpPr>
        <p:spPr>
          <a:xfrm>
            <a:off x="457200" y="1600201"/>
            <a:ext cx="8229600" cy="2362200"/>
          </a:xfrm>
        </p:spPr>
        <p:txBody>
          <a:bodyPr>
            <a:normAutofit/>
          </a:bodyPr>
          <a:lstStyle/>
          <a:p>
            <a:r>
              <a:rPr lang="en-US" altLang="zh-CN" dirty="0">
                <a:latin typeface="+mn-lt"/>
                <a:ea typeface="宋体" pitchFamily="2" charset="-122"/>
              </a:rPr>
              <a:t>Naïve</a:t>
            </a:r>
            <a:r>
              <a:rPr lang="zh-CN" altLang="en-US" dirty="0">
                <a:latin typeface="+mn-lt"/>
                <a:ea typeface="宋体" pitchFamily="2" charset="-122"/>
              </a:rPr>
              <a:t> </a:t>
            </a:r>
            <a:r>
              <a:rPr lang="en-US" altLang="zh-CN" dirty="0">
                <a:latin typeface="+mn-lt"/>
                <a:ea typeface="宋体" pitchFamily="2" charset="-122"/>
              </a:rPr>
              <a:t>way:</a:t>
            </a:r>
            <a:r>
              <a:rPr lang="en-US" altLang="zh-CN" dirty="0">
                <a:solidFill>
                  <a:srgbClr val="C00000"/>
                </a:solidFill>
                <a:ea typeface="宋体" pitchFamily="2" charset="-122"/>
              </a:rPr>
              <a:t> not efficient for </a:t>
            </a:r>
            <a:r>
              <a:rPr lang="en-US" altLang="zh-CN" dirty="0" err="1">
                <a:solidFill>
                  <a:srgbClr val="C00000"/>
                </a:solidFill>
                <a:ea typeface="宋体" pitchFamily="2" charset="-122"/>
              </a:rPr>
              <a:t>Dequeue</a:t>
            </a:r>
            <a:r>
              <a:rPr lang="en-US" altLang="zh-CN" dirty="0">
                <a:solidFill>
                  <a:srgbClr val="C00000"/>
                </a:solidFill>
                <a:ea typeface="宋体" pitchFamily="2" charset="-122"/>
              </a:rPr>
              <a:t> operation. </a:t>
            </a:r>
          </a:p>
          <a:p>
            <a:r>
              <a:rPr lang="en-US" altLang="zh-CN" dirty="0"/>
              <a:t>A Better Array Implementation</a:t>
            </a:r>
          </a:p>
          <a:p>
            <a:pPr lvl="1"/>
            <a:r>
              <a:rPr lang="en-US" altLang="zh-CN" dirty="0">
                <a:ea typeface="宋体" pitchFamily="2" charset="-122"/>
              </a:rPr>
              <a:t>When an item is </a:t>
            </a:r>
            <a:r>
              <a:rPr lang="en-US" altLang="zh-CN" b="1" dirty="0" err="1">
                <a:solidFill>
                  <a:srgbClr val="FF0000"/>
                </a:solidFill>
                <a:ea typeface="宋体" pitchFamily="2" charset="-122"/>
              </a:rPr>
              <a:t>enqueued</a:t>
            </a:r>
            <a:r>
              <a:rPr lang="en-US" altLang="zh-CN" dirty="0">
                <a:ea typeface="宋体" pitchFamily="2" charset="-122"/>
              </a:rPr>
              <a:t>, the </a:t>
            </a:r>
            <a:r>
              <a:rPr lang="en-US" altLang="zh-CN" b="1" dirty="0">
                <a:solidFill>
                  <a:srgbClr val="FF0000"/>
                </a:solidFill>
                <a:ea typeface="宋体" pitchFamily="2" charset="-122"/>
              </a:rPr>
              <a:t>rear index </a:t>
            </a:r>
            <a:r>
              <a:rPr lang="en-US" altLang="zh-CN" dirty="0">
                <a:ea typeface="宋体" pitchFamily="2" charset="-122"/>
              </a:rPr>
              <a:t>moves forward.</a:t>
            </a:r>
          </a:p>
          <a:p>
            <a:pPr lvl="1"/>
            <a:r>
              <a:rPr lang="en-US" altLang="zh-CN" dirty="0">
                <a:ea typeface="宋体" pitchFamily="2" charset="-122"/>
              </a:rPr>
              <a:t>When an item is </a:t>
            </a:r>
            <a:r>
              <a:rPr lang="en-US" altLang="zh-CN" b="1" dirty="0" err="1">
                <a:solidFill>
                  <a:srgbClr val="00B0F0"/>
                </a:solidFill>
                <a:ea typeface="宋体" pitchFamily="2" charset="-122"/>
              </a:rPr>
              <a:t>dequeued</a:t>
            </a:r>
            <a:r>
              <a:rPr lang="en-US" altLang="zh-CN" dirty="0">
                <a:ea typeface="宋体" pitchFamily="2" charset="-122"/>
              </a:rPr>
              <a:t>, the </a:t>
            </a:r>
            <a:r>
              <a:rPr lang="en-US" altLang="zh-CN" b="1" dirty="0">
                <a:solidFill>
                  <a:srgbClr val="00B0F0"/>
                </a:solidFill>
                <a:ea typeface="宋体" pitchFamily="2" charset="-122"/>
              </a:rPr>
              <a:t>front index </a:t>
            </a:r>
            <a:r>
              <a:rPr lang="en-US" altLang="zh-CN" dirty="0">
                <a:ea typeface="宋体" pitchFamily="2" charset="-122"/>
              </a:rPr>
              <a:t>also moves forward by one element </a:t>
            </a:r>
          </a:p>
        </p:txBody>
      </p:sp>
      <p:sp>
        <p:nvSpPr>
          <p:cNvPr id="48" name="灯片编号占位符 3"/>
          <p:cNvSpPr>
            <a:spLocks noGrp="1"/>
          </p:cNvSpPr>
          <p:nvPr>
            <p:ph type="sldNum" sz="quarter" idx="12"/>
          </p:nvPr>
        </p:nvSpPr>
        <p:spPr>
          <a:xfrm>
            <a:off x="4400550" y="6356351"/>
            <a:ext cx="2057400" cy="365125"/>
          </a:xfrm>
        </p:spPr>
        <p:txBody>
          <a:bodyPr/>
          <a:lstStyle/>
          <a:p>
            <a:fld id="{B6F15528-21DE-4FAA-801E-634DDDAF4B2B}" type="slidenum">
              <a:rPr lang="en-US" smtClean="0"/>
              <a:pPr/>
              <a:t>11</a:t>
            </a:fld>
            <a:endParaRPr lang="en-US"/>
          </a:p>
        </p:txBody>
      </p:sp>
      <p:sp>
        <p:nvSpPr>
          <p:cNvPr id="49" name="Footer Placeholder 5"/>
          <p:cNvSpPr>
            <a:spLocks noGrp="1"/>
          </p:cNvSpPr>
          <p:nvPr>
            <p:ph type="ftr" sz="quarter" idx="11"/>
          </p:nvPr>
        </p:nvSpPr>
        <p:spPr>
          <a:xfrm>
            <a:off x="2343150" y="6356351"/>
            <a:ext cx="3086100" cy="365125"/>
          </a:xfrm>
        </p:spPr>
        <p:txBody>
          <a:bodyPr/>
          <a:lstStyle/>
          <a:p>
            <a:r>
              <a:rPr lang="en-US"/>
              <a:t>Data Structures and Algorithms</a:t>
            </a:r>
          </a:p>
        </p:txBody>
      </p:sp>
      <p:sp>
        <p:nvSpPr>
          <p:cNvPr id="50" name="Rectangle 4"/>
          <p:cNvSpPr>
            <a:spLocks noChangeArrowheads="1"/>
          </p:cNvSpPr>
          <p:nvPr/>
        </p:nvSpPr>
        <p:spPr bwMode="auto">
          <a:xfrm>
            <a:off x="1524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p>
        </p:txBody>
      </p:sp>
      <p:sp>
        <p:nvSpPr>
          <p:cNvPr id="51" name="Rectangle 5"/>
          <p:cNvSpPr>
            <a:spLocks noChangeArrowheads="1"/>
          </p:cNvSpPr>
          <p:nvPr/>
        </p:nvSpPr>
        <p:spPr bwMode="auto">
          <a:xfrm>
            <a:off x="7620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t>3</a:t>
            </a:r>
            <a:endParaRPr lang="zh-CN" altLang="en-US" dirty="0"/>
          </a:p>
        </p:txBody>
      </p:sp>
      <p:sp>
        <p:nvSpPr>
          <p:cNvPr id="52" name="Rectangle 6"/>
          <p:cNvSpPr>
            <a:spLocks noChangeArrowheads="1"/>
          </p:cNvSpPr>
          <p:nvPr/>
        </p:nvSpPr>
        <p:spPr bwMode="auto">
          <a:xfrm>
            <a:off x="13716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solidFill>
                <a:schemeClr val="bg1">
                  <a:lumMod val="65000"/>
                </a:schemeClr>
              </a:solidFill>
            </a:endParaRPr>
          </a:p>
        </p:txBody>
      </p:sp>
      <p:grpSp>
        <p:nvGrpSpPr>
          <p:cNvPr id="53" name="Group 12"/>
          <p:cNvGrpSpPr>
            <a:grpSpLocks/>
          </p:cNvGrpSpPr>
          <p:nvPr/>
        </p:nvGrpSpPr>
        <p:grpSpPr bwMode="auto">
          <a:xfrm>
            <a:off x="685800" y="5410200"/>
            <a:ext cx="990600" cy="765175"/>
            <a:chOff x="2928" y="2736"/>
            <a:chExt cx="624" cy="482"/>
          </a:xfrm>
        </p:grpSpPr>
        <p:sp>
          <p:nvSpPr>
            <p:cNvPr id="54" name="Text Box 7"/>
            <p:cNvSpPr txBox="1">
              <a:spLocks noChangeArrowheads="1"/>
            </p:cNvSpPr>
            <p:nvPr/>
          </p:nvSpPr>
          <p:spPr bwMode="auto">
            <a:xfrm>
              <a:off x="2928" y="2966"/>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front=1</a:t>
              </a:r>
            </a:p>
          </p:txBody>
        </p:sp>
        <p:sp>
          <p:nvSpPr>
            <p:cNvPr id="55" name="Line 8"/>
            <p:cNvSpPr>
              <a:spLocks noChangeShapeType="1"/>
            </p:cNvSpPr>
            <p:nvPr/>
          </p:nvSpPr>
          <p:spPr bwMode="auto">
            <a:xfrm flipV="1">
              <a:off x="3168" y="2736"/>
              <a:ext cx="0" cy="288"/>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6" name="Group 11"/>
          <p:cNvGrpSpPr>
            <a:grpSpLocks/>
          </p:cNvGrpSpPr>
          <p:nvPr/>
        </p:nvGrpSpPr>
        <p:grpSpPr bwMode="auto">
          <a:xfrm>
            <a:off x="762000" y="3886200"/>
            <a:ext cx="990600" cy="869950"/>
            <a:chOff x="2974" y="1776"/>
            <a:chExt cx="624" cy="548"/>
          </a:xfrm>
        </p:grpSpPr>
        <p:sp>
          <p:nvSpPr>
            <p:cNvPr id="57" name="Text Box 9"/>
            <p:cNvSpPr txBox="1">
              <a:spLocks noChangeArrowheads="1"/>
            </p:cNvSpPr>
            <p:nvPr/>
          </p:nvSpPr>
          <p:spPr bwMode="auto">
            <a:xfrm>
              <a:off x="2974" y="177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rear=1</a:t>
              </a:r>
            </a:p>
          </p:txBody>
        </p:sp>
        <p:sp>
          <p:nvSpPr>
            <p:cNvPr id="58" name="Line 10"/>
            <p:cNvSpPr>
              <a:spLocks noChangeShapeType="1"/>
            </p:cNvSpPr>
            <p:nvPr/>
          </p:nvSpPr>
          <p:spPr bwMode="auto">
            <a:xfrm>
              <a:off x="3194" y="1988"/>
              <a:ext cx="0" cy="336"/>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9" name="Rectangle 17"/>
          <p:cNvSpPr>
            <a:spLocks noChangeArrowheads="1"/>
          </p:cNvSpPr>
          <p:nvPr/>
        </p:nvSpPr>
        <p:spPr bwMode="auto">
          <a:xfrm>
            <a:off x="2209800" y="48133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p>
        </p:txBody>
      </p:sp>
      <p:sp>
        <p:nvSpPr>
          <p:cNvPr id="60" name="Rectangle 18"/>
          <p:cNvSpPr>
            <a:spLocks noChangeArrowheads="1"/>
          </p:cNvSpPr>
          <p:nvPr/>
        </p:nvSpPr>
        <p:spPr bwMode="auto">
          <a:xfrm>
            <a:off x="2819400" y="48133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solidFill>
                  <a:schemeClr val="tx1"/>
                </a:solidFill>
              </a:rPr>
              <a:t>3</a:t>
            </a:r>
            <a:endParaRPr lang="zh-CN" altLang="en-US" dirty="0">
              <a:solidFill>
                <a:schemeClr val="tx1"/>
              </a:solidFill>
            </a:endParaRPr>
          </a:p>
        </p:txBody>
      </p:sp>
      <p:sp>
        <p:nvSpPr>
          <p:cNvPr id="61" name="Rectangle 19"/>
          <p:cNvSpPr>
            <a:spLocks noChangeArrowheads="1"/>
          </p:cNvSpPr>
          <p:nvPr/>
        </p:nvSpPr>
        <p:spPr bwMode="auto">
          <a:xfrm>
            <a:off x="3429000" y="48133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solidFill>
                  <a:schemeClr val="tx1"/>
                </a:solidFill>
              </a:rPr>
              <a:t>6</a:t>
            </a:r>
            <a:endParaRPr lang="zh-CN" altLang="en-US" dirty="0">
              <a:solidFill>
                <a:schemeClr val="tx1"/>
              </a:solidFill>
            </a:endParaRPr>
          </a:p>
        </p:txBody>
      </p:sp>
      <p:grpSp>
        <p:nvGrpSpPr>
          <p:cNvPr id="62" name="Group 20"/>
          <p:cNvGrpSpPr>
            <a:grpSpLocks/>
          </p:cNvGrpSpPr>
          <p:nvPr/>
        </p:nvGrpSpPr>
        <p:grpSpPr bwMode="auto">
          <a:xfrm>
            <a:off x="2743200" y="5422900"/>
            <a:ext cx="990600" cy="765175"/>
            <a:chOff x="2928" y="2736"/>
            <a:chExt cx="624" cy="482"/>
          </a:xfrm>
        </p:grpSpPr>
        <p:sp>
          <p:nvSpPr>
            <p:cNvPr id="63" name="Text Box 21"/>
            <p:cNvSpPr txBox="1">
              <a:spLocks noChangeArrowheads="1"/>
            </p:cNvSpPr>
            <p:nvPr/>
          </p:nvSpPr>
          <p:spPr bwMode="auto">
            <a:xfrm>
              <a:off x="2928" y="2966"/>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front=1</a:t>
              </a:r>
            </a:p>
          </p:txBody>
        </p:sp>
        <p:sp>
          <p:nvSpPr>
            <p:cNvPr id="64" name="Line 22"/>
            <p:cNvSpPr>
              <a:spLocks noChangeShapeType="1"/>
            </p:cNvSpPr>
            <p:nvPr/>
          </p:nvSpPr>
          <p:spPr bwMode="auto">
            <a:xfrm flipV="1">
              <a:off x="3168" y="2736"/>
              <a:ext cx="0" cy="288"/>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5" name="Group 23"/>
          <p:cNvGrpSpPr>
            <a:grpSpLocks/>
          </p:cNvGrpSpPr>
          <p:nvPr/>
        </p:nvGrpSpPr>
        <p:grpSpPr bwMode="auto">
          <a:xfrm>
            <a:off x="3352800" y="3898900"/>
            <a:ext cx="990600" cy="869950"/>
            <a:chOff x="2974" y="1776"/>
            <a:chExt cx="624" cy="548"/>
          </a:xfrm>
        </p:grpSpPr>
        <p:sp>
          <p:nvSpPr>
            <p:cNvPr id="66" name="Text Box 24"/>
            <p:cNvSpPr txBox="1">
              <a:spLocks noChangeArrowheads="1"/>
            </p:cNvSpPr>
            <p:nvPr/>
          </p:nvSpPr>
          <p:spPr bwMode="auto">
            <a:xfrm>
              <a:off x="2974" y="177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rear=2</a:t>
              </a:r>
            </a:p>
          </p:txBody>
        </p:sp>
        <p:sp>
          <p:nvSpPr>
            <p:cNvPr id="67" name="Line 25"/>
            <p:cNvSpPr>
              <a:spLocks noChangeShapeType="1"/>
            </p:cNvSpPr>
            <p:nvPr/>
          </p:nvSpPr>
          <p:spPr bwMode="auto">
            <a:xfrm>
              <a:off x="3194" y="1988"/>
              <a:ext cx="0" cy="336"/>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8" name="Text Box 26"/>
          <p:cNvSpPr txBox="1">
            <a:spLocks noChangeArrowheads="1"/>
          </p:cNvSpPr>
          <p:nvPr/>
        </p:nvSpPr>
        <p:spPr bwMode="auto">
          <a:xfrm>
            <a:off x="2270125" y="6048376"/>
            <a:ext cx="1768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b="1" dirty="0" err="1">
                <a:solidFill>
                  <a:schemeClr val="hlink"/>
                </a:solidFill>
                <a:latin typeface="Arial" charset="0"/>
              </a:rPr>
              <a:t>Enqueue</a:t>
            </a:r>
            <a:r>
              <a:rPr lang="en-US" altLang="zh-CN" sz="2000" b="1" dirty="0">
                <a:solidFill>
                  <a:schemeClr val="hlink"/>
                </a:solidFill>
                <a:latin typeface="Arial" charset="0"/>
              </a:rPr>
              <a:t>(6)</a:t>
            </a:r>
          </a:p>
        </p:txBody>
      </p:sp>
      <p:sp>
        <p:nvSpPr>
          <p:cNvPr id="69" name="Rectangle 29"/>
          <p:cNvSpPr>
            <a:spLocks noChangeArrowheads="1"/>
          </p:cNvSpPr>
          <p:nvPr/>
        </p:nvSpPr>
        <p:spPr bwMode="auto">
          <a:xfrm>
            <a:off x="43434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p>
        </p:txBody>
      </p:sp>
      <p:sp>
        <p:nvSpPr>
          <p:cNvPr id="70" name="Rectangle 30"/>
          <p:cNvSpPr>
            <a:spLocks noChangeArrowheads="1"/>
          </p:cNvSpPr>
          <p:nvPr/>
        </p:nvSpPr>
        <p:spPr bwMode="auto">
          <a:xfrm>
            <a:off x="49530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solidFill>
                <a:schemeClr val="accent6">
                  <a:lumMod val="40000"/>
                  <a:lumOff val="60000"/>
                </a:schemeClr>
              </a:solidFill>
            </a:endParaRPr>
          </a:p>
        </p:txBody>
      </p:sp>
      <p:sp>
        <p:nvSpPr>
          <p:cNvPr id="71" name="Rectangle 31"/>
          <p:cNvSpPr>
            <a:spLocks noChangeArrowheads="1"/>
          </p:cNvSpPr>
          <p:nvPr/>
        </p:nvSpPr>
        <p:spPr bwMode="auto">
          <a:xfrm>
            <a:off x="55626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solidFill>
                  <a:schemeClr val="tx1"/>
                </a:solidFill>
              </a:rPr>
              <a:t>6</a:t>
            </a:r>
            <a:endParaRPr lang="zh-CN" altLang="en-US" dirty="0">
              <a:solidFill>
                <a:schemeClr val="tx1"/>
              </a:solidFill>
            </a:endParaRPr>
          </a:p>
        </p:txBody>
      </p:sp>
      <p:grpSp>
        <p:nvGrpSpPr>
          <p:cNvPr id="72" name="Group 32"/>
          <p:cNvGrpSpPr>
            <a:grpSpLocks/>
          </p:cNvGrpSpPr>
          <p:nvPr/>
        </p:nvGrpSpPr>
        <p:grpSpPr bwMode="auto">
          <a:xfrm>
            <a:off x="5486400" y="5410200"/>
            <a:ext cx="990600" cy="765175"/>
            <a:chOff x="2928" y="2736"/>
            <a:chExt cx="624" cy="482"/>
          </a:xfrm>
        </p:grpSpPr>
        <p:sp>
          <p:nvSpPr>
            <p:cNvPr id="73" name="Text Box 33"/>
            <p:cNvSpPr txBox="1">
              <a:spLocks noChangeArrowheads="1"/>
            </p:cNvSpPr>
            <p:nvPr/>
          </p:nvSpPr>
          <p:spPr bwMode="auto">
            <a:xfrm>
              <a:off x="2928" y="2966"/>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front=2</a:t>
              </a:r>
            </a:p>
          </p:txBody>
        </p:sp>
        <p:sp>
          <p:nvSpPr>
            <p:cNvPr id="74" name="Line 34"/>
            <p:cNvSpPr>
              <a:spLocks noChangeShapeType="1"/>
            </p:cNvSpPr>
            <p:nvPr/>
          </p:nvSpPr>
          <p:spPr bwMode="auto">
            <a:xfrm flipV="1">
              <a:off x="3168" y="2736"/>
              <a:ext cx="0" cy="288"/>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5" name="Group 35"/>
          <p:cNvGrpSpPr>
            <a:grpSpLocks/>
          </p:cNvGrpSpPr>
          <p:nvPr/>
        </p:nvGrpSpPr>
        <p:grpSpPr bwMode="auto">
          <a:xfrm>
            <a:off x="5562600" y="3886200"/>
            <a:ext cx="990600" cy="869950"/>
            <a:chOff x="2974" y="1776"/>
            <a:chExt cx="624" cy="548"/>
          </a:xfrm>
        </p:grpSpPr>
        <p:sp>
          <p:nvSpPr>
            <p:cNvPr id="76" name="Text Box 36"/>
            <p:cNvSpPr txBox="1">
              <a:spLocks noChangeArrowheads="1"/>
            </p:cNvSpPr>
            <p:nvPr/>
          </p:nvSpPr>
          <p:spPr bwMode="auto">
            <a:xfrm>
              <a:off x="2974" y="177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rear=2</a:t>
              </a:r>
            </a:p>
          </p:txBody>
        </p:sp>
        <p:sp>
          <p:nvSpPr>
            <p:cNvPr id="77" name="Line 37"/>
            <p:cNvSpPr>
              <a:spLocks noChangeShapeType="1"/>
            </p:cNvSpPr>
            <p:nvPr/>
          </p:nvSpPr>
          <p:spPr bwMode="auto">
            <a:xfrm>
              <a:off x="3194" y="1988"/>
              <a:ext cx="0" cy="336"/>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8" name="Text Box 38"/>
          <p:cNvSpPr txBox="1">
            <a:spLocks noChangeArrowheads="1"/>
          </p:cNvSpPr>
          <p:nvPr/>
        </p:nvSpPr>
        <p:spPr bwMode="auto">
          <a:xfrm>
            <a:off x="4580370" y="6017204"/>
            <a:ext cx="1768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b="1" dirty="0" err="1">
                <a:solidFill>
                  <a:schemeClr val="hlink"/>
                </a:solidFill>
                <a:latin typeface="Arial" charset="0"/>
              </a:rPr>
              <a:t>Dequeue</a:t>
            </a:r>
            <a:r>
              <a:rPr lang="en-US" altLang="zh-CN" sz="2000" b="1" dirty="0">
                <a:solidFill>
                  <a:schemeClr val="hlink"/>
                </a:solidFill>
                <a:latin typeface="Arial" charset="0"/>
              </a:rPr>
              <a:t>()</a:t>
            </a:r>
          </a:p>
        </p:txBody>
      </p:sp>
      <p:sp>
        <p:nvSpPr>
          <p:cNvPr id="79" name="灯片编号占位符 3"/>
          <p:cNvSpPr txBox="1">
            <a:spLocks/>
          </p:cNvSpPr>
          <p:nvPr/>
        </p:nvSpPr>
        <p:spPr>
          <a:xfrm>
            <a:off x="6534150" y="6340475"/>
            <a:ext cx="20574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11</a:t>
            </a:r>
          </a:p>
        </p:txBody>
      </p:sp>
      <p:sp>
        <p:nvSpPr>
          <p:cNvPr id="80" name="Rectangle 29"/>
          <p:cNvSpPr>
            <a:spLocks noChangeArrowheads="1"/>
          </p:cNvSpPr>
          <p:nvPr/>
        </p:nvSpPr>
        <p:spPr bwMode="auto">
          <a:xfrm>
            <a:off x="6477000" y="4784724"/>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p>
        </p:txBody>
      </p:sp>
      <p:sp>
        <p:nvSpPr>
          <p:cNvPr id="81" name="Rectangle 30"/>
          <p:cNvSpPr>
            <a:spLocks noChangeArrowheads="1"/>
          </p:cNvSpPr>
          <p:nvPr/>
        </p:nvSpPr>
        <p:spPr bwMode="auto">
          <a:xfrm>
            <a:off x="7086600" y="4784724"/>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solidFill>
                <a:schemeClr val="accent6">
                  <a:lumMod val="40000"/>
                  <a:lumOff val="60000"/>
                </a:schemeClr>
              </a:solidFill>
            </a:endParaRPr>
          </a:p>
        </p:txBody>
      </p:sp>
      <p:sp>
        <p:nvSpPr>
          <p:cNvPr id="82" name="Rectangle 31"/>
          <p:cNvSpPr>
            <a:spLocks noChangeArrowheads="1"/>
          </p:cNvSpPr>
          <p:nvPr/>
        </p:nvSpPr>
        <p:spPr bwMode="auto">
          <a:xfrm>
            <a:off x="7696200" y="4784724"/>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solidFill>
                <a:schemeClr val="accent6">
                  <a:lumMod val="40000"/>
                  <a:lumOff val="60000"/>
                </a:schemeClr>
              </a:solidFill>
            </a:endParaRPr>
          </a:p>
        </p:txBody>
      </p:sp>
      <p:grpSp>
        <p:nvGrpSpPr>
          <p:cNvPr id="83" name="Group 32"/>
          <p:cNvGrpSpPr>
            <a:grpSpLocks/>
          </p:cNvGrpSpPr>
          <p:nvPr/>
        </p:nvGrpSpPr>
        <p:grpSpPr bwMode="auto">
          <a:xfrm>
            <a:off x="8077200" y="5394327"/>
            <a:ext cx="990600" cy="735013"/>
            <a:chOff x="2928" y="2736"/>
            <a:chExt cx="624" cy="463"/>
          </a:xfrm>
        </p:grpSpPr>
        <p:sp>
          <p:nvSpPr>
            <p:cNvPr id="84" name="Text Box 33"/>
            <p:cNvSpPr txBox="1">
              <a:spLocks noChangeArrowheads="1"/>
            </p:cNvSpPr>
            <p:nvPr/>
          </p:nvSpPr>
          <p:spPr bwMode="auto">
            <a:xfrm>
              <a:off x="2928" y="2966"/>
              <a:ext cx="62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1800" dirty="0">
                  <a:latin typeface="+mn-lt"/>
                </a:rPr>
                <a:t>front = 3</a:t>
              </a:r>
            </a:p>
          </p:txBody>
        </p:sp>
        <p:sp>
          <p:nvSpPr>
            <p:cNvPr id="85" name="Line 34"/>
            <p:cNvSpPr>
              <a:spLocks noChangeShapeType="1"/>
            </p:cNvSpPr>
            <p:nvPr/>
          </p:nvSpPr>
          <p:spPr bwMode="auto">
            <a:xfrm flipV="1">
              <a:off x="3168" y="2736"/>
              <a:ext cx="0" cy="288"/>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86" name="Group 35"/>
          <p:cNvGrpSpPr>
            <a:grpSpLocks/>
          </p:cNvGrpSpPr>
          <p:nvPr/>
        </p:nvGrpSpPr>
        <p:grpSpPr bwMode="auto">
          <a:xfrm>
            <a:off x="7620000" y="3870324"/>
            <a:ext cx="990600" cy="869950"/>
            <a:chOff x="2974" y="1776"/>
            <a:chExt cx="624" cy="548"/>
          </a:xfrm>
        </p:grpSpPr>
        <p:sp>
          <p:nvSpPr>
            <p:cNvPr id="87" name="Text Box 36"/>
            <p:cNvSpPr txBox="1">
              <a:spLocks noChangeArrowheads="1"/>
            </p:cNvSpPr>
            <p:nvPr/>
          </p:nvSpPr>
          <p:spPr bwMode="auto">
            <a:xfrm>
              <a:off x="2974" y="177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rear=2</a:t>
              </a:r>
            </a:p>
          </p:txBody>
        </p:sp>
        <p:sp>
          <p:nvSpPr>
            <p:cNvPr id="88" name="Line 37"/>
            <p:cNvSpPr>
              <a:spLocks noChangeShapeType="1"/>
            </p:cNvSpPr>
            <p:nvPr/>
          </p:nvSpPr>
          <p:spPr bwMode="auto">
            <a:xfrm>
              <a:off x="3194" y="1988"/>
              <a:ext cx="0" cy="336"/>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9" name="Text Box 38"/>
          <p:cNvSpPr txBox="1">
            <a:spLocks noChangeArrowheads="1"/>
          </p:cNvSpPr>
          <p:nvPr/>
        </p:nvSpPr>
        <p:spPr bwMode="auto">
          <a:xfrm>
            <a:off x="6537325" y="6019800"/>
            <a:ext cx="1768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b="1" dirty="0" err="1">
                <a:solidFill>
                  <a:schemeClr val="hlink"/>
                </a:solidFill>
                <a:latin typeface="Arial" charset="0"/>
              </a:rPr>
              <a:t>Dequeue</a:t>
            </a:r>
            <a:r>
              <a:rPr lang="en-US" altLang="zh-CN" sz="2000" b="1" dirty="0">
                <a:solidFill>
                  <a:schemeClr val="hlink"/>
                </a:solidFill>
                <a:latin typeface="Arial" charset="0"/>
              </a:rPr>
              <a:t>()</a:t>
            </a:r>
          </a:p>
        </p:txBody>
      </p:sp>
    </p:spTree>
    <p:extLst>
      <p:ext uri="{BB962C8B-B14F-4D97-AF65-F5344CB8AC3E}">
        <p14:creationId xmlns:p14="http://schemas.microsoft.com/office/powerpoint/2010/main" val="4256912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animBg="1"/>
      <p:bldP spid="52" grpId="0" animBg="1"/>
      <p:bldP spid="59" grpId="0" animBg="1"/>
      <p:bldP spid="60" grpId="0" animBg="1"/>
      <p:bldP spid="61" grpId="0" animBg="1"/>
      <p:bldP spid="68" grpId="0"/>
      <p:bldP spid="69" grpId="0" animBg="1"/>
      <p:bldP spid="70" grpId="0" animBg="1"/>
      <p:bldP spid="71" grpId="0" animBg="1"/>
      <p:bldP spid="78" grpId="0"/>
      <p:bldP spid="80" grpId="0" animBg="1"/>
      <p:bldP spid="81" grpId="0" animBg="1"/>
      <p:bldP spid="82" grpId="0" animBg="1"/>
      <p:bldP spid="8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Queue</a:t>
            </a:r>
            <a:r>
              <a:rPr lang="zh-CN" altLang="en-US" dirty="0"/>
              <a:t> </a:t>
            </a:r>
            <a:r>
              <a:rPr lang="en-US" altLang="zh-CN" dirty="0"/>
              <a:t>Implementation</a:t>
            </a:r>
            <a:endParaRPr lang="zh-CN" altLang="en-US" dirty="0"/>
          </a:p>
        </p:txBody>
      </p:sp>
      <p:sp>
        <p:nvSpPr>
          <p:cNvPr id="3" name="内容占位符 2"/>
          <p:cNvSpPr>
            <a:spLocks noGrp="1"/>
          </p:cNvSpPr>
          <p:nvPr>
            <p:ph idx="1"/>
          </p:nvPr>
        </p:nvSpPr>
        <p:spPr>
          <a:xfrm>
            <a:off x="457200" y="1600201"/>
            <a:ext cx="8229600" cy="2362200"/>
          </a:xfrm>
        </p:spPr>
        <p:txBody>
          <a:bodyPr>
            <a:normAutofit/>
          </a:bodyPr>
          <a:lstStyle/>
          <a:p>
            <a:r>
              <a:rPr lang="en-US" altLang="zh-CN" dirty="0">
                <a:latin typeface="+mn-lt"/>
                <a:ea typeface="宋体" pitchFamily="2" charset="-122"/>
              </a:rPr>
              <a:t>Naïve</a:t>
            </a:r>
            <a:r>
              <a:rPr lang="zh-CN" altLang="en-US" dirty="0">
                <a:latin typeface="+mn-lt"/>
                <a:ea typeface="宋体" pitchFamily="2" charset="-122"/>
              </a:rPr>
              <a:t> </a:t>
            </a:r>
            <a:r>
              <a:rPr lang="en-US" altLang="zh-CN" dirty="0">
                <a:latin typeface="+mn-lt"/>
                <a:ea typeface="宋体" pitchFamily="2" charset="-122"/>
              </a:rPr>
              <a:t>way:</a:t>
            </a:r>
            <a:r>
              <a:rPr lang="en-US" altLang="zh-CN" dirty="0">
                <a:solidFill>
                  <a:srgbClr val="C00000"/>
                </a:solidFill>
                <a:ea typeface="宋体" pitchFamily="2" charset="-122"/>
              </a:rPr>
              <a:t> not efficient for </a:t>
            </a:r>
            <a:r>
              <a:rPr lang="en-US" altLang="zh-CN" dirty="0" err="1">
                <a:solidFill>
                  <a:srgbClr val="C00000"/>
                </a:solidFill>
                <a:ea typeface="宋体" pitchFamily="2" charset="-122"/>
              </a:rPr>
              <a:t>Dequeue</a:t>
            </a:r>
            <a:r>
              <a:rPr lang="en-US" altLang="zh-CN" dirty="0">
                <a:solidFill>
                  <a:srgbClr val="C00000"/>
                </a:solidFill>
                <a:ea typeface="宋体" pitchFamily="2" charset="-122"/>
              </a:rPr>
              <a:t> operation. </a:t>
            </a:r>
          </a:p>
          <a:p>
            <a:r>
              <a:rPr lang="en-US" altLang="zh-CN" dirty="0"/>
              <a:t>A Better Array Implementation</a:t>
            </a:r>
          </a:p>
          <a:p>
            <a:pPr lvl="1"/>
            <a:r>
              <a:rPr lang="en-US" altLang="zh-CN" dirty="0">
                <a:solidFill>
                  <a:srgbClr val="0070C0"/>
                </a:solidFill>
                <a:ea typeface="宋体" pitchFamily="2" charset="-122"/>
              </a:rPr>
              <a:t>Efficient, but what’s the problem? (After several dequeue operations, </a:t>
            </a:r>
            <a:r>
              <a:rPr lang="en-US" altLang="zh-CN" b="1" dirty="0">
                <a:solidFill>
                  <a:srgbClr val="7030A0"/>
                </a:solidFill>
                <a:ea typeface="宋体" pitchFamily="2" charset="-122"/>
              </a:rPr>
              <a:t>how to insert a new data into the queue?)</a:t>
            </a:r>
          </a:p>
        </p:txBody>
      </p:sp>
      <p:sp>
        <p:nvSpPr>
          <p:cNvPr id="4" name="灯片编号占位符 3"/>
          <p:cNvSpPr>
            <a:spLocks noGrp="1"/>
          </p:cNvSpPr>
          <p:nvPr>
            <p:ph type="sldNum" sz="quarter" idx="12"/>
          </p:nvPr>
        </p:nvSpPr>
        <p:spPr>
          <a:xfrm>
            <a:off x="4400550" y="6356351"/>
            <a:ext cx="2057400" cy="365125"/>
          </a:xfrm>
        </p:spPr>
        <p:txBody>
          <a:bodyPr/>
          <a:lstStyle/>
          <a:p>
            <a:fld id="{B6F15528-21DE-4FAA-801E-634DDDAF4B2B}" type="slidenum">
              <a:rPr lang="en-US" smtClean="0"/>
              <a:pPr/>
              <a:t>12</a:t>
            </a:fld>
            <a:endParaRPr lang="en-US"/>
          </a:p>
        </p:txBody>
      </p:sp>
      <p:sp>
        <p:nvSpPr>
          <p:cNvPr id="6" name="Footer Placeholder 5"/>
          <p:cNvSpPr>
            <a:spLocks noGrp="1"/>
          </p:cNvSpPr>
          <p:nvPr>
            <p:ph type="ftr" sz="quarter" idx="11"/>
          </p:nvPr>
        </p:nvSpPr>
        <p:spPr>
          <a:xfrm>
            <a:off x="2343150" y="6356351"/>
            <a:ext cx="3086100" cy="365125"/>
          </a:xfrm>
        </p:spPr>
        <p:txBody>
          <a:bodyPr/>
          <a:lstStyle/>
          <a:p>
            <a:r>
              <a:rPr lang="en-US"/>
              <a:t>Data Structures and Algorithms</a:t>
            </a:r>
          </a:p>
        </p:txBody>
      </p:sp>
      <p:sp>
        <p:nvSpPr>
          <p:cNvPr id="7" name="Rectangle 4"/>
          <p:cNvSpPr>
            <a:spLocks noChangeArrowheads="1"/>
          </p:cNvSpPr>
          <p:nvPr/>
        </p:nvSpPr>
        <p:spPr bwMode="auto">
          <a:xfrm>
            <a:off x="1524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p>
        </p:txBody>
      </p:sp>
      <p:sp>
        <p:nvSpPr>
          <p:cNvPr id="8" name="Rectangle 5"/>
          <p:cNvSpPr>
            <a:spLocks noChangeArrowheads="1"/>
          </p:cNvSpPr>
          <p:nvPr/>
        </p:nvSpPr>
        <p:spPr bwMode="auto">
          <a:xfrm>
            <a:off x="7620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t>3</a:t>
            </a:r>
            <a:endParaRPr lang="zh-CN" altLang="en-US" dirty="0"/>
          </a:p>
        </p:txBody>
      </p:sp>
      <p:sp>
        <p:nvSpPr>
          <p:cNvPr id="9" name="Rectangle 6"/>
          <p:cNvSpPr>
            <a:spLocks noChangeArrowheads="1"/>
          </p:cNvSpPr>
          <p:nvPr/>
        </p:nvSpPr>
        <p:spPr bwMode="auto">
          <a:xfrm>
            <a:off x="13716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solidFill>
                <a:schemeClr val="bg1">
                  <a:lumMod val="65000"/>
                </a:schemeClr>
              </a:solidFill>
            </a:endParaRPr>
          </a:p>
        </p:txBody>
      </p:sp>
      <p:grpSp>
        <p:nvGrpSpPr>
          <p:cNvPr id="10" name="Group 12"/>
          <p:cNvGrpSpPr>
            <a:grpSpLocks/>
          </p:cNvGrpSpPr>
          <p:nvPr/>
        </p:nvGrpSpPr>
        <p:grpSpPr bwMode="auto">
          <a:xfrm>
            <a:off x="685800" y="5410200"/>
            <a:ext cx="990600" cy="765175"/>
            <a:chOff x="2928" y="2736"/>
            <a:chExt cx="624" cy="482"/>
          </a:xfrm>
        </p:grpSpPr>
        <p:sp>
          <p:nvSpPr>
            <p:cNvPr id="11" name="Text Box 7"/>
            <p:cNvSpPr txBox="1">
              <a:spLocks noChangeArrowheads="1"/>
            </p:cNvSpPr>
            <p:nvPr/>
          </p:nvSpPr>
          <p:spPr bwMode="auto">
            <a:xfrm>
              <a:off x="2928" y="2966"/>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front=1</a:t>
              </a:r>
            </a:p>
          </p:txBody>
        </p:sp>
        <p:sp>
          <p:nvSpPr>
            <p:cNvPr id="12" name="Line 8"/>
            <p:cNvSpPr>
              <a:spLocks noChangeShapeType="1"/>
            </p:cNvSpPr>
            <p:nvPr/>
          </p:nvSpPr>
          <p:spPr bwMode="auto">
            <a:xfrm flipV="1">
              <a:off x="3168" y="2736"/>
              <a:ext cx="0" cy="288"/>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3" name="Group 11"/>
          <p:cNvGrpSpPr>
            <a:grpSpLocks/>
          </p:cNvGrpSpPr>
          <p:nvPr/>
        </p:nvGrpSpPr>
        <p:grpSpPr bwMode="auto">
          <a:xfrm>
            <a:off x="762000" y="3886200"/>
            <a:ext cx="990600" cy="869950"/>
            <a:chOff x="2974" y="1776"/>
            <a:chExt cx="624" cy="548"/>
          </a:xfrm>
        </p:grpSpPr>
        <p:sp>
          <p:nvSpPr>
            <p:cNvPr id="14" name="Text Box 9"/>
            <p:cNvSpPr txBox="1">
              <a:spLocks noChangeArrowheads="1"/>
            </p:cNvSpPr>
            <p:nvPr/>
          </p:nvSpPr>
          <p:spPr bwMode="auto">
            <a:xfrm>
              <a:off x="2974" y="177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rear=1</a:t>
              </a:r>
            </a:p>
          </p:txBody>
        </p:sp>
        <p:sp>
          <p:nvSpPr>
            <p:cNvPr id="15" name="Line 10"/>
            <p:cNvSpPr>
              <a:spLocks noChangeShapeType="1"/>
            </p:cNvSpPr>
            <p:nvPr/>
          </p:nvSpPr>
          <p:spPr bwMode="auto">
            <a:xfrm>
              <a:off x="3194" y="1988"/>
              <a:ext cx="0" cy="336"/>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7" name="Rectangle 17"/>
          <p:cNvSpPr>
            <a:spLocks noChangeArrowheads="1"/>
          </p:cNvSpPr>
          <p:nvPr/>
        </p:nvSpPr>
        <p:spPr bwMode="auto">
          <a:xfrm>
            <a:off x="2209800" y="48133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p>
        </p:txBody>
      </p:sp>
      <p:sp>
        <p:nvSpPr>
          <p:cNvPr id="18" name="Rectangle 18"/>
          <p:cNvSpPr>
            <a:spLocks noChangeArrowheads="1"/>
          </p:cNvSpPr>
          <p:nvPr/>
        </p:nvSpPr>
        <p:spPr bwMode="auto">
          <a:xfrm>
            <a:off x="2819400" y="48133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solidFill>
                  <a:schemeClr val="tx1"/>
                </a:solidFill>
              </a:rPr>
              <a:t>3</a:t>
            </a:r>
            <a:endParaRPr lang="zh-CN" altLang="en-US" dirty="0">
              <a:solidFill>
                <a:schemeClr val="tx1"/>
              </a:solidFill>
            </a:endParaRPr>
          </a:p>
        </p:txBody>
      </p:sp>
      <p:sp>
        <p:nvSpPr>
          <p:cNvPr id="19" name="Rectangle 19"/>
          <p:cNvSpPr>
            <a:spLocks noChangeArrowheads="1"/>
          </p:cNvSpPr>
          <p:nvPr/>
        </p:nvSpPr>
        <p:spPr bwMode="auto">
          <a:xfrm>
            <a:off x="3429000" y="48133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solidFill>
                  <a:schemeClr val="tx1"/>
                </a:solidFill>
              </a:rPr>
              <a:t>6</a:t>
            </a:r>
            <a:endParaRPr lang="zh-CN" altLang="en-US" dirty="0">
              <a:solidFill>
                <a:schemeClr val="tx1"/>
              </a:solidFill>
            </a:endParaRPr>
          </a:p>
        </p:txBody>
      </p:sp>
      <p:grpSp>
        <p:nvGrpSpPr>
          <p:cNvPr id="20" name="Group 20"/>
          <p:cNvGrpSpPr>
            <a:grpSpLocks/>
          </p:cNvGrpSpPr>
          <p:nvPr/>
        </p:nvGrpSpPr>
        <p:grpSpPr bwMode="auto">
          <a:xfrm>
            <a:off x="2743200" y="5422900"/>
            <a:ext cx="990600" cy="765175"/>
            <a:chOff x="2928" y="2736"/>
            <a:chExt cx="624" cy="482"/>
          </a:xfrm>
        </p:grpSpPr>
        <p:sp>
          <p:nvSpPr>
            <p:cNvPr id="21" name="Text Box 21"/>
            <p:cNvSpPr txBox="1">
              <a:spLocks noChangeArrowheads="1"/>
            </p:cNvSpPr>
            <p:nvPr/>
          </p:nvSpPr>
          <p:spPr bwMode="auto">
            <a:xfrm>
              <a:off x="2928" y="2966"/>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front=1</a:t>
              </a:r>
            </a:p>
          </p:txBody>
        </p:sp>
        <p:sp>
          <p:nvSpPr>
            <p:cNvPr id="22" name="Line 22"/>
            <p:cNvSpPr>
              <a:spLocks noChangeShapeType="1"/>
            </p:cNvSpPr>
            <p:nvPr/>
          </p:nvSpPr>
          <p:spPr bwMode="auto">
            <a:xfrm flipV="1">
              <a:off x="3168" y="2736"/>
              <a:ext cx="0" cy="288"/>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3" name="Group 23"/>
          <p:cNvGrpSpPr>
            <a:grpSpLocks/>
          </p:cNvGrpSpPr>
          <p:nvPr/>
        </p:nvGrpSpPr>
        <p:grpSpPr bwMode="auto">
          <a:xfrm>
            <a:off x="3352800" y="3898900"/>
            <a:ext cx="990600" cy="869950"/>
            <a:chOff x="2974" y="1776"/>
            <a:chExt cx="624" cy="548"/>
          </a:xfrm>
        </p:grpSpPr>
        <p:sp>
          <p:nvSpPr>
            <p:cNvPr id="24" name="Text Box 24"/>
            <p:cNvSpPr txBox="1">
              <a:spLocks noChangeArrowheads="1"/>
            </p:cNvSpPr>
            <p:nvPr/>
          </p:nvSpPr>
          <p:spPr bwMode="auto">
            <a:xfrm>
              <a:off x="2974" y="177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rear=2</a:t>
              </a:r>
            </a:p>
          </p:txBody>
        </p:sp>
        <p:sp>
          <p:nvSpPr>
            <p:cNvPr id="25" name="Line 25"/>
            <p:cNvSpPr>
              <a:spLocks noChangeShapeType="1"/>
            </p:cNvSpPr>
            <p:nvPr/>
          </p:nvSpPr>
          <p:spPr bwMode="auto">
            <a:xfrm>
              <a:off x="3194" y="1988"/>
              <a:ext cx="0" cy="336"/>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6" name="Text Box 26"/>
          <p:cNvSpPr txBox="1">
            <a:spLocks noChangeArrowheads="1"/>
          </p:cNvSpPr>
          <p:nvPr/>
        </p:nvSpPr>
        <p:spPr bwMode="auto">
          <a:xfrm>
            <a:off x="2270125" y="6048376"/>
            <a:ext cx="1768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b="1" dirty="0" err="1">
                <a:solidFill>
                  <a:schemeClr val="hlink"/>
                </a:solidFill>
                <a:latin typeface="Arial" charset="0"/>
              </a:rPr>
              <a:t>Enqueue</a:t>
            </a:r>
            <a:r>
              <a:rPr lang="en-US" altLang="zh-CN" sz="2000" b="1" dirty="0">
                <a:solidFill>
                  <a:schemeClr val="hlink"/>
                </a:solidFill>
                <a:latin typeface="Arial" charset="0"/>
              </a:rPr>
              <a:t>(6)</a:t>
            </a:r>
          </a:p>
        </p:txBody>
      </p:sp>
      <p:sp>
        <p:nvSpPr>
          <p:cNvPr id="27" name="Rectangle 29"/>
          <p:cNvSpPr>
            <a:spLocks noChangeArrowheads="1"/>
          </p:cNvSpPr>
          <p:nvPr/>
        </p:nvSpPr>
        <p:spPr bwMode="auto">
          <a:xfrm>
            <a:off x="43434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p>
        </p:txBody>
      </p:sp>
      <p:sp>
        <p:nvSpPr>
          <p:cNvPr id="28" name="Rectangle 30"/>
          <p:cNvSpPr>
            <a:spLocks noChangeArrowheads="1"/>
          </p:cNvSpPr>
          <p:nvPr/>
        </p:nvSpPr>
        <p:spPr bwMode="auto">
          <a:xfrm>
            <a:off x="49530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solidFill>
                <a:schemeClr val="accent6">
                  <a:lumMod val="40000"/>
                  <a:lumOff val="60000"/>
                </a:schemeClr>
              </a:solidFill>
            </a:endParaRPr>
          </a:p>
        </p:txBody>
      </p:sp>
      <p:sp>
        <p:nvSpPr>
          <p:cNvPr id="29" name="Rectangle 31"/>
          <p:cNvSpPr>
            <a:spLocks noChangeArrowheads="1"/>
          </p:cNvSpPr>
          <p:nvPr/>
        </p:nvSpPr>
        <p:spPr bwMode="auto">
          <a:xfrm>
            <a:off x="5562600" y="48006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solidFill>
                  <a:schemeClr val="tx1"/>
                </a:solidFill>
              </a:rPr>
              <a:t>6</a:t>
            </a:r>
            <a:endParaRPr lang="zh-CN" altLang="en-US" dirty="0">
              <a:solidFill>
                <a:schemeClr val="tx1"/>
              </a:solidFill>
            </a:endParaRPr>
          </a:p>
        </p:txBody>
      </p:sp>
      <p:grpSp>
        <p:nvGrpSpPr>
          <p:cNvPr id="30" name="Group 32"/>
          <p:cNvGrpSpPr>
            <a:grpSpLocks/>
          </p:cNvGrpSpPr>
          <p:nvPr/>
        </p:nvGrpSpPr>
        <p:grpSpPr bwMode="auto">
          <a:xfrm>
            <a:off x="5486400" y="5410200"/>
            <a:ext cx="990600" cy="765175"/>
            <a:chOff x="2928" y="2736"/>
            <a:chExt cx="624" cy="482"/>
          </a:xfrm>
        </p:grpSpPr>
        <p:sp>
          <p:nvSpPr>
            <p:cNvPr id="31" name="Text Box 33"/>
            <p:cNvSpPr txBox="1">
              <a:spLocks noChangeArrowheads="1"/>
            </p:cNvSpPr>
            <p:nvPr/>
          </p:nvSpPr>
          <p:spPr bwMode="auto">
            <a:xfrm>
              <a:off x="2928" y="2966"/>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front=2</a:t>
              </a:r>
            </a:p>
          </p:txBody>
        </p:sp>
        <p:sp>
          <p:nvSpPr>
            <p:cNvPr id="32" name="Line 34"/>
            <p:cNvSpPr>
              <a:spLocks noChangeShapeType="1"/>
            </p:cNvSpPr>
            <p:nvPr/>
          </p:nvSpPr>
          <p:spPr bwMode="auto">
            <a:xfrm flipV="1">
              <a:off x="3168" y="2736"/>
              <a:ext cx="0" cy="288"/>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3" name="Group 35"/>
          <p:cNvGrpSpPr>
            <a:grpSpLocks/>
          </p:cNvGrpSpPr>
          <p:nvPr/>
        </p:nvGrpSpPr>
        <p:grpSpPr bwMode="auto">
          <a:xfrm>
            <a:off x="5562600" y="3886200"/>
            <a:ext cx="990600" cy="869950"/>
            <a:chOff x="2974" y="1776"/>
            <a:chExt cx="624" cy="548"/>
          </a:xfrm>
        </p:grpSpPr>
        <p:sp>
          <p:nvSpPr>
            <p:cNvPr id="34" name="Text Box 36"/>
            <p:cNvSpPr txBox="1">
              <a:spLocks noChangeArrowheads="1"/>
            </p:cNvSpPr>
            <p:nvPr/>
          </p:nvSpPr>
          <p:spPr bwMode="auto">
            <a:xfrm>
              <a:off x="2974" y="177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rear=2</a:t>
              </a:r>
            </a:p>
          </p:txBody>
        </p:sp>
        <p:sp>
          <p:nvSpPr>
            <p:cNvPr id="35" name="Line 37"/>
            <p:cNvSpPr>
              <a:spLocks noChangeShapeType="1"/>
            </p:cNvSpPr>
            <p:nvPr/>
          </p:nvSpPr>
          <p:spPr bwMode="auto">
            <a:xfrm>
              <a:off x="3194" y="1988"/>
              <a:ext cx="0" cy="336"/>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6" name="Text Box 38"/>
          <p:cNvSpPr txBox="1">
            <a:spLocks noChangeArrowheads="1"/>
          </p:cNvSpPr>
          <p:nvPr/>
        </p:nvSpPr>
        <p:spPr bwMode="auto">
          <a:xfrm>
            <a:off x="4580370" y="6017204"/>
            <a:ext cx="1768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b="1" dirty="0" err="1">
                <a:solidFill>
                  <a:schemeClr val="hlink"/>
                </a:solidFill>
                <a:latin typeface="Arial" charset="0"/>
              </a:rPr>
              <a:t>Dequeue</a:t>
            </a:r>
            <a:r>
              <a:rPr lang="en-US" altLang="zh-CN" sz="2000" b="1" dirty="0">
                <a:solidFill>
                  <a:schemeClr val="hlink"/>
                </a:solidFill>
                <a:latin typeface="Arial" charset="0"/>
              </a:rPr>
              <a:t>()</a:t>
            </a:r>
          </a:p>
        </p:txBody>
      </p:sp>
      <p:sp>
        <p:nvSpPr>
          <p:cNvPr id="37" name="灯片编号占位符 3"/>
          <p:cNvSpPr txBox="1">
            <a:spLocks/>
          </p:cNvSpPr>
          <p:nvPr/>
        </p:nvSpPr>
        <p:spPr>
          <a:xfrm>
            <a:off x="6534150" y="6340475"/>
            <a:ext cx="20574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12</a:t>
            </a:fld>
            <a:endParaRPr lang="en-US"/>
          </a:p>
        </p:txBody>
      </p:sp>
      <p:sp>
        <p:nvSpPr>
          <p:cNvPr id="38" name="Rectangle 29"/>
          <p:cNvSpPr>
            <a:spLocks noChangeArrowheads="1"/>
          </p:cNvSpPr>
          <p:nvPr/>
        </p:nvSpPr>
        <p:spPr bwMode="auto">
          <a:xfrm>
            <a:off x="6477000" y="4784724"/>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p>
        </p:txBody>
      </p:sp>
      <p:sp>
        <p:nvSpPr>
          <p:cNvPr id="39" name="Rectangle 30"/>
          <p:cNvSpPr>
            <a:spLocks noChangeArrowheads="1"/>
          </p:cNvSpPr>
          <p:nvPr/>
        </p:nvSpPr>
        <p:spPr bwMode="auto">
          <a:xfrm>
            <a:off x="7086600" y="4784724"/>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solidFill>
                <a:schemeClr val="accent6">
                  <a:lumMod val="40000"/>
                  <a:lumOff val="60000"/>
                </a:schemeClr>
              </a:solidFill>
            </a:endParaRPr>
          </a:p>
        </p:txBody>
      </p:sp>
      <p:sp>
        <p:nvSpPr>
          <p:cNvPr id="40" name="Rectangle 31"/>
          <p:cNvSpPr>
            <a:spLocks noChangeArrowheads="1"/>
          </p:cNvSpPr>
          <p:nvPr/>
        </p:nvSpPr>
        <p:spPr bwMode="auto">
          <a:xfrm>
            <a:off x="7696200" y="4784724"/>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solidFill>
                <a:schemeClr val="accent6">
                  <a:lumMod val="40000"/>
                  <a:lumOff val="60000"/>
                </a:schemeClr>
              </a:solidFill>
            </a:endParaRPr>
          </a:p>
        </p:txBody>
      </p:sp>
      <p:grpSp>
        <p:nvGrpSpPr>
          <p:cNvPr id="41" name="Group 32"/>
          <p:cNvGrpSpPr>
            <a:grpSpLocks/>
          </p:cNvGrpSpPr>
          <p:nvPr/>
        </p:nvGrpSpPr>
        <p:grpSpPr bwMode="auto">
          <a:xfrm>
            <a:off x="8077200" y="5394327"/>
            <a:ext cx="990600" cy="735013"/>
            <a:chOff x="2928" y="2736"/>
            <a:chExt cx="624" cy="463"/>
          </a:xfrm>
        </p:grpSpPr>
        <p:sp>
          <p:nvSpPr>
            <p:cNvPr id="42" name="Text Box 33"/>
            <p:cNvSpPr txBox="1">
              <a:spLocks noChangeArrowheads="1"/>
            </p:cNvSpPr>
            <p:nvPr/>
          </p:nvSpPr>
          <p:spPr bwMode="auto">
            <a:xfrm>
              <a:off x="2928" y="2966"/>
              <a:ext cx="62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1800" dirty="0">
                  <a:latin typeface="+mn-lt"/>
                </a:rPr>
                <a:t>front = 3</a:t>
              </a:r>
            </a:p>
          </p:txBody>
        </p:sp>
        <p:sp>
          <p:nvSpPr>
            <p:cNvPr id="43" name="Line 34"/>
            <p:cNvSpPr>
              <a:spLocks noChangeShapeType="1"/>
            </p:cNvSpPr>
            <p:nvPr/>
          </p:nvSpPr>
          <p:spPr bwMode="auto">
            <a:xfrm flipV="1">
              <a:off x="3168" y="2736"/>
              <a:ext cx="0" cy="288"/>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4" name="Group 35"/>
          <p:cNvGrpSpPr>
            <a:grpSpLocks/>
          </p:cNvGrpSpPr>
          <p:nvPr/>
        </p:nvGrpSpPr>
        <p:grpSpPr bwMode="auto">
          <a:xfrm>
            <a:off x="7620000" y="3870324"/>
            <a:ext cx="990600" cy="869950"/>
            <a:chOff x="2974" y="1776"/>
            <a:chExt cx="624" cy="548"/>
          </a:xfrm>
        </p:grpSpPr>
        <p:sp>
          <p:nvSpPr>
            <p:cNvPr id="45" name="Text Box 36"/>
            <p:cNvSpPr txBox="1">
              <a:spLocks noChangeArrowheads="1"/>
            </p:cNvSpPr>
            <p:nvPr/>
          </p:nvSpPr>
          <p:spPr bwMode="auto">
            <a:xfrm>
              <a:off x="2974" y="177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latin typeface="+mn-lt"/>
                </a:rPr>
                <a:t>rear=2</a:t>
              </a:r>
            </a:p>
          </p:txBody>
        </p:sp>
        <p:sp>
          <p:nvSpPr>
            <p:cNvPr id="46" name="Line 37"/>
            <p:cNvSpPr>
              <a:spLocks noChangeShapeType="1"/>
            </p:cNvSpPr>
            <p:nvPr/>
          </p:nvSpPr>
          <p:spPr bwMode="auto">
            <a:xfrm>
              <a:off x="3194" y="1988"/>
              <a:ext cx="0" cy="336"/>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7" name="Text Box 38"/>
          <p:cNvSpPr txBox="1">
            <a:spLocks noChangeArrowheads="1"/>
          </p:cNvSpPr>
          <p:nvPr/>
        </p:nvSpPr>
        <p:spPr bwMode="auto">
          <a:xfrm>
            <a:off x="6537325" y="6019800"/>
            <a:ext cx="1768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b="1" dirty="0" err="1">
                <a:solidFill>
                  <a:schemeClr val="hlink"/>
                </a:solidFill>
                <a:latin typeface="Arial" charset="0"/>
              </a:rPr>
              <a:t>Dequeue</a:t>
            </a:r>
            <a:r>
              <a:rPr lang="en-US" altLang="zh-CN" sz="2000" b="1" dirty="0">
                <a:solidFill>
                  <a:schemeClr val="hlink"/>
                </a:solidFill>
                <a:latin typeface="Arial" charset="0"/>
              </a:rPr>
              <a:t>()</a:t>
            </a:r>
          </a:p>
        </p:txBody>
      </p:sp>
    </p:spTree>
    <p:extLst>
      <p:ext uri="{BB962C8B-B14F-4D97-AF65-F5344CB8AC3E}">
        <p14:creationId xmlns:p14="http://schemas.microsoft.com/office/powerpoint/2010/main" val="770535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7" grpId="0" animBg="1"/>
      <p:bldP spid="18" grpId="0" animBg="1"/>
      <p:bldP spid="19" grpId="0" animBg="1"/>
      <p:bldP spid="26" grpId="0"/>
      <p:bldP spid="27" grpId="0" animBg="1"/>
      <p:bldP spid="28" grpId="0" animBg="1"/>
      <p:bldP spid="29" grpId="0" animBg="1"/>
      <p:bldP spid="36" grpId="0"/>
      <p:bldP spid="38" grpId="0" animBg="1"/>
      <p:bldP spid="39" grpId="0" animBg="1"/>
      <p:bldP spid="40" grpId="0" animBg="1"/>
      <p:bldP spid="4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 Circular Array</a:t>
            </a:r>
            <a:endParaRPr lang="zh-CN" altLang="en-US" dirty="0"/>
          </a:p>
        </p:txBody>
      </p:sp>
      <p:sp>
        <p:nvSpPr>
          <p:cNvPr id="3" name="内容占位符 2"/>
          <p:cNvSpPr>
            <a:spLocks noGrp="1"/>
          </p:cNvSpPr>
          <p:nvPr>
            <p:ph idx="1"/>
          </p:nvPr>
        </p:nvSpPr>
        <p:spPr>
          <a:xfrm>
            <a:off x="457200" y="1600201"/>
            <a:ext cx="8229600" cy="2362200"/>
          </a:xfrm>
        </p:spPr>
        <p:txBody>
          <a:bodyPr>
            <a:normAutofit/>
          </a:bodyPr>
          <a:lstStyle/>
          <a:p>
            <a:r>
              <a:rPr lang="en-US" altLang="zh-CN" dirty="0">
                <a:solidFill>
                  <a:srgbClr val="0070C0"/>
                </a:solidFill>
                <a:latin typeface="+mn-lt"/>
                <a:ea typeface="宋体" pitchFamily="2" charset="-122"/>
              </a:rPr>
              <a:t>Circular array (</a:t>
            </a:r>
            <a:r>
              <a:rPr lang="zh-CN" altLang="en-US" dirty="0">
                <a:solidFill>
                  <a:srgbClr val="0070C0"/>
                </a:solidFill>
                <a:latin typeface="+mn-lt"/>
                <a:ea typeface="宋体" pitchFamily="2" charset="-122"/>
              </a:rPr>
              <a:t>环形数组</a:t>
            </a:r>
            <a:r>
              <a:rPr lang="en-US" altLang="zh-CN" dirty="0">
                <a:solidFill>
                  <a:srgbClr val="0070C0"/>
                </a:solidFill>
                <a:latin typeface="+mn-lt"/>
                <a:ea typeface="宋体" pitchFamily="2" charset="-122"/>
              </a:rPr>
              <a:t>)</a:t>
            </a:r>
          </a:p>
          <a:p>
            <a:pPr lvl="1"/>
            <a:r>
              <a:rPr lang="en-US" altLang="zh-CN" dirty="0">
                <a:latin typeface="+mn-lt"/>
                <a:ea typeface="宋体" pitchFamily="2" charset="-122"/>
              </a:rPr>
              <a:t>When an element moves past the end of a circular array, it wraps around to the beginning</a:t>
            </a:r>
          </a:p>
        </p:txBody>
      </p:sp>
      <p:sp>
        <p:nvSpPr>
          <p:cNvPr id="4" name="灯片编号占位符 3"/>
          <p:cNvSpPr>
            <a:spLocks noGrp="1"/>
          </p:cNvSpPr>
          <p:nvPr>
            <p:ph type="sldNum" sz="quarter" idx="12"/>
          </p:nvPr>
        </p:nvSpPr>
        <p:spPr>
          <a:xfrm>
            <a:off x="4400550" y="6356351"/>
            <a:ext cx="2057400" cy="365125"/>
          </a:xfrm>
        </p:spPr>
        <p:txBody>
          <a:bodyPr/>
          <a:lstStyle/>
          <a:p>
            <a:fld id="{B6F15528-21DE-4FAA-801E-634DDDAF4B2B}" type="slidenum">
              <a:rPr lang="en-US" smtClean="0"/>
              <a:pPr/>
              <a:t>13</a:t>
            </a:fld>
            <a:endParaRPr lang="en-US"/>
          </a:p>
        </p:txBody>
      </p:sp>
      <p:sp>
        <p:nvSpPr>
          <p:cNvPr id="37" name="灯片编号占位符 3"/>
          <p:cNvSpPr txBox="1">
            <a:spLocks/>
          </p:cNvSpPr>
          <p:nvPr/>
        </p:nvSpPr>
        <p:spPr>
          <a:xfrm>
            <a:off x="6534150" y="6340475"/>
            <a:ext cx="20574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13</a:t>
            </a:fld>
            <a:endParaRPr lang="en-US"/>
          </a:p>
        </p:txBody>
      </p:sp>
      <p:sp>
        <p:nvSpPr>
          <p:cNvPr id="48" name="Flowchart: Magnetic Disk 47"/>
          <p:cNvSpPr/>
          <p:nvPr/>
        </p:nvSpPr>
        <p:spPr>
          <a:xfrm>
            <a:off x="2476500" y="3280200"/>
            <a:ext cx="3733800" cy="1828800"/>
          </a:xfrm>
          <a:prstGeom prst="flowChartMagneticDisk">
            <a:avLst/>
          </a:prstGeom>
          <a:ln w="19050">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49" name="Straight Connector 48"/>
          <p:cNvCxnSpPr/>
          <p:nvPr/>
        </p:nvCxnSpPr>
        <p:spPr>
          <a:xfrm>
            <a:off x="3300045" y="3788506"/>
            <a:ext cx="0" cy="1219200"/>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4343400" y="3841260"/>
            <a:ext cx="0" cy="1219200"/>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5410200" y="3788506"/>
            <a:ext cx="0" cy="1219200"/>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5890846" y="3380151"/>
            <a:ext cx="0" cy="320431"/>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H="1">
            <a:off x="4855308" y="3247290"/>
            <a:ext cx="3904" cy="568572"/>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3665416" y="3247290"/>
            <a:ext cx="0" cy="580293"/>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2733431" y="3376242"/>
            <a:ext cx="0" cy="320431"/>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6" name="Rectangle 55"/>
          <p:cNvSpPr/>
          <p:nvPr/>
        </p:nvSpPr>
        <p:spPr>
          <a:xfrm>
            <a:off x="2696308" y="4157728"/>
            <a:ext cx="312906" cy="369332"/>
          </a:xfrm>
          <a:prstGeom prst="rect">
            <a:avLst/>
          </a:prstGeom>
        </p:spPr>
        <p:txBody>
          <a:bodyPr wrap="none">
            <a:spAutoFit/>
          </a:bodyPr>
          <a:lstStyle/>
          <a:p>
            <a:pPr algn="ctr"/>
            <a:r>
              <a:rPr lang="en-US" altLang="zh-CN" dirty="0"/>
              <a:t>9</a:t>
            </a:r>
            <a:endParaRPr lang="zh-CN" altLang="en-US" dirty="0"/>
          </a:p>
        </p:txBody>
      </p:sp>
      <p:sp>
        <p:nvSpPr>
          <p:cNvPr id="57" name="Rectangle 56"/>
          <p:cNvSpPr/>
          <p:nvPr/>
        </p:nvSpPr>
        <p:spPr>
          <a:xfrm>
            <a:off x="3608609" y="4310128"/>
            <a:ext cx="312906" cy="369332"/>
          </a:xfrm>
          <a:prstGeom prst="rect">
            <a:avLst/>
          </a:prstGeom>
        </p:spPr>
        <p:txBody>
          <a:bodyPr wrap="none">
            <a:spAutoFit/>
          </a:bodyPr>
          <a:lstStyle/>
          <a:p>
            <a:pPr algn="ctr"/>
            <a:r>
              <a:rPr lang="en-US" altLang="zh-CN" dirty="0"/>
              <a:t>6</a:t>
            </a:r>
            <a:endParaRPr lang="zh-CN" altLang="en-US" dirty="0"/>
          </a:p>
        </p:txBody>
      </p:sp>
      <p:sp>
        <p:nvSpPr>
          <p:cNvPr id="58" name="Rectangle 57"/>
          <p:cNvSpPr/>
          <p:nvPr/>
        </p:nvSpPr>
        <p:spPr>
          <a:xfrm>
            <a:off x="4686679" y="4310128"/>
            <a:ext cx="317716" cy="369332"/>
          </a:xfrm>
          <a:prstGeom prst="rect">
            <a:avLst/>
          </a:prstGeom>
        </p:spPr>
        <p:txBody>
          <a:bodyPr wrap="none">
            <a:spAutoFit/>
          </a:bodyPr>
          <a:lstStyle/>
          <a:p>
            <a:pPr algn="ctr"/>
            <a:r>
              <a:rPr lang="en-US" altLang="zh-CN" dirty="0"/>
              <a:t>4</a:t>
            </a:r>
            <a:endParaRPr lang="zh-CN" altLang="en-US" dirty="0"/>
          </a:p>
        </p:txBody>
      </p:sp>
      <p:sp>
        <p:nvSpPr>
          <p:cNvPr id="59" name="Rectangle 58"/>
          <p:cNvSpPr/>
          <p:nvPr/>
        </p:nvSpPr>
        <p:spPr>
          <a:xfrm>
            <a:off x="5601386" y="4157728"/>
            <a:ext cx="312906" cy="369332"/>
          </a:xfrm>
          <a:prstGeom prst="rect">
            <a:avLst/>
          </a:prstGeom>
        </p:spPr>
        <p:txBody>
          <a:bodyPr wrap="none">
            <a:spAutoFit/>
          </a:bodyPr>
          <a:lstStyle/>
          <a:p>
            <a:pPr algn="ctr"/>
            <a:r>
              <a:rPr lang="en-US" altLang="zh-CN" dirty="0"/>
              <a:t>3</a:t>
            </a:r>
            <a:endParaRPr lang="zh-CN" altLang="en-US" dirty="0"/>
          </a:p>
        </p:txBody>
      </p:sp>
      <p:sp>
        <p:nvSpPr>
          <p:cNvPr id="60" name="Rectangle 59"/>
          <p:cNvSpPr/>
          <p:nvPr/>
        </p:nvSpPr>
        <p:spPr>
          <a:xfrm>
            <a:off x="2676618" y="4968631"/>
            <a:ext cx="312906" cy="369332"/>
          </a:xfrm>
          <a:prstGeom prst="rect">
            <a:avLst/>
          </a:prstGeom>
        </p:spPr>
        <p:txBody>
          <a:bodyPr wrap="none">
            <a:spAutoFit/>
          </a:bodyPr>
          <a:lstStyle/>
          <a:p>
            <a:pPr algn="ctr"/>
            <a:r>
              <a:rPr lang="en-US" altLang="zh-CN" dirty="0">
                <a:solidFill>
                  <a:srgbClr val="0070C0"/>
                </a:solidFill>
              </a:rPr>
              <a:t>0</a:t>
            </a:r>
            <a:endParaRPr lang="zh-CN" altLang="en-US" dirty="0">
              <a:solidFill>
                <a:srgbClr val="0070C0"/>
              </a:solidFill>
            </a:endParaRPr>
          </a:p>
        </p:txBody>
      </p:sp>
      <p:sp>
        <p:nvSpPr>
          <p:cNvPr id="61" name="Rectangle 60"/>
          <p:cNvSpPr/>
          <p:nvPr/>
        </p:nvSpPr>
        <p:spPr>
          <a:xfrm>
            <a:off x="4724400" y="5044831"/>
            <a:ext cx="312906" cy="369332"/>
          </a:xfrm>
          <a:prstGeom prst="rect">
            <a:avLst/>
          </a:prstGeom>
        </p:spPr>
        <p:txBody>
          <a:bodyPr wrap="none">
            <a:spAutoFit/>
          </a:bodyPr>
          <a:lstStyle/>
          <a:p>
            <a:pPr algn="ctr"/>
            <a:r>
              <a:rPr lang="en-US" altLang="zh-CN" dirty="0">
                <a:solidFill>
                  <a:srgbClr val="0070C0"/>
                </a:solidFill>
              </a:rPr>
              <a:t>2</a:t>
            </a:r>
            <a:endParaRPr lang="zh-CN" altLang="en-US" dirty="0">
              <a:solidFill>
                <a:srgbClr val="0070C0"/>
              </a:solidFill>
            </a:endParaRPr>
          </a:p>
        </p:txBody>
      </p:sp>
      <p:sp>
        <p:nvSpPr>
          <p:cNvPr id="62" name="Rectangle 61"/>
          <p:cNvSpPr/>
          <p:nvPr/>
        </p:nvSpPr>
        <p:spPr>
          <a:xfrm>
            <a:off x="5757839" y="4904099"/>
            <a:ext cx="312906" cy="369332"/>
          </a:xfrm>
          <a:prstGeom prst="rect">
            <a:avLst/>
          </a:prstGeom>
        </p:spPr>
        <p:txBody>
          <a:bodyPr wrap="none">
            <a:spAutoFit/>
          </a:bodyPr>
          <a:lstStyle/>
          <a:p>
            <a:pPr algn="ctr"/>
            <a:r>
              <a:rPr lang="en-US" altLang="zh-CN" dirty="0">
                <a:solidFill>
                  <a:srgbClr val="0070C0"/>
                </a:solidFill>
              </a:rPr>
              <a:t>3</a:t>
            </a:r>
            <a:endParaRPr lang="zh-CN" altLang="en-US" dirty="0">
              <a:solidFill>
                <a:srgbClr val="0070C0"/>
              </a:solidFill>
            </a:endParaRPr>
          </a:p>
        </p:txBody>
      </p:sp>
      <p:sp>
        <p:nvSpPr>
          <p:cNvPr id="63" name="Rectangle 62"/>
          <p:cNvSpPr/>
          <p:nvPr/>
        </p:nvSpPr>
        <p:spPr>
          <a:xfrm>
            <a:off x="3587010" y="5044831"/>
            <a:ext cx="301686" cy="369332"/>
          </a:xfrm>
          <a:prstGeom prst="rect">
            <a:avLst/>
          </a:prstGeom>
        </p:spPr>
        <p:txBody>
          <a:bodyPr wrap="none">
            <a:spAutoFit/>
          </a:bodyPr>
          <a:lstStyle/>
          <a:p>
            <a:pPr algn="ctr"/>
            <a:r>
              <a:rPr lang="en-US" altLang="zh-CN" dirty="0">
                <a:solidFill>
                  <a:srgbClr val="0070C0"/>
                </a:solidFill>
              </a:rPr>
              <a:t>1</a:t>
            </a:r>
            <a:endParaRPr lang="zh-CN" altLang="en-US" dirty="0">
              <a:solidFill>
                <a:srgbClr val="0070C0"/>
              </a:solidFill>
            </a:endParaRPr>
          </a:p>
        </p:txBody>
      </p:sp>
      <p:sp>
        <p:nvSpPr>
          <p:cNvPr id="64" name="Rectangle 63"/>
          <p:cNvSpPr/>
          <p:nvPr/>
        </p:nvSpPr>
        <p:spPr>
          <a:xfrm>
            <a:off x="5155518" y="2983468"/>
            <a:ext cx="301685" cy="369332"/>
          </a:xfrm>
          <a:prstGeom prst="rect">
            <a:avLst/>
          </a:prstGeom>
        </p:spPr>
        <p:txBody>
          <a:bodyPr wrap="none">
            <a:spAutoFit/>
          </a:bodyPr>
          <a:lstStyle/>
          <a:p>
            <a:pPr algn="ctr"/>
            <a:r>
              <a:rPr lang="en-US" altLang="zh-CN" dirty="0">
                <a:solidFill>
                  <a:srgbClr val="0070C0"/>
                </a:solidFill>
              </a:rPr>
              <a:t>4</a:t>
            </a:r>
            <a:endParaRPr lang="zh-CN" altLang="en-US" dirty="0">
              <a:solidFill>
                <a:srgbClr val="0070C0"/>
              </a:solidFill>
            </a:endParaRPr>
          </a:p>
        </p:txBody>
      </p:sp>
      <p:sp>
        <p:nvSpPr>
          <p:cNvPr id="65" name="Rectangle 64"/>
          <p:cNvSpPr/>
          <p:nvPr/>
        </p:nvSpPr>
        <p:spPr>
          <a:xfrm>
            <a:off x="4155255" y="2895600"/>
            <a:ext cx="312906" cy="369332"/>
          </a:xfrm>
          <a:prstGeom prst="rect">
            <a:avLst/>
          </a:prstGeom>
        </p:spPr>
        <p:txBody>
          <a:bodyPr wrap="none">
            <a:spAutoFit/>
          </a:bodyPr>
          <a:lstStyle/>
          <a:p>
            <a:pPr algn="ctr"/>
            <a:r>
              <a:rPr lang="en-US" altLang="zh-CN" dirty="0">
                <a:solidFill>
                  <a:srgbClr val="0070C0"/>
                </a:solidFill>
              </a:rPr>
              <a:t>5</a:t>
            </a:r>
            <a:endParaRPr lang="zh-CN" altLang="en-US" dirty="0">
              <a:solidFill>
                <a:srgbClr val="0070C0"/>
              </a:solidFill>
            </a:endParaRPr>
          </a:p>
        </p:txBody>
      </p:sp>
      <p:sp>
        <p:nvSpPr>
          <p:cNvPr id="66" name="Rectangle 65"/>
          <p:cNvSpPr/>
          <p:nvPr/>
        </p:nvSpPr>
        <p:spPr>
          <a:xfrm>
            <a:off x="3077308" y="2983468"/>
            <a:ext cx="312906" cy="369332"/>
          </a:xfrm>
          <a:prstGeom prst="rect">
            <a:avLst/>
          </a:prstGeom>
        </p:spPr>
        <p:txBody>
          <a:bodyPr wrap="none">
            <a:spAutoFit/>
          </a:bodyPr>
          <a:lstStyle/>
          <a:p>
            <a:pPr algn="ctr"/>
            <a:r>
              <a:rPr lang="en-US" altLang="zh-CN" dirty="0">
                <a:solidFill>
                  <a:srgbClr val="0070C0"/>
                </a:solidFill>
              </a:rPr>
              <a:t>6</a:t>
            </a:r>
            <a:endParaRPr lang="zh-CN" altLang="en-US" dirty="0">
              <a:solidFill>
                <a:srgbClr val="0070C0"/>
              </a:solidFill>
            </a:endParaRPr>
          </a:p>
        </p:txBody>
      </p:sp>
      <p:sp>
        <p:nvSpPr>
          <p:cNvPr id="5" name="Rectangle 4"/>
          <p:cNvSpPr/>
          <p:nvPr/>
        </p:nvSpPr>
        <p:spPr>
          <a:xfrm>
            <a:off x="377540" y="5369616"/>
            <a:ext cx="7868336" cy="461665"/>
          </a:xfrm>
          <a:prstGeom prst="rect">
            <a:avLst/>
          </a:prstGeom>
        </p:spPr>
        <p:txBody>
          <a:bodyPr wrap="square">
            <a:spAutoFit/>
          </a:bodyPr>
          <a:lstStyle/>
          <a:p>
            <a:pPr lvl="1"/>
            <a:r>
              <a:rPr lang="en-US" altLang="zh-CN" sz="2400" dirty="0">
                <a:solidFill>
                  <a:srgbClr val="0070C0"/>
                </a:solidFill>
                <a:ea typeface="宋体" pitchFamily="2" charset="-122"/>
              </a:rPr>
              <a:t>Index Growth: 0 </a:t>
            </a:r>
            <a:r>
              <a:rPr lang="zh-CN" altLang="en-US" sz="2400" dirty="0">
                <a:solidFill>
                  <a:srgbClr val="0070C0"/>
                </a:solidFill>
                <a:ea typeface="宋体" pitchFamily="2" charset="-122"/>
              </a:rPr>
              <a:t>→ </a:t>
            </a:r>
            <a:r>
              <a:rPr lang="en-US" altLang="zh-CN" sz="2400" dirty="0">
                <a:solidFill>
                  <a:srgbClr val="0070C0"/>
                </a:solidFill>
                <a:ea typeface="宋体" pitchFamily="2" charset="-122"/>
              </a:rPr>
              <a:t>1 </a:t>
            </a:r>
            <a:r>
              <a:rPr lang="zh-CN" altLang="en-US" sz="2400" dirty="0">
                <a:solidFill>
                  <a:srgbClr val="0070C0"/>
                </a:solidFill>
                <a:ea typeface="宋体" pitchFamily="2" charset="-122"/>
              </a:rPr>
              <a:t>→ </a:t>
            </a:r>
            <a:r>
              <a:rPr lang="en-US" altLang="zh-CN" sz="2400" dirty="0">
                <a:solidFill>
                  <a:srgbClr val="0070C0"/>
                </a:solidFill>
                <a:ea typeface="宋体" pitchFamily="2" charset="-122"/>
              </a:rPr>
              <a:t>2 </a:t>
            </a:r>
            <a:r>
              <a:rPr lang="zh-CN" altLang="en-US" sz="2400" dirty="0">
                <a:solidFill>
                  <a:srgbClr val="0070C0"/>
                </a:solidFill>
                <a:ea typeface="宋体" pitchFamily="2" charset="-122"/>
              </a:rPr>
              <a:t>→ </a:t>
            </a:r>
            <a:r>
              <a:rPr lang="en-US" altLang="zh-CN" sz="2400" dirty="0">
                <a:solidFill>
                  <a:srgbClr val="0070C0"/>
                </a:solidFill>
                <a:ea typeface="宋体" pitchFamily="2" charset="-122"/>
              </a:rPr>
              <a:t>3 </a:t>
            </a:r>
            <a:r>
              <a:rPr lang="zh-CN" altLang="en-US" sz="2400" dirty="0">
                <a:solidFill>
                  <a:srgbClr val="0070C0"/>
                </a:solidFill>
                <a:ea typeface="宋体" pitchFamily="2" charset="-122"/>
              </a:rPr>
              <a:t>→ </a:t>
            </a:r>
            <a:r>
              <a:rPr lang="en-US" altLang="zh-CN" sz="2400" dirty="0">
                <a:solidFill>
                  <a:srgbClr val="0070C0"/>
                </a:solidFill>
                <a:ea typeface="宋体" pitchFamily="2" charset="-122"/>
              </a:rPr>
              <a:t>4 </a:t>
            </a:r>
            <a:r>
              <a:rPr lang="zh-CN" altLang="en-US" sz="2400" dirty="0">
                <a:solidFill>
                  <a:srgbClr val="0070C0"/>
                </a:solidFill>
                <a:ea typeface="宋体" pitchFamily="2" charset="-122"/>
              </a:rPr>
              <a:t>→ </a:t>
            </a:r>
            <a:r>
              <a:rPr lang="en-US" altLang="zh-CN" sz="2400" dirty="0">
                <a:solidFill>
                  <a:srgbClr val="0070C0"/>
                </a:solidFill>
                <a:ea typeface="宋体" pitchFamily="2" charset="-122"/>
              </a:rPr>
              <a:t>5 </a:t>
            </a:r>
            <a:r>
              <a:rPr lang="zh-CN" altLang="en-US" sz="2400" dirty="0">
                <a:solidFill>
                  <a:srgbClr val="0070C0"/>
                </a:solidFill>
                <a:ea typeface="宋体" pitchFamily="2" charset="-122"/>
              </a:rPr>
              <a:t>→ </a:t>
            </a:r>
            <a:r>
              <a:rPr lang="en-US" altLang="zh-CN" sz="2400" dirty="0">
                <a:solidFill>
                  <a:srgbClr val="0070C0"/>
                </a:solidFill>
                <a:ea typeface="宋体" pitchFamily="2" charset="-122"/>
              </a:rPr>
              <a:t>6 </a:t>
            </a:r>
            <a:r>
              <a:rPr lang="zh-CN" altLang="en-US" sz="2400" dirty="0">
                <a:solidFill>
                  <a:srgbClr val="0070C0"/>
                </a:solidFill>
                <a:ea typeface="宋体" pitchFamily="2" charset="-122"/>
              </a:rPr>
              <a:t>→ </a:t>
            </a:r>
            <a:r>
              <a:rPr lang="en-US" altLang="zh-CN" sz="2400" dirty="0">
                <a:solidFill>
                  <a:srgbClr val="0070C0"/>
                </a:solidFill>
                <a:ea typeface="宋体" pitchFamily="2" charset="-122"/>
              </a:rPr>
              <a:t>0 </a:t>
            </a:r>
            <a:r>
              <a:rPr lang="zh-CN" altLang="en-US" sz="2400" dirty="0">
                <a:solidFill>
                  <a:srgbClr val="0070C0"/>
                </a:solidFill>
                <a:ea typeface="宋体" pitchFamily="2" charset="-122"/>
              </a:rPr>
              <a:t>→ </a:t>
            </a:r>
            <a:r>
              <a:rPr lang="en-US" altLang="zh-CN" sz="2400" dirty="0">
                <a:solidFill>
                  <a:srgbClr val="0070C0"/>
                </a:solidFill>
                <a:ea typeface="宋体" pitchFamily="2" charset="-122"/>
              </a:rPr>
              <a:t>…</a:t>
            </a:r>
          </a:p>
        </p:txBody>
      </p:sp>
      <mc:AlternateContent xmlns:mc="http://schemas.openxmlformats.org/markup-compatibility/2006">
        <mc:Choice xmlns:a14="http://schemas.microsoft.com/office/drawing/2010/main" Requires="a14">
          <p:sp>
            <p:nvSpPr>
              <p:cNvPr id="27" name="Rectangle 4">
                <a:extLst>
                  <a:ext uri="{FF2B5EF4-FFF2-40B4-BE49-F238E27FC236}">
                    <a16:creationId xmlns:a16="http://schemas.microsoft.com/office/drawing/2014/main" id="{C0A60DEE-4231-4AF1-A1CC-06632525CA4E}"/>
                  </a:ext>
                </a:extLst>
              </p:cNvPr>
              <p:cNvSpPr/>
              <p:nvPr/>
            </p:nvSpPr>
            <p:spPr>
              <a:xfrm>
                <a:off x="221087" y="5779534"/>
                <a:ext cx="7868336" cy="923330"/>
              </a:xfrm>
              <a:prstGeom prst="rect">
                <a:avLst/>
              </a:prstGeom>
            </p:spPr>
            <p:txBody>
              <a:bodyPr wrap="square">
                <a:spAutoFit/>
              </a:bodyPr>
              <a:lstStyle/>
              <a:p>
                <a:pPr lvl="1"/>
                <a:r>
                  <a:rPr lang="en-US" altLang="zh-CN" dirty="0"/>
                  <a:t>Let N be the size of circular array,  when the index </a:t>
                </a:r>
                <a14:m>
                  <m:oMath xmlns:m="http://schemas.openxmlformats.org/officeDocument/2006/math">
                    <m:r>
                      <a:rPr lang="en-US" altLang="zh-CN" b="1" i="1" smtClean="0">
                        <a:solidFill>
                          <a:srgbClr val="FF0000"/>
                        </a:solidFill>
                        <a:latin typeface="Cambria Math" panose="02040503050406030204" pitchFamily="18" charset="0"/>
                        <a:ea typeface="Cambria Math" panose="02040503050406030204" pitchFamily="18" charset="0"/>
                      </a:rPr>
                      <m:t>𝒊</m:t>
                    </m:r>
                    <m:r>
                      <a:rPr lang="en-US" altLang="zh-CN" b="1" i="1" smtClean="0">
                        <a:solidFill>
                          <a:srgbClr val="FF0000"/>
                        </a:solidFill>
                        <a:latin typeface="Cambria Math" panose="02040503050406030204" pitchFamily="18" charset="0"/>
                        <a:ea typeface="Cambria Math" panose="02040503050406030204" pitchFamily="18" charset="0"/>
                      </a:rPr>
                      <m:t>≥</m:t>
                    </m:r>
                    <m:r>
                      <a:rPr lang="en-US" altLang="zh-CN" b="1" i="1" smtClean="0">
                        <a:solidFill>
                          <a:srgbClr val="FF0000"/>
                        </a:solidFill>
                        <a:latin typeface="Cambria Math" panose="02040503050406030204" pitchFamily="18" charset="0"/>
                        <a:ea typeface="Cambria Math" panose="02040503050406030204" pitchFamily="18" charset="0"/>
                      </a:rPr>
                      <m:t>𝑵</m:t>
                    </m:r>
                    <m:r>
                      <a:rPr lang="en-US" altLang="zh-CN" b="0" i="1" smtClean="0">
                        <a:latin typeface="Cambria Math" panose="02040503050406030204" pitchFamily="18" charset="0"/>
                        <a:ea typeface="Cambria Math" panose="02040503050406030204" pitchFamily="18" charset="0"/>
                      </a:rPr>
                      <m:t>,  </m:t>
                    </m:r>
                  </m:oMath>
                </a14:m>
                <a:r>
                  <a:rPr lang="en-US" altLang="zh-CN" dirty="0"/>
                  <a:t>we can use the operation: “</a:t>
                </a:r>
                <a14:m>
                  <m:oMath xmlns:m="http://schemas.openxmlformats.org/officeDocument/2006/math">
                    <m:r>
                      <a:rPr lang="en-US" altLang="zh-CN" b="1" i="1">
                        <a:solidFill>
                          <a:srgbClr val="FF0000"/>
                        </a:solidFill>
                        <a:latin typeface="Cambria Math" panose="02040503050406030204" pitchFamily="18" charset="0"/>
                        <a:ea typeface="Cambria Math" panose="02040503050406030204" pitchFamily="18" charset="0"/>
                      </a:rPr>
                      <m:t>𝒊</m:t>
                    </m:r>
                    <m:r>
                      <a:rPr lang="en-US" altLang="zh-CN" b="1" i="1" smtClean="0">
                        <a:solidFill>
                          <a:srgbClr val="FF0000"/>
                        </a:solidFill>
                        <a:latin typeface="Cambria Math" panose="02040503050406030204" pitchFamily="18" charset="0"/>
                        <a:ea typeface="Cambria Math" panose="02040503050406030204" pitchFamily="18" charset="0"/>
                      </a:rPr>
                      <m:t>=</m:t>
                    </m:r>
                    <m:r>
                      <a:rPr lang="en-US" altLang="zh-CN" b="1" i="1" smtClean="0">
                        <a:solidFill>
                          <a:srgbClr val="FF0000"/>
                        </a:solidFill>
                        <a:latin typeface="Cambria Math" panose="02040503050406030204" pitchFamily="18" charset="0"/>
                        <a:ea typeface="Cambria Math" panose="02040503050406030204" pitchFamily="18" charset="0"/>
                      </a:rPr>
                      <m:t>𝒊</m:t>
                    </m:r>
                    <m:r>
                      <a:rPr lang="en-US" altLang="zh-CN" b="1" i="1" smtClean="0">
                        <a:solidFill>
                          <a:srgbClr val="FF0000"/>
                        </a:solidFill>
                        <a:latin typeface="Cambria Math" panose="02040503050406030204" pitchFamily="18" charset="0"/>
                        <a:ea typeface="Cambria Math" panose="02040503050406030204" pitchFamily="18" charset="0"/>
                      </a:rPr>
                      <m:t>%</m:t>
                    </m:r>
                    <m:r>
                      <a:rPr lang="en-US" altLang="zh-CN" b="1" i="1">
                        <a:solidFill>
                          <a:srgbClr val="FF0000"/>
                        </a:solidFill>
                        <a:latin typeface="Cambria Math" panose="02040503050406030204" pitchFamily="18" charset="0"/>
                        <a:ea typeface="Cambria Math" panose="02040503050406030204" pitchFamily="18" charset="0"/>
                      </a:rPr>
                      <m:t>𝑵</m:t>
                    </m:r>
                  </m:oMath>
                </a14:m>
                <a:r>
                  <a:rPr lang="en-US" altLang="zh-CN" dirty="0"/>
                  <a:t> ”, remainder after division (modulo division), to find the correct index.</a:t>
                </a:r>
                <a:endParaRPr lang="en-US" altLang="zh-CN" sz="2400" dirty="0">
                  <a:solidFill>
                    <a:srgbClr val="0070C0"/>
                  </a:solidFill>
                  <a:ea typeface="宋体" pitchFamily="2" charset="-122"/>
                </a:endParaRPr>
              </a:p>
            </p:txBody>
          </p:sp>
        </mc:Choice>
        <mc:Fallback>
          <p:sp>
            <p:nvSpPr>
              <p:cNvPr id="27" name="Rectangle 4">
                <a:extLst>
                  <a:ext uri="{FF2B5EF4-FFF2-40B4-BE49-F238E27FC236}">
                    <a16:creationId xmlns:a16="http://schemas.microsoft.com/office/drawing/2014/main" id="{C0A60DEE-4231-4AF1-A1CC-06632525CA4E}"/>
                  </a:ext>
                </a:extLst>
              </p:cNvPr>
              <p:cNvSpPr>
                <a:spLocks noRot="1" noChangeAspect="1" noMove="1" noResize="1" noEditPoints="1" noAdjustHandles="1" noChangeArrowheads="1" noChangeShapeType="1" noTextEdit="1"/>
              </p:cNvSpPr>
              <p:nvPr/>
            </p:nvSpPr>
            <p:spPr>
              <a:xfrm>
                <a:off x="221087" y="5779534"/>
                <a:ext cx="7868336" cy="923330"/>
              </a:xfrm>
              <a:prstGeom prst="rect">
                <a:avLst/>
              </a:prstGeom>
              <a:blipFill>
                <a:blip r:embed="rId3"/>
                <a:stretch>
                  <a:fillRect t="-3289" r="-775" b="-921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81650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 Circular Array - </a:t>
            </a:r>
            <a:r>
              <a:rPr lang="en-US" altLang="zh-CN" dirty="0" err="1"/>
              <a:t>Enqueue</a:t>
            </a:r>
            <a:endParaRPr lang="zh-CN" altLang="en-US" dirty="0"/>
          </a:p>
        </p:txBody>
      </p:sp>
      <p:sp>
        <p:nvSpPr>
          <p:cNvPr id="4" name="灯片编号占位符 3"/>
          <p:cNvSpPr>
            <a:spLocks noGrp="1"/>
          </p:cNvSpPr>
          <p:nvPr>
            <p:ph type="sldNum" sz="quarter" idx="12"/>
          </p:nvPr>
        </p:nvSpPr>
        <p:spPr>
          <a:xfrm>
            <a:off x="4400550" y="6356351"/>
            <a:ext cx="2057400" cy="365125"/>
          </a:xfrm>
        </p:spPr>
        <p:txBody>
          <a:bodyPr/>
          <a:lstStyle/>
          <a:p>
            <a:fld id="{B6F15528-21DE-4FAA-801E-634DDDAF4B2B}" type="slidenum">
              <a:rPr lang="en-US" smtClean="0"/>
              <a:pPr/>
              <a:t>14</a:t>
            </a:fld>
            <a:endParaRPr lang="en-US"/>
          </a:p>
        </p:txBody>
      </p:sp>
      <p:sp>
        <p:nvSpPr>
          <p:cNvPr id="6" name="Footer Placeholder 5"/>
          <p:cNvSpPr>
            <a:spLocks noGrp="1"/>
          </p:cNvSpPr>
          <p:nvPr>
            <p:ph type="ftr" sz="quarter" idx="11"/>
          </p:nvPr>
        </p:nvSpPr>
        <p:spPr>
          <a:xfrm>
            <a:off x="2343150" y="6356351"/>
            <a:ext cx="3086100" cy="365125"/>
          </a:xfrm>
        </p:spPr>
        <p:txBody>
          <a:bodyPr/>
          <a:lstStyle/>
          <a:p>
            <a:r>
              <a:rPr lang="en-US"/>
              <a:t>Data Structures and Algorithms</a:t>
            </a:r>
          </a:p>
        </p:txBody>
      </p:sp>
      <p:sp>
        <p:nvSpPr>
          <p:cNvPr id="37" name="灯片编号占位符 3"/>
          <p:cNvSpPr txBox="1">
            <a:spLocks/>
          </p:cNvSpPr>
          <p:nvPr/>
        </p:nvSpPr>
        <p:spPr>
          <a:xfrm>
            <a:off x="6534150" y="6340475"/>
            <a:ext cx="20574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a:t>
            </a:fld>
            <a:endParaRPr lang="en-US"/>
          </a:p>
        </p:txBody>
      </p:sp>
      <p:sp>
        <p:nvSpPr>
          <p:cNvPr id="27" name="Rectangle 26"/>
          <p:cNvSpPr>
            <a:spLocks noChangeArrowheads="1"/>
          </p:cNvSpPr>
          <p:nvPr/>
        </p:nvSpPr>
        <p:spPr bwMode="auto">
          <a:xfrm>
            <a:off x="530469" y="459105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p>
        </p:txBody>
      </p:sp>
      <p:sp>
        <p:nvSpPr>
          <p:cNvPr id="28" name="Rectangle 27"/>
          <p:cNvSpPr>
            <a:spLocks noChangeArrowheads="1"/>
          </p:cNvSpPr>
          <p:nvPr/>
        </p:nvSpPr>
        <p:spPr bwMode="auto">
          <a:xfrm>
            <a:off x="1140069" y="459105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t>6</a:t>
            </a:r>
            <a:endParaRPr lang="zh-CN" altLang="en-US" dirty="0"/>
          </a:p>
        </p:txBody>
      </p:sp>
      <p:sp>
        <p:nvSpPr>
          <p:cNvPr id="29" name="Rectangle 28"/>
          <p:cNvSpPr>
            <a:spLocks noChangeArrowheads="1"/>
          </p:cNvSpPr>
          <p:nvPr/>
        </p:nvSpPr>
        <p:spPr bwMode="auto">
          <a:xfrm>
            <a:off x="1749669" y="459105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t>4</a:t>
            </a:r>
            <a:endParaRPr lang="zh-CN" altLang="en-US" dirty="0"/>
          </a:p>
        </p:txBody>
      </p:sp>
      <p:grpSp>
        <p:nvGrpSpPr>
          <p:cNvPr id="30" name="Group 12"/>
          <p:cNvGrpSpPr>
            <a:grpSpLocks/>
          </p:cNvGrpSpPr>
          <p:nvPr/>
        </p:nvGrpSpPr>
        <p:grpSpPr bwMode="auto">
          <a:xfrm>
            <a:off x="1087804" y="5241925"/>
            <a:ext cx="990600" cy="765175"/>
            <a:chOff x="2928" y="2736"/>
            <a:chExt cx="624" cy="482"/>
          </a:xfrm>
        </p:grpSpPr>
        <p:sp>
          <p:nvSpPr>
            <p:cNvPr id="31" name="Text Box 7"/>
            <p:cNvSpPr txBox="1">
              <a:spLocks noChangeArrowheads="1"/>
            </p:cNvSpPr>
            <p:nvPr/>
          </p:nvSpPr>
          <p:spPr bwMode="auto">
            <a:xfrm>
              <a:off x="2928" y="2966"/>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solidFill>
                    <a:srgbClr val="0070C0"/>
                  </a:solidFill>
                  <a:latin typeface="+mn-lt"/>
                </a:rPr>
                <a:t>front=1</a:t>
              </a:r>
            </a:p>
          </p:txBody>
        </p:sp>
        <p:sp>
          <p:nvSpPr>
            <p:cNvPr id="32" name="Line 8"/>
            <p:cNvSpPr>
              <a:spLocks noChangeShapeType="1"/>
            </p:cNvSpPr>
            <p:nvPr/>
          </p:nvSpPr>
          <p:spPr bwMode="auto">
            <a:xfrm flipV="1">
              <a:off x="3168" y="2736"/>
              <a:ext cx="0" cy="288"/>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3" name="Group 11"/>
          <p:cNvGrpSpPr>
            <a:grpSpLocks/>
          </p:cNvGrpSpPr>
          <p:nvPr/>
        </p:nvGrpSpPr>
        <p:grpSpPr bwMode="auto">
          <a:xfrm>
            <a:off x="1673469" y="3676650"/>
            <a:ext cx="990600" cy="869950"/>
            <a:chOff x="2974" y="1776"/>
            <a:chExt cx="624" cy="548"/>
          </a:xfrm>
        </p:grpSpPr>
        <p:sp>
          <p:nvSpPr>
            <p:cNvPr id="34" name="Text Box 9"/>
            <p:cNvSpPr txBox="1">
              <a:spLocks noChangeArrowheads="1"/>
            </p:cNvSpPr>
            <p:nvPr/>
          </p:nvSpPr>
          <p:spPr bwMode="auto">
            <a:xfrm>
              <a:off x="2974" y="177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solidFill>
                    <a:srgbClr val="0070C0"/>
                  </a:solidFill>
                  <a:latin typeface="+mn-lt"/>
                </a:rPr>
                <a:t>rear=2</a:t>
              </a:r>
            </a:p>
          </p:txBody>
        </p:sp>
        <p:sp>
          <p:nvSpPr>
            <p:cNvPr id="35" name="Line 10"/>
            <p:cNvSpPr>
              <a:spLocks noChangeShapeType="1"/>
            </p:cNvSpPr>
            <p:nvPr/>
          </p:nvSpPr>
          <p:spPr bwMode="auto">
            <a:xfrm>
              <a:off x="3194" y="1988"/>
              <a:ext cx="0" cy="336"/>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6" name="Text Box 14"/>
          <p:cNvSpPr txBox="1">
            <a:spLocks noChangeArrowheads="1"/>
          </p:cNvSpPr>
          <p:nvPr/>
        </p:nvSpPr>
        <p:spPr bwMode="auto">
          <a:xfrm>
            <a:off x="590794" y="5991225"/>
            <a:ext cx="1768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b="1" dirty="0" err="1">
                <a:solidFill>
                  <a:schemeClr val="hlink"/>
                </a:solidFill>
                <a:latin typeface="Arial" charset="0"/>
              </a:rPr>
              <a:t>Eequeue</a:t>
            </a:r>
            <a:r>
              <a:rPr lang="en-US" altLang="zh-CN" sz="2000" b="1" dirty="0">
                <a:solidFill>
                  <a:schemeClr val="hlink"/>
                </a:solidFill>
                <a:latin typeface="Arial" charset="0"/>
              </a:rPr>
              <a:t>(4)</a:t>
            </a:r>
          </a:p>
        </p:txBody>
      </p:sp>
      <p:sp>
        <p:nvSpPr>
          <p:cNvPr id="38" name="Rectangle 17"/>
          <p:cNvSpPr>
            <a:spLocks noChangeArrowheads="1"/>
          </p:cNvSpPr>
          <p:nvPr/>
        </p:nvSpPr>
        <p:spPr bwMode="auto">
          <a:xfrm>
            <a:off x="3273669" y="460375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t>3</a:t>
            </a:r>
            <a:endParaRPr lang="zh-CN" altLang="en-US" dirty="0"/>
          </a:p>
        </p:txBody>
      </p:sp>
      <p:sp>
        <p:nvSpPr>
          <p:cNvPr id="39" name="Rectangle 18"/>
          <p:cNvSpPr>
            <a:spLocks noChangeArrowheads="1"/>
          </p:cNvSpPr>
          <p:nvPr/>
        </p:nvSpPr>
        <p:spPr bwMode="auto">
          <a:xfrm>
            <a:off x="3883269" y="460375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t>6</a:t>
            </a:r>
            <a:endParaRPr lang="zh-CN" altLang="en-US" dirty="0"/>
          </a:p>
        </p:txBody>
      </p:sp>
      <p:sp>
        <p:nvSpPr>
          <p:cNvPr id="40" name="Rectangle 19"/>
          <p:cNvSpPr>
            <a:spLocks noChangeArrowheads="1"/>
          </p:cNvSpPr>
          <p:nvPr/>
        </p:nvSpPr>
        <p:spPr bwMode="auto">
          <a:xfrm>
            <a:off x="4492869" y="460375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t>4</a:t>
            </a:r>
            <a:endParaRPr lang="zh-CN" altLang="en-US" dirty="0"/>
          </a:p>
        </p:txBody>
      </p:sp>
      <p:grpSp>
        <p:nvGrpSpPr>
          <p:cNvPr id="41" name="Group 20"/>
          <p:cNvGrpSpPr>
            <a:grpSpLocks/>
          </p:cNvGrpSpPr>
          <p:nvPr/>
        </p:nvGrpSpPr>
        <p:grpSpPr bwMode="auto">
          <a:xfrm>
            <a:off x="3810000" y="5254381"/>
            <a:ext cx="990600" cy="765175"/>
            <a:chOff x="2928" y="2736"/>
            <a:chExt cx="624" cy="482"/>
          </a:xfrm>
        </p:grpSpPr>
        <p:sp>
          <p:nvSpPr>
            <p:cNvPr id="42" name="Text Box 21"/>
            <p:cNvSpPr txBox="1">
              <a:spLocks noChangeArrowheads="1"/>
            </p:cNvSpPr>
            <p:nvPr/>
          </p:nvSpPr>
          <p:spPr bwMode="auto">
            <a:xfrm>
              <a:off x="2928" y="2966"/>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solidFill>
                    <a:srgbClr val="0070C0"/>
                  </a:solidFill>
                  <a:latin typeface="+mn-lt"/>
                </a:rPr>
                <a:t>front=1</a:t>
              </a:r>
            </a:p>
          </p:txBody>
        </p:sp>
        <p:sp>
          <p:nvSpPr>
            <p:cNvPr id="43" name="Line 22"/>
            <p:cNvSpPr>
              <a:spLocks noChangeShapeType="1"/>
            </p:cNvSpPr>
            <p:nvPr/>
          </p:nvSpPr>
          <p:spPr bwMode="auto">
            <a:xfrm flipV="1">
              <a:off x="3168" y="2736"/>
              <a:ext cx="0" cy="288"/>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4" name="Group 23"/>
          <p:cNvGrpSpPr>
            <a:grpSpLocks/>
          </p:cNvGrpSpPr>
          <p:nvPr/>
        </p:nvGrpSpPr>
        <p:grpSpPr bwMode="auto">
          <a:xfrm>
            <a:off x="3200400" y="3676650"/>
            <a:ext cx="990600" cy="869950"/>
            <a:chOff x="2974" y="1776"/>
            <a:chExt cx="624" cy="548"/>
          </a:xfrm>
        </p:grpSpPr>
        <p:sp>
          <p:nvSpPr>
            <p:cNvPr id="45" name="Text Box 24"/>
            <p:cNvSpPr txBox="1">
              <a:spLocks noChangeArrowheads="1"/>
            </p:cNvSpPr>
            <p:nvPr/>
          </p:nvSpPr>
          <p:spPr bwMode="auto">
            <a:xfrm>
              <a:off x="2974" y="177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solidFill>
                    <a:srgbClr val="0070C0"/>
                  </a:solidFill>
                  <a:latin typeface="+mn-lt"/>
                </a:rPr>
                <a:t>rear=0</a:t>
              </a:r>
            </a:p>
          </p:txBody>
        </p:sp>
        <p:sp>
          <p:nvSpPr>
            <p:cNvPr id="46" name="Line 25"/>
            <p:cNvSpPr>
              <a:spLocks noChangeShapeType="1"/>
            </p:cNvSpPr>
            <p:nvPr/>
          </p:nvSpPr>
          <p:spPr bwMode="auto">
            <a:xfrm>
              <a:off x="3194" y="1988"/>
              <a:ext cx="0" cy="336"/>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7" name="Text Box 26"/>
          <p:cNvSpPr txBox="1">
            <a:spLocks noChangeArrowheads="1"/>
          </p:cNvSpPr>
          <p:nvPr/>
        </p:nvSpPr>
        <p:spPr bwMode="auto">
          <a:xfrm>
            <a:off x="3333994" y="6003925"/>
            <a:ext cx="1768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b="1" dirty="0" err="1">
                <a:solidFill>
                  <a:schemeClr val="hlink"/>
                </a:solidFill>
                <a:latin typeface="Arial" charset="0"/>
              </a:rPr>
              <a:t>Eequeue</a:t>
            </a:r>
            <a:r>
              <a:rPr lang="en-US" altLang="zh-CN" sz="2000" b="1" dirty="0">
                <a:solidFill>
                  <a:schemeClr val="hlink"/>
                </a:solidFill>
                <a:latin typeface="Arial" charset="0"/>
              </a:rPr>
              <a:t>(3)</a:t>
            </a:r>
          </a:p>
        </p:txBody>
      </p:sp>
      <p:sp>
        <p:nvSpPr>
          <p:cNvPr id="67" name="Rectangle 29"/>
          <p:cNvSpPr>
            <a:spLocks noChangeArrowheads="1"/>
          </p:cNvSpPr>
          <p:nvPr/>
        </p:nvSpPr>
        <p:spPr bwMode="auto">
          <a:xfrm>
            <a:off x="6093069" y="459105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t>3</a:t>
            </a:r>
            <a:endParaRPr lang="zh-CN" altLang="en-US" dirty="0"/>
          </a:p>
        </p:txBody>
      </p:sp>
      <p:sp>
        <p:nvSpPr>
          <p:cNvPr id="68" name="Rectangle 30"/>
          <p:cNvSpPr>
            <a:spLocks noChangeArrowheads="1"/>
          </p:cNvSpPr>
          <p:nvPr/>
        </p:nvSpPr>
        <p:spPr bwMode="auto">
          <a:xfrm>
            <a:off x="6702669" y="459105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t>6</a:t>
            </a:r>
            <a:endParaRPr lang="zh-CN" altLang="en-US" dirty="0"/>
          </a:p>
        </p:txBody>
      </p:sp>
      <p:sp>
        <p:nvSpPr>
          <p:cNvPr id="69" name="Rectangle 31"/>
          <p:cNvSpPr>
            <a:spLocks noChangeArrowheads="1"/>
          </p:cNvSpPr>
          <p:nvPr/>
        </p:nvSpPr>
        <p:spPr bwMode="auto">
          <a:xfrm>
            <a:off x="7312269" y="459105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solidFill>
                  <a:schemeClr val="tx1">
                    <a:lumMod val="75000"/>
                    <a:lumOff val="25000"/>
                  </a:schemeClr>
                </a:solidFill>
              </a:rPr>
              <a:t>4</a:t>
            </a:r>
            <a:endParaRPr lang="zh-CN" altLang="en-US" dirty="0">
              <a:solidFill>
                <a:schemeClr val="tx1">
                  <a:lumMod val="75000"/>
                  <a:lumOff val="25000"/>
                </a:schemeClr>
              </a:solidFill>
            </a:endParaRPr>
          </a:p>
        </p:txBody>
      </p:sp>
      <p:grpSp>
        <p:nvGrpSpPr>
          <p:cNvPr id="70" name="Group 35"/>
          <p:cNvGrpSpPr>
            <a:grpSpLocks/>
          </p:cNvGrpSpPr>
          <p:nvPr/>
        </p:nvGrpSpPr>
        <p:grpSpPr bwMode="auto">
          <a:xfrm>
            <a:off x="6096000" y="3676650"/>
            <a:ext cx="1143000" cy="869950"/>
            <a:chOff x="3016" y="1776"/>
            <a:chExt cx="624" cy="548"/>
          </a:xfrm>
        </p:grpSpPr>
        <p:sp>
          <p:nvSpPr>
            <p:cNvPr id="71" name="Text Box 36"/>
            <p:cNvSpPr txBox="1">
              <a:spLocks noChangeArrowheads="1"/>
            </p:cNvSpPr>
            <p:nvPr/>
          </p:nvSpPr>
          <p:spPr bwMode="auto">
            <a:xfrm>
              <a:off x="3016" y="1776"/>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solidFill>
                    <a:srgbClr val="0070C0"/>
                  </a:solidFill>
                  <a:latin typeface="+mn-lt"/>
                </a:rPr>
                <a:t>rear=0</a:t>
              </a:r>
            </a:p>
          </p:txBody>
        </p:sp>
        <p:sp>
          <p:nvSpPr>
            <p:cNvPr id="72" name="Line 37"/>
            <p:cNvSpPr>
              <a:spLocks noChangeShapeType="1"/>
            </p:cNvSpPr>
            <p:nvPr/>
          </p:nvSpPr>
          <p:spPr bwMode="auto">
            <a:xfrm>
              <a:off x="3194" y="1988"/>
              <a:ext cx="0" cy="336"/>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3" name="Text Box 38"/>
          <p:cNvSpPr txBox="1">
            <a:spLocks noChangeArrowheads="1"/>
          </p:cNvSpPr>
          <p:nvPr/>
        </p:nvSpPr>
        <p:spPr bwMode="auto">
          <a:xfrm>
            <a:off x="5867400" y="5991225"/>
            <a:ext cx="2362200" cy="400110"/>
          </a:xfrm>
          <a:prstGeom prst="rect">
            <a:avLst/>
          </a:prstGeom>
          <a:solidFill>
            <a:schemeClr val="accent2">
              <a:lumMod val="20000"/>
              <a:lumOff val="80000"/>
            </a:schemeClr>
          </a:solidFill>
          <a:ln>
            <a:noFill/>
          </a:ln>
        </p:spPr>
        <p:txBody>
          <a:bodyPr wrap="squar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a:spcBef>
                <a:spcPct val="50000"/>
              </a:spcBef>
              <a:buClr>
                <a:schemeClr val="tx2"/>
              </a:buClr>
              <a:buSzPct val="75000"/>
              <a:buFont typeface="Monotype Sorts" pitchFamily="2" charset="2"/>
              <a:buNone/>
            </a:pPr>
            <a:r>
              <a:rPr lang="en-US" altLang="zh-CN" sz="2000" b="1" dirty="0" err="1">
                <a:solidFill>
                  <a:srgbClr val="C00000"/>
                </a:solidFill>
                <a:latin typeface="Arial" charset="0"/>
              </a:rPr>
              <a:t>Eequeue</a:t>
            </a:r>
            <a:r>
              <a:rPr lang="en-US" altLang="zh-CN" sz="2000" b="1" dirty="0">
                <a:solidFill>
                  <a:srgbClr val="C00000"/>
                </a:solidFill>
                <a:latin typeface="Arial" charset="0"/>
              </a:rPr>
              <a:t>(1) Fails</a:t>
            </a:r>
          </a:p>
        </p:txBody>
      </p:sp>
      <p:sp>
        <p:nvSpPr>
          <p:cNvPr id="74" name="Rectangle 29"/>
          <p:cNvSpPr>
            <a:spLocks noChangeArrowheads="1"/>
          </p:cNvSpPr>
          <p:nvPr/>
        </p:nvSpPr>
        <p:spPr bwMode="auto">
          <a:xfrm>
            <a:off x="3200400" y="22098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p>
        </p:txBody>
      </p:sp>
      <p:sp>
        <p:nvSpPr>
          <p:cNvPr id="75" name="Rectangle 30"/>
          <p:cNvSpPr>
            <a:spLocks noChangeArrowheads="1"/>
          </p:cNvSpPr>
          <p:nvPr/>
        </p:nvSpPr>
        <p:spPr bwMode="auto">
          <a:xfrm>
            <a:off x="3810000" y="22098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t>6</a:t>
            </a:r>
            <a:endParaRPr lang="zh-CN" altLang="en-US" dirty="0"/>
          </a:p>
        </p:txBody>
      </p:sp>
      <p:sp>
        <p:nvSpPr>
          <p:cNvPr id="76" name="Rectangle 31"/>
          <p:cNvSpPr>
            <a:spLocks noChangeArrowheads="1"/>
          </p:cNvSpPr>
          <p:nvPr/>
        </p:nvSpPr>
        <p:spPr bwMode="auto">
          <a:xfrm>
            <a:off x="4419600" y="22098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b="1" dirty="0">
              <a:solidFill>
                <a:schemeClr val="bg2">
                  <a:lumMod val="75000"/>
                </a:schemeClr>
              </a:solidFill>
            </a:endParaRPr>
          </a:p>
        </p:txBody>
      </p:sp>
      <p:grpSp>
        <p:nvGrpSpPr>
          <p:cNvPr id="77" name="Group 32"/>
          <p:cNvGrpSpPr>
            <a:grpSpLocks/>
          </p:cNvGrpSpPr>
          <p:nvPr/>
        </p:nvGrpSpPr>
        <p:grpSpPr bwMode="auto">
          <a:xfrm>
            <a:off x="3733800" y="2860431"/>
            <a:ext cx="990600" cy="765175"/>
            <a:chOff x="2928" y="2736"/>
            <a:chExt cx="624" cy="482"/>
          </a:xfrm>
        </p:grpSpPr>
        <p:sp>
          <p:nvSpPr>
            <p:cNvPr id="78" name="Text Box 33"/>
            <p:cNvSpPr txBox="1">
              <a:spLocks noChangeArrowheads="1"/>
            </p:cNvSpPr>
            <p:nvPr/>
          </p:nvSpPr>
          <p:spPr bwMode="auto">
            <a:xfrm>
              <a:off x="2928" y="2966"/>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solidFill>
                    <a:srgbClr val="0070C0"/>
                  </a:solidFill>
                  <a:latin typeface="+mn-lt"/>
                </a:rPr>
                <a:t>front=1</a:t>
              </a:r>
            </a:p>
          </p:txBody>
        </p:sp>
        <p:sp>
          <p:nvSpPr>
            <p:cNvPr id="79" name="Line 34"/>
            <p:cNvSpPr>
              <a:spLocks noChangeShapeType="1"/>
            </p:cNvSpPr>
            <p:nvPr/>
          </p:nvSpPr>
          <p:spPr bwMode="auto">
            <a:xfrm flipV="1">
              <a:off x="3168" y="2736"/>
              <a:ext cx="0" cy="288"/>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80" name="Group 35"/>
          <p:cNvGrpSpPr>
            <a:grpSpLocks/>
          </p:cNvGrpSpPr>
          <p:nvPr/>
        </p:nvGrpSpPr>
        <p:grpSpPr bwMode="auto">
          <a:xfrm>
            <a:off x="3733800" y="1295400"/>
            <a:ext cx="990600" cy="869950"/>
            <a:chOff x="2974" y="1776"/>
            <a:chExt cx="624" cy="548"/>
          </a:xfrm>
        </p:grpSpPr>
        <p:sp>
          <p:nvSpPr>
            <p:cNvPr id="81" name="Text Box 36"/>
            <p:cNvSpPr txBox="1">
              <a:spLocks noChangeArrowheads="1"/>
            </p:cNvSpPr>
            <p:nvPr/>
          </p:nvSpPr>
          <p:spPr bwMode="auto">
            <a:xfrm>
              <a:off x="2974" y="177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solidFill>
                    <a:srgbClr val="0070C0"/>
                  </a:solidFill>
                  <a:latin typeface="+mn-lt"/>
                </a:rPr>
                <a:t>rear=1</a:t>
              </a:r>
            </a:p>
          </p:txBody>
        </p:sp>
        <p:sp>
          <p:nvSpPr>
            <p:cNvPr id="82" name="Line 37"/>
            <p:cNvSpPr>
              <a:spLocks noChangeShapeType="1"/>
            </p:cNvSpPr>
            <p:nvPr/>
          </p:nvSpPr>
          <p:spPr bwMode="auto">
            <a:xfrm>
              <a:off x="3194" y="1988"/>
              <a:ext cx="0" cy="336"/>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83" name="Group 20"/>
          <p:cNvGrpSpPr>
            <a:grpSpLocks/>
          </p:cNvGrpSpPr>
          <p:nvPr/>
        </p:nvGrpSpPr>
        <p:grpSpPr bwMode="auto">
          <a:xfrm>
            <a:off x="6635434" y="5248462"/>
            <a:ext cx="990600" cy="765175"/>
            <a:chOff x="2928" y="2736"/>
            <a:chExt cx="624" cy="482"/>
          </a:xfrm>
        </p:grpSpPr>
        <p:sp>
          <p:nvSpPr>
            <p:cNvPr id="84" name="Text Box 21"/>
            <p:cNvSpPr txBox="1">
              <a:spLocks noChangeArrowheads="1"/>
            </p:cNvSpPr>
            <p:nvPr/>
          </p:nvSpPr>
          <p:spPr bwMode="auto">
            <a:xfrm>
              <a:off x="2928" y="2966"/>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solidFill>
                    <a:srgbClr val="0070C0"/>
                  </a:solidFill>
                  <a:latin typeface="+mn-lt"/>
                </a:rPr>
                <a:t>front=1</a:t>
              </a:r>
            </a:p>
          </p:txBody>
        </p:sp>
        <p:sp>
          <p:nvSpPr>
            <p:cNvPr id="85" name="Line 22"/>
            <p:cNvSpPr>
              <a:spLocks noChangeShapeType="1"/>
            </p:cNvSpPr>
            <p:nvPr/>
          </p:nvSpPr>
          <p:spPr bwMode="auto">
            <a:xfrm flipV="1">
              <a:off x="3168" y="2736"/>
              <a:ext cx="0" cy="288"/>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360594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6" grpId="0"/>
      <p:bldP spid="38" grpId="0" animBg="1"/>
      <p:bldP spid="39" grpId="0" animBg="1"/>
      <p:bldP spid="40" grpId="0" animBg="1"/>
      <p:bldP spid="47" grpId="0"/>
      <p:bldP spid="67" grpId="0" animBg="1"/>
      <p:bldP spid="68" grpId="0" animBg="1"/>
      <p:bldP spid="69" grpId="0" animBg="1"/>
      <p:bldP spid="7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 Circular Array - </a:t>
            </a:r>
            <a:r>
              <a:rPr lang="en-US" altLang="zh-CN" dirty="0" err="1"/>
              <a:t>Dequeue</a:t>
            </a:r>
            <a:endParaRPr lang="zh-CN" altLang="en-US" dirty="0"/>
          </a:p>
        </p:txBody>
      </p:sp>
      <p:sp>
        <p:nvSpPr>
          <p:cNvPr id="4" name="灯片编号占位符 3"/>
          <p:cNvSpPr>
            <a:spLocks noGrp="1"/>
          </p:cNvSpPr>
          <p:nvPr>
            <p:ph type="sldNum" sz="quarter" idx="12"/>
          </p:nvPr>
        </p:nvSpPr>
        <p:spPr>
          <a:xfrm>
            <a:off x="4400550" y="6356351"/>
            <a:ext cx="2057400" cy="365125"/>
          </a:xfrm>
        </p:spPr>
        <p:txBody>
          <a:bodyPr/>
          <a:lstStyle/>
          <a:p>
            <a:fld id="{B6F15528-21DE-4FAA-801E-634DDDAF4B2B}" type="slidenum">
              <a:rPr lang="en-US" smtClean="0"/>
              <a:pPr/>
              <a:t>15</a:t>
            </a:fld>
            <a:endParaRPr lang="en-US"/>
          </a:p>
        </p:txBody>
      </p:sp>
      <p:sp>
        <p:nvSpPr>
          <p:cNvPr id="6" name="Footer Placeholder 5"/>
          <p:cNvSpPr>
            <a:spLocks noGrp="1"/>
          </p:cNvSpPr>
          <p:nvPr>
            <p:ph type="ftr" sz="quarter" idx="11"/>
          </p:nvPr>
        </p:nvSpPr>
        <p:spPr>
          <a:xfrm>
            <a:off x="2343150" y="6356351"/>
            <a:ext cx="3086100" cy="365125"/>
          </a:xfrm>
        </p:spPr>
        <p:txBody>
          <a:bodyPr/>
          <a:lstStyle/>
          <a:p>
            <a:r>
              <a:rPr lang="en-US"/>
              <a:t>Data Structures and Algorithms</a:t>
            </a:r>
          </a:p>
        </p:txBody>
      </p:sp>
      <p:sp>
        <p:nvSpPr>
          <p:cNvPr id="37" name="灯片编号占位符 3"/>
          <p:cNvSpPr txBox="1">
            <a:spLocks/>
          </p:cNvSpPr>
          <p:nvPr/>
        </p:nvSpPr>
        <p:spPr>
          <a:xfrm>
            <a:off x="6534150" y="6340475"/>
            <a:ext cx="20574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15</a:t>
            </a:fld>
            <a:endParaRPr lang="en-US"/>
          </a:p>
        </p:txBody>
      </p:sp>
      <p:sp>
        <p:nvSpPr>
          <p:cNvPr id="48" name="Rectangle 47"/>
          <p:cNvSpPr>
            <a:spLocks noChangeArrowheads="1"/>
          </p:cNvSpPr>
          <p:nvPr/>
        </p:nvSpPr>
        <p:spPr bwMode="auto">
          <a:xfrm>
            <a:off x="530469" y="459105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p>
        </p:txBody>
      </p:sp>
      <p:sp>
        <p:nvSpPr>
          <p:cNvPr id="49" name="Rectangle 48"/>
          <p:cNvSpPr>
            <a:spLocks noChangeArrowheads="1"/>
          </p:cNvSpPr>
          <p:nvPr/>
        </p:nvSpPr>
        <p:spPr bwMode="auto">
          <a:xfrm>
            <a:off x="1140069" y="459105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t>6</a:t>
            </a:r>
            <a:endParaRPr lang="zh-CN" altLang="en-US" dirty="0"/>
          </a:p>
        </p:txBody>
      </p:sp>
      <p:sp>
        <p:nvSpPr>
          <p:cNvPr id="50" name="Rectangle 49"/>
          <p:cNvSpPr>
            <a:spLocks noChangeArrowheads="1"/>
          </p:cNvSpPr>
          <p:nvPr/>
        </p:nvSpPr>
        <p:spPr bwMode="auto">
          <a:xfrm>
            <a:off x="1749669" y="459105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t>9</a:t>
            </a:r>
            <a:endParaRPr lang="zh-CN" altLang="en-US" dirty="0"/>
          </a:p>
        </p:txBody>
      </p:sp>
      <p:grpSp>
        <p:nvGrpSpPr>
          <p:cNvPr id="51" name="Group 12"/>
          <p:cNvGrpSpPr>
            <a:grpSpLocks/>
          </p:cNvGrpSpPr>
          <p:nvPr/>
        </p:nvGrpSpPr>
        <p:grpSpPr bwMode="auto">
          <a:xfrm>
            <a:off x="1087804" y="5241925"/>
            <a:ext cx="990600" cy="765175"/>
            <a:chOff x="2928" y="2736"/>
            <a:chExt cx="624" cy="482"/>
          </a:xfrm>
        </p:grpSpPr>
        <p:sp>
          <p:nvSpPr>
            <p:cNvPr id="52" name="Text Box 7"/>
            <p:cNvSpPr txBox="1">
              <a:spLocks noChangeArrowheads="1"/>
            </p:cNvSpPr>
            <p:nvPr/>
          </p:nvSpPr>
          <p:spPr bwMode="auto">
            <a:xfrm>
              <a:off x="2928" y="2966"/>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solidFill>
                    <a:srgbClr val="0070C0"/>
                  </a:solidFill>
                  <a:latin typeface="+mn-lt"/>
                </a:rPr>
                <a:t>front=1</a:t>
              </a:r>
            </a:p>
          </p:txBody>
        </p:sp>
        <p:sp>
          <p:nvSpPr>
            <p:cNvPr id="53" name="Line 8"/>
            <p:cNvSpPr>
              <a:spLocks noChangeShapeType="1"/>
            </p:cNvSpPr>
            <p:nvPr/>
          </p:nvSpPr>
          <p:spPr bwMode="auto">
            <a:xfrm flipV="1">
              <a:off x="3168" y="2736"/>
              <a:ext cx="0" cy="288"/>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4" name="Group 11"/>
          <p:cNvGrpSpPr>
            <a:grpSpLocks/>
          </p:cNvGrpSpPr>
          <p:nvPr/>
        </p:nvGrpSpPr>
        <p:grpSpPr bwMode="auto">
          <a:xfrm>
            <a:off x="1673469" y="3676650"/>
            <a:ext cx="990600" cy="869950"/>
            <a:chOff x="2974" y="1776"/>
            <a:chExt cx="624" cy="548"/>
          </a:xfrm>
        </p:grpSpPr>
        <p:sp>
          <p:nvSpPr>
            <p:cNvPr id="55" name="Text Box 9"/>
            <p:cNvSpPr txBox="1">
              <a:spLocks noChangeArrowheads="1"/>
            </p:cNvSpPr>
            <p:nvPr/>
          </p:nvSpPr>
          <p:spPr bwMode="auto">
            <a:xfrm>
              <a:off x="2974" y="177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solidFill>
                    <a:srgbClr val="0070C0"/>
                  </a:solidFill>
                  <a:latin typeface="+mn-lt"/>
                </a:rPr>
                <a:t>rear=2</a:t>
              </a:r>
            </a:p>
          </p:txBody>
        </p:sp>
        <p:sp>
          <p:nvSpPr>
            <p:cNvPr id="56" name="Line 10"/>
            <p:cNvSpPr>
              <a:spLocks noChangeShapeType="1"/>
            </p:cNvSpPr>
            <p:nvPr/>
          </p:nvSpPr>
          <p:spPr bwMode="auto">
            <a:xfrm>
              <a:off x="3194" y="1988"/>
              <a:ext cx="0" cy="336"/>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7" name="Text Box 14"/>
          <p:cNvSpPr txBox="1">
            <a:spLocks noChangeArrowheads="1"/>
          </p:cNvSpPr>
          <p:nvPr/>
        </p:nvSpPr>
        <p:spPr bwMode="auto">
          <a:xfrm>
            <a:off x="590794" y="5991225"/>
            <a:ext cx="1768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b="1" dirty="0" err="1">
                <a:solidFill>
                  <a:schemeClr val="hlink"/>
                </a:solidFill>
                <a:latin typeface="Arial" charset="0"/>
              </a:rPr>
              <a:t>Dequeue</a:t>
            </a:r>
            <a:r>
              <a:rPr lang="en-US" altLang="zh-CN" sz="2000" b="1" dirty="0">
                <a:solidFill>
                  <a:schemeClr val="hlink"/>
                </a:solidFill>
                <a:latin typeface="Arial" charset="0"/>
              </a:rPr>
              <a:t>()</a:t>
            </a:r>
          </a:p>
        </p:txBody>
      </p:sp>
      <p:sp>
        <p:nvSpPr>
          <p:cNvPr id="58" name="Rectangle 17"/>
          <p:cNvSpPr>
            <a:spLocks noChangeArrowheads="1"/>
          </p:cNvSpPr>
          <p:nvPr/>
        </p:nvSpPr>
        <p:spPr bwMode="auto">
          <a:xfrm>
            <a:off x="3273669" y="460375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p>
        </p:txBody>
      </p:sp>
      <p:sp>
        <p:nvSpPr>
          <p:cNvPr id="59" name="Rectangle 18"/>
          <p:cNvSpPr>
            <a:spLocks noChangeArrowheads="1"/>
          </p:cNvSpPr>
          <p:nvPr/>
        </p:nvSpPr>
        <p:spPr bwMode="auto">
          <a:xfrm>
            <a:off x="3883269" y="460375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b="1" dirty="0">
              <a:solidFill>
                <a:schemeClr val="bg2">
                  <a:lumMod val="75000"/>
                </a:schemeClr>
              </a:solidFill>
            </a:endParaRPr>
          </a:p>
        </p:txBody>
      </p:sp>
      <p:sp>
        <p:nvSpPr>
          <p:cNvPr id="60" name="Rectangle 19"/>
          <p:cNvSpPr>
            <a:spLocks noChangeArrowheads="1"/>
          </p:cNvSpPr>
          <p:nvPr/>
        </p:nvSpPr>
        <p:spPr bwMode="auto">
          <a:xfrm>
            <a:off x="4492869" y="460375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t>9</a:t>
            </a:r>
            <a:endParaRPr lang="zh-CN" altLang="en-US" dirty="0"/>
          </a:p>
        </p:txBody>
      </p:sp>
      <p:grpSp>
        <p:nvGrpSpPr>
          <p:cNvPr id="61" name="Group 20"/>
          <p:cNvGrpSpPr>
            <a:grpSpLocks/>
          </p:cNvGrpSpPr>
          <p:nvPr/>
        </p:nvGrpSpPr>
        <p:grpSpPr bwMode="auto">
          <a:xfrm>
            <a:off x="4416669" y="5254381"/>
            <a:ext cx="990600" cy="765175"/>
            <a:chOff x="2928" y="2736"/>
            <a:chExt cx="624" cy="482"/>
          </a:xfrm>
        </p:grpSpPr>
        <p:sp>
          <p:nvSpPr>
            <p:cNvPr id="62" name="Text Box 21"/>
            <p:cNvSpPr txBox="1">
              <a:spLocks noChangeArrowheads="1"/>
            </p:cNvSpPr>
            <p:nvPr/>
          </p:nvSpPr>
          <p:spPr bwMode="auto">
            <a:xfrm>
              <a:off x="2928" y="2966"/>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solidFill>
                    <a:srgbClr val="0070C0"/>
                  </a:solidFill>
                  <a:latin typeface="+mn-lt"/>
                </a:rPr>
                <a:t>front=2</a:t>
              </a:r>
            </a:p>
          </p:txBody>
        </p:sp>
        <p:sp>
          <p:nvSpPr>
            <p:cNvPr id="63" name="Line 22"/>
            <p:cNvSpPr>
              <a:spLocks noChangeShapeType="1"/>
            </p:cNvSpPr>
            <p:nvPr/>
          </p:nvSpPr>
          <p:spPr bwMode="auto">
            <a:xfrm flipV="1">
              <a:off x="3168" y="2736"/>
              <a:ext cx="0" cy="288"/>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4" name="Group 23"/>
          <p:cNvGrpSpPr>
            <a:grpSpLocks/>
          </p:cNvGrpSpPr>
          <p:nvPr/>
        </p:nvGrpSpPr>
        <p:grpSpPr bwMode="auto">
          <a:xfrm>
            <a:off x="4416669" y="3676650"/>
            <a:ext cx="990600" cy="869950"/>
            <a:chOff x="2974" y="1776"/>
            <a:chExt cx="624" cy="548"/>
          </a:xfrm>
        </p:grpSpPr>
        <p:sp>
          <p:nvSpPr>
            <p:cNvPr id="65" name="Text Box 24"/>
            <p:cNvSpPr txBox="1">
              <a:spLocks noChangeArrowheads="1"/>
            </p:cNvSpPr>
            <p:nvPr/>
          </p:nvSpPr>
          <p:spPr bwMode="auto">
            <a:xfrm>
              <a:off x="2974" y="177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solidFill>
                    <a:srgbClr val="0070C0"/>
                  </a:solidFill>
                  <a:latin typeface="+mn-lt"/>
                </a:rPr>
                <a:t>rear=2</a:t>
              </a:r>
            </a:p>
          </p:txBody>
        </p:sp>
        <p:sp>
          <p:nvSpPr>
            <p:cNvPr id="66" name="Line 25"/>
            <p:cNvSpPr>
              <a:spLocks noChangeShapeType="1"/>
            </p:cNvSpPr>
            <p:nvPr/>
          </p:nvSpPr>
          <p:spPr bwMode="auto">
            <a:xfrm>
              <a:off x="3194" y="1988"/>
              <a:ext cx="0" cy="336"/>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6" name="Text Box 26"/>
          <p:cNvSpPr txBox="1">
            <a:spLocks noChangeArrowheads="1"/>
          </p:cNvSpPr>
          <p:nvPr/>
        </p:nvSpPr>
        <p:spPr bwMode="auto">
          <a:xfrm>
            <a:off x="3333994" y="6003925"/>
            <a:ext cx="1768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b="1" dirty="0" err="1">
                <a:solidFill>
                  <a:schemeClr val="hlink"/>
                </a:solidFill>
                <a:latin typeface="Arial" charset="0"/>
              </a:rPr>
              <a:t>Dequeue</a:t>
            </a:r>
            <a:r>
              <a:rPr lang="en-US" altLang="zh-CN" sz="2000" b="1" dirty="0">
                <a:solidFill>
                  <a:schemeClr val="hlink"/>
                </a:solidFill>
                <a:latin typeface="Arial" charset="0"/>
              </a:rPr>
              <a:t>()</a:t>
            </a:r>
          </a:p>
        </p:txBody>
      </p:sp>
      <p:sp>
        <p:nvSpPr>
          <p:cNvPr id="87" name="Rectangle 29"/>
          <p:cNvSpPr>
            <a:spLocks noChangeArrowheads="1"/>
          </p:cNvSpPr>
          <p:nvPr/>
        </p:nvSpPr>
        <p:spPr bwMode="auto">
          <a:xfrm>
            <a:off x="6093069" y="459105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p>
        </p:txBody>
      </p:sp>
      <p:sp>
        <p:nvSpPr>
          <p:cNvPr id="88" name="Rectangle 30"/>
          <p:cNvSpPr>
            <a:spLocks noChangeArrowheads="1"/>
          </p:cNvSpPr>
          <p:nvPr/>
        </p:nvSpPr>
        <p:spPr bwMode="auto">
          <a:xfrm>
            <a:off x="6702669" y="459105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dirty="0"/>
          </a:p>
        </p:txBody>
      </p:sp>
      <p:sp>
        <p:nvSpPr>
          <p:cNvPr id="89" name="Rectangle 31"/>
          <p:cNvSpPr>
            <a:spLocks noChangeArrowheads="1"/>
          </p:cNvSpPr>
          <p:nvPr/>
        </p:nvSpPr>
        <p:spPr bwMode="auto">
          <a:xfrm>
            <a:off x="7312269" y="459105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endParaRPr lang="zh-CN" altLang="en-US" b="1" dirty="0">
              <a:solidFill>
                <a:schemeClr val="bg2">
                  <a:lumMod val="75000"/>
                </a:schemeClr>
              </a:solidFill>
            </a:endParaRPr>
          </a:p>
        </p:txBody>
      </p:sp>
      <p:grpSp>
        <p:nvGrpSpPr>
          <p:cNvPr id="90" name="Group 32"/>
          <p:cNvGrpSpPr>
            <a:grpSpLocks/>
          </p:cNvGrpSpPr>
          <p:nvPr/>
        </p:nvGrpSpPr>
        <p:grpSpPr bwMode="auto">
          <a:xfrm>
            <a:off x="5750169" y="5259510"/>
            <a:ext cx="1740023" cy="765175"/>
            <a:chOff x="2928" y="2736"/>
            <a:chExt cx="624" cy="482"/>
          </a:xfrm>
        </p:grpSpPr>
        <p:sp>
          <p:nvSpPr>
            <p:cNvPr id="91" name="Text Box 33"/>
            <p:cNvSpPr txBox="1">
              <a:spLocks noChangeArrowheads="1"/>
            </p:cNvSpPr>
            <p:nvPr/>
          </p:nvSpPr>
          <p:spPr bwMode="auto">
            <a:xfrm>
              <a:off x="2928" y="2966"/>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solidFill>
                    <a:srgbClr val="0070C0"/>
                  </a:solidFill>
                  <a:latin typeface="+mn-lt"/>
                </a:rPr>
                <a:t>front=0</a:t>
              </a:r>
            </a:p>
          </p:txBody>
        </p:sp>
        <p:sp>
          <p:nvSpPr>
            <p:cNvPr id="92" name="Line 34"/>
            <p:cNvSpPr>
              <a:spLocks noChangeShapeType="1"/>
            </p:cNvSpPr>
            <p:nvPr/>
          </p:nvSpPr>
          <p:spPr bwMode="auto">
            <a:xfrm flipV="1">
              <a:off x="3168" y="2736"/>
              <a:ext cx="0" cy="288"/>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93" name="Group 35"/>
          <p:cNvGrpSpPr>
            <a:grpSpLocks/>
          </p:cNvGrpSpPr>
          <p:nvPr/>
        </p:nvGrpSpPr>
        <p:grpSpPr bwMode="auto">
          <a:xfrm>
            <a:off x="7239000" y="3676650"/>
            <a:ext cx="1143000" cy="869950"/>
            <a:chOff x="3016" y="1776"/>
            <a:chExt cx="624" cy="548"/>
          </a:xfrm>
        </p:grpSpPr>
        <p:sp>
          <p:nvSpPr>
            <p:cNvPr id="94" name="Text Box 36"/>
            <p:cNvSpPr txBox="1">
              <a:spLocks noChangeArrowheads="1"/>
            </p:cNvSpPr>
            <p:nvPr/>
          </p:nvSpPr>
          <p:spPr bwMode="auto">
            <a:xfrm>
              <a:off x="3016" y="1776"/>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solidFill>
                    <a:srgbClr val="0070C0"/>
                  </a:solidFill>
                  <a:latin typeface="+mn-lt"/>
                </a:rPr>
                <a:t>rear=2</a:t>
              </a:r>
            </a:p>
          </p:txBody>
        </p:sp>
        <p:sp>
          <p:nvSpPr>
            <p:cNvPr id="95" name="Line 37"/>
            <p:cNvSpPr>
              <a:spLocks noChangeShapeType="1"/>
            </p:cNvSpPr>
            <p:nvPr/>
          </p:nvSpPr>
          <p:spPr bwMode="auto">
            <a:xfrm>
              <a:off x="3194" y="1988"/>
              <a:ext cx="0" cy="336"/>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96" name="Text Box 38"/>
          <p:cNvSpPr txBox="1">
            <a:spLocks noChangeArrowheads="1"/>
          </p:cNvSpPr>
          <p:nvPr/>
        </p:nvSpPr>
        <p:spPr bwMode="auto">
          <a:xfrm>
            <a:off x="6153394" y="5991225"/>
            <a:ext cx="1768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b="1" dirty="0" err="1">
                <a:solidFill>
                  <a:schemeClr val="hlink"/>
                </a:solidFill>
                <a:latin typeface="Arial" charset="0"/>
              </a:rPr>
              <a:t>Dequeue</a:t>
            </a:r>
            <a:r>
              <a:rPr lang="en-US" altLang="zh-CN" sz="2000" b="1" dirty="0">
                <a:solidFill>
                  <a:schemeClr val="hlink"/>
                </a:solidFill>
                <a:latin typeface="Arial" charset="0"/>
              </a:rPr>
              <a:t>()</a:t>
            </a:r>
          </a:p>
        </p:txBody>
      </p:sp>
      <p:sp>
        <p:nvSpPr>
          <p:cNvPr id="97" name="Rectangle 29"/>
          <p:cNvSpPr>
            <a:spLocks noChangeArrowheads="1"/>
          </p:cNvSpPr>
          <p:nvPr/>
        </p:nvSpPr>
        <p:spPr bwMode="auto">
          <a:xfrm>
            <a:off x="3200400" y="22098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t>3</a:t>
            </a:r>
            <a:endParaRPr lang="zh-CN" altLang="en-US" dirty="0"/>
          </a:p>
        </p:txBody>
      </p:sp>
      <p:sp>
        <p:nvSpPr>
          <p:cNvPr id="98" name="Rectangle 30"/>
          <p:cNvSpPr>
            <a:spLocks noChangeArrowheads="1"/>
          </p:cNvSpPr>
          <p:nvPr/>
        </p:nvSpPr>
        <p:spPr bwMode="auto">
          <a:xfrm>
            <a:off x="3810000" y="22098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t>6</a:t>
            </a:r>
            <a:endParaRPr lang="zh-CN" altLang="en-US" dirty="0"/>
          </a:p>
        </p:txBody>
      </p:sp>
      <p:sp>
        <p:nvSpPr>
          <p:cNvPr id="99" name="Rectangle 31"/>
          <p:cNvSpPr>
            <a:spLocks noChangeArrowheads="1"/>
          </p:cNvSpPr>
          <p:nvPr/>
        </p:nvSpPr>
        <p:spPr bwMode="auto">
          <a:xfrm>
            <a:off x="4419600" y="22098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solidFill>
                  <a:schemeClr val="tx1">
                    <a:lumMod val="75000"/>
                    <a:lumOff val="25000"/>
                  </a:schemeClr>
                </a:solidFill>
              </a:rPr>
              <a:t>9</a:t>
            </a:r>
            <a:endParaRPr lang="zh-CN" altLang="en-US" dirty="0">
              <a:solidFill>
                <a:schemeClr val="tx1">
                  <a:lumMod val="75000"/>
                  <a:lumOff val="25000"/>
                </a:schemeClr>
              </a:solidFill>
            </a:endParaRPr>
          </a:p>
        </p:txBody>
      </p:sp>
      <p:grpSp>
        <p:nvGrpSpPr>
          <p:cNvPr id="100" name="Group 32"/>
          <p:cNvGrpSpPr>
            <a:grpSpLocks/>
          </p:cNvGrpSpPr>
          <p:nvPr/>
        </p:nvGrpSpPr>
        <p:grpSpPr bwMode="auto">
          <a:xfrm>
            <a:off x="3124200" y="2819400"/>
            <a:ext cx="990600" cy="765175"/>
            <a:chOff x="2928" y="2736"/>
            <a:chExt cx="624" cy="482"/>
          </a:xfrm>
        </p:grpSpPr>
        <p:sp>
          <p:nvSpPr>
            <p:cNvPr id="101" name="Text Box 33"/>
            <p:cNvSpPr txBox="1">
              <a:spLocks noChangeArrowheads="1"/>
            </p:cNvSpPr>
            <p:nvPr/>
          </p:nvSpPr>
          <p:spPr bwMode="auto">
            <a:xfrm>
              <a:off x="2928" y="2966"/>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solidFill>
                    <a:srgbClr val="0070C0"/>
                  </a:solidFill>
                  <a:latin typeface="+mn-lt"/>
                </a:rPr>
                <a:t>front=0</a:t>
              </a:r>
            </a:p>
          </p:txBody>
        </p:sp>
        <p:sp>
          <p:nvSpPr>
            <p:cNvPr id="102" name="Line 34"/>
            <p:cNvSpPr>
              <a:spLocks noChangeShapeType="1"/>
            </p:cNvSpPr>
            <p:nvPr/>
          </p:nvSpPr>
          <p:spPr bwMode="auto">
            <a:xfrm flipV="1">
              <a:off x="3168" y="2736"/>
              <a:ext cx="0" cy="288"/>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3" name="Group 35"/>
          <p:cNvGrpSpPr>
            <a:grpSpLocks/>
          </p:cNvGrpSpPr>
          <p:nvPr/>
        </p:nvGrpSpPr>
        <p:grpSpPr bwMode="auto">
          <a:xfrm>
            <a:off x="4343400" y="1295400"/>
            <a:ext cx="990600" cy="869950"/>
            <a:chOff x="2974" y="1776"/>
            <a:chExt cx="624" cy="548"/>
          </a:xfrm>
        </p:grpSpPr>
        <p:sp>
          <p:nvSpPr>
            <p:cNvPr id="104" name="Text Box 36"/>
            <p:cNvSpPr txBox="1">
              <a:spLocks noChangeArrowheads="1"/>
            </p:cNvSpPr>
            <p:nvPr/>
          </p:nvSpPr>
          <p:spPr bwMode="auto">
            <a:xfrm>
              <a:off x="2974" y="177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solidFill>
                    <a:srgbClr val="0070C0"/>
                  </a:solidFill>
                  <a:latin typeface="+mn-lt"/>
                </a:rPr>
                <a:t>rear=2</a:t>
              </a:r>
            </a:p>
          </p:txBody>
        </p:sp>
        <p:sp>
          <p:nvSpPr>
            <p:cNvPr id="105" name="Line 37"/>
            <p:cNvSpPr>
              <a:spLocks noChangeShapeType="1"/>
            </p:cNvSpPr>
            <p:nvPr/>
          </p:nvSpPr>
          <p:spPr bwMode="auto">
            <a:xfrm>
              <a:off x="3194" y="1988"/>
              <a:ext cx="0" cy="336"/>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7504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9" grpId="0" animBg="1"/>
      <p:bldP spid="50" grpId="0" animBg="1"/>
      <p:bldP spid="57" grpId="0"/>
      <p:bldP spid="58" grpId="0" animBg="1"/>
      <p:bldP spid="59" grpId="0" animBg="1"/>
      <p:bldP spid="60" grpId="0" animBg="1"/>
      <p:bldP spid="86" grpId="0"/>
      <p:bldP spid="87" grpId="0" animBg="1"/>
      <p:bldP spid="88" grpId="0" animBg="1"/>
      <p:bldP spid="89" grpId="0" animBg="1"/>
      <p:bldP spid="9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 Circular Array – Empty or Full</a:t>
            </a:r>
            <a:endParaRPr lang="zh-CN" altLang="en-US" dirty="0"/>
          </a:p>
        </p:txBody>
      </p:sp>
      <p:sp>
        <p:nvSpPr>
          <p:cNvPr id="3" name="内容占位符 2"/>
          <p:cNvSpPr>
            <a:spLocks noGrp="1"/>
          </p:cNvSpPr>
          <p:nvPr>
            <p:ph idx="1"/>
          </p:nvPr>
        </p:nvSpPr>
        <p:spPr>
          <a:xfrm>
            <a:off x="457199" y="1600200"/>
            <a:ext cx="6805979" cy="4159250"/>
          </a:xfrm>
        </p:spPr>
        <p:txBody>
          <a:bodyPr>
            <a:normAutofit/>
          </a:bodyPr>
          <a:lstStyle/>
          <a:p>
            <a:r>
              <a:rPr lang="en-US" altLang="zh-CN" dirty="0">
                <a:ea typeface="宋体" pitchFamily="2" charset="-122"/>
              </a:rPr>
              <a:t>How to detect an </a:t>
            </a:r>
            <a:r>
              <a:rPr lang="en-US" altLang="zh-CN" dirty="0">
                <a:solidFill>
                  <a:srgbClr val="0070C0"/>
                </a:solidFill>
                <a:ea typeface="宋体" pitchFamily="2" charset="-122"/>
              </a:rPr>
              <a:t>empty</a:t>
            </a:r>
            <a:r>
              <a:rPr lang="en-US" altLang="zh-CN" dirty="0">
                <a:solidFill>
                  <a:schemeClr val="accent1"/>
                </a:solidFill>
                <a:ea typeface="宋体" pitchFamily="2" charset="-122"/>
              </a:rPr>
              <a:t> </a:t>
            </a:r>
            <a:r>
              <a:rPr lang="en-US" altLang="zh-CN" dirty="0">
                <a:ea typeface="宋体" pitchFamily="2" charset="-122"/>
              </a:rPr>
              <a:t>or </a:t>
            </a:r>
            <a:r>
              <a:rPr lang="en-US" altLang="zh-CN" dirty="0">
                <a:solidFill>
                  <a:srgbClr val="0070C0"/>
                </a:solidFill>
                <a:ea typeface="宋体" pitchFamily="2" charset="-122"/>
              </a:rPr>
              <a:t>full</a:t>
            </a:r>
            <a:r>
              <a:rPr lang="en-US" altLang="zh-CN" dirty="0">
                <a:solidFill>
                  <a:schemeClr val="accent1"/>
                </a:solidFill>
                <a:ea typeface="宋体" pitchFamily="2" charset="-122"/>
              </a:rPr>
              <a:t> </a:t>
            </a:r>
            <a:r>
              <a:rPr lang="en-US" altLang="zh-CN" dirty="0">
                <a:ea typeface="宋体" pitchFamily="2" charset="-122"/>
              </a:rPr>
              <a:t>queue using a circular array? </a:t>
            </a:r>
          </a:p>
          <a:p>
            <a:pPr lvl="1"/>
            <a:r>
              <a:rPr lang="en-US" altLang="zh-CN" dirty="0">
                <a:ea typeface="宋体" pitchFamily="2" charset="-122"/>
              </a:rPr>
              <a:t>Empty: rear is one position before front</a:t>
            </a:r>
          </a:p>
          <a:p>
            <a:pPr lvl="1"/>
            <a:r>
              <a:rPr lang="en-US" altLang="zh-CN" dirty="0">
                <a:ea typeface="宋体" pitchFamily="2" charset="-122"/>
              </a:rPr>
              <a:t>Full: rear is one position before front</a:t>
            </a:r>
          </a:p>
          <a:p>
            <a:r>
              <a:rPr lang="en-US" altLang="zh-CN" dirty="0">
                <a:ea typeface="宋体" pitchFamily="2" charset="-122"/>
              </a:rPr>
              <a:t>Is this queue empty or full?</a:t>
            </a:r>
          </a:p>
          <a:p>
            <a:r>
              <a:rPr lang="en-US" altLang="zh-CN" dirty="0">
                <a:ea typeface="宋体" pitchFamily="2" charset="-122"/>
              </a:rPr>
              <a:t>How to detect an </a:t>
            </a:r>
            <a:r>
              <a:rPr lang="en-US" altLang="zh-CN" dirty="0">
                <a:solidFill>
                  <a:srgbClr val="0070C0"/>
                </a:solidFill>
                <a:ea typeface="宋体" pitchFamily="2" charset="-122"/>
              </a:rPr>
              <a:t>empty</a:t>
            </a:r>
            <a:r>
              <a:rPr lang="en-US" altLang="zh-CN" dirty="0">
                <a:solidFill>
                  <a:schemeClr val="accent1"/>
                </a:solidFill>
                <a:ea typeface="宋体" pitchFamily="2" charset="-122"/>
              </a:rPr>
              <a:t> </a:t>
            </a:r>
            <a:r>
              <a:rPr lang="en-US" altLang="zh-CN" dirty="0">
                <a:ea typeface="宋体" pitchFamily="2" charset="-122"/>
              </a:rPr>
              <a:t>or </a:t>
            </a:r>
            <a:r>
              <a:rPr lang="en-US" altLang="zh-CN" dirty="0">
                <a:solidFill>
                  <a:srgbClr val="0070C0"/>
                </a:solidFill>
                <a:ea typeface="宋体" pitchFamily="2" charset="-122"/>
              </a:rPr>
              <a:t>full</a:t>
            </a:r>
            <a:r>
              <a:rPr lang="en-US" altLang="zh-CN" dirty="0">
                <a:solidFill>
                  <a:schemeClr val="accent1"/>
                </a:solidFill>
                <a:ea typeface="宋体" pitchFamily="2" charset="-122"/>
              </a:rPr>
              <a:t> </a:t>
            </a:r>
            <a:r>
              <a:rPr lang="en-US" altLang="zh-CN" dirty="0">
                <a:ea typeface="宋体" pitchFamily="2" charset="-122"/>
              </a:rPr>
              <a:t>queue, using a circular array algorithm? </a:t>
            </a:r>
          </a:p>
          <a:p>
            <a:pPr lvl="1"/>
            <a:r>
              <a:rPr lang="en-US" altLang="zh-CN" dirty="0">
                <a:ea typeface="宋体" pitchFamily="2" charset="-122"/>
              </a:rPr>
              <a:t>Use a </a:t>
            </a:r>
            <a:r>
              <a:rPr lang="en-US" altLang="zh-CN" dirty="0">
                <a:solidFill>
                  <a:srgbClr val="0070C0"/>
                </a:solidFill>
                <a:ea typeface="宋体" pitchFamily="2" charset="-122"/>
              </a:rPr>
              <a:t>counter</a:t>
            </a:r>
            <a:r>
              <a:rPr lang="en-US" altLang="zh-CN" dirty="0">
                <a:ea typeface="宋体" pitchFamily="2" charset="-122"/>
              </a:rPr>
              <a:t> which records </a:t>
            </a:r>
            <a:r>
              <a:rPr lang="en-US" altLang="zh-CN" dirty="0">
                <a:solidFill>
                  <a:srgbClr val="C00000"/>
                </a:solidFill>
                <a:ea typeface="宋体" pitchFamily="2" charset="-122"/>
              </a:rPr>
              <a:t>number of elements </a:t>
            </a:r>
            <a:r>
              <a:rPr lang="en-US" altLang="zh-CN" dirty="0">
                <a:ea typeface="宋体" pitchFamily="2" charset="-122"/>
              </a:rPr>
              <a:t>in the queue</a:t>
            </a:r>
          </a:p>
          <a:p>
            <a:endParaRPr lang="en-US" altLang="zh-CN" dirty="0">
              <a:ea typeface="宋体" pitchFamily="2" charset="-122"/>
            </a:endParaRPr>
          </a:p>
          <a:p>
            <a:endParaRPr lang="en-US" altLang="zh-CN" dirty="0">
              <a:ea typeface="宋体" pitchFamily="2" charset="-122"/>
            </a:endParaRPr>
          </a:p>
        </p:txBody>
      </p:sp>
      <p:sp>
        <p:nvSpPr>
          <p:cNvPr id="6" name="Footer Placeholder 5"/>
          <p:cNvSpPr>
            <a:spLocks noGrp="1"/>
          </p:cNvSpPr>
          <p:nvPr>
            <p:ph type="ftr" sz="quarter" idx="11"/>
          </p:nvPr>
        </p:nvSpPr>
        <p:spPr>
          <a:xfrm>
            <a:off x="2343150" y="6356351"/>
            <a:ext cx="3086100" cy="365125"/>
          </a:xfrm>
        </p:spPr>
        <p:txBody>
          <a:bodyPr/>
          <a:lstStyle/>
          <a:p>
            <a:r>
              <a:rPr lang="en-US"/>
              <a:t>Data Structures and Algorithms</a:t>
            </a:r>
          </a:p>
        </p:txBody>
      </p:sp>
      <p:sp>
        <p:nvSpPr>
          <p:cNvPr id="37" name="灯片编号占位符 3"/>
          <p:cNvSpPr txBox="1">
            <a:spLocks/>
          </p:cNvSpPr>
          <p:nvPr/>
        </p:nvSpPr>
        <p:spPr>
          <a:xfrm>
            <a:off x="6534150" y="6340475"/>
            <a:ext cx="20574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16</a:t>
            </a:fld>
            <a:endParaRPr lang="en-US"/>
          </a:p>
        </p:txBody>
      </p:sp>
      <p:sp>
        <p:nvSpPr>
          <p:cNvPr id="27" name="Rectangle 29"/>
          <p:cNvSpPr>
            <a:spLocks noChangeArrowheads="1"/>
          </p:cNvSpPr>
          <p:nvPr/>
        </p:nvSpPr>
        <p:spPr bwMode="auto">
          <a:xfrm>
            <a:off x="7239000" y="33528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t>3</a:t>
            </a:r>
            <a:endParaRPr lang="zh-CN" altLang="en-US" dirty="0"/>
          </a:p>
        </p:txBody>
      </p:sp>
      <p:sp>
        <p:nvSpPr>
          <p:cNvPr id="28" name="Rectangle 30"/>
          <p:cNvSpPr>
            <a:spLocks noChangeArrowheads="1"/>
          </p:cNvSpPr>
          <p:nvPr/>
        </p:nvSpPr>
        <p:spPr bwMode="auto">
          <a:xfrm>
            <a:off x="7848600" y="33528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t>6</a:t>
            </a:r>
            <a:endParaRPr lang="zh-CN" altLang="en-US" dirty="0"/>
          </a:p>
        </p:txBody>
      </p:sp>
      <p:sp>
        <p:nvSpPr>
          <p:cNvPr id="29" name="Rectangle 31"/>
          <p:cNvSpPr>
            <a:spLocks noChangeArrowheads="1"/>
          </p:cNvSpPr>
          <p:nvPr/>
        </p:nvSpPr>
        <p:spPr bwMode="auto">
          <a:xfrm>
            <a:off x="8458200" y="3352800"/>
            <a:ext cx="609600" cy="6096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none" anchor="ctr"/>
          <a:lstStyle/>
          <a:p>
            <a:pPr algn="ctr"/>
            <a:r>
              <a:rPr lang="en-US" altLang="zh-CN" dirty="0">
                <a:solidFill>
                  <a:schemeClr val="tx1">
                    <a:lumMod val="75000"/>
                    <a:lumOff val="25000"/>
                  </a:schemeClr>
                </a:solidFill>
              </a:rPr>
              <a:t>4</a:t>
            </a:r>
            <a:endParaRPr lang="zh-CN" altLang="en-US" dirty="0">
              <a:solidFill>
                <a:schemeClr val="tx1">
                  <a:lumMod val="75000"/>
                  <a:lumOff val="25000"/>
                </a:schemeClr>
              </a:solidFill>
            </a:endParaRPr>
          </a:p>
        </p:txBody>
      </p:sp>
      <p:grpSp>
        <p:nvGrpSpPr>
          <p:cNvPr id="30" name="Group 35"/>
          <p:cNvGrpSpPr>
            <a:grpSpLocks/>
          </p:cNvGrpSpPr>
          <p:nvPr/>
        </p:nvGrpSpPr>
        <p:grpSpPr bwMode="auto">
          <a:xfrm>
            <a:off x="7238267" y="2438400"/>
            <a:ext cx="1143000" cy="869950"/>
            <a:chOff x="3014" y="1776"/>
            <a:chExt cx="624" cy="548"/>
          </a:xfrm>
        </p:grpSpPr>
        <p:sp>
          <p:nvSpPr>
            <p:cNvPr id="31" name="Text Box 36"/>
            <p:cNvSpPr txBox="1">
              <a:spLocks noChangeArrowheads="1"/>
            </p:cNvSpPr>
            <p:nvPr/>
          </p:nvSpPr>
          <p:spPr bwMode="auto">
            <a:xfrm>
              <a:off x="3014" y="1776"/>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solidFill>
                    <a:srgbClr val="0070C0"/>
                  </a:solidFill>
                  <a:latin typeface="+mn-lt"/>
                </a:rPr>
                <a:t>rear=0</a:t>
              </a:r>
            </a:p>
          </p:txBody>
        </p:sp>
        <p:sp>
          <p:nvSpPr>
            <p:cNvPr id="32" name="Line 37"/>
            <p:cNvSpPr>
              <a:spLocks noChangeShapeType="1"/>
            </p:cNvSpPr>
            <p:nvPr/>
          </p:nvSpPr>
          <p:spPr bwMode="auto">
            <a:xfrm>
              <a:off x="3194" y="1988"/>
              <a:ext cx="0" cy="336"/>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3" name="Group 20"/>
          <p:cNvGrpSpPr>
            <a:grpSpLocks/>
          </p:cNvGrpSpPr>
          <p:nvPr/>
        </p:nvGrpSpPr>
        <p:grpSpPr bwMode="auto">
          <a:xfrm>
            <a:off x="7781365" y="4010212"/>
            <a:ext cx="990600" cy="765175"/>
            <a:chOff x="2928" y="2736"/>
            <a:chExt cx="624" cy="482"/>
          </a:xfrm>
        </p:grpSpPr>
        <p:sp>
          <p:nvSpPr>
            <p:cNvPr id="34" name="Text Box 21"/>
            <p:cNvSpPr txBox="1">
              <a:spLocks noChangeArrowheads="1"/>
            </p:cNvSpPr>
            <p:nvPr/>
          </p:nvSpPr>
          <p:spPr bwMode="auto">
            <a:xfrm>
              <a:off x="2928" y="2966"/>
              <a:ext cx="6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spcBef>
                  <a:spcPct val="50000"/>
                </a:spcBef>
                <a:buClr>
                  <a:schemeClr val="tx2"/>
                </a:buClr>
                <a:buSzPct val="75000"/>
                <a:buFont typeface="Monotype Sorts" pitchFamily="2" charset="2"/>
                <a:buNone/>
              </a:pPr>
              <a:r>
                <a:rPr lang="en-US" altLang="zh-CN" sz="2000" dirty="0">
                  <a:solidFill>
                    <a:srgbClr val="0070C0"/>
                  </a:solidFill>
                  <a:latin typeface="+mn-lt"/>
                </a:rPr>
                <a:t>front=1</a:t>
              </a:r>
            </a:p>
          </p:txBody>
        </p:sp>
        <p:sp>
          <p:nvSpPr>
            <p:cNvPr id="35" name="Line 22"/>
            <p:cNvSpPr>
              <a:spLocks noChangeShapeType="1"/>
            </p:cNvSpPr>
            <p:nvPr/>
          </p:nvSpPr>
          <p:spPr bwMode="auto">
            <a:xfrm flipV="1">
              <a:off x="3168" y="2736"/>
              <a:ext cx="0" cy="288"/>
            </a:xfrm>
            <a:prstGeom prst="line">
              <a:avLst/>
            </a:prstGeom>
            <a:noFill/>
            <a:ln w="12700">
              <a:solidFill>
                <a:schemeClr val="accent6"/>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3170633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6"/>
            <a:ext cx="8058150" cy="1325563"/>
          </a:xfrm>
        </p:spPr>
        <p:txBody>
          <a:bodyPr/>
          <a:lstStyle/>
          <a:p>
            <a:r>
              <a:rPr lang="en-US" altLang="zh-CN" dirty="0"/>
              <a:t>Queue Implementation with Array</a:t>
            </a:r>
            <a:endParaRPr lang="zh-CN" altLang="en-US" dirty="0"/>
          </a:p>
        </p:txBody>
      </p:sp>
      <p:sp>
        <p:nvSpPr>
          <p:cNvPr id="3" name="内容占位符 2"/>
          <p:cNvSpPr>
            <a:spLocks noGrp="1"/>
          </p:cNvSpPr>
          <p:nvPr>
            <p:ph idx="1"/>
          </p:nvPr>
        </p:nvSpPr>
        <p:spPr/>
        <p:txBody>
          <a:bodyPr/>
          <a:lstStyle/>
          <a:p>
            <a:r>
              <a:rPr lang="en-US" altLang="zh-CN" dirty="0"/>
              <a:t>Data</a:t>
            </a:r>
          </a:p>
        </p:txBody>
      </p:sp>
      <p:sp>
        <p:nvSpPr>
          <p:cNvPr id="4" name="灯片编号占位符 3"/>
          <p:cNvSpPr>
            <a:spLocks noGrp="1"/>
          </p:cNvSpPr>
          <p:nvPr>
            <p:ph type="sldNum" sz="quarter" idx="12"/>
          </p:nvPr>
        </p:nvSpPr>
        <p:spPr/>
        <p:txBody>
          <a:bodyPr/>
          <a:lstStyle/>
          <a:p>
            <a:fld id="{B6F15528-21DE-4FAA-801E-634DDDAF4B2B}" type="slidenum">
              <a:rPr lang="en-US" smtClean="0"/>
              <a:pPr/>
              <a:t>17</a:t>
            </a:fld>
            <a:endParaRPr lang="en-US"/>
          </a:p>
        </p:txBody>
      </p:sp>
      <p:sp>
        <p:nvSpPr>
          <p:cNvPr id="6" name="Footer Placeholder 5"/>
          <p:cNvSpPr>
            <a:spLocks noGrp="1"/>
          </p:cNvSpPr>
          <p:nvPr>
            <p:ph type="ftr" sz="quarter" idx="11"/>
          </p:nvPr>
        </p:nvSpPr>
        <p:spPr/>
        <p:txBody>
          <a:bodyPr/>
          <a:lstStyle/>
          <a:p>
            <a:r>
              <a:rPr lang="en-US"/>
              <a:t>Data Structures and Algorithms</a:t>
            </a:r>
          </a:p>
        </p:txBody>
      </p:sp>
      <p:sp>
        <p:nvSpPr>
          <p:cNvPr id="7" name="Text Box 5"/>
          <p:cNvSpPr txBox="1">
            <a:spLocks noChangeArrowheads="1"/>
          </p:cNvSpPr>
          <p:nvPr/>
        </p:nvSpPr>
        <p:spPr bwMode="auto">
          <a:xfrm>
            <a:off x="381000" y="2819400"/>
            <a:ext cx="3886200" cy="2677656"/>
          </a:xfrm>
          <a:prstGeom prst="rect">
            <a:avLst/>
          </a:prstGeom>
          <a:noFill/>
          <a:ln>
            <a:solidFill>
              <a:schemeClr val="tx1"/>
            </a:solidFill>
          </a:ln>
        </p:spPr>
        <p:txBody>
          <a:bodyPr wrap="square" lIns="252000">
            <a:spAutoFit/>
          </a:bodyPr>
          <a:lstStyle>
            <a:defPPr>
              <a:defRPr lang="en-US"/>
            </a:defPPr>
            <a:lvl1pPr eaLnBrk="0" hangingPunct="0">
              <a:lnSpc>
                <a:spcPct val="150000"/>
              </a:lnSpc>
              <a:defRPr sz="2000">
                <a:solidFill>
                  <a:schemeClr val="accent6"/>
                </a:solidFill>
                <a:latin typeface="Courier New" pitchFamily="49" charset="0"/>
                <a:ea typeface="宋体" pitchFamily="2" charset="-122"/>
                <a:cs typeface="Courier New" pitchFamily="49" charset="0"/>
              </a:defRPr>
            </a:lvl1pPr>
            <a:lvl2pPr marL="742950" indent="-285750" eaLnBrk="0" hangingPunct="0">
              <a:defRPr sz="2800">
                <a:latin typeface="Tahoma" pitchFamily="34" charset="0"/>
                <a:ea typeface="宋体" pitchFamily="2" charset="-122"/>
              </a:defRPr>
            </a:lvl2pPr>
            <a:lvl3pPr marL="1143000" indent="-228600" eaLnBrk="0" hangingPunct="0">
              <a:defRPr sz="2800">
                <a:latin typeface="Tahoma" pitchFamily="34" charset="0"/>
                <a:ea typeface="宋体" pitchFamily="2" charset="-122"/>
              </a:defRPr>
            </a:lvl3pPr>
            <a:lvl4pPr marL="1600200" indent="-228600" eaLnBrk="0" hangingPunct="0">
              <a:defRPr sz="2800">
                <a:latin typeface="Tahoma" pitchFamily="34" charset="0"/>
                <a:ea typeface="宋体" pitchFamily="2" charset="-122"/>
              </a:defRPr>
            </a:lvl4pPr>
            <a:lvl5pPr marL="2057400" indent="-228600" eaLnBrk="0" hangingPunct="0">
              <a:defRPr sz="2800">
                <a:latin typeface="Tahoma" pitchFamily="34" charset="0"/>
                <a:ea typeface="宋体" pitchFamily="2" charset="-122"/>
              </a:defRPr>
            </a:lvl5pPr>
            <a:lvl6pPr marL="2514600" indent="-228600" eaLnBrk="0" fontAlgn="base" hangingPunct="0">
              <a:spcBef>
                <a:spcPct val="0"/>
              </a:spcBef>
              <a:spcAft>
                <a:spcPct val="0"/>
              </a:spcAft>
              <a:defRPr sz="2800">
                <a:latin typeface="Tahoma" pitchFamily="34" charset="0"/>
                <a:ea typeface="宋体" pitchFamily="2" charset="-122"/>
              </a:defRPr>
            </a:lvl6pPr>
            <a:lvl7pPr marL="2971800" indent="-228600" eaLnBrk="0" fontAlgn="base" hangingPunct="0">
              <a:spcBef>
                <a:spcPct val="0"/>
              </a:spcBef>
              <a:spcAft>
                <a:spcPct val="0"/>
              </a:spcAft>
              <a:defRPr sz="2800">
                <a:latin typeface="Tahoma" pitchFamily="34" charset="0"/>
                <a:ea typeface="宋体" pitchFamily="2" charset="-122"/>
              </a:defRPr>
            </a:lvl7pPr>
            <a:lvl8pPr marL="3429000" indent="-228600" eaLnBrk="0" fontAlgn="base" hangingPunct="0">
              <a:spcBef>
                <a:spcPct val="0"/>
              </a:spcBef>
              <a:spcAft>
                <a:spcPct val="0"/>
              </a:spcAft>
              <a:defRPr sz="2800">
                <a:latin typeface="Tahoma" pitchFamily="34" charset="0"/>
                <a:ea typeface="宋体" pitchFamily="2" charset="-122"/>
              </a:defRPr>
            </a:lvl8pPr>
            <a:lvl9pPr marL="3886200" indent="-228600" eaLnBrk="0" fontAlgn="base" hangingPunct="0">
              <a:spcBef>
                <a:spcPct val="0"/>
              </a:spcBef>
              <a:spcAft>
                <a:spcPct val="0"/>
              </a:spcAft>
              <a:defRPr sz="2800">
                <a:latin typeface="Tahoma" pitchFamily="34" charset="0"/>
                <a:ea typeface="宋体" pitchFamily="2" charset="-122"/>
              </a:defRPr>
            </a:lvl9pPr>
          </a:lstStyle>
          <a:p>
            <a:r>
              <a:rPr lang="en-US" altLang="zh-TW" sz="1600" dirty="0" err="1"/>
              <a:t>typedef</a:t>
            </a:r>
            <a:r>
              <a:rPr lang="en-US" altLang="zh-TW" sz="1600" dirty="0"/>
              <a:t> </a:t>
            </a:r>
            <a:r>
              <a:rPr lang="en-US" altLang="zh-TW" sz="1600" dirty="0" err="1"/>
              <a:t>struct</a:t>
            </a:r>
            <a:r>
              <a:rPr lang="en-US" altLang="zh-TW" sz="1600" dirty="0">
                <a:solidFill>
                  <a:schemeClr val="tx1">
                    <a:lumMod val="75000"/>
                    <a:lumOff val="25000"/>
                  </a:schemeClr>
                </a:solidFill>
              </a:rPr>
              <a:t>{</a:t>
            </a:r>
          </a:p>
          <a:p>
            <a:r>
              <a:rPr lang="en-US" altLang="zh-TW" sz="1600" dirty="0">
                <a:solidFill>
                  <a:schemeClr val="tx1">
                    <a:lumMod val="75000"/>
                    <a:lumOff val="25000"/>
                  </a:schemeClr>
                </a:solidFill>
              </a:rPr>
              <a:t>	</a:t>
            </a:r>
            <a:r>
              <a:rPr lang="en-US" altLang="zh-TW" sz="1600" dirty="0"/>
              <a:t>double*</a:t>
            </a:r>
            <a:r>
              <a:rPr lang="en-US" altLang="zh-TW" sz="1600" dirty="0">
                <a:solidFill>
                  <a:schemeClr val="tx1">
                    <a:lumMod val="75000"/>
                    <a:lumOff val="25000"/>
                  </a:schemeClr>
                </a:solidFill>
              </a:rPr>
              <a:t> values;</a:t>
            </a:r>
          </a:p>
          <a:p>
            <a:r>
              <a:rPr lang="en-US" altLang="zh-TW" sz="1600" dirty="0">
                <a:solidFill>
                  <a:schemeClr val="tx1">
                    <a:lumMod val="75000"/>
                    <a:lumOff val="25000"/>
                  </a:schemeClr>
                </a:solidFill>
              </a:rPr>
              <a:t>	</a:t>
            </a:r>
            <a:r>
              <a:rPr lang="en-US" altLang="zh-TW" sz="1600" dirty="0" err="1"/>
              <a:t>int</a:t>
            </a:r>
            <a:r>
              <a:rPr lang="en-US" altLang="zh-TW" sz="1600" dirty="0"/>
              <a:t> </a:t>
            </a:r>
            <a:r>
              <a:rPr lang="en-US" altLang="zh-TW" sz="1600" dirty="0">
                <a:solidFill>
                  <a:schemeClr val="tx1">
                    <a:lumMod val="75000"/>
                    <a:lumOff val="25000"/>
                  </a:schemeClr>
                </a:solidFill>
              </a:rPr>
              <a:t>front; </a:t>
            </a:r>
          </a:p>
          <a:p>
            <a:r>
              <a:rPr lang="en-US" altLang="zh-TW" sz="1600" dirty="0">
                <a:solidFill>
                  <a:schemeClr val="tx1">
                    <a:lumMod val="75000"/>
                    <a:lumOff val="25000"/>
                  </a:schemeClr>
                </a:solidFill>
              </a:rPr>
              <a:t>	</a:t>
            </a:r>
            <a:r>
              <a:rPr lang="en-US" altLang="zh-TW" sz="1600" dirty="0" err="1"/>
              <a:t>int</a:t>
            </a:r>
            <a:r>
              <a:rPr lang="en-US" altLang="zh-TW" sz="1600" dirty="0"/>
              <a:t> </a:t>
            </a:r>
            <a:r>
              <a:rPr lang="en-US" altLang="zh-TW" sz="1600" dirty="0">
                <a:solidFill>
                  <a:schemeClr val="tx1">
                    <a:lumMod val="75000"/>
                    <a:lumOff val="25000"/>
                  </a:schemeClr>
                </a:solidFill>
              </a:rPr>
              <a:t>rear; </a:t>
            </a:r>
          </a:p>
          <a:p>
            <a:r>
              <a:rPr lang="en-US" altLang="zh-TW" sz="1600" dirty="0">
                <a:solidFill>
                  <a:schemeClr val="tx1">
                    <a:lumMod val="75000"/>
                    <a:lumOff val="25000"/>
                  </a:schemeClr>
                </a:solidFill>
              </a:rPr>
              <a:t>	</a:t>
            </a:r>
            <a:r>
              <a:rPr lang="en-US" altLang="zh-TW" sz="1600" dirty="0" err="1"/>
              <a:t>int</a:t>
            </a:r>
            <a:r>
              <a:rPr lang="en-US" altLang="zh-TW" sz="1600" dirty="0"/>
              <a:t> </a:t>
            </a:r>
            <a:r>
              <a:rPr lang="en-US" altLang="zh-TW" sz="1600" dirty="0">
                <a:solidFill>
                  <a:schemeClr val="tx1">
                    <a:lumMod val="75000"/>
                    <a:lumOff val="25000"/>
                  </a:schemeClr>
                </a:solidFill>
              </a:rPr>
              <a:t>counter; </a:t>
            </a:r>
          </a:p>
          <a:p>
            <a:r>
              <a:rPr lang="en-US" altLang="zh-TW" sz="1600" dirty="0">
                <a:solidFill>
                  <a:schemeClr val="tx1">
                    <a:lumMod val="75000"/>
                    <a:lumOff val="25000"/>
                  </a:schemeClr>
                </a:solidFill>
              </a:rPr>
              <a:t>	</a:t>
            </a:r>
            <a:r>
              <a:rPr lang="en-US" altLang="zh-TW" sz="1600" dirty="0" err="1"/>
              <a:t>int</a:t>
            </a:r>
            <a:r>
              <a:rPr lang="en-US" altLang="zh-TW" sz="1600" dirty="0"/>
              <a:t> </a:t>
            </a:r>
            <a:r>
              <a:rPr lang="en-US" altLang="zh-TW" sz="1600" dirty="0" err="1">
                <a:solidFill>
                  <a:schemeClr val="tx1">
                    <a:lumMod val="75000"/>
                    <a:lumOff val="25000"/>
                  </a:schemeClr>
                </a:solidFill>
              </a:rPr>
              <a:t>maxSize</a:t>
            </a:r>
            <a:r>
              <a:rPr lang="en-US" altLang="zh-TW" sz="1600" dirty="0">
                <a:solidFill>
                  <a:schemeClr val="tx1">
                    <a:lumMod val="75000"/>
                    <a:lumOff val="25000"/>
                  </a:schemeClr>
                </a:solidFill>
              </a:rPr>
              <a:t>;</a:t>
            </a:r>
            <a:br>
              <a:rPr lang="en-US" altLang="zh-TW" sz="1600" dirty="0">
                <a:solidFill>
                  <a:schemeClr val="tx1">
                    <a:lumMod val="75000"/>
                    <a:lumOff val="25000"/>
                  </a:schemeClr>
                </a:solidFill>
              </a:rPr>
            </a:br>
            <a:r>
              <a:rPr lang="en-US" altLang="zh-TW" sz="1600" dirty="0">
                <a:solidFill>
                  <a:schemeClr val="tx1">
                    <a:lumMod val="75000"/>
                    <a:lumOff val="25000"/>
                  </a:schemeClr>
                </a:solidFill>
              </a:rPr>
              <a:t>} </a:t>
            </a:r>
            <a:r>
              <a:rPr lang="en-US" altLang="zh-TW" sz="1600" dirty="0">
                <a:solidFill>
                  <a:srgbClr val="0070C0"/>
                </a:solidFill>
              </a:rPr>
              <a:t>Queue</a:t>
            </a:r>
            <a:r>
              <a:rPr lang="en-US" altLang="zh-TW" sz="1600" dirty="0">
                <a:solidFill>
                  <a:schemeClr val="tx1">
                    <a:lumMod val="75000"/>
                    <a:lumOff val="25000"/>
                  </a:schemeClr>
                </a:solidFill>
              </a:rPr>
              <a:t>;</a:t>
            </a:r>
          </a:p>
        </p:txBody>
      </p:sp>
      <p:sp>
        <p:nvSpPr>
          <p:cNvPr id="8" name="内容占位符 2"/>
          <p:cNvSpPr txBox="1">
            <a:spLocks/>
          </p:cNvSpPr>
          <p:nvPr/>
        </p:nvSpPr>
        <p:spPr>
          <a:xfrm>
            <a:off x="4113501" y="2639962"/>
            <a:ext cx="4878100" cy="3933587"/>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a:buChar char="•"/>
              <a:defRPr sz="2800" kern="1200">
                <a:solidFill>
                  <a:schemeClr val="tx1"/>
                </a:solidFill>
                <a:latin typeface="Calibri" charset="0"/>
                <a:ea typeface="Calibri" charset="0"/>
                <a:cs typeface="Calibri" charset="0"/>
              </a:defRPr>
            </a:lvl1pPr>
            <a:lvl2pPr marL="514350" indent="-171450" algn="l" defTabSz="685800" rtl="0" eaLnBrk="1" latinLnBrk="0" hangingPunct="1">
              <a:lnSpc>
                <a:spcPct val="90000"/>
              </a:lnSpc>
              <a:spcBef>
                <a:spcPts val="375"/>
              </a:spcBef>
              <a:buFont typeface="Arial"/>
              <a:buChar char="•"/>
              <a:defRPr sz="2400" kern="1200">
                <a:solidFill>
                  <a:schemeClr val="tx1"/>
                </a:solidFill>
                <a:latin typeface="Calibri" charset="0"/>
                <a:ea typeface="Calibri" charset="0"/>
                <a:cs typeface="Calibri" charset="0"/>
              </a:defRPr>
            </a:lvl2pPr>
            <a:lvl3pPr marL="857250" indent="-171450" algn="l" defTabSz="685800" rtl="0" eaLnBrk="1" latinLnBrk="0" hangingPunct="1">
              <a:lnSpc>
                <a:spcPct val="90000"/>
              </a:lnSpc>
              <a:spcBef>
                <a:spcPts val="375"/>
              </a:spcBef>
              <a:buFont typeface="Arial"/>
              <a:buChar char="•"/>
              <a:defRPr sz="1800" kern="1200">
                <a:solidFill>
                  <a:schemeClr val="tx1"/>
                </a:solidFill>
                <a:latin typeface="Calibri" charset="0"/>
                <a:ea typeface="Calibri" charset="0"/>
                <a:cs typeface="Calibri" charset="0"/>
              </a:defRPr>
            </a:lvl3pPr>
            <a:lvl4pPr marL="1200150" indent="-171450" algn="l" defTabSz="685800" rtl="0" eaLnBrk="1" latinLnBrk="0" hangingPunct="1">
              <a:lnSpc>
                <a:spcPct val="90000"/>
              </a:lnSpc>
              <a:spcBef>
                <a:spcPts val="375"/>
              </a:spcBef>
              <a:buFont typeface="Arial"/>
              <a:buChar char="•"/>
              <a:defRPr sz="1600" kern="1200">
                <a:solidFill>
                  <a:schemeClr val="tx1"/>
                </a:solidFill>
                <a:latin typeface="Calibri" charset="0"/>
                <a:ea typeface="Calibri" charset="0"/>
                <a:cs typeface="Calibri" charset="0"/>
              </a:defRPr>
            </a:lvl4pPr>
            <a:lvl5pPr marL="1543050" indent="-171450" algn="l" defTabSz="685800" rtl="0" eaLnBrk="1" latinLnBrk="0" hangingPunct="1">
              <a:lnSpc>
                <a:spcPct val="90000"/>
              </a:lnSpc>
              <a:spcBef>
                <a:spcPts val="375"/>
              </a:spcBef>
              <a:buFont typeface="Arial"/>
              <a:buChar char="•"/>
              <a:defRPr sz="1600" kern="1200">
                <a:solidFill>
                  <a:schemeClr val="tx1"/>
                </a:solidFill>
                <a:latin typeface="Calibri" charset="0"/>
                <a:ea typeface="Calibri" charset="0"/>
                <a:cs typeface="Calibri" charset="0"/>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lvl="1"/>
            <a:r>
              <a:rPr lang="en-US" altLang="zh-CN" dirty="0">
                <a:solidFill>
                  <a:srgbClr val="0070C0"/>
                </a:solidFill>
                <a:latin typeface="+mn-lt"/>
                <a:ea typeface="宋体" pitchFamily="2" charset="-122"/>
              </a:rPr>
              <a:t>front</a:t>
            </a:r>
            <a:r>
              <a:rPr lang="en-US" altLang="zh-CN" dirty="0">
                <a:latin typeface="+mn-lt"/>
                <a:ea typeface="宋体" pitchFamily="2" charset="-122"/>
              </a:rPr>
              <a:t>: index of the front</a:t>
            </a:r>
          </a:p>
          <a:p>
            <a:pPr lvl="1"/>
            <a:r>
              <a:rPr lang="en-US" altLang="zh-CN" dirty="0">
                <a:solidFill>
                  <a:srgbClr val="0070C0"/>
                </a:solidFill>
                <a:latin typeface="+mn-lt"/>
                <a:ea typeface="宋体" pitchFamily="2" charset="-122"/>
              </a:rPr>
              <a:t>rear</a:t>
            </a:r>
            <a:r>
              <a:rPr lang="en-US" altLang="zh-CN" dirty="0">
                <a:latin typeface="+mn-lt"/>
                <a:ea typeface="宋体" pitchFamily="2" charset="-122"/>
              </a:rPr>
              <a:t>: index of the rear</a:t>
            </a:r>
          </a:p>
          <a:p>
            <a:pPr lvl="1"/>
            <a:r>
              <a:rPr lang="en-US" altLang="zh-CN" dirty="0">
                <a:solidFill>
                  <a:srgbClr val="0070C0"/>
                </a:solidFill>
                <a:latin typeface="+mn-lt"/>
                <a:ea typeface="宋体" pitchFamily="2" charset="-122"/>
              </a:rPr>
              <a:t>counter</a:t>
            </a:r>
            <a:r>
              <a:rPr lang="en-US" altLang="zh-CN" dirty="0">
                <a:latin typeface="+mn-lt"/>
                <a:ea typeface="宋体" pitchFamily="2" charset="-122"/>
              </a:rPr>
              <a:t>: number of elements in the queue</a:t>
            </a:r>
          </a:p>
          <a:p>
            <a:pPr lvl="1"/>
            <a:r>
              <a:rPr lang="en-US" altLang="zh-CN" dirty="0" err="1">
                <a:solidFill>
                  <a:srgbClr val="0070C0"/>
                </a:solidFill>
              </a:rPr>
              <a:t>maxSize</a:t>
            </a:r>
            <a:r>
              <a:rPr lang="en-US" altLang="zh-CN" dirty="0"/>
              <a:t>: maximum size of the queue</a:t>
            </a:r>
            <a:endParaRPr lang="en-US" altLang="zh-CN" dirty="0">
              <a:latin typeface="+mn-lt"/>
            </a:endParaRPr>
          </a:p>
          <a:p>
            <a:pPr lvl="1"/>
            <a:r>
              <a:rPr lang="en-US" altLang="zh-CN" dirty="0">
                <a:solidFill>
                  <a:srgbClr val="0070C0"/>
                </a:solidFill>
              </a:rPr>
              <a:t>values</a:t>
            </a:r>
            <a:r>
              <a:rPr lang="en-US" altLang="zh-CN" dirty="0"/>
              <a:t>: can be of any data type but we use </a:t>
            </a:r>
            <a:r>
              <a:rPr lang="en-US" altLang="zh-CN" dirty="0">
                <a:solidFill>
                  <a:srgbClr val="0070C0"/>
                </a:solidFill>
              </a:rPr>
              <a:t>double</a:t>
            </a:r>
            <a:r>
              <a:rPr lang="en-US" altLang="zh-CN" dirty="0"/>
              <a:t> for demonstration</a:t>
            </a:r>
            <a:endParaRPr lang="zh-CN" altLang="en-US" dirty="0"/>
          </a:p>
        </p:txBody>
      </p:sp>
    </p:spTree>
    <p:extLst>
      <p:ext uri="{BB962C8B-B14F-4D97-AF65-F5344CB8AC3E}">
        <p14:creationId xmlns:p14="http://schemas.microsoft.com/office/powerpoint/2010/main" val="22268193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6"/>
            <a:ext cx="8058150" cy="1325563"/>
          </a:xfrm>
        </p:spPr>
        <p:txBody>
          <a:bodyPr/>
          <a:lstStyle/>
          <a:p>
            <a:r>
              <a:rPr lang="en-US" altLang="zh-CN" dirty="0"/>
              <a:t>Queue Implementation with Array</a:t>
            </a:r>
            <a:endParaRPr lang="zh-CN" altLang="en-US" dirty="0"/>
          </a:p>
        </p:txBody>
      </p:sp>
      <p:sp>
        <p:nvSpPr>
          <p:cNvPr id="3" name="内容占位符 2"/>
          <p:cNvSpPr>
            <a:spLocks noGrp="1"/>
          </p:cNvSpPr>
          <p:nvPr>
            <p:ph idx="1"/>
          </p:nvPr>
        </p:nvSpPr>
        <p:spPr/>
        <p:txBody>
          <a:bodyPr/>
          <a:lstStyle/>
          <a:p>
            <a:r>
              <a:rPr lang="en-US" altLang="zh-CN" dirty="0"/>
              <a:t>Methods</a:t>
            </a:r>
          </a:p>
        </p:txBody>
      </p:sp>
      <p:sp>
        <p:nvSpPr>
          <p:cNvPr id="4" name="灯片编号占位符 3"/>
          <p:cNvSpPr>
            <a:spLocks noGrp="1"/>
          </p:cNvSpPr>
          <p:nvPr>
            <p:ph type="sldNum" sz="quarter" idx="12"/>
          </p:nvPr>
        </p:nvSpPr>
        <p:spPr/>
        <p:txBody>
          <a:bodyPr/>
          <a:lstStyle/>
          <a:p>
            <a:fld id="{B6F15528-21DE-4FAA-801E-634DDDAF4B2B}" type="slidenum">
              <a:rPr lang="en-US" smtClean="0"/>
              <a:pPr/>
              <a:t>18</a:t>
            </a:fld>
            <a:endParaRPr lang="en-US"/>
          </a:p>
        </p:txBody>
      </p:sp>
      <p:sp>
        <p:nvSpPr>
          <p:cNvPr id="6" name="Footer Placeholder 5"/>
          <p:cNvSpPr>
            <a:spLocks noGrp="1"/>
          </p:cNvSpPr>
          <p:nvPr>
            <p:ph type="ftr" sz="quarter" idx="11"/>
          </p:nvPr>
        </p:nvSpPr>
        <p:spPr/>
        <p:txBody>
          <a:bodyPr/>
          <a:lstStyle/>
          <a:p>
            <a:r>
              <a:rPr lang="en-US"/>
              <a:t>Data Structures and Algorithms</a:t>
            </a:r>
          </a:p>
        </p:txBody>
      </p:sp>
      <p:sp>
        <p:nvSpPr>
          <p:cNvPr id="9" name="Text Box 5"/>
          <p:cNvSpPr txBox="1">
            <a:spLocks noChangeArrowheads="1"/>
          </p:cNvSpPr>
          <p:nvPr/>
        </p:nvSpPr>
        <p:spPr bwMode="auto">
          <a:xfrm>
            <a:off x="438150" y="2590800"/>
            <a:ext cx="8077200" cy="3170099"/>
          </a:xfrm>
          <a:prstGeom prst="rect">
            <a:avLst/>
          </a:prstGeom>
          <a:noFill/>
          <a:ln>
            <a:solidFill>
              <a:schemeClr val="tx1"/>
            </a:solidFill>
          </a:ln>
        </p:spPr>
        <p:txBody>
          <a:bodyPr wrap="square" lIns="252000">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r>
              <a:rPr lang="en-US" altLang="zh-CN" sz="2000" dirty="0" err="1">
                <a:solidFill>
                  <a:schemeClr val="accent6"/>
                </a:solidFill>
                <a:latin typeface="Courier New" pitchFamily="49" charset="0"/>
                <a:cs typeface="Courier New" pitchFamily="49" charset="0"/>
              </a:rPr>
              <a:t>bool</a:t>
            </a:r>
            <a:r>
              <a:rPr lang="en-US" altLang="zh-CN" sz="2000" dirty="0">
                <a:solidFill>
                  <a:schemeClr val="accent1"/>
                </a:solidFill>
                <a:latin typeface="Courier New" pitchFamily="49" charset="0"/>
                <a:cs typeface="Courier New" pitchFamily="49" charset="0"/>
              </a:rPr>
              <a:t> </a:t>
            </a:r>
            <a:r>
              <a:rPr lang="en-US" altLang="zh-CN" sz="2000" dirty="0" err="1">
                <a:latin typeface="Courier New" pitchFamily="49" charset="0"/>
                <a:cs typeface="Courier New" pitchFamily="49" charset="0"/>
              </a:rPr>
              <a:t>CreateQueue</a:t>
            </a:r>
            <a:r>
              <a:rPr lang="en-US" altLang="zh-CN" sz="2000" dirty="0">
                <a:latin typeface="Courier New" pitchFamily="49" charset="0"/>
                <a:cs typeface="Courier New" pitchFamily="49" charset="0"/>
              </a:rPr>
              <a:t>(Queue *queue, </a:t>
            </a:r>
            <a:r>
              <a:rPr lang="en-US" altLang="zh-CN" sz="2000" dirty="0" err="1">
                <a:solidFill>
                  <a:schemeClr val="accent6"/>
                </a:solidFill>
                <a:latin typeface="Courier New" pitchFamily="49" charset="0"/>
                <a:cs typeface="Courier New" pitchFamily="49" charset="0"/>
              </a:rPr>
              <a:t>int</a:t>
            </a:r>
            <a:r>
              <a:rPr lang="en-US" altLang="zh-CN" sz="2000" dirty="0">
                <a:solidFill>
                  <a:schemeClr val="accent1"/>
                </a:solidFill>
                <a:latin typeface="Courier New" pitchFamily="49" charset="0"/>
                <a:cs typeface="Courier New" pitchFamily="49" charset="0"/>
              </a:rPr>
              <a:t> </a:t>
            </a:r>
            <a:r>
              <a:rPr lang="en-US" altLang="zh-CN" sz="2000" dirty="0">
                <a:latin typeface="Courier New" pitchFamily="49" charset="0"/>
                <a:cs typeface="Courier New" pitchFamily="49" charset="0"/>
              </a:rPr>
              <a:t>size);</a:t>
            </a:r>
          </a:p>
          <a:p>
            <a:pPr>
              <a:lnSpc>
                <a:spcPct val="150000"/>
              </a:lnSpc>
              <a:defRPr/>
            </a:pPr>
            <a:r>
              <a:rPr lang="en-US" altLang="zh-CN" sz="2000" dirty="0" err="1">
                <a:solidFill>
                  <a:schemeClr val="accent6"/>
                </a:solidFill>
                <a:latin typeface="Courier New" pitchFamily="49" charset="0"/>
                <a:cs typeface="Courier New" pitchFamily="49" charset="0"/>
              </a:rPr>
              <a:t>bool</a:t>
            </a:r>
            <a:r>
              <a:rPr lang="en-US" altLang="zh-CN" sz="2000" dirty="0">
                <a:latin typeface="Courier New" pitchFamily="49" charset="0"/>
                <a:cs typeface="Courier New" pitchFamily="49" charset="0"/>
              </a:rPr>
              <a:t> </a:t>
            </a:r>
            <a:r>
              <a:rPr lang="en-US" altLang="zh-CN" sz="2000" dirty="0" err="1">
                <a:latin typeface="Courier New" pitchFamily="49" charset="0"/>
                <a:cs typeface="Courier New" pitchFamily="49" charset="0"/>
              </a:rPr>
              <a:t>IsEmpty</a:t>
            </a:r>
            <a:r>
              <a:rPr lang="en-US" altLang="zh-CN" sz="2000" dirty="0">
                <a:latin typeface="Courier New" pitchFamily="49" charset="0"/>
                <a:cs typeface="Courier New" pitchFamily="49" charset="0"/>
              </a:rPr>
              <a:t>(Queue* queue);</a:t>
            </a:r>
          </a:p>
          <a:p>
            <a:pPr>
              <a:lnSpc>
                <a:spcPct val="150000"/>
              </a:lnSpc>
              <a:defRPr/>
            </a:pPr>
            <a:r>
              <a:rPr lang="en-US" altLang="zh-CN" sz="2000" dirty="0" err="1">
                <a:solidFill>
                  <a:schemeClr val="accent6"/>
                </a:solidFill>
                <a:latin typeface="Courier New" pitchFamily="49" charset="0"/>
                <a:cs typeface="Courier New" pitchFamily="49" charset="0"/>
              </a:rPr>
              <a:t>bool</a:t>
            </a:r>
            <a:r>
              <a:rPr lang="en-US" altLang="zh-CN" sz="2000" dirty="0">
                <a:latin typeface="Courier New" pitchFamily="49" charset="0"/>
                <a:cs typeface="Courier New" pitchFamily="49" charset="0"/>
              </a:rPr>
              <a:t> </a:t>
            </a:r>
            <a:r>
              <a:rPr lang="en-US" altLang="zh-CN" sz="2000" dirty="0" err="1">
                <a:latin typeface="Courier New" pitchFamily="49" charset="0"/>
                <a:cs typeface="Courier New" pitchFamily="49" charset="0"/>
              </a:rPr>
              <a:t>IsFull</a:t>
            </a:r>
            <a:r>
              <a:rPr lang="en-US" altLang="zh-CN" sz="2000" dirty="0">
                <a:latin typeface="Courier New" pitchFamily="49" charset="0"/>
                <a:cs typeface="Courier New" pitchFamily="49" charset="0"/>
              </a:rPr>
              <a:t>(Queue* queue);</a:t>
            </a:r>
          </a:p>
          <a:p>
            <a:pPr>
              <a:lnSpc>
                <a:spcPct val="150000"/>
              </a:lnSpc>
              <a:defRPr/>
            </a:pPr>
            <a:r>
              <a:rPr lang="en-US" altLang="zh-CN" sz="2000" dirty="0" err="1">
                <a:solidFill>
                  <a:schemeClr val="accent6"/>
                </a:solidFill>
                <a:latin typeface="Courier New" pitchFamily="49" charset="0"/>
                <a:cs typeface="Courier New" pitchFamily="49" charset="0"/>
              </a:rPr>
              <a:t>bool</a:t>
            </a:r>
            <a:r>
              <a:rPr lang="en-US" altLang="zh-CN" sz="2000" dirty="0">
                <a:solidFill>
                  <a:schemeClr val="accent6"/>
                </a:solidFill>
                <a:latin typeface="Courier New" pitchFamily="49" charset="0"/>
                <a:cs typeface="Courier New" pitchFamily="49" charset="0"/>
              </a:rPr>
              <a:t> </a:t>
            </a:r>
            <a:r>
              <a:rPr lang="en-US" altLang="zh-CN" sz="2000" dirty="0" err="1">
                <a:latin typeface="Courier New" pitchFamily="49" charset="0"/>
                <a:cs typeface="Courier New" pitchFamily="49" charset="0"/>
              </a:rPr>
              <a:t>Enqueue</a:t>
            </a:r>
            <a:r>
              <a:rPr lang="en-US" altLang="zh-CN" sz="2000" dirty="0">
                <a:latin typeface="Courier New" pitchFamily="49" charset="0"/>
                <a:cs typeface="Courier New" pitchFamily="49" charset="0"/>
              </a:rPr>
              <a:t>(Queue* queue, </a:t>
            </a:r>
            <a:r>
              <a:rPr lang="en-US" altLang="zh-CN" sz="2000" dirty="0">
                <a:solidFill>
                  <a:schemeClr val="accent6"/>
                </a:solidFill>
                <a:latin typeface="Courier New" pitchFamily="49" charset="0"/>
                <a:cs typeface="Courier New" pitchFamily="49" charset="0"/>
              </a:rPr>
              <a:t>double</a:t>
            </a:r>
            <a:r>
              <a:rPr lang="en-US" altLang="zh-CN" sz="2000" dirty="0">
                <a:latin typeface="Courier New" pitchFamily="49" charset="0"/>
                <a:cs typeface="Courier New" pitchFamily="49" charset="0"/>
              </a:rPr>
              <a:t> x);</a:t>
            </a:r>
          </a:p>
          <a:p>
            <a:pPr>
              <a:lnSpc>
                <a:spcPct val="150000"/>
              </a:lnSpc>
              <a:defRPr/>
            </a:pPr>
            <a:r>
              <a:rPr lang="en-US" altLang="zh-CN" sz="2000" dirty="0" err="1">
                <a:solidFill>
                  <a:schemeClr val="accent6"/>
                </a:solidFill>
                <a:latin typeface="Courier New" pitchFamily="49" charset="0"/>
                <a:cs typeface="Courier New" pitchFamily="49" charset="0"/>
              </a:rPr>
              <a:t>bool</a:t>
            </a:r>
            <a:r>
              <a:rPr lang="en-US" altLang="zh-CN" sz="2000" dirty="0">
                <a:solidFill>
                  <a:schemeClr val="accent6"/>
                </a:solidFill>
                <a:latin typeface="Courier New" pitchFamily="49" charset="0"/>
                <a:cs typeface="Courier New" pitchFamily="49" charset="0"/>
              </a:rPr>
              <a:t> </a:t>
            </a:r>
            <a:r>
              <a:rPr lang="en-US" altLang="zh-CN" sz="2000" dirty="0" err="1">
                <a:solidFill>
                  <a:schemeClr val="tx1">
                    <a:lumMod val="75000"/>
                    <a:lumOff val="25000"/>
                  </a:schemeClr>
                </a:solidFill>
                <a:latin typeface="Courier New" pitchFamily="49" charset="0"/>
                <a:cs typeface="Courier New" pitchFamily="49" charset="0"/>
              </a:rPr>
              <a:t>Dequeue</a:t>
            </a:r>
            <a:r>
              <a:rPr lang="en-US" altLang="zh-CN" sz="2000" dirty="0">
                <a:latin typeface="Courier New" pitchFamily="49" charset="0"/>
                <a:cs typeface="Courier New" pitchFamily="49" charset="0"/>
              </a:rPr>
              <a:t>(Queue* queue, </a:t>
            </a:r>
            <a:r>
              <a:rPr lang="en-US" altLang="zh-CN" sz="2000" dirty="0">
                <a:solidFill>
                  <a:schemeClr val="accent6"/>
                </a:solidFill>
                <a:latin typeface="Courier New" pitchFamily="49" charset="0"/>
                <a:cs typeface="Courier New" pitchFamily="49" charset="0"/>
              </a:rPr>
              <a:t>double</a:t>
            </a:r>
            <a:r>
              <a:rPr lang="en-US" altLang="zh-CN" sz="2000" dirty="0">
                <a:latin typeface="Courier New" pitchFamily="49" charset="0"/>
                <a:cs typeface="Courier New" pitchFamily="49" charset="0"/>
              </a:rPr>
              <a:t>* x);</a:t>
            </a:r>
          </a:p>
          <a:p>
            <a:pPr>
              <a:lnSpc>
                <a:spcPct val="150000"/>
              </a:lnSpc>
              <a:defRPr/>
            </a:pPr>
            <a:r>
              <a:rPr lang="en-US" altLang="zh-CN" sz="2000" dirty="0">
                <a:solidFill>
                  <a:schemeClr val="accent6"/>
                </a:solidFill>
                <a:latin typeface="Courier New" pitchFamily="49" charset="0"/>
                <a:cs typeface="Courier New" pitchFamily="49" charset="0"/>
              </a:rPr>
              <a:t>void</a:t>
            </a:r>
            <a:r>
              <a:rPr lang="en-US" altLang="zh-CN" sz="2000" dirty="0">
                <a:latin typeface="Courier New" pitchFamily="49" charset="0"/>
                <a:cs typeface="Courier New" pitchFamily="49" charset="0"/>
              </a:rPr>
              <a:t> </a:t>
            </a:r>
            <a:r>
              <a:rPr lang="en-US" altLang="zh-CN" sz="2000" dirty="0" err="1">
                <a:latin typeface="Courier New" pitchFamily="49" charset="0"/>
                <a:cs typeface="Courier New" pitchFamily="49" charset="0"/>
              </a:rPr>
              <a:t>DisplayQueue</a:t>
            </a:r>
            <a:r>
              <a:rPr lang="en-US" altLang="zh-CN" sz="2000" dirty="0">
                <a:latin typeface="Courier New" pitchFamily="49" charset="0"/>
                <a:cs typeface="Courier New" pitchFamily="49" charset="0"/>
              </a:rPr>
              <a:t>(Queue* queue);</a:t>
            </a:r>
          </a:p>
          <a:p>
            <a:pPr>
              <a:lnSpc>
                <a:spcPct val="150000"/>
              </a:lnSpc>
              <a:defRPr/>
            </a:pPr>
            <a:r>
              <a:rPr lang="en-US" altLang="zh-CN" sz="2000" dirty="0">
                <a:solidFill>
                  <a:schemeClr val="accent6"/>
                </a:solidFill>
                <a:latin typeface="Courier New" pitchFamily="49" charset="0"/>
                <a:cs typeface="Courier New" pitchFamily="49" charset="0"/>
              </a:rPr>
              <a:t>void</a:t>
            </a:r>
            <a:r>
              <a:rPr lang="en-US" altLang="zh-CN" sz="2000" dirty="0">
                <a:latin typeface="Courier New" pitchFamily="49" charset="0"/>
                <a:cs typeface="Courier New" pitchFamily="49" charset="0"/>
              </a:rPr>
              <a:t> </a:t>
            </a:r>
            <a:r>
              <a:rPr lang="en-US" altLang="zh-CN" sz="2000" dirty="0" err="1">
                <a:latin typeface="Courier New" pitchFamily="49" charset="0"/>
                <a:cs typeface="Courier New" pitchFamily="49" charset="0"/>
              </a:rPr>
              <a:t>DestroyQueue</a:t>
            </a:r>
            <a:r>
              <a:rPr lang="en-US" altLang="zh-CN" sz="2000" dirty="0">
                <a:latin typeface="Courier New" pitchFamily="49" charset="0"/>
                <a:cs typeface="Courier New" pitchFamily="49" charset="0"/>
              </a:rPr>
              <a:t>(Queue* queue);</a:t>
            </a:r>
          </a:p>
        </p:txBody>
      </p:sp>
    </p:spTree>
    <p:extLst>
      <p:ext uri="{BB962C8B-B14F-4D97-AF65-F5344CB8AC3E}">
        <p14:creationId xmlns:p14="http://schemas.microsoft.com/office/powerpoint/2010/main" val="3693271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Methods</a:t>
            </a:r>
            <a:endParaRPr lang="zh-CN" alt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524000"/>
                <a:ext cx="7886700" cy="4351338"/>
              </a:xfrm>
            </p:spPr>
            <p:txBody>
              <a:bodyPr>
                <a:normAutofit fontScale="55000" lnSpcReduction="20000"/>
              </a:bodyPr>
              <a:lstStyle/>
              <a:p>
                <a:r>
                  <a:rPr lang="en-US" altLang="zh-CN" sz="3100" dirty="0">
                    <a:solidFill>
                      <a:srgbClr val="0070C0"/>
                    </a:solidFill>
                    <a:cs typeface="Courier New" pitchFamily="49" charset="0"/>
                  </a:rPr>
                  <a:t>bool </a:t>
                </a:r>
                <a:r>
                  <a:rPr lang="en-US" altLang="zh-CN" sz="3100" dirty="0" err="1">
                    <a:solidFill>
                      <a:srgbClr val="0070C0"/>
                    </a:solidFill>
                    <a:cs typeface="Courier New" pitchFamily="49" charset="0"/>
                  </a:rPr>
                  <a:t>CreateQueue</a:t>
                </a:r>
                <a:r>
                  <a:rPr lang="en-US" altLang="zh-CN" sz="3100" dirty="0">
                    <a:solidFill>
                      <a:srgbClr val="0070C0"/>
                    </a:solidFill>
                    <a:cs typeface="Courier New" pitchFamily="49" charset="0"/>
                  </a:rPr>
                  <a:t>(Queue *queue, </a:t>
                </a:r>
                <a:r>
                  <a:rPr lang="en-US" altLang="zh-CN" sz="3100" dirty="0" err="1">
                    <a:solidFill>
                      <a:srgbClr val="0070C0"/>
                    </a:solidFill>
                    <a:cs typeface="Courier New" pitchFamily="49" charset="0"/>
                  </a:rPr>
                  <a:t>int</a:t>
                </a:r>
                <a:r>
                  <a:rPr lang="en-US" altLang="zh-CN" sz="3100" dirty="0">
                    <a:solidFill>
                      <a:srgbClr val="0070C0"/>
                    </a:solidFill>
                    <a:cs typeface="Courier New" pitchFamily="49" charset="0"/>
                  </a:rPr>
                  <a:t> size);</a:t>
                </a:r>
              </a:p>
              <a:p>
                <a:pPr lvl="1">
                  <a:lnSpc>
                    <a:spcPct val="150000"/>
                  </a:lnSpc>
                  <a:defRPr/>
                </a:pPr>
                <a:r>
                  <a:rPr lang="en-US" altLang="zh-CN" dirty="0">
                    <a:cs typeface="Courier New" pitchFamily="49" charset="0"/>
                  </a:rPr>
                  <a:t>Creates an empty queue whose capacity is </a:t>
                </a:r>
                <a:r>
                  <a:rPr lang="en-US" altLang="zh-CN" dirty="0">
                    <a:solidFill>
                      <a:srgbClr val="C00000"/>
                    </a:solidFill>
                    <a:cs typeface="Courier New" pitchFamily="49" charset="0"/>
                  </a:rPr>
                  <a:t>size</a:t>
                </a:r>
              </a:p>
              <a:p>
                <a:pPr lvl="1">
                  <a:lnSpc>
                    <a:spcPct val="150000"/>
                  </a:lnSpc>
                  <a:defRPr/>
                </a:pPr>
                <a:r>
                  <a:rPr lang="en-US" altLang="zh-CN" b="1" dirty="0">
                    <a:solidFill>
                      <a:srgbClr val="FF0000"/>
                    </a:solidFill>
                    <a:cs typeface="Courier New" pitchFamily="49" charset="0"/>
                  </a:rPr>
                  <a:t>Now</a:t>
                </a:r>
                <a:r>
                  <a:rPr lang="en-US" altLang="zh-CN" dirty="0">
                    <a:solidFill>
                      <a:srgbClr val="C00000"/>
                    </a:solidFill>
                    <a:cs typeface="Courier New" pitchFamily="49" charset="0"/>
                  </a:rPr>
                  <a:t> </a:t>
                </a:r>
                <a:r>
                  <a:rPr lang="en-US" altLang="zh-CN" b="1" dirty="0">
                    <a:solidFill>
                      <a:srgbClr val="FF0000"/>
                    </a:solidFill>
                    <a:cs typeface="Courier New" pitchFamily="49" charset="0"/>
                  </a:rPr>
                  <a:t>the front is 0, and rear = -1</a:t>
                </a:r>
              </a:p>
              <a:p>
                <a:pPr>
                  <a:lnSpc>
                    <a:spcPct val="150000"/>
                  </a:lnSpc>
                  <a:defRPr/>
                </a:pPr>
                <a:r>
                  <a:rPr lang="en-US" altLang="zh-CN" dirty="0">
                    <a:solidFill>
                      <a:srgbClr val="0070C0"/>
                    </a:solidFill>
                    <a:cs typeface="Courier New" pitchFamily="49" charset="0"/>
                  </a:rPr>
                  <a:t>bool </a:t>
                </a:r>
                <a:r>
                  <a:rPr lang="en-US" altLang="zh-CN" dirty="0" err="1">
                    <a:solidFill>
                      <a:srgbClr val="0070C0"/>
                    </a:solidFill>
                    <a:cs typeface="Courier New" pitchFamily="49" charset="0"/>
                  </a:rPr>
                  <a:t>IsEmpty</a:t>
                </a:r>
                <a:r>
                  <a:rPr lang="en-US" altLang="zh-CN" dirty="0">
                    <a:solidFill>
                      <a:srgbClr val="0070C0"/>
                    </a:solidFill>
                    <a:cs typeface="Courier New" pitchFamily="49" charset="0"/>
                  </a:rPr>
                  <a:t>(Queue *queue);</a:t>
                </a:r>
              </a:p>
              <a:p>
                <a:pPr lvl="1">
                  <a:lnSpc>
                    <a:spcPct val="150000"/>
                  </a:lnSpc>
                  <a:defRPr/>
                </a:pPr>
                <a:r>
                  <a:rPr lang="en-US" altLang="zh-CN" dirty="0">
                    <a:cs typeface="Courier New" pitchFamily="49" charset="0"/>
                  </a:rPr>
                  <a:t>Returns true if the queue is empty and false otherwise</a:t>
                </a:r>
              </a:p>
              <a:p>
                <a:pPr lvl="1">
                  <a:lnSpc>
                    <a:spcPct val="150000"/>
                  </a:lnSpc>
                  <a:defRPr/>
                </a:pPr>
                <a:r>
                  <a:rPr lang="en-US" altLang="zh-CN" b="1" dirty="0">
                    <a:solidFill>
                      <a:srgbClr val="FF0000"/>
                    </a:solidFill>
                    <a:cs typeface="Courier New" pitchFamily="49" charset="0"/>
                  </a:rPr>
                  <a:t> If counter = 0, then the queue is empty</a:t>
                </a:r>
              </a:p>
              <a:p>
                <a:pPr>
                  <a:lnSpc>
                    <a:spcPct val="150000"/>
                  </a:lnSpc>
                  <a:defRPr/>
                </a:pPr>
                <a:r>
                  <a:rPr lang="en-US" altLang="zh-CN" dirty="0">
                    <a:solidFill>
                      <a:srgbClr val="0070C0"/>
                    </a:solidFill>
                    <a:cs typeface="Courier New" pitchFamily="49" charset="0"/>
                  </a:rPr>
                  <a:t>bool </a:t>
                </a:r>
                <a:r>
                  <a:rPr lang="en-US" altLang="zh-CN" dirty="0" err="1">
                    <a:solidFill>
                      <a:srgbClr val="0070C0"/>
                    </a:solidFill>
                    <a:cs typeface="Courier New" pitchFamily="49" charset="0"/>
                  </a:rPr>
                  <a:t>IsFull</a:t>
                </a:r>
                <a:r>
                  <a:rPr lang="en-US" altLang="zh-CN" dirty="0">
                    <a:solidFill>
                      <a:srgbClr val="0070C0"/>
                    </a:solidFill>
                    <a:cs typeface="Courier New" pitchFamily="49" charset="0"/>
                  </a:rPr>
                  <a:t>(Queue *queue);</a:t>
                </a:r>
              </a:p>
              <a:p>
                <a:pPr lvl="1">
                  <a:lnSpc>
                    <a:spcPct val="150000"/>
                  </a:lnSpc>
                  <a:defRPr/>
                </a:pPr>
                <a:r>
                  <a:rPr lang="en-US" altLang="zh-CN" dirty="0">
                    <a:cs typeface="Courier New" pitchFamily="49" charset="0"/>
                  </a:rPr>
                  <a:t>Returns true if the queue is full and false otherwise</a:t>
                </a:r>
              </a:p>
              <a:p>
                <a:pPr lvl="1">
                  <a:lnSpc>
                    <a:spcPct val="150000"/>
                  </a:lnSpc>
                  <a:defRPr/>
                </a:pPr>
                <a:r>
                  <a:rPr lang="en-US" altLang="zh-CN" b="1" dirty="0">
                    <a:solidFill>
                      <a:srgbClr val="FF0000"/>
                    </a:solidFill>
                    <a:cs typeface="Courier New" pitchFamily="49" charset="0"/>
                  </a:rPr>
                  <a:t> If counter = </a:t>
                </a:r>
                <a:r>
                  <a:rPr lang="en-US" altLang="zh-CN" b="1" dirty="0" err="1">
                    <a:solidFill>
                      <a:srgbClr val="FF0000"/>
                    </a:solidFill>
                    <a:cs typeface="Courier New" pitchFamily="49" charset="0"/>
                  </a:rPr>
                  <a:t>maxSize</a:t>
                </a:r>
                <a:r>
                  <a:rPr lang="en-US" altLang="zh-CN" b="1" dirty="0">
                    <a:solidFill>
                      <a:srgbClr val="FF0000"/>
                    </a:solidFill>
                    <a:cs typeface="Courier New" pitchFamily="49" charset="0"/>
                  </a:rPr>
                  <a:t>, then the queue is full</a:t>
                </a:r>
              </a:p>
              <a:p>
                <a:pPr>
                  <a:lnSpc>
                    <a:spcPct val="150000"/>
                  </a:lnSpc>
                  <a:defRPr/>
                </a:pPr>
                <a:r>
                  <a:rPr lang="en-US" altLang="zh-CN" sz="3100" dirty="0">
                    <a:solidFill>
                      <a:srgbClr val="0070C0"/>
                    </a:solidFill>
                    <a:cs typeface="Courier New" pitchFamily="49" charset="0"/>
                  </a:rPr>
                  <a:t>bool </a:t>
                </a:r>
                <a:r>
                  <a:rPr lang="en-US" altLang="zh-CN" sz="3100" dirty="0" err="1">
                    <a:solidFill>
                      <a:srgbClr val="0070C0"/>
                    </a:solidFill>
                    <a:cs typeface="Courier New" pitchFamily="49" charset="0"/>
                  </a:rPr>
                  <a:t>Enqueue</a:t>
                </a:r>
                <a:r>
                  <a:rPr lang="en-US" altLang="zh-CN" sz="3100" dirty="0">
                    <a:solidFill>
                      <a:srgbClr val="0070C0"/>
                    </a:solidFill>
                    <a:cs typeface="Courier New" pitchFamily="49" charset="0"/>
                  </a:rPr>
                  <a:t>(Queue* queue, double x);</a:t>
                </a:r>
              </a:p>
              <a:p>
                <a:pPr lvl="1">
                  <a:lnSpc>
                    <a:spcPct val="150000"/>
                  </a:lnSpc>
                  <a:defRPr/>
                </a:pPr>
                <a:r>
                  <a:rPr lang="en-US" altLang="zh-CN" dirty="0">
                    <a:cs typeface="Courier New" pitchFamily="49" charset="0"/>
                  </a:rPr>
                  <a:t>Adds a new element with value </a:t>
                </a:r>
                <a:r>
                  <a:rPr lang="en-US" altLang="zh-CN" dirty="0">
                    <a:solidFill>
                      <a:srgbClr val="C00000"/>
                    </a:solidFill>
                    <a:cs typeface="Courier New" pitchFamily="49" charset="0"/>
                  </a:rPr>
                  <a:t>x</a:t>
                </a:r>
                <a:r>
                  <a:rPr lang="en-US" altLang="zh-CN" dirty="0">
                    <a:cs typeface="Courier New" pitchFamily="49" charset="0"/>
                  </a:rPr>
                  <a:t> to the rear of the queue</a:t>
                </a:r>
              </a:p>
              <a:p>
                <a:pPr lvl="1">
                  <a:lnSpc>
                    <a:spcPct val="150000"/>
                  </a:lnSpc>
                  <a:defRPr/>
                </a:pPr>
                <a:r>
                  <a:rPr lang="en-US" altLang="zh-CN" dirty="0">
                    <a:cs typeface="Courier New" pitchFamily="49" charset="0"/>
                  </a:rPr>
                  <a:t>Returns true if the operation is successful and false otherwise</a:t>
                </a:r>
              </a:p>
              <a:p>
                <a:pPr lvl="1">
                  <a:lnSpc>
                    <a:spcPct val="150000"/>
                  </a:lnSpc>
                  <a:defRPr/>
                </a:pPr>
                <a:r>
                  <a:rPr lang="en-US" altLang="zh-CN" dirty="0">
                    <a:solidFill>
                      <a:schemeClr val="accent1"/>
                    </a:solidFill>
                    <a:cs typeface="Courier New" pitchFamily="49" charset="0"/>
                  </a:rPr>
                  <a:t> </a:t>
                </a:r>
                <a:r>
                  <a:rPr lang="en-US" altLang="zh-CN" b="1" dirty="0">
                    <a:solidFill>
                      <a:srgbClr val="FF0000"/>
                    </a:solidFill>
                    <a:cs typeface="Courier New" pitchFamily="49" charset="0"/>
                  </a:rPr>
                  <a:t>rear will increase by 1, but it should be  </a:t>
                </a:r>
                <a:r>
                  <a:rPr lang="en-US" altLang="zh-CN" b="1" dirty="0" err="1">
                    <a:solidFill>
                      <a:srgbClr val="FF0000"/>
                    </a:solidFill>
                    <a:cs typeface="Courier New" pitchFamily="49" charset="0"/>
                  </a:rPr>
                  <a:t>rear%maxSize</a:t>
                </a:r>
                <a:r>
                  <a:rPr lang="en-US" altLang="zh-CN" b="1" dirty="0">
                    <a:solidFill>
                      <a:srgbClr val="FF0000"/>
                    </a:solidFill>
                    <a:cs typeface="Courier New" pitchFamily="49" charset="0"/>
                  </a:rPr>
                  <a:t>  when rear  </a:t>
                </a:r>
                <a14:m>
                  <m:oMath xmlns:m="http://schemas.openxmlformats.org/officeDocument/2006/math">
                    <m:r>
                      <a:rPr lang="en-US" altLang="zh-CN" b="1" i="1" smtClean="0">
                        <a:solidFill>
                          <a:srgbClr val="FF0000"/>
                        </a:solidFill>
                        <a:latin typeface="Cambria Math" panose="02040503050406030204" pitchFamily="18" charset="0"/>
                        <a:ea typeface="Cambria Math" panose="02040503050406030204" pitchFamily="18" charset="0"/>
                        <a:cs typeface="Courier New" pitchFamily="49" charset="0"/>
                      </a:rPr>
                      <m:t>≥ </m:t>
                    </m:r>
                  </m:oMath>
                </a14:m>
                <a:r>
                  <a:rPr lang="en-US" altLang="zh-CN" b="1" dirty="0">
                    <a:solidFill>
                      <a:srgbClr val="FF0000"/>
                    </a:solidFill>
                    <a:cs typeface="Courier New" pitchFamily="49" charset="0"/>
                  </a:rPr>
                  <a:t> </a:t>
                </a:r>
                <a:r>
                  <a:rPr lang="en-US" altLang="zh-CN" b="1" dirty="0" err="1">
                    <a:solidFill>
                      <a:srgbClr val="FF0000"/>
                    </a:solidFill>
                    <a:cs typeface="Courier New" pitchFamily="49" charset="0"/>
                  </a:rPr>
                  <a:t>maxSize</a:t>
                </a:r>
                <a:endParaRPr lang="en-US" altLang="zh-CN" b="1" dirty="0">
                  <a:solidFill>
                    <a:srgbClr val="FF0000"/>
                  </a:solidFill>
                  <a:cs typeface="Courier New" pitchFamily="49" charset="0"/>
                </a:endParaRPr>
              </a:p>
              <a:p>
                <a:endParaRPr lang="zh-CN" alt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524000"/>
                <a:ext cx="7886700" cy="4351338"/>
              </a:xfrm>
              <a:blipFill>
                <a:blip r:embed="rId2"/>
                <a:stretch>
                  <a:fillRect l="-386" t="-1961"/>
                </a:stretch>
              </a:blipFill>
            </p:spPr>
            <p:txBody>
              <a:bodyPr/>
              <a:lstStyle/>
              <a:p>
                <a:r>
                  <a:rPr lang="zh-CN" altLang="en-US">
                    <a:noFill/>
                  </a:rPr>
                  <a:t> </a:t>
                </a:r>
              </a:p>
            </p:txBody>
          </p:sp>
        </mc:Fallback>
      </mc:AlternateContent>
      <p:sp>
        <p:nvSpPr>
          <p:cNvPr id="4" name="Footer Placeholder 3"/>
          <p:cNvSpPr>
            <a:spLocks noGrp="1"/>
          </p:cNvSpPr>
          <p:nvPr>
            <p:ph type="ftr" sz="quarter" idx="11"/>
          </p:nvPr>
        </p:nvSpPr>
        <p:spPr/>
        <p:txBody>
          <a:bodyPr/>
          <a:lstStyle/>
          <a:p>
            <a:r>
              <a:rPr lang="en-US"/>
              <a:t>Data Structures and Algorithms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33008285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Methods</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fontScale="85000" lnSpcReduction="10000"/>
              </a:bodyPr>
              <a:lstStyle/>
              <a:p>
                <a:pPr>
                  <a:lnSpc>
                    <a:spcPct val="150000"/>
                  </a:lnSpc>
                  <a:defRPr/>
                </a:pPr>
                <a:r>
                  <a:rPr lang="en-US" altLang="zh-CN" sz="2400" dirty="0">
                    <a:solidFill>
                      <a:srgbClr val="0070C0"/>
                    </a:solidFill>
                    <a:cs typeface="Courier New" pitchFamily="49" charset="0"/>
                  </a:rPr>
                  <a:t>bool </a:t>
                </a:r>
                <a:r>
                  <a:rPr lang="en-US" altLang="zh-CN" sz="2400" dirty="0" err="1">
                    <a:solidFill>
                      <a:srgbClr val="0070C0"/>
                    </a:solidFill>
                    <a:cs typeface="Courier New" pitchFamily="49" charset="0"/>
                  </a:rPr>
                  <a:t>Dequeue</a:t>
                </a:r>
                <a:r>
                  <a:rPr lang="en-US" altLang="zh-CN" sz="2400" dirty="0">
                    <a:solidFill>
                      <a:srgbClr val="0070C0"/>
                    </a:solidFill>
                    <a:cs typeface="Courier New" pitchFamily="49" charset="0"/>
                  </a:rPr>
                  <a:t>(Queue* queue, double* x);</a:t>
                </a:r>
              </a:p>
              <a:p>
                <a:pPr lvl="1">
                  <a:lnSpc>
                    <a:spcPct val="150000"/>
                  </a:lnSpc>
                  <a:defRPr/>
                </a:pPr>
                <a:r>
                  <a:rPr lang="en-US" altLang="zh-CN" sz="2000" dirty="0">
                    <a:cs typeface="Courier New" pitchFamily="49" charset="0"/>
                  </a:rPr>
                  <a:t>Removes an element from the front of the queue</a:t>
                </a:r>
              </a:p>
              <a:p>
                <a:pPr lvl="1">
                  <a:lnSpc>
                    <a:spcPct val="150000"/>
                  </a:lnSpc>
                  <a:defRPr/>
                </a:pPr>
                <a:r>
                  <a:rPr lang="en-US" altLang="zh-CN" sz="2000" dirty="0">
                    <a:cs typeface="Courier New" pitchFamily="49" charset="0"/>
                  </a:rPr>
                  <a:t>Returns true if the operation is successful and false otherwise</a:t>
                </a:r>
              </a:p>
              <a:p>
                <a:pPr lvl="1">
                  <a:lnSpc>
                    <a:spcPct val="150000"/>
                  </a:lnSpc>
                  <a:defRPr/>
                </a:pPr>
                <a:r>
                  <a:rPr lang="en-US" altLang="zh-CN" sz="2000" dirty="0">
                    <a:cs typeface="Courier New" pitchFamily="49" charset="0"/>
                  </a:rPr>
                  <a:t>Passes the value of the front element to</a:t>
                </a:r>
                <a:r>
                  <a:rPr lang="en-US" altLang="zh-CN" sz="2000" i="1" dirty="0">
                    <a:solidFill>
                      <a:schemeClr val="accent1"/>
                    </a:solidFill>
                    <a:cs typeface="Courier New" pitchFamily="49" charset="0"/>
                  </a:rPr>
                  <a:t> </a:t>
                </a:r>
                <a:r>
                  <a:rPr lang="en-US" altLang="zh-CN" sz="2000" dirty="0">
                    <a:solidFill>
                      <a:srgbClr val="C00000"/>
                    </a:solidFill>
                    <a:cs typeface="Courier New" pitchFamily="49" charset="0"/>
                  </a:rPr>
                  <a:t>x</a:t>
                </a:r>
              </a:p>
              <a:p>
                <a:pPr lvl="1">
                  <a:lnSpc>
                    <a:spcPct val="150000"/>
                  </a:lnSpc>
                  <a:defRPr/>
                </a:pPr>
                <a:r>
                  <a:rPr lang="en-US" altLang="zh-CN" sz="2000" dirty="0">
                    <a:solidFill>
                      <a:srgbClr val="C00000"/>
                    </a:solidFill>
                    <a:cs typeface="Courier New" pitchFamily="49" charset="0"/>
                  </a:rPr>
                  <a:t> front will increase by 1, but it should be </a:t>
                </a:r>
                <a:r>
                  <a:rPr lang="en-US" altLang="zh-CN" sz="2000" dirty="0" err="1">
                    <a:solidFill>
                      <a:srgbClr val="C00000"/>
                    </a:solidFill>
                    <a:cs typeface="Courier New" pitchFamily="49" charset="0"/>
                  </a:rPr>
                  <a:t>front%maSize</a:t>
                </a:r>
                <a:r>
                  <a:rPr lang="en-US" altLang="zh-CN" sz="2000" dirty="0">
                    <a:solidFill>
                      <a:srgbClr val="C00000"/>
                    </a:solidFill>
                    <a:cs typeface="Courier New" pitchFamily="49" charset="0"/>
                  </a:rPr>
                  <a:t> as rear may be </a:t>
                </a:r>
                <a14:m>
                  <m:oMath xmlns:m="http://schemas.openxmlformats.org/officeDocument/2006/math">
                    <m:r>
                      <a:rPr lang="en-US" altLang="zh-CN" sz="2000" i="1" smtClean="0">
                        <a:solidFill>
                          <a:srgbClr val="C00000"/>
                        </a:solidFill>
                        <a:latin typeface="Cambria Math" panose="02040503050406030204" pitchFamily="18" charset="0"/>
                        <a:ea typeface="Cambria Math" panose="02040503050406030204" pitchFamily="18" charset="0"/>
                        <a:cs typeface="Courier New" pitchFamily="49" charset="0"/>
                      </a:rPr>
                      <m:t>≥</m:t>
                    </m:r>
                    <m:r>
                      <a:rPr lang="en-US" altLang="zh-CN" sz="2000" b="0" i="1" smtClean="0">
                        <a:solidFill>
                          <a:srgbClr val="C00000"/>
                        </a:solidFill>
                        <a:latin typeface="Cambria Math" panose="02040503050406030204" pitchFamily="18" charset="0"/>
                        <a:ea typeface="Cambria Math" panose="02040503050406030204" pitchFamily="18" charset="0"/>
                        <a:cs typeface="Courier New" pitchFamily="49" charset="0"/>
                      </a:rPr>
                      <m:t>𝑚𝑎𝑥𝑆𝑖𝑧𝑒</m:t>
                    </m:r>
                  </m:oMath>
                </a14:m>
                <a:endParaRPr lang="en-US" altLang="zh-CN" sz="2000" dirty="0">
                  <a:solidFill>
                    <a:srgbClr val="C00000"/>
                  </a:solidFill>
                  <a:cs typeface="Courier New" pitchFamily="49" charset="0"/>
                </a:endParaRPr>
              </a:p>
              <a:p>
                <a:pPr>
                  <a:lnSpc>
                    <a:spcPct val="150000"/>
                  </a:lnSpc>
                  <a:defRPr/>
                </a:pPr>
                <a:r>
                  <a:rPr lang="en-US" altLang="zh-CN" sz="2400" dirty="0">
                    <a:solidFill>
                      <a:srgbClr val="0070C0"/>
                    </a:solidFill>
                    <a:cs typeface="Courier New" pitchFamily="49" charset="0"/>
                  </a:rPr>
                  <a:t>void </a:t>
                </a:r>
                <a:r>
                  <a:rPr lang="en-US" altLang="zh-CN" sz="2400" dirty="0" err="1">
                    <a:solidFill>
                      <a:srgbClr val="0070C0"/>
                    </a:solidFill>
                    <a:cs typeface="Courier New" pitchFamily="49" charset="0"/>
                  </a:rPr>
                  <a:t>DisplayQueue</a:t>
                </a:r>
                <a:r>
                  <a:rPr lang="en-US" altLang="zh-CN" sz="2400" dirty="0">
                    <a:solidFill>
                      <a:srgbClr val="0070C0"/>
                    </a:solidFill>
                    <a:cs typeface="Courier New" pitchFamily="49" charset="0"/>
                  </a:rPr>
                  <a:t>(Queue* queue);</a:t>
                </a:r>
              </a:p>
              <a:p>
                <a:pPr lvl="1">
                  <a:lnSpc>
                    <a:spcPct val="150000"/>
                  </a:lnSpc>
                  <a:defRPr/>
                </a:pPr>
                <a:r>
                  <a:rPr lang="en-US" altLang="zh-CN" sz="2000" dirty="0">
                    <a:cs typeface="Courier New" pitchFamily="49" charset="0"/>
                  </a:rPr>
                  <a:t>Prints all the </a:t>
                </a:r>
                <a:r>
                  <a:rPr lang="en-US" altLang="zh-CN" sz="2000" b="1" dirty="0">
                    <a:solidFill>
                      <a:srgbClr val="FF0000"/>
                    </a:solidFill>
                    <a:cs typeface="Courier New" pitchFamily="49" charset="0"/>
                  </a:rPr>
                  <a:t>elements</a:t>
                </a:r>
                <a:r>
                  <a:rPr lang="en-US" altLang="zh-CN" sz="2000" dirty="0">
                    <a:cs typeface="Courier New" pitchFamily="49" charset="0"/>
                  </a:rPr>
                  <a:t> of the queue</a:t>
                </a:r>
              </a:p>
              <a:p>
                <a:pPr>
                  <a:lnSpc>
                    <a:spcPct val="150000"/>
                  </a:lnSpc>
                  <a:defRPr/>
                </a:pPr>
                <a:r>
                  <a:rPr lang="en-US" altLang="zh-CN" sz="2400" dirty="0">
                    <a:solidFill>
                      <a:srgbClr val="0070C0"/>
                    </a:solidFill>
                    <a:cs typeface="Courier New" pitchFamily="49" charset="0"/>
                  </a:rPr>
                  <a:t>void </a:t>
                </a:r>
                <a:r>
                  <a:rPr lang="en-US" altLang="zh-CN" sz="2400" dirty="0" err="1">
                    <a:solidFill>
                      <a:srgbClr val="0070C0"/>
                    </a:solidFill>
                    <a:cs typeface="Courier New" pitchFamily="49" charset="0"/>
                  </a:rPr>
                  <a:t>DestroyQueue</a:t>
                </a:r>
                <a:r>
                  <a:rPr lang="en-US" altLang="zh-CN" sz="2400" dirty="0">
                    <a:solidFill>
                      <a:srgbClr val="0070C0"/>
                    </a:solidFill>
                    <a:cs typeface="Courier New" pitchFamily="49" charset="0"/>
                  </a:rPr>
                  <a:t>(Queue* queue);</a:t>
                </a:r>
              </a:p>
              <a:p>
                <a:pPr lvl="1">
                  <a:lnSpc>
                    <a:spcPct val="150000"/>
                  </a:lnSpc>
                  <a:defRPr/>
                </a:pPr>
                <a:r>
                  <a:rPr lang="en-US" altLang="zh-CN" sz="2000" dirty="0">
                    <a:cs typeface="Courier New" pitchFamily="49" charset="0"/>
                  </a:rPr>
                  <a:t>Frees the memory occupied by the values in queue</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69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B6F15528-21DE-4FAA-801E-634DDDAF4B2B}" type="slidenum">
              <a:rPr lang="en-US" smtClean="0"/>
              <a:pPr/>
              <a:t>20</a:t>
            </a:fld>
            <a:endParaRPr lang="en-US"/>
          </a:p>
        </p:txBody>
      </p:sp>
      <p:sp>
        <p:nvSpPr>
          <p:cNvPr id="5" name="Footer Placeholder 4"/>
          <p:cNvSpPr>
            <a:spLocks noGrp="1"/>
          </p:cNvSpPr>
          <p:nvPr>
            <p:ph type="ftr" sz="quarter" idx="11"/>
          </p:nvPr>
        </p:nvSpPr>
        <p:spPr/>
        <p:txBody>
          <a:bodyPr/>
          <a:lstStyle/>
          <a:p>
            <a:r>
              <a:rPr lang="en-US"/>
              <a:t>Data Structures and Algorithms</a:t>
            </a:r>
          </a:p>
        </p:txBody>
      </p:sp>
    </p:spTree>
    <p:extLst>
      <p:ext uri="{BB962C8B-B14F-4D97-AF65-F5344CB8AC3E}">
        <p14:creationId xmlns:p14="http://schemas.microsoft.com/office/powerpoint/2010/main" val="34567798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762000" y="3733800"/>
            <a:ext cx="6019800" cy="762000"/>
          </a:xfrm>
          <a:prstGeom prst="rect">
            <a:avLst/>
          </a:prstGeom>
          <a:solidFill>
            <a:schemeClr val="accent5">
              <a:lumMod val="20000"/>
              <a:lumOff val="80000"/>
            </a:schemeClr>
          </a:solidFill>
          <a:ln>
            <a:noFill/>
          </a:ln>
        </p:spPr>
        <p:style>
          <a:lnRef idx="2">
            <a:schemeClr val="accent2"/>
          </a:lnRef>
          <a:fillRef idx="1">
            <a:schemeClr val="lt1"/>
          </a:fillRef>
          <a:effectRef idx="0">
            <a:schemeClr val="accent2"/>
          </a:effectRef>
          <a:fontRef idx="minor">
            <a:schemeClr val="dk1"/>
          </a:fontRef>
        </p:style>
        <p:txBody>
          <a:bodyPr wrap="square">
            <a:noAutofit/>
          </a:bodyPr>
          <a:lstStyle/>
          <a:p>
            <a:pPr eaLnBrk="0" hangingPunct="0">
              <a:spcBef>
                <a:spcPct val="20000"/>
              </a:spcBef>
              <a:buClr>
                <a:schemeClr val="tx2"/>
              </a:buClr>
              <a:buSzPct val="75000"/>
              <a:buFont typeface="Monotype Sorts" pitchFamily="2" charset="2"/>
              <a:buNone/>
              <a:defRPr/>
            </a:pPr>
            <a:endParaRPr lang="en-US" altLang="zh-CN" b="1" dirty="0">
              <a:solidFill>
                <a:schemeClr val="tx1">
                  <a:lumMod val="75000"/>
                  <a:lumOff val="25000"/>
                </a:schemeClr>
              </a:solidFill>
              <a:latin typeface="Arial" charset="0"/>
              <a:ea typeface="宋体" pitchFamily="2" charset="-122"/>
            </a:endParaRPr>
          </a:p>
        </p:txBody>
      </p:sp>
      <p:sp>
        <p:nvSpPr>
          <p:cNvPr id="2" name="标题 1"/>
          <p:cNvSpPr>
            <a:spLocks noGrp="1"/>
          </p:cNvSpPr>
          <p:nvPr>
            <p:ph type="title"/>
          </p:nvPr>
        </p:nvSpPr>
        <p:spPr/>
        <p:txBody>
          <a:bodyPr/>
          <a:lstStyle/>
          <a:p>
            <a:r>
              <a:rPr lang="en-US" altLang="zh-CN" dirty="0" err="1"/>
              <a:t>CreateQueue</a:t>
            </a:r>
            <a:endParaRPr lang="zh-CN" altLang="en-US" dirty="0"/>
          </a:p>
        </p:txBody>
      </p:sp>
      <p:sp>
        <p:nvSpPr>
          <p:cNvPr id="4" name="灯片编号占位符 3"/>
          <p:cNvSpPr>
            <a:spLocks noGrp="1"/>
          </p:cNvSpPr>
          <p:nvPr>
            <p:ph type="sldNum" sz="quarter" idx="12"/>
          </p:nvPr>
        </p:nvSpPr>
        <p:spPr/>
        <p:txBody>
          <a:bodyPr/>
          <a:lstStyle/>
          <a:p>
            <a:fld id="{B6F15528-21DE-4FAA-801E-634DDDAF4B2B}" type="slidenum">
              <a:rPr lang="en-US" smtClean="0"/>
              <a:pPr/>
              <a:t>21</a:t>
            </a:fld>
            <a:endParaRPr lang="en-US" dirty="0"/>
          </a:p>
        </p:txBody>
      </p:sp>
      <p:sp>
        <p:nvSpPr>
          <p:cNvPr id="7" name="矩形 6"/>
          <p:cNvSpPr/>
          <p:nvPr/>
        </p:nvSpPr>
        <p:spPr>
          <a:xfrm>
            <a:off x="6781800" y="3733800"/>
            <a:ext cx="2057400" cy="762000"/>
          </a:xfrm>
          <a:prstGeom prst="rect">
            <a:avLst/>
          </a:prstGeom>
          <a:solidFill>
            <a:schemeClr val="accent5">
              <a:lumMod val="40000"/>
              <a:lumOff val="60000"/>
            </a:schemeClr>
          </a:solidFill>
        </p:spPr>
        <p:txBody>
          <a:bodyPr wrap="square" anchor="ctr">
            <a:noAutofit/>
          </a:bodyPr>
          <a:lstStyle/>
          <a:p>
            <a:pPr algn="ctr"/>
            <a:r>
              <a:rPr lang="en-US" altLang="zh-CN" b="1" dirty="0">
                <a:solidFill>
                  <a:schemeClr val="bg1"/>
                </a:solidFill>
                <a:latin typeface="Calibri" charset="0"/>
                <a:ea typeface="Calibri" charset="0"/>
                <a:cs typeface="Calibri" charset="0"/>
              </a:rPr>
              <a:t>Why?</a:t>
            </a:r>
          </a:p>
          <a:p>
            <a:pPr algn="ctr"/>
            <a:r>
              <a:rPr lang="en-US" altLang="zh-CN" b="1" dirty="0">
                <a:solidFill>
                  <a:schemeClr val="bg1"/>
                </a:solidFill>
                <a:latin typeface="Calibri" charset="0"/>
                <a:ea typeface="Calibri" charset="0"/>
                <a:cs typeface="Calibri" charset="0"/>
              </a:rPr>
              <a:t>Any other valid initialization?</a:t>
            </a:r>
          </a:p>
        </p:txBody>
      </p:sp>
      <p:sp>
        <p:nvSpPr>
          <p:cNvPr id="3" name="Footer Placeholder 2"/>
          <p:cNvSpPr>
            <a:spLocks noGrp="1"/>
          </p:cNvSpPr>
          <p:nvPr>
            <p:ph type="ftr" sz="quarter" idx="11"/>
          </p:nvPr>
        </p:nvSpPr>
        <p:spPr/>
        <p:txBody>
          <a:bodyPr/>
          <a:lstStyle/>
          <a:p>
            <a:r>
              <a:rPr lang="en-US"/>
              <a:t>Data Structures and Algorithms</a:t>
            </a:r>
          </a:p>
        </p:txBody>
      </p:sp>
      <p:sp>
        <p:nvSpPr>
          <p:cNvPr id="9" name="矩形 4"/>
          <p:cNvSpPr/>
          <p:nvPr/>
        </p:nvSpPr>
        <p:spPr>
          <a:xfrm>
            <a:off x="228600" y="1585585"/>
            <a:ext cx="8839200" cy="4662815"/>
          </a:xfrm>
          <a:prstGeom prst="rect">
            <a:avLst/>
          </a:prstGeom>
          <a:noFill/>
          <a:ln>
            <a:solidFill>
              <a:schemeClr val="tx1"/>
            </a:solidFill>
          </a:ln>
        </p:spPr>
        <p:txBody>
          <a:bodyPr wrap="square" lIns="252000">
            <a:spAutoFit/>
          </a:bodyPr>
          <a:lstStyle/>
          <a:p>
            <a:pPr eaLnBrk="0" hangingPunct="0">
              <a:lnSpc>
                <a:spcPct val="150000"/>
              </a:lnSpc>
            </a:pPr>
            <a:r>
              <a:rPr lang="en-US" altLang="zh-CN" dirty="0">
                <a:solidFill>
                  <a:srgbClr val="0070C0"/>
                </a:solidFill>
                <a:latin typeface="Courier New" pitchFamily="49" charset="0"/>
                <a:ea typeface="宋体" pitchFamily="2" charset="-122"/>
                <a:cs typeface="Courier New" pitchFamily="49" charset="0"/>
              </a:rPr>
              <a:t>#include </a:t>
            </a:r>
            <a:r>
              <a:rPr lang="en-US" altLang="zh-CN" dirty="0">
                <a:solidFill>
                  <a:schemeClr val="tx1">
                    <a:lumMod val="75000"/>
                    <a:lumOff val="25000"/>
                  </a:schemeClr>
                </a:solidFill>
                <a:latin typeface="Courier New" pitchFamily="49" charset="0"/>
                <a:ea typeface="宋体" pitchFamily="2" charset="-122"/>
                <a:cs typeface="Courier New" pitchFamily="49" charset="0"/>
              </a:rPr>
              <a:t>&lt;</a:t>
            </a:r>
            <a:r>
              <a:rPr lang="en-US" altLang="zh-CN" dirty="0" err="1">
                <a:solidFill>
                  <a:schemeClr val="tx1">
                    <a:lumMod val="75000"/>
                    <a:lumOff val="25000"/>
                  </a:schemeClr>
                </a:solidFill>
                <a:latin typeface="Courier New" pitchFamily="49" charset="0"/>
                <a:ea typeface="宋体" pitchFamily="2" charset="-122"/>
                <a:cs typeface="Courier New" pitchFamily="49" charset="0"/>
              </a:rPr>
              <a:t>stdlib.h</a:t>
            </a:r>
            <a:r>
              <a:rPr lang="en-US" altLang="zh-CN" dirty="0">
                <a:solidFill>
                  <a:schemeClr val="tx1">
                    <a:lumMod val="75000"/>
                    <a:lumOff val="25000"/>
                  </a:schemeClr>
                </a:solidFill>
                <a:latin typeface="Courier New" pitchFamily="49" charset="0"/>
                <a:ea typeface="宋体" pitchFamily="2" charset="-122"/>
                <a:cs typeface="Courier New" pitchFamily="49" charset="0"/>
              </a:rPr>
              <a:t>&gt;</a:t>
            </a:r>
          </a:p>
          <a:p>
            <a:pPr eaLnBrk="0" hangingPunct="0">
              <a:lnSpc>
                <a:spcPct val="150000"/>
              </a:lnSpc>
            </a:pPr>
            <a:r>
              <a:rPr lang="en-US" altLang="zh-CN" dirty="0" err="1">
                <a:solidFill>
                  <a:srgbClr val="0070C0"/>
                </a:solidFill>
                <a:latin typeface="Courier New" pitchFamily="49" charset="0"/>
                <a:ea typeface="宋体" pitchFamily="2" charset="-122"/>
                <a:cs typeface="Courier New" pitchFamily="49" charset="0"/>
              </a:rPr>
              <a:t>bool</a:t>
            </a:r>
            <a:r>
              <a:rPr lang="en-US" altLang="zh-CN" dirty="0">
                <a:solidFill>
                  <a:schemeClr val="accent1"/>
                </a:solidFill>
                <a:latin typeface="Courier New" pitchFamily="49" charset="0"/>
                <a:ea typeface="宋体" pitchFamily="2" charset="-122"/>
                <a:cs typeface="Courier New" pitchFamily="49" charset="0"/>
              </a:rPr>
              <a:t> </a:t>
            </a:r>
            <a:r>
              <a:rPr lang="en-US" altLang="zh-CN" dirty="0" err="1">
                <a:solidFill>
                  <a:schemeClr val="tx1">
                    <a:lumMod val="75000"/>
                    <a:lumOff val="25000"/>
                  </a:schemeClr>
                </a:solidFill>
                <a:latin typeface="Courier New" pitchFamily="49" charset="0"/>
                <a:ea typeface="宋体" pitchFamily="2" charset="-122"/>
                <a:cs typeface="Courier New" pitchFamily="49" charset="0"/>
              </a:rPr>
              <a:t>CreateQueue</a:t>
            </a:r>
            <a:r>
              <a:rPr lang="en-US" altLang="zh-CN" dirty="0">
                <a:solidFill>
                  <a:schemeClr val="tx1">
                    <a:lumMod val="75000"/>
                    <a:lumOff val="25000"/>
                  </a:schemeClr>
                </a:solidFill>
                <a:latin typeface="Courier New" pitchFamily="49" charset="0"/>
                <a:ea typeface="宋体" pitchFamily="2" charset="-122"/>
                <a:cs typeface="Courier New" pitchFamily="49" charset="0"/>
              </a:rPr>
              <a:t>(Queue *queue, </a:t>
            </a:r>
            <a:r>
              <a:rPr lang="en-US" altLang="zh-CN" dirty="0" err="1">
                <a:solidFill>
                  <a:srgbClr val="0070C0"/>
                </a:solidFill>
                <a:latin typeface="Courier New" pitchFamily="49" charset="0"/>
                <a:ea typeface="宋体" pitchFamily="2" charset="-122"/>
                <a:cs typeface="Courier New" pitchFamily="49" charset="0"/>
              </a:rPr>
              <a:t>int</a:t>
            </a:r>
            <a:r>
              <a:rPr lang="en-US" altLang="zh-CN" dirty="0">
                <a:solidFill>
                  <a:schemeClr val="accent1"/>
                </a:solidFill>
                <a:latin typeface="Courier New" pitchFamily="49" charset="0"/>
                <a:ea typeface="宋体" pitchFamily="2" charset="-122"/>
                <a:cs typeface="Courier New" pitchFamily="49" charset="0"/>
              </a:rPr>
              <a:t> </a:t>
            </a:r>
            <a:r>
              <a:rPr lang="en-US" altLang="zh-CN" dirty="0">
                <a:solidFill>
                  <a:schemeClr val="tx1">
                    <a:lumMod val="75000"/>
                    <a:lumOff val="25000"/>
                  </a:schemeClr>
                </a:solidFill>
                <a:latin typeface="Courier New" pitchFamily="49" charset="0"/>
                <a:ea typeface="宋体" pitchFamily="2" charset="-122"/>
                <a:cs typeface="Courier New" pitchFamily="49" charset="0"/>
              </a:rPr>
              <a:t>size){</a:t>
            </a:r>
          </a:p>
          <a:p>
            <a:pPr lvl="1" eaLnBrk="0" hangingPunct="0">
              <a:lnSpc>
                <a:spcPct val="150000"/>
              </a:lnSpc>
            </a:pPr>
            <a:r>
              <a:rPr lang="en-US" altLang="zh-CN" dirty="0">
                <a:solidFill>
                  <a:srgbClr val="0070C0"/>
                </a:solidFill>
                <a:latin typeface="Courier New" pitchFamily="49" charset="0"/>
                <a:ea typeface="宋体" pitchFamily="2" charset="-122"/>
                <a:cs typeface="Courier New" pitchFamily="49" charset="0"/>
              </a:rPr>
              <a:t>if</a:t>
            </a:r>
            <a:r>
              <a:rPr lang="en-US" altLang="zh-CN" dirty="0">
                <a:solidFill>
                  <a:schemeClr val="accent1"/>
                </a:solidFill>
                <a:latin typeface="Courier New" pitchFamily="49" charset="0"/>
                <a:ea typeface="宋体" pitchFamily="2" charset="-122"/>
                <a:cs typeface="Courier New" pitchFamily="49" charset="0"/>
              </a:rPr>
              <a:t> </a:t>
            </a:r>
            <a:r>
              <a:rPr lang="en-US" altLang="zh-CN" dirty="0">
                <a:solidFill>
                  <a:schemeClr val="tx1">
                    <a:lumMod val="75000"/>
                    <a:lumOff val="25000"/>
                  </a:schemeClr>
                </a:solidFill>
                <a:latin typeface="Courier New" pitchFamily="49" charset="0"/>
                <a:ea typeface="宋体" pitchFamily="2" charset="-122"/>
                <a:cs typeface="Courier New" pitchFamily="49" charset="0"/>
              </a:rPr>
              <a:t>(size &lt;= 0)</a:t>
            </a:r>
          </a:p>
          <a:p>
            <a:pPr lvl="1" eaLnBrk="0" hangingPunct="0">
              <a:lnSpc>
                <a:spcPct val="150000"/>
              </a:lnSpc>
            </a:pPr>
            <a:r>
              <a:rPr lang="en-US" altLang="zh-CN" dirty="0">
                <a:solidFill>
                  <a:schemeClr val="tx1">
                    <a:lumMod val="75000"/>
                    <a:lumOff val="25000"/>
                  </a:schemeClr>
                </a:solidFill>
                <a:latin typeface="Courier New" pitchFamily="49" charset="0"/>
                <a:ea typeface="宋体" pitchFamily="2" charset="-122"/>
                <a:cs typeface="Courier New" pitchFamily="49" charset="0"/>
              </a:rPr>
              <a:t>	</a:t>
            </a:r>
            <a:r>
              <a:rPr lang="en-US" altLang="zh-CN" dirty="0">
                <a:solidFill>
                  <a:srgbClr val="0070C0"/>
                </a:solidFill>
                <a:latin typeface="Courier New" pitchFamily="49" charset="0"/>
                <a:ea typeface="宋体" pitchFamily="2" charset="-122"/>
                <a:cs typeface="Courier New" pitchFamily="49" charset="0"/>
              </a:rPr>
              <a:t>return false</a:t>
            </a:r>
            <a:r>
              <a:rPr lang="en-US" altLang="zh-CN" dirty="0">
                <a:solidFill>
                  <a:schemeClr val="tx1">
                    <a:lumMod val="75000"/>
                    <a:lumOff val="25000"/>
                  </a:schemeClr>
                </a:solidFill>
                <a:latin typeface="Courier New" pitchFamily="49" charset="0"/>
                <a:ea typeface="宋体" pitchFamily="2" charset="-122"/>
                <a:cs typeface="Courier New" pitchFamily="49" charset="0"/>
              </a:rPr>
              <a:t>;</a:t>
            </a:r>
          </a:p>
          <a:p>
            <a:pPr lvl="1" eaLnBrk="0" hangingPunct="0">
              <a:lnSpc>
                <a:spcPct val="150000"/>
              </a:lnSpc>
            </a:pPr>
            <a:r>
              <a:rPr lang="en-US" altLang="zh-CN" dirty="0">
                <a:solidFill>
                  <a:schemeClr val="tx1">
                    <a:lumMod val="75000"/>
                    <a:lumOff val="25000"/>
                  </a:schemeClr>
                </a:solidFill>
                <a:latin typeface="Courier New" pitchFamily="49" charset="0"/>
                <a:ea typeface="宋体" pitchFamily="2" charset="-122"/>
                <a:cs typeface="Courier New" pitchFamily="49" charset="0"/>
              </a:rPr>
              <a:t>queue-&gt;values = (</a:t>
            </a:r>
            <a:r>
              <a:rPr lang="en-US" altLang="zh-CN" dirty="0">
                <a:solidFill>
                  <a:srgbClr val="0070C0"/>
                </a:solidFill>
                <a:latin typeface="Courier New" pitchFamily="49" charset="0"/>
                <a:ea typeface="宋体" pitchFamily="2" charset="-122"/>
                <a:cs typeface="Courier New" pitchFamily="49" charset="0"/>
              </a:rPr>
              <a:t>double</a:t>
            </a:r>
            <a:r>
              <a:rPr lang="en-US" altLang="zh-CN" dirty="0">
                <a:solidFill>
                  <a:schemeClr val="tx1">
                    <a:lumMod val="75000"/>
                    <a:lumOff val="25000"/>
                  </a:schemeClr>
                </a:solidFill>
                <a:latin typeface="Courier New" pitchFamily="49" charset="0"/>
                <a:ea typeface="宋体" pitchFamily="2" charset="-122"/>
                <a:cs typeface="Courier New" pitchFamily="49" charset="0"/>
              </a:rPr>
              <a:t>*)</a:t>
            </a:r>
            <a:r>
              <a:rPr lang="en-US" altLang="zh-CN" dirty="0" err="1">
                <a:solidFill>
                  <a:schemeClr val="tx1">
                    <a:lumMod val="75000"/>
                    <a:lumOff val="25000"/>
                  </a:schemeClr>
                </a:solidFill>
                <a:latin typeface="Courier New" pitchFamily="49" charset="0"/>
                <a:ea typeface="宋体" pitchFamily="2" charset="-122"/>
                <a:cs typeface="Courier New" pitchFamily="49" charset="0"/>
              </a:rPr>
              <a:t>malloc</a:t>
            </a:r>
            <a:r>
              <a:rPr lang="en-US" altLang="zh-CN" dirty="0">
                <a:solidFill>
                  <a:schemeClr val="tx1">
                    <a:lumMod val="75000"/>
                    <a:lumOff val="25000"/>
                  </a:schemeClr>
                </a:solidFill>
                <a:latin typeface="Courier New" pitchFamily="49" charset="0"/>
                <a:ea typeface="宋体" pitchFamily="2" charset="-122"/>
                <a:cs typeface="Courier New" pitchFamily="49" charset="0"/>
              </a:rPr>
              <a:t>(</a:t>
            </a:r>
            <a:r>
              <a:rPr lang="en-US" altLang="zh-CN" dirty="0" err="1">
                <a:solidFill>
                  <a:srgbClr val="0070C0"/>
                </a:solidFill>
                <a:latin typeface="Courier New" pitchFamily="49" charset="0"/>
                <a:ea typeface="宋体" pitchFamily="2" charset="-122"/>
                <a:cs typeface="Courier New" pitchFamily="49" charset="0"/>
              </a:rPr>
              <a:t>sizeof</a:t>
            </a:r>
            <a:r>
              <a:rPr lang="en-US" altLang="zh-CN" dirty="0">
                <a:solidFill>
                  <a:schemeClr val="tx1">
                    <a:lumMod val="75000"/>
                    <a:lumOff val="25000"/>
                  </a:schemeClr>
                </a:solidFill>
                <a:latin typeface="Courier New" pitchFamily="49" charset="0"/>
                <a:ea typeface="宋体" pitchFamily="2" charset="-122"/>
                <a:cs typeface="Courier New" pitchFamily="49" charset="0"/>
              </a:rPr>
              <a:t>(</a:t>
            </a:r>
            <a:r>
              <a:rPr lang="en-US" altLang="zh-CN" dirty="0">
                <a:solidFill>
                  <a:srgbClr val="0070C0"/>
                </a:solidFill>
                <a:latin typeface="Courier New" pitchFamily="49" charset="0"/>
                <a:ea typeface="宋体" pitchFamily="2" charset="-122"/>
                <a:cs typeface="Courier New" pitchFamily="49" charset="0"/>
              </a:rPr>
              <a:t>double</a:t>
            </a:r>
            <a:r>
              <a:rPr lang="en-US" altLang="zh-CN" dirty="0">
                <a:solidFill>
                  <a:schemeClr val="tx1">
                    <a:lumMod val="75000"/>
                    <a:lumOff val="25000"/>
                  </a:schemeClr>
                </a:solidFill>
                <a:latin typeface="Courier New" pitchFamily="49" charset="0"/>
                <a:ea typeface="宋体" pitchFamily="2" charset="-122"/>
                <a:cs typeface="Courier New" pitchFamily="49" charset="0"/>
              </a:rPr>
              <a:t>)*size);</a:t>
            </a:r>
          </a:p>
          <a:p>
            <a:pPr lvl="1" eaLnBrk="0" hangingPunct="0">
              <a:lnSpc>
                <a:spcPct val="150000"/>
              </a:lnSpc>
            </a:pPr>
            <a:r>
              <a:rPr lang="en-US" altLang="zh-CN" dirty="0">
                <a:solidFill>
                  <a:schemeClr val="tx1">
                    <a:lumMod val="75000"/>
                    <a:lumOff val="25000"/>
                  </a:schemeClr>
                </a:solidFill>
                <a:latin typeface="Courier New" pitchFamily="49" charset="0"/>
                <a:ea typeface="宋体" pitchFamily="2" charset="-122"/>
                <a:cs typeface="Courier New" pitchFamily="49" charset="0"/>
              </a:rPr>
              <a:t>queue-&gt;front = 0;</a:t>
            </a:r>
          </a:p>
          <a:p>
            <a:pPr lvl="1" eaLnBrk="0" hangingPunct="0">
              <a:lnSpc>
                <a:spcPct val="150000"/>
              </a:lnSpc>
            </a:pPr>
            <a:r>
              <a:rPr lang="en-US" altLang="zh-CN" dirty="0">
                <a:solidFill>
                  <a:schemeClr val="tx1">
                    <a:lumMod val="75000"/>
                    <a:lumOff val="25000"/>
                  </a:schemeClr>
                </a:solidFill>
                <a:latin typeface="Courier New" pitchFamily="49" charset="0"/>
                <a:ea typeface="宋体" pitchFamily="2" charset="-122"/>
                <a:cs typeface="Courier New" pitchFamily="49" charset="0"/>
              </a:rPr>
              <a:t>queue-&gt;rear = -1;</a:t>
            </a:r>
          </a:p>
          <a:p>
            <a:pPr lvl="1" eaLnBrk="0" hangingPunct="0">
              <a:lnSpc>
                <a:spcPct val="150000"/>
              </a:lnSpc>
            </a:pPr>
            <a:r>
              <a:rPr lang="en-US" altLang="zh-CN" dirty="0">
                <a:solidFill>
                  <a:schemeClr val="tx1">
                    <a:lumMod val="75000"/>
                    <a:lumOff val="25000"/>
                  </a:schemeClr>
                </a:solidFill>
                <a:latin typeface="Courier New" pitchFamily="49" charset="0"/>
                <a:ea typeface="宋体" pitchFamily="2" charset="-122"/>
                <a:cs typeface="Courier New" pitchFamily="49" charset="0"/>
              </a:rPr>
              <a:t>queue-&gt;counter = 0;</a:t>
            </a:r>
          </a:p>
          <a:p>
            <a:pPr lvl="1" eaLnBrk="0" hangingPunct="0">
              <a:lnSpc>
                <a:spcPct val="150000"/>
              </a:lnSpc>
            </a:pPr>
            <a:r>
              <a:rPr lang="en-US" altLang="zh-CN" dirty="0">
                <a:solidFill>
                  <a:schemeClr val="tx1">
                    <a:lumMod val="75000"/>
                    <a:lumOff val="25000"/>
                  </a:schemeClr>
                </a:solidFill>
                <a:latin typeface="Courier New" pitchFamily="49" charset="0"/>
                <a:ea typeface="宋体" pitchFamily="2" charset="-122"/>
                <a:cs typeface="Courier New" pitchFamily="49" charset="0"/>
              </a:rPr>
              <a:t>queue-&gt;</a:t>
            </a:r>
            <a:r>
              <a:rPr lang="en-US" altLang="zh-CN" dirty="0" err="1">
                <a:solidFill>
                  <a:schemeClr val="tx1">
                    <a:lumMod val="75000"/>
                    <a:lumOff val="25000"/>
                  </a:schemeClr>
                </a:solidFill>
                <a:latin typeface="Courier New" pitchFamily="49" charset="0"/>
                <a:ea typeface="宋体" pitchFamily="2" charset="-122"/>
                <a:cs typeface="Courier New" pitchFamily="49" charset="0"/>
              </a:rPr>
              <a:t>maxSize</a:t>
            </a:r>
            <a:r>
              <a:rPr lang="en-US" altLang="zh-CN" dirty="0">
                <a:solidFill>
                  <a:schemeClr val="tx1">
                    <a:lumMod val="75000"/>
                    <a:lumOff val="25000"/>
                  </a:schemeClr>
                </a:solidFill>
                <a:latin typeface="Courier New" pitchFamily="49" charset="0"/>
                <a:ea typeface="宋体" pitchFamily="2" charset="-122"/>
                <a:cs typeface="Courier New" pitchFamily="49" charset="0"/>
              </a:rPr>
              <a:t> = size;</a:t>
            </a:r>
          </a:p>
          <a:p>
            <a:pPr lvl="1" eaLnBrk="0" hangingPunct="0">
              <a:lnSpc>
                <a:spcPct val="150000"/>
              </a:lnSpc>
            </a:pPr>
            <a:r>
              <a:rPr lang="en-US" altLang="zh-CN" dirty="0">
                <a:solidFill>
                  <a:srgbClr val="0070C0"/>
                </a:solidFill>
                <a:latin typeface="Courier New" pitchFamily="49" charset="0"/>
                <a:ea typeface="宋体" pitchFamily="2" charset="-122"/>
                <a:cs typeface="Courier New" pitchFamily="49" charset="0"/>
              </a:rPr>
              <a:t>return true</a:t>
            </a:r>
            <a:r>
              <a:rPr lang="en-US" altLang="zh-CN" dirty="0">
                <a:solidFill>
                  <a:schemeClr val="tx1">
                    <a:lumMod val="75000"/>
                    <a:lumOff val="25000"/>
                  </a:schemeClr>
                </a:solidFill>
                <a:latin typeface="Courier New" pitchFamily="49" charset="0"/>
                <a:ea typeface="宋体" pitchFamily="2" charset="-122"/>
                <a:cs typeface="Courier New" pitchFamily="49" charset="0"/>
              </a:rPr>
              <a:t>;</a:t>
            </a:r>
          </a:p>
          <a:p>
            <a:pPr eaLnBrk="0" hangingPunct="0">
              <a:lnSpc>
                <a:spcPct val="150000"/>
              </a:lnSpc>
            </a:pPr>
            <a:r>
              <a:rPr lang="en-US" altLang="zh-CN" dirty="0">
                <a:solidFill>
                  <a:schemeClr val="tx1">
                    <a:lumMod val="75000"/>
                    <a:lumOff val="25000"/>
                  </a:schemeClr>
                </a:solidFill>
                <a:latin typeface="Courier New" pitchFamily="49" charset="0"/>
                <a:ea typeface="宋体" pitchFamily="2" charset="-122"/>
                <a:cs typeface="Courier New" pitchFamily="49" charset="0"/>
              </a:rPr>
              <a:t>}</a:t>
            </a:r>
          </a:p>
        </p:txBody>
      </p:sp>
    </p:spTree>
    <p:extLst>
      <p:ext uri="{BB962C8B-B14F-4D97-AF65-F5344CB8AC3E}">
        <p14:creationId xmlns:p14="http://schemas.microsoft.com/office/powerpoint/2010/main" val="30067474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5"/>
          <p:cNvSpPr/>
          <p:nvPr/>
        </p:nvSpPr>
        <p:spPr>
          <a:xfrm>
            <a:off x="1066800" y="3200400"/>
            <a:ext cx="6705599" cy="471815"/>
          </a:xfrm>
          <a:prstGeom prst="rect">
            <a:avLst/>
          </a:prstGeom>
          <a:solidFill>
            <a:schemeClr val="accent5">
              <a:lumMod val="20000"/>
              <a:lumOff val="80000"/>
            </a:schemeClr>
          </a:solidFill>
          <a:ln>
            <a:noFill/>
          </a:ln>
        </p:spPr>
        <p:style>
          <a:lnRef idx="2">
            <a:schemeClr val="accent2"/>
          </a:lnRef>
          <a:fillRef idx="1">
            <a:schemeClr val="lt1"/>
          </a:fillRef>
          <a:effectRef idx="0">
            <a:schemeClr val="accent2"/>
          </a:effectRef>
          <a:fontRef idx="minor">
            <a:schemeClr val="dk1"/>
          </a:fontRef>
        </p:style>
        <p:txBody>
          <a:bodyPr wrap="square">
            <a:noAutofit/>
          </a:bodyPr>
          <a:lstStyle/>
          <a:p>
            <a:pPr eaLnBrk="0" hangingPunct="0">
              <a:spcBef>
                <a:spcPct val="20000"/>
              </a:spcBef>
              <a:buClr>
                <a:schemeClr val="tx2"/>
              </a:buClr>
              <a:buSzPct val="75000"/>
              <a:buFont typeface="Monotype Sorts" pitchFamily="2" charset="2"/>
              <a:buNone/>
              <a:defRPr/>
            </a:pPr>
            <a:endParaRPr lang="en-US" altLang="zh-CN" b="1" dirty="0">
              <a:solidFill>
                <a:schemeClr val="tx1">
                  <a:lumMod val="75000"/>
                  <a:lumOff val="25000"/>
                </a:schemeClr>
              </a:solidFill>
              <a:latin typeface="Arial" charset="0"/>
              <a:ea typeface="宋体" pitchFamily="2" charset="-122"/>
            </a:endParaRPr>
          </a:p>
        </p:txBody>
      </p:sp>
      <p:sp>
        <p:nvSpPr>
          <p:cNvPr id="11" name="矩形 6"/>
          <p:cNvSpPr/>
          <p:nvPr/>
        </p:nvSpPr>
        <p:spPr>
          <a:xfrm>
            <a:off x="6248400" y="3200401"/>
            <a:ext cx="2819400" cy="381000"/>
          </a:xfrm>
          <a:prstGeom prst="rect">
            <a:avLst/>
          </a:prstGeom>
          <a:solidFill>
            <a:schemeClr val="accent5">
              <a:lumMod val="40000"/>
              <a:lumOff val="60000"/>
            </a:schemeClr>
          </a:solidFill>
        </p:spPr>
        <p:txBody>
          <a:bodyPr wrap="square" anchor="ctr">
            <a:noAutofit/>
          </a:bodyPr>
          <a:lstStyle/>
          <a:p>
            <a:pPr algn="ctr"/>
            <a:r>
              <a:rPr lang="en-US" altLang="zh-CN" sz="1400" b="1" dirty="0">
                <a:solidFill>
                  <a:schemeClr val="bg1"/>
                </a:solidFill>
                <a:latin typeface="Calibri" charset="0"/>
                <a:ea typeface="Calibri" charset="0"/>
                <a:cs typeface="Calibri" charset="0"/>
              </a:rPr>
              <a:t>rear  moves forward one position</a:t>
            </a:r>
          </a:p>
        </p:txBody>
      </p:sp>
      <p:sp>
        <p:nvSpPr>
          <p:cNvPr id="2" name="标题 1"/>
          <p:cNvSpPr>
            <a:spLocks noGrp="1"/>
          </p:cNvSpPr>
          <p:nvPr>
            <p:ph type="title"/>
          </p:nvPr>
        </p:nvSpPr>
        <p:spPr/>
        <p:txBody>
          <a:bodyPr/>
          <a:lstStyle/>
          <a:p>
            <a:r>
              <a:rPr lang="en-US" altLang="zh-CN" dirty="0" err="1"/>
              <a:t>Enqueue</a:t>
            </a:r>
            <a:endParaRPr lang="zh-CN" altLang="en-US" dirty="0"/>
          </a:p>
        </p:txBody>
      </p:sp>
      <p:sp>
        <p:nvSpPr>
          <p:cNvPr id="4" name="灯片编号占位符 3"/>
          <p:cNvSpPr>
            <a:spLocks noGrp="1"/>
          </p:cNvSpPr>
          <p:nvPr>
            <p:ph type="sldNum" sz="quarter" idx="12"/>
          </p:nvPr>
        </p:nvSpPr>
        <p:spPr/>
        <p:txBody>
          <a:bodyPr/>
          <a:lstStyle/>
          <a:p>
            <a:fld id="{B6F15528-21DE-4FAA-801E-634DDDAF4B2B}" type="slidenum">
              <a:rPr lang="en-US" smtClean="0"/>
              <a:pPr/>
              <a:t>22</a:t>
            </a:fld>
            <a:endParaRPr lang="en-US"/>
          </a:p>
        </p:txBody>
      </p:sp>
      <p:sp>
        <p:nvSpPr>
          <p:cNvPr id="3" name="Footer Placeholder 2"/>
          <p:cNvSpPr>
            <a:spLocks noGrp="1"/>
          </p:cNvSpPr>
          <p:nvPr>
            <p:ph type="ftr" sz="quarter" idx="11"/>
          </p:nvPr>
        </p:nvSpPr>
        <p:spPr/>
        <p:txBody>
          <a:bodyPr/>
          <a:lstStyle/>
          <a:p>
            <a:r>
              <a:rPr lang="en-US"/>
              <a:t>Data Structures and Algorithms</a:t>
            </a:r>
          </a:p>
        </p:txBody>
      </p:sp>
      <p:sp>
        <p:nvSpPr>
          <p:cNvPr id="9" name="矩形 4"/>
          <p:cNvSpPr/>
          <p:nvPr/>
        </p:nvSpPr>
        <p:spPr>
          <a:xfrm>
            <a:off x="419100" y="1905000"/>
            <a:ext cx="8648700" cy="3797193"/>
          </a:xfrm>
          <a:prstGeom prst="rect">
            <a:avLst/>
          </a:prstGeom>
          <a:noFill/>
          <a:ln>
            <a:solidFill>
              <a:schemeClr val="tx1"/>
            </a:solidFill>
          </a:ln>
        </p:spPr>
        <p:txBody>
          <a:bodyPr wrap="square" lIns="252000">
            <a:spAutoFit/>
          </a:bodyPr>
          <a:lstStyle/>
          <a:p>
            <a:pPr>
              <a:lnSpc>
                <a:spcPct val="150000"/>
              </a:lnSpc>
              <a:defRPr/>
            </a:pPr>
            <a:r>
              <a:rPr lang="en-US" altLang="zh-CN" dirty="0" err="1">
                <a:solidFill>
                  <a:srgbClr val="0070C0"/>
                </a:solidFill>
                <a:latin typeface="Courier New" pitchFamily="49" charset="0"/>
                <a:cs typeface="Courier New" pitchFamily="49" charset="0"/>
              </a:rPr>
              <a:t>bool</a:t>
            </a:r>
            <a:r>
              <a:rPr lang="en-US" altLang="zh-CN" dirty="0">
                <a:solidFill>
                  <a:schemeClr val="accent6"/>
                </a:solidFill>
                <a:latin typeface="Courier New" pitchFamily="49" charset="0"/>
                <a:cs typeface="Courier New" pitchFamily="49" charset="0"/>
              </a:rPr>
              <a:t> </a:t>
            </a:r>
            <a:r>
              <a:rPr lang="en-US" altLang="zh-CN" dirty="0" err="1">
                <a:latin typeface="Courier New" pitchFamily="49" charset="0"/>
                <a:cs typeface="Courier New" pitchFamily="49" charset="0"/>
              </a:rPr>
              <a:t>Enqueue</a:t>
            </a:r>
            <a:r>
              <a:rPr lang="en-US" altLang="zh-CN" dirty="0">
                <a:latin typeface="Courier New" pitchFamily="49" charset="0"/>
                <a:cs typeface="Courier New" pitchFamily="49" charset="0"/>
              </a:rPr>
              <a:t>(Queue* queue, </a:t>
            </a:r>
            <a:r>
              <a:rPr lang="en-US" altLang="zh-CN" dirty="0">
                <a:solidFill>
                  <a:srgbClr val="0070C0"/>
                </a:solidFill>
                <a:latin typeface="Courier New" pitchFamily="49" charset="0"/>
                <a:cs typeface="Courier New" pitchFamily="49" charset="0"/>
              </a:rPr>
              <a:t>double</a:t>
            </a:r>
            <a:r>
              <a:rPr lang="en-US" altLang="zh-CN" dirty="0">
                <a:latin typeface="Courier New" pitchFamily="49" charset="0"/>
                <a:cs typeface="Courier New" pitchFamily="49" charset="0"/>
              </a:rPr>
              <a:t> x){</a:t>
            </a:r>
          </a:p>
          <a:p>
            <a:pPr lvl="1" eaLnBrk="0" hangingPunct="0">
              <a:lnSpc>
                <a:spcPct val="150000"/>
              </a:lnSpc>
            </a:pPr>
            <a:r>
              <a:rPr lang="en-US" altLang="zh-CN" dirty="0">
                <a:solidFill>
                  <a:srgbClr val="0070C0"/>
                </a:solidFill>
                <a:latin typeface="Courier New" pitchFamily="49" charset="0"/>
                <a:ea typeface="宋体" pitchFamily="2" charset="-122"/>
                <a:cs typeface="Courier New" pitchFamily="49" charset="0"/>
              </a:rPr>
              <a:t>if</a:t>
            </a:r>
            <a:r>
              <a:rPr lang="en-US" altLang="zh-CN" dirty="0">
                <a:solidFill>
                  <a:schemeClr val="tx1">
                    <a:lumMod val="75000"/>
                    <a:lumOff val="25000"/>
                  </a:schemeClr>
                </a:solidFill>
                <a:latin typeface="Courier New" pitchFamily="49" charset="0"/>
                <a:ea typeface="宋体" pitchFamily="2" charset="-122"/>
                <a:cs typeface="Courier New" pitchFamily="49" charset="0"/>
              </a:rPr>
              <a:t>(</a:t>
            </a:r>
            <a:r>
              <a:rPr lang="en-US" altLang="zh-CN" dirty="0" err="1">
                <a:solidFill>
                  <a:schemeClr val="tx1">
                    <a:lumMod val="75000"/>
                    <a:lumOff val="25000"/>
                  </a:schemeClr>
                </a:solidFill>
                <a:latin typeface="Courier New" pitchFamily="49" charset="0"/>
                <a:ea typeface="宋体" pitchFamily="2" charset="-122"/>
                <a:cs typeface="Courier New" pitchFamily="49" charset="0"/>
              </a:rPr>
              <a:t>IsFull</a:t>
            </a:r>
            <a:r>
              <a:rPr lang="en-US" altLang="zh-CN" dirty="0">
                <a:solidFill>
                  <a:schemeClr val="tx1">
                    <a:lumMod val="75000"/>
                    <a:lumOff val="25000"/>
                  </a:schemeClr>
                </a:solidFill>
                <a:latin typeface="Courier New" pitchFamily="49" charset="0"/>
                <a:ea typeface="宋体" pitchFamily="2" charset="-122"/>
                <a:cs typeface="Courier New" pitchFamily="49" charset="0"/>
              </a:rPr>
              <a:t>(queue))</a:t>
            </a:r>
          </a:p>
          <a:p>
            <a:pPr lvl="1" eaLnBrk="0" hangingPunct="0">
              <a:lnSpc>
                <a:spcPct val="150000"/>
              </a:lnSpc>
            </a:pPr>
            <a:r>
              <a:rPr lang="en-US" altLang="zh-CN" dirty="0">
                <a:solidFill>
                  <a:schemeClr val="tx1">
                    <a:lumMod val="75000"/>
                    <a:lumOff val="25000"/>
                  </a:schemeClr>
                </a:solidFill>
                <a:latin typeface="Courier New" pitchFamily="49" charset="0"/>
                <a:ea typeface="宋体" pitchFamily="2" charset="-122"/>
                <a:cs typeface="Courier New" pitchFamily="49" charset="0"/>
              </a:rPr>
              <a:t>	</a:t>
            </a:r>
            <a:r>
              <a:rPr lang="en-US" altLang="zh-CN" dirty="0">
                <a:solidFill>
                  <a:srgbClr val="0070C0"/>
                </a:solidFill>
                <a:latin typeface="Courier New" pitchFamily="49" charset="0"/>
                <a:ea typeface="宋体" pitchFamily="2" charset="-122"/>
                <a:cs typeface="Courier New" pitchFamily="49" charset="0"/>
              </a:rPr>
              <a:t>return false</a:t>
            </a:r>
            <a:r>
              <a:rPr lang="en-US" altLang="zh-CN" dirty="0">
                <a:solidFill>
                  <a:schemeClr val="tx1">
                    <a:lumMod val="75000"/>
                    <a:lumOff val="25000"/>
                  </a:schemeClr>
                </a:solidFill>
                <a:latin typeface="Courier New" pitchFamily="49" charset="0"/>
                <a:ea typeface="宋体" pitchFamily="2" charset="-122"/>
                <a:cs typeface="Courier New" pitchFamily="49" charset="0"/>
              </a:rPr>
              <a:t>;</a:t>
            </a:r>
          </a:p>
          <a:p>
            <a:pPr lvl="1" eaLnBrk="0" hangingPunct="0">
              <a:lnSpc>
                <a:spcPct val="150000"/>
              </a:lnSpc>
            </a:pPr>
            <a:r>
              <a:rPr lang="en-US" altLang="zh-CN" dirty="0">
                <a:solidFill>
                  <a:schemeClr val="tx1">
                    <a:lumMod val="75000"/>
                    <a:lumOff val="25000"/>
                  </a:schemeClr>
                </a:solidFill>
                <a:latin typeface="Courier New" pitchFamily="49" charset="0"/>
                <a:ea typeface="宋体" pitchFamily="2" charset="-122"/>
                <a:cs typeface="Courier New" pitchFamily="49" charset="0"/>
              </a:rPr>
              <a:t>queue-&gt;rear = queue-&gt;rear + 1;</a:t>
            </a:r>
          </a:p>
          <a:p>
            <a:pPr lvl="1" eaLnBrk="0" hangingPunct="0">
              <a:lnSpc>
                <a:spcPct val="150000"/>
              </a:lnSpc>
            </a:pPr>
            <a:r>
              <a:rPr lang="en-US" altLang="zh-CN" dirty="0">
                <a:solidFill>
                  <a:schemeClr val="tx1">
                    <a:lumMod val="75000"/>
                    <a:lumOff val="25000"/>
                  </a:schemeClr>
                </a:solidFill>
                <a:latin typeface="Courier New" pitchFamily="49" charset="0"/>
                <a:ea typeface="宋体" pitchFamily="2" charset="-122"/>
                <a:cs typeface="Courier New" pitchFamily="49" charset="0"/>
              </a:rPr>
              <a:t>queue-&gt;rear = queue-&gt;</a:t>
            </a:r>
            <a:r>
              <a:rPr lang="en-US" altLang="zh-CN" dirty="0" err="1">
                <a:solidFill>
                  <a:schemeClr val="tx1">
                    <a:lumMod val="75000"/>
                    <a:lumOff val="25000"/>
                  </a:schemeClr>
                </a:solidFill>
                <a:latin typeface="Courier New" pitchFamily="49" charset="0"/>
                <a:ea typeface="宋体" pitchFamily="2" charset="-122"/>
                <a:cs typeface="Courier New" pitchFamily="49" charset="0"/>
              </a:rPr>
              <a:t>rear%queue</a:t>
            </a:r>
            <a:r>
              <a:rPr lang="en-US" altLang="zh-CN" dirty="0">
                <a:solidFill>
                  <a:schemeClr val="tx1">
                    <a:lumMod val="75000"/>
                    <a:lumOff val="25000"/>
                  </a:schemeClr>
                </a:solidFill>
                <a:latin typeface="Courier New" pitchFamily="49" charset="0"/>
                <a:ea typeface="宋体" pitchFamily="2" charset="-122"/>
                <a:cs typeface="Courier New" pitchFamily="49" charset="0"/>
              </a:rPr>
              <a:t>-&gt;</a:t>
            </a:r>
            <a:r>
              <a:rPr lang="en-US" altLang="zh-CN" dirty="0" err="1">
                <a:solidFill>
                  <a:schemeClr val="tx1">
                    <a:lumMod val="75000"/>
                    <a:lumOff val="25000"/>
                  </a:schemeClr>
                </a:solidFill>
                <a:latin typeface="Courier New" pitchFamily="49" charset="0"/>
                <a:ea typeface="宋体" pitchFamily="2" charset="-122"/>
                <a:cs typeface="Courier New" pitchFamily="49" charset="0"/>
              </a:rPr>
              <a:t>maxSize</a:t>
            </a:r>
            <a:r>
              <a:rPr lang="en-US" altLang="zh-CN" dirty="0">
                <a:solidFill>
                  <a:schemeClr val="tx1">
                    <a:lumMod val="75000"/>
                    <a:lumOff val="25000"/>
                  </a:schemeClr>
                </a:solidFill>
                <a:latin typeface="Courier New" pitchFamily="49" charset="0"/>
                <a:ea typeface="宋体" pitchFamily="2" charset="-122"/>
                <a:cs typeface="Courier New" pitchFamily="49" charset="0"/>
              </a:rPr>
              <a:t>;</a:t>
            </a:r>
          </a:p>
          <a:p>
            <a:pPr lvl="1" eaLnBrk="0" hangingPunct="0">
              <a:lnSpc>
                <a:spcPct val="150000"/>
              </a:lnSpc>
            </a:pPr>
            <a:r>
              <a:rPr lang="en-US" altLang="zh-CN" dirty="0">
                <a:solidFill>
                  <a:schemeClr val="tx1">
                    <a:lumMod val="75000"/>
                    <a:lumOff val="25000"/>
                  </a:schemeClr>
                </a:solidFill>
                <a:latin typeface="Courier New" pitchFamily="49" charset="0"/>
                <a:ea typeface="宋体" pitchFamily="2" charset="-122"/>
                <a:cs typeface="Courier New" pitchFamily="49" charset="0"/>
              </a:rPr>
              <a:t>queue-&gt;values[queue-&gt;rear] = x;</a:t>
            </a:r>
          </a:p>
          <a:p>
            <a:pPr lvl="1" eaLnBrk="0" hangingPunct="0">
              <a:lnSpc>
                <a:spcPct val="150000"/>
              </a:lnSpc>
            </a:pPr>
            <a:r>
              <a:rPr lang="en-US" altLang="zh-CN" dirty="0">
                <a:solidFill>
                  <a:schemeClr val="tx1">
                    <a:lumMod val="75000"/>
                    <a:lumOff val="25000"/>
                  </a:schemeClr>
                </a:solidFill>
                <a:latin typeface="Courier New" pitchFamily="49" charset="0"/>
                <a:ea typeface="宋体" pitchFamily="2" charset="-122"/>
                <a:cs typeface="Courier New" pitchFamily="49" charset="0"/>
              </a:rPr>
              <a:t>queue-&gt;counter++;</a:t>
            </a:r>
          </a:p>
          <a:p>
            <a:pPr lvl="1" eaLnBrk="0" hangingPunct="0">
              <a:lnSpc>
                <a:spcPct val="150000"/>
              </a:lnSpc>
            </a:pPr>
            <a:r>
              <a:rPr lang="en-US" altLang="zh-CN" dirty="0">
                <a:solidFill>
                  <a:srgbClr val="0070C0"/>
                </a:solidFill>
                <a:latin typeface="Courier New" pitchFamily="49" charset="0"/>
                <a:ea typeface="宋体" pitchFamily="2" charset="-122"/>
                <a:cs typeface="Courier New" pitchFamily="49" charset="0"/>
              </a:rPr>
              <a:t>return true</a:t>
            </a:r>
            <a:r>
              <a:rPr lang="en-US" altLang="zh-CN" dirty="0">
                <a:solidFill>
                  <a:schemeClr val="tx1">
                    <a:lumMod val="75000"/>
                    <a:lumOff val="25000"/>
                  </a:schemeClr>
                </a:solidFill>
                <a:latin typeface="Courier New" pitchFamily="49" charset="0"/>
                <a:ea typeface="宋体" pitchFamily="2" charset="-122"/>
                <a:cs typeface="Courier New" pitchFamily="49" charset="0"/>
              </a:rPr>
              <a:t>;</a:t>
            </a:r>
          </a:p>
          <a:p>
            <a:pPr eaLnBrk="0" hangingPunct="0">
              <a:lnSpc>
                <a:spcPct val="150000"/>
              </a:lnSpc>
            </a:pPr>
            <a:r>
              <a:rPr lang="en-US" altLang="zh-CN" dirty="0">
                <a:solidFill>
                  <a:schemeClr val="tx1">
                    <a:lumMod val="75000"/>
                    <a:lumOff val="25000"/>
                  </a:schemeClr>
                </a:solidFill>
                <a:latin typeface="Courier New" pitchFamily="49" charset="0"/>
                <a:ea typeface="宋体" pitchFamily="2" charset="-122"/>
                <a:cs typeface="Courier New" pitchFamily="49" charset="0"/>
              </a:rPr>
              <a:t>}</a:t>
            </a:r>
          </a:p>
        </p:txBody>
      </p:sp>
      <p:sp>
        <p:nvSpPr>
          <p:cNvPr id="8" name="矩形 6">
            <a:extLst>
              <a:ext uri="{FF2B5EF4-FFF2-40B4-BE49-F238E27FC236}">
                <a16:creationId xmlns:a16="http://schemas.microsoft.com/office/drawing/2014/main" id="{90D1DC07-DC2A-4480-9C84-01C863C7C13E}"/>
              </a:ext>
            </a:extLst>
          </p:cNvPr>
          <p:cNvSpPr/>
          <p:nvPr/>
        </p:nvSpPr>
        <p:spPr>
          <a:xfrm>
            <a:off x="6858000" y="3710893"/>
            <a:ext cx="1657350" cy="214311"/>
          </a:xfrm>
          <a:prstGeom prst="rect">
            <a:avLst/>
          </a:prstGeom>
          <a:solidFill>
            <a:schemeClr val="accent5">
              <a:lumMod val="40000"/>
              <a:lumOff val="60000"/>
            </a:schemeClr>
          </a:solidFill>
        </p:spPr>
        <p:txBody>
          <a:bodyPr wrap="square" anchor="ctr">
            <a:noAutofit/>
          </a:bodyPr>
          <a:lstStyle/>
          <a:p>
            <a:pPr algn="ctr"/>
            <a:r>
              <a:rPr lang="en-US" altLang="zh-CN" sz="1400" b="1" dirty="0">
                <a:solidFill>
                  <a:srgbClr val="FF0000"/>
                </a:solidFill>
                <a:latin typeface="Calibri" charset="0"/>
                <a:ea typeface="Calibri" charset="0"/>
                <a:cs typeface="Calibri" charset="0"/>
              </a:rPr>
              <a:t>Circular array index</a:t>
            </a:r>
          </a:p>
        </p:txBody>
      </p:sp>
    </p:spTree>
    <p:extLst>
      <p:ext uri="{BB962C8B-B14F-4D97-AF65-F5344CB8AC3E}">
        <p14:creationId xmlns:p14="http://schemas.microsoft.com/office/powerpoint/2010/main" val="12614577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0"/>
            <a:ext cx="7886700" cy="1325563"/>
          </a:xfrm>
        </p:spPr>
        <p:txBody>
          <a:bodyPr/>
          <a:lstStyle/>
          <a:p>
            <a:r>
              <a:rPr lang="en-US" altLang="zh-CN" dirty="0"/>
              <a:t>Using</a:t>
            </a:r>
            <a:r>
              <a:rPr lang="zh-CN" altLang="en-US" dirty="0"/>
              <a:t> </a:t>
            </a:r>
            <a:r>
              <a:rPr lang="en-US" altLang="zh-CN" dirty="0"/>
              <a:t>queue</a:t>
            </a:r>
            <a:endParaRPr lang="zh-CN" altLang="en-US" dirty="0"/>
          </a:p>
        </p:txBody>
      </p:sp>
      <p:sp>
        <p:nvSpPr>
          <p:cNvPr id="4" name="灯片编号占位符 3"/>
          <p:cNvSpPr>
            <a:spLocks noGrp="1"/>
          </p:cNvSpPr>
          <p:nvPr>
            <p:ph type="sldNum" sz="quarter" idx="12"/>
          </p:nvPr>
        </p:nvSpPr>
        <p:spPr/>
        <p:txBody>
          <a:bodyPr/>
          <a:lstStyle/>
          <a:p>
            <a:fld id="{B6F15528-21DE-4FAA-801E-634DDDAF4B2B}" type="slidenum">
              <a:rPr lang="en-US" smtClean="0"/>
              <a:pPr/>
              <a:t>23</a:t>
            </a:fld>
            <a:endParaRPr lang="en-US"/>
          </a:p>
        </p:txBody>
      </p:sp>
      <p:sp>
        <p:nvSpPr>
          <p:cNvPr id="5" name="矩形 4"/>
          <p:cNvSpPr/>
          <p:nvPr/>
        </p:nvSpPr>
        <p:spPr>
          <a:xfrm>
            <a:off x="228600" y="1027907"/>
            <a:ext cx="8686800" cy="5262979"/>
          </a:xfrm>
          <a:prstGeom prst="rect">
            <a:avLst/>
          </a:prstGeom>
          <a:noFill/>
          <a:ln>
            <a:solidFill>
              <a:schemeClr val="tx1"/>
            </a:solidFill>
          </a:ln>
        </p:spPr>
        <p:txBody>
          <a:bodyPr wrap="square" lIns="252000">
            <a:spAutoFit/>
          </a:bodyPr>
          <a:lstStyle/>
          <a:p>
            <a:pPr eaLnBrk="0" hangingPunct="0"/>
            <a:r>
              <a:rPr lang="en-US" altLang="zh-CN" sz="1400" dirty="0">
                <a:latin typeface="Courier New" panose="02070309020205020404" pitchFamily="49" charset="0"/>
                <a:ea typeface="Courier" charset="0"/>
                <a:cs typeface="Courier New" panose="02070309020205020404" pitchFamily="49" charset="0"/>
              </a:rPr>
              <a:t>#include "</a:t>
            </a:r>
            <a:r>
              <a:rPr lang="en-US" altLang="zh-CN" sz="1400" dirty="0" err="1">
                <a:latin typeface="Courier New" panose="02070309020205020404" pitchFamily="49" charset="0"/>
                <a:ea typeface="Courier" charset="0"/>
                <a:cs typeface="Courier New" panose="02070309020205020404" pitchFamily="49" charset="0"/>
              </a:rPr>
              <a:t>queue.h</a:t>
            </a:r>
            <a:r>
              <a:rPr lang="en-US" altLang="zh-CN" sz="1400" dirty="0">
                <a:latin typeface="Courier New" panose="02070309020205020404" pitchFamily="49" charset="0"/>
                <a:ea typeface="Courier" charset="0"/>
                <a:cs typeface="Courier New" panose="02070309020205020404" pitchFamily="49" charset="0"/>
              </a:rPr>
              <a:t>"</a:t>
            </a:r>
          </a:p>
          <a:p>
            <a:pPr eaLnBrk="0" hangingPunct="0"/>
            <a:r>
              <a:rPr lang="en-US" altLang="zh-CN" sz="1400" dirty="0">
                <a:latin typeface="Courier New" panose="02070309020205020404" pitchFamily="49" charset="0"/>
                <a:ea typeface="Courier" charset="0"/>
                <a:cs typeface="Courier New" panose="02070309020205020404" pitchFamily="49" charset="0"/>
              </a:rPr>
              <a:t>#include&lt;</a:t>
            </a:r>
            <a:r>
              <a:rPr lang="en-US" altLang="zh-CN" sz="1400" dirty="0" err="1">
                <a:latin typeface="Courier New" panose="02070309020205020404" pitchFamily="49" charset="0"/>
                <a:ea typeface="Courier" charset="0"/>
                <a:cs typeface="Courier New" panose="02070309020205020404" pitchFamily="49" charset="0"/>
              </a:rPr>
              <a:t>stdio.h</a:t>
            </a:r>
            <a:r>
              <a:rPr lang="en-US" altLang="zh-CN" sz="1400" dirty="0">
                <a:latin typeface="Courier New" panose="02070309020205020404" pitchFamily="49" charset="0"/>
                <a:ea typeface="Courier" charset="0"/>
                <a:cs typeface="Courier New" panose="02070309020205020404" pitchFamily="49" charset="0"/>
              </a:rPr>
              <a:t>&gt;</a:t>
            </a:r>
          </a:p>
          <a:p>
            <a:pPr eaLnBrk="0" hangingPunct="0"/>
            <a:r>
              <a:rPr lang="en-US" altLang="zh-CN" sz="1400" dirty="0" err="1">
                <a:solidFill>
                  <a:srgbClr val="0070C0"/>
                </a:solidFill>
                <a:latin typeface="Courier New" panose="02070309020205020404" pitchFamily="49" charset="0"/>
                <a:ea typeface="Courier" charset="0"/>
                <a:cs typeface="Courier New" panose="02070309020205020404" pitchFamily="49" charset="0"/>
              </a:rPr>
              <a:t>int</a:t>
            </a:r>
            <a:r>
              <a:rPr lang="en-US" altLang="zh-CN" sz="1400" dirty="0">
                <a:latin typeface="Courier New" panose="02070309020205020404" pitchFamily="49" charset="0"/>
                <a:ea typeface="Courier" charset="0"/>
                <a:cs typeface="Courier New" panose="02070309020205020404" pitchFamily="49" charset="0"/>
              </a:rPr>
              <a:t> main(void) {</a:t>
            </a:r>
          </a:p>
          <a:p>
            <a:pPr eaLnBrk="0" hangingPunct="0"/>
            <a:r>
              <a:rPr lang="en-US" altLang="zh-CN" sz="1400" dirty="0">
                <a:latin typeface="Courier New" panose="02070309020205020404" pitchFamily="49" charset="0"/>
                <a:ea typeface="Courier" charset="0"/>
                <a:cs typeface="Courier New" panose="02070309020205020404" pitchFamily="49" charset="0"/>
              </a:rPr>
              <a:t>	Queue </a:t>
            </a:r>
            <a:r>
              <a:rPr lang="en-US" altLang="zh-CN" sz="1400" dirty="0" err="1">
                <a:latin typeface="Courier New" panose="02070309020205020404" pitchFamily="49" charset="0"/>
                <a:ea typeface="Courier" charset="0"/>
                <a:cs typeface="Courier New" panose="02070309020205020404" pitchFamily="49" charset="0"/>
              </a:rPr>
              <a:t>queue</a:t>
            </a:r>
            <a:r>
              <a:rPr lang="en-US" altLang="zh-CN" sz="1400" dirty="0">
                <a:latin typeface="Courier New" panose="02070309020205020404" pitchFamily="49" charset="0"/>
                <a:ea typeface="Courier" charset="0"/>
                <a:cs typeface="Courier New" panose="02070309020205020404" pitchFamily="49" charset="0"/>
              </a:rPr>
              <a:t>;</a:t>
            </a:r>
          </a:p>
          <a:p>
            <a:pPr eaLnBrk="0" hangingPunct="0"/>
            <a:r>
              <a:rPr lang="en-US" altLang="zh-CN" sz="1400" dirty="0">
                <a:latin typeface="Courier New" panose="02070309020205020404" pitchFamily="49" charset="0"/>
                <a:ea typeface="Courier" charset="0"/>
                <a:cs typeface="Courier New" panose="02070309020205020404" pitchFamily="49" charset="0"/>
              </a:rPr>
              <a:t>	</a:t>
            </a:r>
            <a:r>
              <a:rPr lang="en-US" altLang="zh-CN" sz="1400" dirty="0">
                <a:solidFill>
                  <a:srgbClr val="0070C0"/>
                </a:solidFill>
                <a:latin typeface="Courier New" panose="02070309020205020404" pitchFamily="49" charset="0"/>
                <a:ea typeface="Courier" charset="0"/>
                <a:cs typeface="Courier New" panose="02070309020205020404" pitchFamily="49" charset="0"/>
              </a:rPr>
              <a:t>double</a:t>
            </a:r>
            <a:r>
              <a:rPr lang="en-US" altLang="zh-CN" sz="1400" dirty="0">
                <a:latin typeface="Courier New" panose="02070309020205020404" pitchFamily="49" charset="0"/>
                <a:ea typeface="Courier" charset="0"/>
                <a:cs typeface="Courier New" panose="02070309020205020404" pitchFamily="49" charset="0"/>
              </a:rPr>
              <a:t> value;</a:t>
            </a:r>
          </a:p>
          <a:p>
            <a:pPr eaLnBrk="0" hangingPunct="0"/>
            <a:r>
              <a:rPr lang="en-US" altLang="zh-CN" sz="1400" dirty="0">
                <a:latin typeface="Courier New" panose="02070309020205020404" pitchFamily="49" charset="0"/>
                <a:ea typeface="Courier" charset="0"/>
                <a:cs typeface="Courier New" panose="02070309020205020404" pitchFamily="49" charset="0"/>
              </a:rPr>
              <a:t>	</a:t>
            </a:r>
            <a:r>
              <a:rPr lang="en-US" altLang="zh-CN" sz="1400" dirty="0" err="1">
                <a:latin typeface="Courier New" panose="02070309020205020404" pitchFamily="49" charset="0"/>
                <a:ea typeface="Courier" charset="0"/>
                <a:cs typeface="Courier New" panose="02070309020205020404" pitchFamily="49" charset="0"/>
              </a:rPr>
              <a:t>CreateQueue</a:t>
            </a:r>
            <a:r>
              <a:rPr lang="en-US" altLang="zh-CN" sz="1400" dirty="0">
                <a:latin typeface="Courier New" panose="02070309020205020404" pitchFamily="49" charset="0"/>
                <a:ea typeface="Courier" charset="0"/>
                <a:cs typeface="Courier New" panose="02070309020205020404" pitchFamily="49" charset="0"/>
              </a:rPr>
              <a:t>(&amp;queue, 5);</a:t>
            </a:r>
          </a:p>
          <a:p>
            <a:pPr eaLnBrk="0" hangingPunct="0"/>
            <a:r>
              <a:rPr lang="en-US" altLang="zh-CN" sz="1400" dirty="0">
                <a:latin typeface="Courier New" panose="02070309020205020404" pitchFamily="49" charset="0"/>
                <a:ea typeface="Courier" charset="0"/>
                <a:cs typeface="Courier New" panose="02070309020205020404" pitchFamily="49" charset="0"/>
              </a:rPr>
              <a:t>	puts("</a:t>
            </a:r>
            <a:r>
              <a:rPr lang="en-US" altLang="zh-CN" sz="1400" dirty="0" err="1">
                <a:latin typeface="Courier New" panose="02070309020205020404" pitchFamily="49" charset="0"/>
                <a:ea typeface="Courier" charset="0"/>
                <a:cs typeface="Courier New" panose="02070309020205020404" pitchFamily="49" charset="0"/>
              </a:rPr>
              <a:t>Enqueue</a:t>
            </a:r>
            <a:r>
              <a:rPr lang="en-US" altLang="zh-CN" sz="1400" dirty="0">
                <a:latin typeface="Courier New" panose="02070309020205020404" pitchFamily="49" charset="0"/>
                <a:ea typeface="Courier" charset="0"/>
                <a:cs typeface="Courier New" panose="02070309020205020404" pitchFamily="49" charset="0"/>
              </a:rPr>
              <a:t> 5 items ...");</a:t>
            </a:r>
          </a:p>
          <a:p>
            <a:pPr eaLnBrk="0" hangingPunct="0"/>
            <a:r>
              <a:rPr lang="en-US" altLang="zh-CN" sz="1400" dirty="0">
                <a:latin typeface="Courier New" panose="02070309020205020404" pitchFamily="49" charset="0"/>
                <a:ea typeface="Courier" charset="0"/>
                <a:cs typeface="Courier New" panose="02070309020205020404" pitchFamily="49" charset="0"/>
              </a:rPr>
              <a:t>	for (</a:t>
            </a:r>
            <a:r>
              <a:rPr lang="en-US" altLang="zh-CN" sz="1400" dirty="0" err="1">
                <a:solidFill>
                  <a:srgbClr val="0070C0"/>
                </a:solidFill>
                <a:latin typeface="Courier New" panose="02070309020205020404" pitchFamily="49" charset="0"/>
                <a:ea typeface="Courier" charset="0"/>
                <a:cs typeface="Courier New" panose="02070309020205020404" pitchFamily="49" charset="0"/>
              </a:rPr>
              <a:t>int</a:t>
            </a:r>
            <a:r>
              <a:rPr lang="en-US" altLang="zh-CN" sz="1400" dirty="0">
                <a:latin typeface="Courier New" panose="02070309020205020404" pitchFamily="49" charset="0"/>
                <a:ea typeface="Courier" charset="0"/>
                <a:cs typeface="Courier New" panose="02070309020205020404" pitchFamily="49" charset="0"/>
              </a:rPr>
              <a:t> x = 0; x &lt; 5; x++)</a:t>
            </a:r>
          </a:p>
          <a:p>
            <a:pPr eaLnBrk="0" hangingPunct="0"/>
            <a:r>
              <a:rPr lang="en-US" altLang="zh-CN" sz="1400" dirty="0">
                <a:latin typeface="Courier New" panose="02070309020205020404" pitchFamily="49" charset="0"/>
                <a:ea typeface="Courier" charset="0"/>
                <a:cs typeface="Courier New" panose="02070309020205020404" pitchFamily="49" charset="0"/>
              </a:rPr>
              <a:t>		</a:t>
            </a:r>
            <a:r>
              <a:rPr lang="en-US" altLang="zh-CN" sz="1400" dirty="0" err="1">
                <a:latin typeface="Courier New" panose="02070309020205020404" pitchFamily="49" charset="0"/>
                <a:ea typeface="Courier" charset="0"/>
                <a:cs typeface="Courier New" panose="02070309020205020404" pitchFamily="49" charset="0"/>
              </a:rPr>
              <a:t>Enqueue</a:t>
            </a:r>
            <a:r>
              <a:rPr lang="en-US" altLang="zh-CN" sz="1400" dirty="0">
                <a:latin typeface="Courier New" panose="02070309020205020404" pitchFamily="49" charset="0"/>
                <a:ea typeface="Courier" charset="0"/>
                <a:cs typeface="Courier New" panose="02070309020205020404" pitchFamily="49" charset="0"/>
              </a:rPr>
              <a:t>(&amp;queue, x);</a:t>
            </a:r>
          </a:p>
          <a:p>
            <a:pPr eaLnBrk="0" hangingPunct="0"/>
            <a:r>
              <a:rPr lang="en-US" altLang="zh-CN" sz="1400" dirty="0">
                <a:latin typeface="Courier New" panose="02070309020205020404" pitchFamily="49" charset="0"/>
                <a:ea typeface="Courier" charset="0"/>
                <a:cs typeface="Courier New" panose="02070309020205020404" pitchFamily="49" charset="0"/>
              </a:rPr>
              <a:t>	</a:t>
            </a:r>
            <a:r>
              <a:rPr lang="en-US" altLang="zh-CN" sz="1400" dirty="0" err="1">
                <a:latin typeface="Courier New" panose="02070309020205020404" pitchFamily="49" charset="0"/>
                <a:ea typeface="Courier" charset="0"/>
                <a:cs typeface="Courier New" panose="02070309020205020404" pitchFamily="49" charset="0"/>
              </a:rPr>
              <a:t>DisplayQueue</a:t>
            </a:r>
            <a:r>
              <a:rPr lang="en-US" altLang="zh-CN" sz="1400" dirty="0">
                <a:latin typeface="Courier New" panose="02070309020205020404" pitchFamily="49" charset="0"/>
                <a:ea typeface="Courier" charset="0"/>
                <a:cs typeface="Courier New" panose="02070309020205020404" pitchFamily="49" charset="0"/>
              </a:rPr>
              <a:t>(&amp;queue);</a:t>
            </a:r>
          </a:p>
          <a:p>
            <a:pPr eaLnBrk="0" hangingPunct="0"/>
            <a:r>
              <a:rPr lang="en-US" altLang="zh-CN" sz="1400" dirty="0">
                <a:latin typeface="Courier New" panose="02070309020205020404" pitchFamily="49" charset="0"/>
                <a:ea typeface="Courier" charset="0"/>
                <a:cs typeface="Courier New" panose="02070309020205020404" pitchFamily="49" charset="0"/>
              </a:rPr>
              <a:t>	puts( "Now attempting to </a:t>
            </a:r>
            <a:r>
              <a:rPr lang="en-US" altLang="zh-CN" sz="1400" dirty="0" err="1">
                <a:latin typeface="Courier New" panose="02070309020205020404" pitchFamily="49" charset="0"/>
                <a:ea typeface="Courier" charset="0"/>
                <a:cs typeface="Courier New" panose="02070309020205020404" pitchFamily="49" charset="0"/>
              </a:rPr>
              <a:t>enqueue</a:t>
            </a:r>
            <a:r>
              <a:rPr lang="en-US" altLang="zh-CN" sz="1400" dirty="0">
                <a:latin typeface="Courier New" panose="02070309020205020404" pitchFamily="49" charset="0"/>
                <a:ea typeface="Courier" charset="0"/>
                <a:cs typeface="Courier New" panose="02070309020205020404" pitchFamily="49" charset="0"/>
              </a:rPr>
              <a:t> 5 ...");</a:t>
            </a:r>
          </a:p>
          <a:p>
            <a:pPr eaLnBrk="0" hangingPunct="0"/>
            <a:r>
              <a:rPr lang="en-US" altLang="zh-CN" sz="1400" dirty="0">
                <a:latin typeface="Courier New" panose="02070309020205020404" pitchFamily="49" charset="0"/>
                <a:ea typeface="Courier" charset="0"/>
                <a:cs typeface="Courier New" panose="02070309020205020404" pitchFamily="49" charset="0"/>
              </a:rPr>
              <a:t>	</a:t>
            </a:r>
            <a:r>
              <a:rPr lang="en-US" altLang="zh-CN" sz="1400" dirty="0" err="1">
                <a:latin typeface="Courier New" panose="02070309020205020404" pitchFamily="49" charset="0"/>
                <a:ea typeface="Courier" charset="0"/>
                <a:cs typeface="Courier New" panose="02070309020205020404" pitchFamily="49" charset="0"/>
              </a:rPr>
              <a:t>Enqueue</a:t>
            </a:r>
            <a:r>
              <a:rPr lang="en-US" altLang="zh-CN" sz="1400" dirty="0">
                <a:latin typeface="Courier New" panose="02070309020205020404" pitchFamily="49" charset="0"/>
                <a:ea typeface="Courier" charset="0"/>
                <a:cs typeface="Courier New" panose="02070309020205020404" pitchFamily="49" charset="0"/>
              </a:rPr>
              <a:t>(&amp;queue, 5);</a:t>
            </a:r>
          </a:p>
          <a:p>
            <a:pPr eaLnBrk="0" hangingPunct="0"/>
            <a:r>
              <a:rPr lang="en-US" altLang="zh-CN" sz="1400" dirty="0">
                <a:latin typeface="Courier New" panose="02070309020205020404" pitchFamily="49" charset="0"/>
                <a:ea typeface="Courier" charset="0"/>
                <a:cs typeface="Courier New" panose="02070309020205020404" pitchFamily="49" charset="0"/>
              </a:rPr>
              <a:t>	</a:t>
            </a:r>
            <a:r>
              <a:rPr lang="en-US" altLang="zh-CN" sz="1400" dirty="0" err="1">
                <a:latin typeface="Courier New" panose="02070309020205020404" pitchFamily="49" charset="0"/>
                <a:ea typeface="Courier" charset="0"/>
                <a:cs typeface="Courier New" panose="02070309020205020404" pitchFamily="49" charset="0"/>
              </a:rPr>
              <a:t>DisplayQueue</a:t>
            </a:r>
            <a:r>
              <a:rPr lang="en-US" altLang="zh-CN" sz="1400" dirty="0">
                <a:latin typeface="Courier New" panose="02070309020205020404" pitchFamily="49" charset="0"/>
                <a:ea typeface="Courier" charset="0"/>
                <a:cs typeface="Courier New" panose="02070309020205020404" pitchFamily="49" charset="0"/>
              </a:rPr>
              <a:t>(&amp;queue);</a:t>
            </a:r>
          </a:p>
          <a:p>
            <a:pPr eaLnBrk="0" hangingPunct="0"/>
            <a:r>
              <a:rPr lang="en-US" altLang="zh-CN" sz="1400" dirty="0">
                <a:latin typeface="Courier New" panose="02070309020205020404" pitchFamily="49" charset="0"/>
                <a:ea typeface="Courier" charset="0"/>
                <a:cs typeface="Courier New" panose="02070309020205020404" pitchFamily="49" charset="0"/>
              </a:rPr>
              <a:t>	</a:t>
            </a:r>
            <a:r>
              <a:rPr lang="en-US" altLang="zh-CN" sz="1400" dirty="0" err="1">
                <a:latin typeface="Courier New" panose="02070309020205020404" pitchFamily="49" charset="0"/>
                <a:ea typeface="Courier" charset="0"/>
                <a:cs typeface="Courier New" panose="02070309020205020404" pitchFamily="49" charset="0"/>
              </a:rPr>
              <a:t>Dequeue</a:t>
            </a:r>
            <a:r>
              <a:rPr lang="en-US" altLang="zh-CN" sz="1400" dirty="0">
                <a:latin typeface="Courier New" panose="02070309020205020404" pitchFamily="49" charset="0"/>
                <a:ea typeface="Courier" charset="0"/>
                <a:cs typeface="Courier New" panose="02070309020205020404" pitchFamily="49" charset="0"/>
              </a:rPr>
              <a:t>(&amp;queue, &amp;value);</a:t>
            </a:r>
          </a:p>
          <a:p>
            <a:pPr eaLnBrk="0" hangingPunct="0"/>
            <a:r>
              <a:rPr lang="en-US" altLang="zh-CN" sz="1400" dirty="0">
                <a:latin typeface="Courier New" panose="02070309020205020404" pitchFamily="49" charset="0"/>
                <a:ea typeface="Courier" charset="0"/>
                <a:cs typeface="Courier New" panose="02070309020205020404" pitchFamily="49" charset="0"/>
              </a:rPr>
              <a:t>	</a:t>
            </a:r>
            <a:r>
              <a:rPr lang="en-US" altLang="zh-CN" sz="1400" dirty="0" err="1">
                <a:latin typeface="Courier New" panose="02070309020205020404" pitchFamily="49" charset="0"/>
                <a:ea typeface="Courier" charset="0"/>
                <a:cs typeface="Courier New" panose="02070309020205020404" pitchFamily="49" charset="0"/>
              </a:rPr>
              <a:t>printf</a:t>
            </a:r>
            <a:r>
              <a:rPr lang="en-US" altLang="zh-CN" sz="1400" dirty="0">
                <a:latin typeface="Courier New" panose="02070309020205020404" pitchFamily="49" charset="0"/>
                <a:ea typeface="Courier" charset="0"/>
                <a:cs typeface="Courier New" panose="02070309020205020404" pitchFamily="49" charset="0"/>
              </a:rPr>
              <a:t>("Retrieved element = %f\n", value);</a:t>
            </a:r>
          </a:p>
          <a:p>
            <a:pPr eaLnBrk="0" hangingPunct="0"/>
            <a:r>
              <a:rPr lang="en-US" altLang="zh-CN" sz="1400" dirty="0">
                <a:latin typeface="Courier New" panose="02070309020205020404" pitchFamily="49" charset="0"/>
                <a:ea typeface="Courier" charset="0"/>
                <a:cs typeface="Courier New" panose="02070309020205020404" pitchFamily="49" charset="0"/>
              </a:rPr>
              <a:t>	while(!</a:t>
            </a:r>
            <a:r>
              <a:rPr lang="en-US" altLang="zh-CN" sz="1400" dirty="0" err="1">
                <a:latin typeface="Courier New" panose="02070309020205020404" pitchFamily="49" charset="0"/>
                <a:ea typeface="Courier" charset="0"/>
                <a:cs typeface="Courier New" panose="02070309020205020404" pitchFamily="49" charset="0"/>
              </a:rPr>
              <a:t>IsEmpty</a:t>
            </a:r>
            <a:r>
              <a:rPr lang="en-US" altLang="zh-CN" sz="1400" dirty="0">
                <a:latin typeface="Courier New" panose="02070309020205020404" pitchFamily="49" charset="0"/>
                <a:ea typeface="Courier" charset="0"/>
                <a:cs typeface="Courier New" panose="02070309020205020404" pitchFamily="49" charset="0"/>
              </a:rPr>
              <a:t>(&amp;queue))</a:t>
            </a:r>
          </a:p>
          <a:p>
            <a:pPr eaLnBrk="0" hangingPunct="0"/>
            <a:r>
              <a:rPr lang="en-US" altLang="zh-CN" sz="1400" dirty="0">
                <a:latin typeface="Courier New" panose="02070309020205020404" pitchFamily="49" charset="0"/>
                <a:ea typeface="Courier" charset="0"/>
                <a:cs typeface="Courier New" panose="02070309020205020404" pitchFamily="49" charset="0"/>
              </a:rPr>
              <a:t>		</a:t>
            </a:r>
            <a:r>
              <a:rPr lang="en-US" altLang="zh-CN" sz="1400" dirty="0" err="1">
                <a:latin typeface="Courier New" panose="02070309020205020404" pitchFamily="49" charset="0"/>
                <a:ea typeface="Courier" charset="0"/>
                <a:cs typeface="Courier New" panose="02070309020205020404" pitchFamily="49" charset="0"/>
              </a:rPr>
              <a:t>Dequeue</a:t>
            </a:r>
            <a:r>
              <a:rPr lang="en-US" altLang="zh-CN" sz="1400" dirty="0">
                <a:latin typeface="Courier New" panose="02070309020205020404" pitchFamily="49" charset="0"/>
                <a:ea typeface="Courier" charset="0"/>
                <a:cs typeface="Courier New" panose="02070309020205020404" pitchFamily="49" charset="0"/>
              </a:rPr>
              <a:t>(&amp;queue, &amp;value);</a:t>
            </a:r>
          </a:p>
          <a:p>
            <a:pPr eaLnBrk="0" hangingPunct="0"/>
            <a:r>
              <a:rPr lang="en-US" altLang="zh-CN" sz="1400" dirty="0">
                <a:latin typeface="Courier New" panose="02070309020205020404" pitchFamily="49" charset="0"/>
                <a:ea typeface="Courier" charset="0"/>
                <a:cs typeface="Courier New" panose="02070309020205020404" pitchFamily="49" charset="0"/>
              </a:rPr>
              <a:t>	</a:t>
            </a:r>
            <a:r>
              <a:rPr lang="en-US" altLang="zh-CN" sz="1400" dirty="0" err="1">
                <a:latin typeface="Courier New" panose="02070309020205020404" pitchFamily="49" charset="0"/>
                <a:ea typeface="Courier" charset="0"/>
                <a:cs typeface="Courier New" panose="02070309020205020404" pitchFamily="49" charset="0"/>
              </a:rPr>
              <a:t>DisplayQueue</a:t>
            </a:r>
            <a:r>
              <a:rPr lang="en-US" altLang="zh-CN" sz="1400" dirty="0">
                <a:latin typeface="Courier New" panose="02070309020205020404" pitchFamily="49" charset="0"/>
                <a:ea typeface="Courier" charset="0"/>
                <a:cs typeface="Courier New" panose="02070309020205020404" pitchFamily="49" charset="0"/>
              </a:rPr>
              <a:t>(&amp;queue);</a:t>
            </a:r>
          </a:p>
          <a:p>
            <a:pPr eaLnBrk="0" hangingPunct="0"/>
            <a:r>
              <a:rPr lang="en-US" altLang="zh-CN" sz="1400" dirty="0">
                <a:latin typeface="Courier New" panose="02070309020205020404" pitchFamily="49" charset="0"/>
                <a:ea typeface="Courier" charset="0"/>
                <a:cs typeface="Courier New" panose="02070309020205020404" pitchFamily="49" charset="0"/>
              </a:rPr>
              <a:t>	puts( "Now attempting to </a:t>
            </a:r>
            <a:r>
              <a:rPr lang="en-US" altLang="zh-CN" sz="1400" dirty="0" err="1">
                <a:latin typeface="Courier New" panose="02070309020205020404" pitchFamily="49" charset="0"/>
                <a:ea typeface="Courier" charset="0"/>
                <a:cs typeface="Courier New" panose="02070309020205020404" pitchFamily="49" charset="0"/>
              </a:rPr>
              <a:t>enqueue</a:t>
            </a:r>
            <a:r>
              <a:rPr lang="en-US" altLang="zh-CN" sz="1400" dirty="0">
                <a:latin typeface="Courier New" panose="02070309020205020404" pitchFamily="49" charset="0"/>
                <a:ea typeface="Courier" charset="0"/>
                <a:cs typeface="Courier New" panose="02070309020205020404" pitchFamily="49" charset="0"/>
              </a:rPr>
              <a:t> 7 ...");</a:t>
            </a:r>
          </a:p>
          <a:p>
            <a:pPr eaLnBrk="0" hangingPunct="0"/>
            <a:r>
              <a:rPr lang="en-US" altLang="zh-CN" sz="1400" dirty="0">
                <a:latin typeface="Courier New" panose="02070309020205020404" pitchFamily="49" charset="0"/>
                <a:ea typeface="Courier" charset="0"/>
                <a:cs typeface="Courier New" panose="02070309020205020404" pitchFamily="49" charset="0"/>
              </a:rPr>
              <a:t>	</a:t>
            </a:r>
            <a:r>
              <a:rPr lang="en-US" altLang="zh-CN" sz="1400" dirty="0" err="1">
                <a:latin typeface="Courier New" panose="02070309020205020404" pitchFamily="49" charset="0"/>
                <a:ea typeface="Courier" charset="0"/>
                <a:cs typeface="Courier New" panose="02070309020205020404" pitchFamily="49" charset="0"/>
              </a:rPr>
              <a:t>Enqueue</a:t>
            </a:r>
            <a:r>
              <a:rPr lang="en-US" altLang="zh-CN" sz="1400" dirty="0">
                <a:latin typeface="Courier New" panose="02070309020205020404" pitchFamily="49" charset="0"/>
                <a:ea typeface="Courier" charset="0"/>
                <a:cs typeface="Courier New" panose="02070309020205020404" pitchFamily="49" charset="0"/>
              </a:rPr>
              <a:t>(&amp;queue, 7);</a:t>
            </a:r>
          </a:p>
          <a:p>
            <a:pPr eaLnBrk="0" hangingPunct="0"/>
            <a:r>
              <a:rPr lang="en-US" altLang="zh-CN" sz="1400" dirty="0">
                <a:latin typeface="Courier New" panose="02070309020205020404" pitchFamily="49" charset="0"/>
                <a:ea typeface="Courier" charset="0"/>
                <a:cs typeface="Courier New" panose="02070309020205020404" pitchFamily="49" charset="0"/>
              </a:rPr>
              <a:t>	</a:t>
            </a:r>
            <a:r>
              <a:rPr lang="en-US" altLang="zh-CN" sz="1400" dirty="0" err="1">
                <a:latin typeface="Courier New" panose="02070309020205020404" pitchFamily="49" charset="0"/>
                <a:ea typeface="Courier" charset="0"/>
                <a:cs typeface="Courier New" panose="02070309020205020404" pitchFamily="49" charset="0"/>
              </a:rPr>
              <a:t>DisplayQueue</a:t>
            </a:r>
            <a:r>
              <a:rPr lang="en-US" altLang="zh-CN" sz="1400" dirty="0">
                <a:latin typeface="Courier New" panose="02070309020205020404" pitchFamily="49" charset="0"/>
                <a:ea typeface="Courier" charset="0"/>
                <a:cs typeface="Courier New" panose="02070309020205020404" pitchFamily="49" charset="0"/>
              </a:rPr>
              <a:t>(&amp;queue);</a:t>
            </a:r>
            <a:endParaRPr lang="en-US" altLang="zh-CN" sz="1400" dirty="0">
              <a:solidFill>
                <a:srgbClr val="0070C0"/>
              </a:solidFill>
              <a:latin typeface="Courier New" panose="02070309020205020404" pitchFamily="49" charset="0"/>
              <a:ea typeface="Courier" charset="0"/>
              <a:cs typeface="Courier New" panose="02070309020205020404" pitchFamily="49" charset="0"/>
            </a:endParaRPr>
          </a:p>
          <a:p>
            <a:pPr eaLnBrk="0" hangingPunct="0"/>
            <a:r>
              <a:rPr lang="en-US" altLang="zh-CN" sz="1400" dirty="0">
                <a:solidFill>
                  <a:srgbClr val="0070C0"/>
                </a:solidFill>
                <a:latin typeface="Courier New" panose="02070309020205020404" pitchFamily="49" charset="0"/>
                <a:ea typeface="Courier" charset="0"/>
                <a:cs typeface="Courier New" panose="02070309020205020404" pitchFamily="49" charset="0"/>
              </a:rPr>
              <a:t>	</a:t>
            </a:r>
            <a:r>
              <a:rPr lang="en-US" altLang="zh-CN" sz="1400" dirty="0" err="1">
                <a:latin typeface="Courier New" panose="02070309020205020404" pitchFamily="49" charset="0"/>
                <a:ea typeface="Courier" charset="0"/>
                <a:cs typeface="Courier New" panose="02070309020205020404" pitchFamily="49" charset="0"/>
              </a:rPr>
              <a:t>DestroyQueue</a:t>
            </a:r>
            <a:r>
              <a:rPr lang="en-US" altLang="zh-CN" sz="1400" dirty="0">
                <a:latin typeface="Courier New" panose="02070309020205020404" pitchFamily="49" charset="0"/>
                <a:ea typeface="Courier" charset="0"/>
                <a:cs typeface="Courier New" panose="02070309020205020404" pitchFamily="49" charset="0"/>
              </a:rPr>
              <a:t>(&amp;queue);</a:t>
            </a:r>
          </a:p>
          <a:p>
            <a:pPr eaLnBrk="0" hangingPunct="0"/>
            <a:r>
              <a:rPr lang="en-US" altLang="zh-CN" sz="1400" dirty="0">
                <a:latin typeface="Courier New" panose="02070309020205020404" pitchFamily="49" charset="0"/>
                <a:ea typeface="Courier" charset="0"/>
                <a:cs typeface="Courier New" panose="02070309020205020404" pitchFamily="49" charset="0"/>
              </a:rPr>
              <a:t>	</a:t>
            </a:r>
            <a:r>
              <a:rPr lang="en-US" altLang="zh-CN" sz="1400" dirty="0" err="1">
                <a:latin typeface="Courier New" panose="02070309020205020404" pitchFamily="49" charset="0"/>
                <a:ea typeface="Courier" charset="0"/>
                <a:cs typeface="Courier New" panose="02070309020205020404" pitchFamily="49" charset="0"/>
              </a:rPr>
              <a:t>DisplayQueue</a:t>
            </a:r>
            <a:r>
              <a:rPr lang="en-US" altLang="zh-CN" sz="1400" dirty="0">
                <a:latin typeface="Courier New" panose="02070309020205020404" pitchFamily="49" charset="0"/>
                <a:ea typeface="Courier" charset="0"/>
                <a:cs typeface="Courier New" panose="02070309020205020404" pitchFamily="49" charset="0"/>
              </a:rPr>
              <a:t>(&amp;queue);</a:t>
            </a:r>
          </a:p>
          <a:p>
            <a:pPr eaLnBrk="0" hangingPunct="0"/>
            <a:r>
              <a:rPr lang="en-US" altLang="zh-CN" sz="1400" dirty="0">
                <a:latin typeface="Courier New" panose="02070309020205020404" pitchFamily="49" charset="0"/>
                <a:ea typeface="Courier" charset="0"/>
                <a:cs typeface="Courier New" panose="02070309020205020404" pitchFamily="49" charset="0"/>
              </a:rPr>
              <a:t>}</a:t>
            </a:r>
          </a:p>
        </p:txBody>
      </p:sp>
      <p:sp>
        <p:nvSpPr>
          <p:cNvPr id="3" name="Footer Placeholder 2"/>
          <p:cNvSpPr>
            <a:spLocks noGrp="1"/>
          </p:cNvSpPr>
          <p:nvPr>
            <p:ph type="ftr" sz="quarter" idx="11"/>
          </p:nvPr>
        </p:nvSpPr>
        <p:spPr/>
        <p:txBody>
          <a:bodyPr/>
          <a:lstStyle/>
          <a:p>
            <a:r>
              <a:rPr lang="en-US"/>
              <a:t>Data Structures and Algorithms</a:t>
            </a:r>
          </a:p>
        </p:txBody>
      </p:sp>
    </p:spTree>
    <p:extLst>
      <p:ext uri="{BB962C8B-B14F-4D97-AF65-F5344CB8AC3E}">
        <p14:creationId xmlns:p14="http://schemas.microsoft.com/office/powerpoint/2010/main" val="19585503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B6F15528-21DE-4FAA-801E-634DDDAF4B2B}" type="slidenum">
              <a:rPr lang="en-US" smtClean="0"/>
              <a:pPr/>
              <a:t>24</a:t>
            </a:fld>
            <a:endParaRPr lang="en-US"/>
          </a:p>
        </p:txBody>
      </p:sp>
      <p:sp>
        <p:nvSpPr>
          <p:cNvPr id="3" name="Footer Placeholder 2"/>
          <p:cNvSpPr>
            <a:spLocks noGrp="1"/>
          </p:cNvSpPr>
          <p:nvPr>
            <p:ph type="ftr" sz="quarter" idx="11"/>
          </p:nvPr>
        </p:nvSpPr>
        <p:spPr/>
        <p:txBody>
          <a:bodyPr/>
          <a:lstStyle/>
          <a:p>
            <a:r>
              <a:rPr lang="en-US"/>
              <a:t>Data Structures and Algorithms</a:t>
            </a:r>
          </a:p>
        </p:txBody>
      </p:sp>
      <p:sp>
        <p:nvSpPr>
          <p:cNvPr id="11" name="标题 1"/>
          <p:cNvSpPr>
            <a:spLocks noGrp="1"/>
          </p:cNvSpPr>
          <p:nvPr>
            <p:ph type="title"/>
          </p:nvPr>
        </p:nvSpPr>
        <p:spPr>
          <a:xfrm>
            <a:off x="457200" y="274638"/>
            <a:ext cx="8229600" cy="1143000"/>
          </a:xfrm>
        </p:spPr>
        <p:txBody>
          <a:bodyPr/>
          <a:lstStyle/>
          <a:p>
            <a:r>
              <a:rPr lang="en-US" altLang="zh-CN" dirty="0"/>
              <a:t>Task</a:t>
            </a:r>
            <a:endParaRPr lang="zh-CN" altLang="en-US" dirty="0"/>
          </a:p>
        </p:txBody>
      </p:sp>
      <p:sp>
        <p:nvSpPr>
          <p:cNvPr id="12" name="内容占位符 2"/>
          <p:cNvSpPr>
            <a:spLocks noGrp="1"/>
          </p:cNvSpPr>
          <p:nvPr>
            <p:ph idx="1"/>
          </p:nvPr>
        </p:nvSpPr>
        <p:spPr>
          <a:xfrm>
            <a:off x="457200" y="1600200"/>
            <a:ext cx="8229600" cy="4525963"/>
          </a:xfrm>
        </p:spPr>
        <p:txBody>
          <a:bodyPr/>
          <a:lstStyle/>
          <a:p>
            <a:r>
              <a:rPr lang="en-US" altLang="zh-CN" dirty="0"/>
              <a:t>Write </a:t>
            </a:r>
            <a:r>
              <a:rPr lang="en-US" altLang="zh-CN" dirty="0" err="1">
                <a:solidFill>
                  <a:srgbClr val="0070C0"/>
                </a:solidFill>
              </a:rPr>
              <a:t>queue.h</a:t>
            </a:r>
            <a:r>
              <a:rPr lang="en-US" altLang="zh-CN" i="1" dirty="0">
                <a:solidFill>
                  <a:schemeClr val="accent1"/>
                </a:solidFill>
              </a:rPr>
              <a:t> </a:t>
            </a:r>
            <a:r>
              <a:rPr lang="en-US" altLang="zh-CN" dirty="0"/>
              <a:t>and </a:t>
            </a:r>
            <a:r>
              <a:rPr lang="en-US" altLang="zh-CN" dirty="0">
                <a:solidFill>
                  <a:srgbClr val="0070C0"/>
                </a:solidFill>
              </a:rPr>
              <a:t>queue.cpp</a:t>
            </a:r>
            <a:r>
              <a:rPr lang="en-US" altLang="zh-CN" dirty="0"/>
              <a:t> which implement the queue data structure.</a:t>
            </a:r>
          </a:p>
          <a:p>
            <a:r>
              <a:rPr lang="en-US" altLang="zh-CN" dirty="0"/>
              <a:t>Refer to </a:t>
            </a:r>
            <a:r>
              <a:rPr lang="en-US" altLang="zh-CN" i="1" dirty="0" err="1"/>
              <a:t>list.h</a:t>
            </a:r>
            <a:r>
              <a:rPr lang="en-US" altLang="zh-CN" i="1" dirty="0"/>
              <a:t> </a:t>
            </a:r>
            <a:r>
              <a:rPr lang="en-US" altLang="zh-CN" dirty="0"/>
              <a:t>and write proper </a:t>
            </a:r>
            <a:r>
              <a:rPr lang="en-US" altLang="zh-CN" dirty="0">
                <a:solidFill>
                  <a:srgbClr val="0070C0"/>
                </a:solidFill>
              </a:rPr>
              <a:t>comments</a:t>
            </a:r>
            <a:r>
              <a:rPr lang="en-US" altLang="zh-CN" dirty="0"/>
              <a:t> in </a:t>
            </a:r>
            <a:r>
              <a:rPr lang="en-US" altLang="zh-CN" dirty="0" err="1">
                <a:solidFill>
                  <a:srgbClr val="0070C0"/>
                </a:solidFill>
              </a:rPr>
              <a:t>queue.h</a:t>
            </a:r>
            <a:r>
              <a:rPr lang="en-US" altLang="zh-CN" i="1" dirty="0"/>
              <a:t> </a:t>
            </a:r>
            <a:r>
              <a:rPr lang="en-US" altLang="zh-CN" dirty="0"/>
              <a:t>to describe every function.</a:t>
            </a:r>
          </a:p>
          <a:p>
            <a:r>
              <a:rPr lang="en-US" altLang="zh-CN" dirty="0"/>
              <a:t>Compress </a:t>
            </a:r>
            <a:r>
              <a:rPr lang="en-US" altLang="zh-CN" dirty="0" err="1">
                <a:solidFill>
                  <a:srgbClr val="0070C0"/>
                </a:solidFill>
              </a:rPr>
              <a:t>queue.h</a:t>
            </a:r>
            <a:r>
              <a:rPr lang="en-US" altLang="zh-CN" dirty="0"/>
              <a:t> and </a:t>
            </a:r>
            <a:r>
              <a:rPr lang="en-US" altLang="zh-CN" dirty="0">
                <a:solidFill>
                  <a:srgbClr val="0070C0"/>
                </a:solidFill>
              </a:rPr>
              <a:t>queue.cpp</a:t>
            </a:r>
            <a:r>
              <a:rPr lang="en-US" altLang="zh-CN" i="1" dirty="0">
                <a:solidFill>
                  <a:schemeClr val="accent1"/>
                </a:solidFill>
              </a:rPr>
              <a:t> </a:t>
            </a:r>
            <a:r>
              <a:rPr lang="en-US" altLang="zh-CN" dirty="0"/>
              <a:t>to a </a:t>
            </a:r>
            <a:r>
              <a:rPr lang="en-US" altLang="zh-CN" i="1" dirty="0">
                <a:solidFill>
                  <a:schemeClr val="accent1"/>
                </a:solidFill>
              </a:rPr>
              <a:t>.</a:t>
            </a:r>
            <a:r>
              <a:rPr lang="en-US" altLang="zh-CN" dirty="0">
                <a:solidFill>
                  <a:srgbClr val="0070C0"/>
                </a:solidFill>
              </a:rPr>
              <a:t>zip</a:t>
            </a:r>
            <a:r>
              <a:rPr lang="en-US" altLang="zh-CN" i="1" dirty="0">
                <a:solidFill>
                  <a:schemeClr val="accent1"/>
                </a:solidFill>
              </a:rPr>
              <a:t> </a:t>
            </a:r>
            <a:r>
              <a:rPr lang="en-US" altLang="zh-CN" dirty="0"/>
              <a:t>file and submit it to </a:t>
            </a:r>
            <a:r>
              <a:rPr lang="en-US" altLang="zh-CN" dirty="0" err="1"/>
              <a:t>iSpace</a:t>
            </a:r>
            <a:r>
              <a:rPr lang="en-US" altLang="zh-CN" dirty="0"/>
              <a:t>.</a:t>
            </a:r>
          </a:p>
        </p:txBody>
      </p:sp>
    </p:spTree>
    <p:extLst>
      <p:ext uri="{BB962C8B-B14F-4D97-AF65-F5344CB8AC3E}">
        <p14:creationId xmlns:p14="http://schemas.microsoft.com/office/powerpoint/2010/main" val="10348606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2309</TotalTime>
  <Words>2237</Words>
  <Application>Microsoft Office PowerPoint</Application>
  <PresentationFormat>全屏显示(4:3)</PresentationFormat>
  <Paragraphs>405</Paragraphs>
  <Slides>24</Slides>
  <Notes>12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Courier</vt:lpstr>
      <vt:lpstr>Monotype Sorts</vt:lpstr>
      <vt:lpstr>DengXian</vt:lpstr>
      <vt:lpstr>宋体</vt:lpstr>
      <vt:lpstr>Arial</vt:lpstr>
      <vt:lpstr>Calibri</vt:lpstr>
      <vt:lpstr>Calibri Light</vt:lpstr>
      <vt:lpstr>Cambria Math</vt:lpstr>
      <vt:lpstr>Courier New</vt:lpstr>
      <vt:lpstr>Times New Roman</vt:lpstr>
      <vt:lpstr>Office Theme</vt:lpstr>
      <vt:lpstr>Data Structures and Algorithms  Lecture 4: Queues (队列)</vt:lpstr>
      <vt:lpstr>Outline</vt:lpstr>
      <vt:lpstr>Queue ADT</vt:lpstr>
      <vt:lpstr>Queue Animation </vt:lpstr>
      <vt:lpstr>Enqueue and Dequeue</vt:lpstr>
      <vt:lpstr>Enqueue and Dequeue</vt:lpstr>
      <vt:lpstr>Queue Applications</vt:lpstr>
      <vt:lpstr>Implementation of Queues</vt:lpstr>
      <vt:lpstr>Queue Implementation</vt:lpstr>
      <vt:lpstr>Queue Implementation</vt:lpstr>
      <vt:lpstr>Queue Implementation</vt:lpstr>
      <vt:lpstr>Queue Implementation</vt:lpstr>
      <vt:lpstr>A Circular Array</vt:lpstr>
      <vt:lpstr>A Circular Array - Enqueue</vt:lpstr>
      <vt:lpstr>A Circular Array - Dequeue</vt:lpstr>
      <vt:lpstr>A Circular Array – Empty or Full</vt:lpstr>
      <vt:lpstr>Queue Implementation with Array</vt:lpstr>
      <vt:lpstr>Queue Implementation with Array</vt:lpstr>
      <vt:lpstr>Methods</vt:lpstr>
      <vt:lpstr>Methods</vt:lpstr>
      <vt:lpstr>CreateQueue</vt:lpstr>
      <vt:lpstr>Enqueue</vt:lpstr>
      <vt:lpstr>Using queue</vt:lpstr>
      <vt:lpstr>Task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and Algorithms  Lecture 1: C</dc:title>
  <dc:creator>UIC</dc:creator>
  <cp:lastModifiedBy>Windows User</cp:lastModifiedBy>
  <cp:revision>225</cp:revision>
  <dcterms:created xsi:type="dcterms:W3CDTF">2006-08-16T00:00:00Z</dcterms:created>
  <dcterms:modified xsi:type="dcterms:W3CDTF">2023-10-23T03:48:13Z</dcterms:modified>
</cp:coreProperties>
</file>