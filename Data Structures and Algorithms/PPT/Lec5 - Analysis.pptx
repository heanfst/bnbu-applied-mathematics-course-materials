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0"/>
  </p:notesMasterIdLst>
  <p:sldIdLst>
    <p:sldId id="306" r:id="rId2"/>
    <p:sldId id="307" r:id="rId3"/>
    <p:sldId id="286" r:id="rId4"/>
    <p:sldId id="323" r:id="rId5"/>
    <p:sldId id="354" r:id="rId6"/>
    <p:sldId id="324" r:id="rId7"/>
    <p:sldId id="325" r:id="rId8"/>
    <p:sldId id="326" r:id="rId9"/>
    <p:sldId id="327" r:id="rId10"/>
    <p:sldId id="328" r:id="rId11"/>
    <p:sldId id="329" r:id="rId12"/>
    <p:sldId id="288" r:id="rId13"/>
    <p:sldId id="312" r:id="rId14"/>
    <p:sldId id="290" r:id="rId15"/>
    <p:sldId id="330" r:id="rId16"/>
    <p:sldId id="331" r:id="rId17"/>
    <p:sldId id="332" r:id="rId18"/>
    <p:sldId id="333" r:id="rId19"/>
    <p:sldId id="291" r:id="rId20"/>
    <p:sldId id="334" r:id="rId21"/>
    <p:sldId id="292" r:id="rId22"/>
    <p:sldId id="313" r:id="rId23"/>
    <p:sldId id="314" r:id="rId24"/>
    <p:sldId id="319" r:id="rId25"/>
    <p:sldId id="335" r:id="rId26"/>
    <p:sldId id="336" r:id="rId27"/>
    <p:sldId id="337" r:id="rId28"/>
    <p:sldId id="338" r:id="rId29"/>
    <p:sldId id="339" r:id="rId30"/>
    <p:sldId id="293" r:id="rId31"/>
    <p:sldId id="340" r:id="rId32"/>
    <p:sldId id="321" r:id="rId33"/>
    <p:sldId id="341" r:id="rId34"/>
    <p:sldId id="342" r:id="rId35"/>
    <p:sldId id="295" r:id="rId36"/>
    <p:sldId id="343" r:id="rId37"/>
    <p:sldId id="344" r:id="rId38"/>
    <p:sldId id="345" r:id="rId39"/>
    <p:sldId id="353" r:id="rId40"/>
    <p:sldId id="346" r:id="rId41"/>
    <p:sldId id="351" r:id="rId42"/>
    <p:sldId id="352" r:id="rId43"/>
    <p:sldId id="347" r:id="rId44"/>
    <p:sldId id="348" r:id="rId45"/>
    <p:sldId id="349" r:id="rId46"/>
    <p:sldId id="350" r:id="rId47"/>
    <p:sldId id="356" r:id="rId48"/>
    <p:sldId id="357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5"/>
    <p:restoredTop sz="94674" autoAdjust="0"/>
  </p:normalViewPr>
  <p:slideViewPr>
    <p:cSldViewPr>
      <p:cViewPr varScale="1">
        <p:scale>
          <a:sx n="66" d="100"/>
          <a:sy n="66" d="100"/>
        </p:scale>
        <p:origin x="14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17T19:51:23.423" idx="1">
    <p:pos x="4951" y="1981"/>
    <p:text>注意，i&lt;=n这里需要 n+1个逻辑判断</p:text>
    <p:extLst mod="1">
      <p:ext uri="{C676402C-5697-4E1C-873F-D02D1690AC5C}">
        <p15:threadingInfo xmlns:p15="http://schemas.microsoft.com/office/powerpoint/2012/main" timeZoneBias="-4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37.75811" units="1/cm"/>
          <inkml:channelProperty channel="Y" name="resolution" value="37.73585" units="1/cm"/>
          <inkml:channelProperty channel="T" name="resolution" value="1" units="1/dev"/>
        </inkml:channelProperties>
      </inkml:inkSource>
      <inkml:timestamp xml:id="ts0" timeString="2021-03-25T03:33:51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9691 7120 0,'24'0'125,"48"0"-110,23 0 1,24 0-1,0 0 1,-24 0 0,48 0-1,24 0 1,-1 0 0,-47 0-1,24 0 1,24 0-1,-48 0 1,24 0 0,95 0-1,-95 0-15,119 0 16,-95 24 0,-25-24-16,73 0 31,23 0-16,24 24 1,-72-24 0,25 23-1,-72-23 1,-1 0 0,49 0-1,-24 0 1,-96 24-16,72-24 15,-48 0 1,-23 0-16,142 0 16,-24 0-1,-23 0 1,-24 0 0,-24 0 15,0 0-16,-47 0 1,-49 0 0,1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37.75811" units="1/cm"/>
          <inkml:channelProperty channel="Y" name="resolution" value="37.73585" units="1/cm"/>
          <inkml:channelProperty channel="T" name="resolution" value="1" units="1/dev"/>
        </inkml:channelProperties>
      </inkml:inkSource>
      <inkml:timestamp xml:id="ts0" timeString="2021-03-25T03:34:48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10977 9739 0,'72'0'188,"-49"0"-173,25 0 1,71 0 15,-95 0-31,71 0 31,-47 0-15,47 0 0,24 0 30,-24 0-14,-47 0-1,23 0 0,49 0 0,-1-24 1,-48 24-1,-23-23 16,-25 23-16,-70 0 141,-1 0-172,-23 0 31,-96 47 0,72-47 1,47 0-17,-23 0 1,47 0 0,0 0-1,0 0 1,0 0-1,1 0 17,-1 0-17,0 0 17,0 0 14,0 0-30,1 0 15,-1 0-15,0 24 0,0-24-1,0 0 1,1 0-1,94 0 142,-23 0-157,-1 0 15,1 24 1,-1-24 0,-23 24-1,0-24-15,0 0 16,0 0-1,0 0 17,-1 0-1,1 0-31,0 0 31</inkml:trace>
  <inkml:trace contextRef="#ctx0" brushRef="#br0" timeOffset="4992.834">12001 12787 0,'48'0'109,"-1"0"-109,72 0 31,-71 0-31,-24 0 16,23 0-1,-23 0-15,0 0 16,0 0 0,24 0-1,47 0 1,-24 0 15,-23 0-15,0 0-1,-25 0 1,1 0 0,0 0-1,0 0 1,23 0 0,25 0-1,23 0 1,-47 0-1,-25 0 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2%9E%E9%87%8F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7%9B%B4%E6%8E%A5%E6%8F%92%E5%85%A5%E6%8E%92%E5%BA%8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E6EC4856-D67C-4F1F-90E1-0F510B67FE9A}" type="slidenum">
              <a:rPr lang="en-US" altLang="zh-CN" sz="1000">
                <a:latin typeface="Times New Roman" pitchFamily="18" charset="0"/>
              </a:rPr>
              <a:pPr/>
              <a:t>1</a:t>
            </a:fld>
            <a:endParaRPr lang="en-US" altLang="zh-CN" sz="10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4538"/>
            <a:ext cx="4959350" cy="3719512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5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en-US" altLang="zh-CN" baseline="0" dirty="0"/>
              <a:t> the x is in A: on average (1+2+3+...+n)/n = (n+1)/2 times search.</a:t>
            </a:r>
          </a:p>
          <a:p>
            <a:r>
              <a:rPr lang="en-US" altLang="zh-CN" baseline="0" dirty="0"/>
              <a:t>If the x is not in A: on average n times search.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In general, the number of search is increasingly linearly with the input size. 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9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en-US" altLang="zh-CN" baseline="0" dirty="0"/>
              <a:t> x is in A:  average number of search is  (1+2+...+n)/n = (n+1)/2</a:t>
            </a:r>
          </a:p>
          <a:p>
            <a:r>
              <a:rPr lang="en-US" altLang="zh-CN" baseline="0" dirty="0"/>
              <a:t>Early</a:t>
            </a:r>
            <a:r>
              <a:rPr lang="zh-CN" altLang="en-US" baseline="0" dirty="0"/>
              <a:t> </a:t>
            </a:r>
            <a:r>
              <a:rPr lang="en-US" altLang="zh-CN" baseline="0" dirty="0"/>
              <a:t>stopping</a:t>
            </a:r>
            <a:r>
              <a:rPr lang="zh-CN" altLang="en-US" baseline="0" dirty="0"/>
              <a:t> </a:t>
            </a:r>
            <a:r>
              <a:rPr lang="en-US" altLang="zh-CN" baseline="0" dirty="0"/>
              <a:t>if</a:t>
            </a:r>
            <a:r>
              <a:rPr lang="zh-CN" altLang="en-US" baseline="0" dirty="0"/>
              <a:t> </a:t>
            </a:r>
            <a:r>
              <a:rPr lang="en-US" altLang="zh-CN" baseline="0" dirty="0"/>
              <a:t>x</a:t>
            </a:r>
            <a:r>
              <a:rPr lang="zh-CN" altLang="en-US" baseline="0" dirty="0"/>
              <a:t> </a:t>
            </a:r>
            <a:r>
              <a:rPr lang="en-US" altLang="zh-CN" baseline="0" dirty="0"/>
              <a:t>is</a:t>
            </a:r>
            <a:r>
              <a:rPr lang="zh-CN" altLang="en-US" baseline="0" dirty="0"/>
              <a:t> </a:t>
            </a:r>
            <a:r>
              <a:rPr lang="en-US" altLang="zh-CN" baseline="0" dirty="0"/>
              <a:t>not</a:t>
            </a:r>
            <a:r>
              <a:rPr lang="zh-CN" altLang="en-US" baseline="0" dirty="0"/>
              <a:t> </a:t>
            </a:r>
            <a:r>
              <a:rPr lang="en-US" altLang="zh-CN" baseline="0" dirty="0"/>
              <a:t>in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list</a:t>
            </a:r>
            <a:r>
              <a:rPr lang="zh-CN" altLang="en-US" baseline="0" dirty="0"/>
              <a:t> </a:t>
            </a:r>
            <a:r>
              <a:rPr lang="en-US" altLang="zh-CN" baseline="0" dirty="0"/>
              <a:t>and</a:t>
            </a:r>
            <a:r>
              <a:rPr lang="zh-CN" altLang="en-US" baseline="0" dirty="0"/>
              <a:t> </a:t>
            </a:r>
            <a:r>
              <a:rPr lang="en-US" altLang="zh-CN" baseline="0" dirty="0"/>
              <a:t>smaller</a:t>
            </a:r>
            <a:r>
              <a:rPr lang="zh-CN" altLang="en-US" baseline="0" dirty="0"/>
              <a:t> </a:t>
            </a:r>
            <a:r>
              <a:rPr lang="en-US" altLang="zh-CN" baseline="0" dirty="0"/>
              <a:t>than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maximum</a:t>
            </a:r>
            <a:r>
              <a:rPr lang="zh-CN" altLang="en-US" baseline="0" dirty="0"/>
              <a:t> </a:t>
            </a:r>
            <a:r>
              <a:rPr lang="en-US" altLang="zh-CN" baseline="0" dirty="0"/>
              <a:t>value</a:t>
            </a:r>
            <a:r>
              <a:rPr lang="zh-CN" altLang="en-US" baseline="0" dirty="0"/>
              <a:t> </a:t>
            </a:r>
            <a:r>
              <a:rPr lang="en-US" altLang="zh-CN" baseline="0" dirty="0"/>
              <a:t>in</a:t>
            </a:r>
            <a:r>
              <a:rPr lang="zh-CN" altLang="en-US" baseline="0" dirty="0"/>
              <a:t> </a:t>
            </a:r>
            <a:r>
              <a:rPr lang="en-US" altLang="zh-CN" baseline="0" dirty="0"/>
              <a:t>this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48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 x is</a:t>
            </a:r>
            <a:r>
              <a:rPr lang="en-US" altLang="zh-CN" baseline="0" dirty="0"/>
              <a:t> in A:  will return true when the subarray length is reduced to 1.</a:t>
            </a:r>
          </a:p>
          <a:p>
            <a:r>
              <a:rPr lang="en-US" altLang="zh-CN" baseline="0" dirty="0"/>
              <a:t>T(n) = T(n/2)+1</a:t>
            </a:r>
          </a:p>
          <a:p>
            <a:r>
              <a:rPr lang="en-US" altLang="zh-CN" baseline="0" dirty="0"/>
              <a:t>       = T(n/4)+1 + 1</a:t>
            </a:r>
          </a:p>
          <a:p>
            <a:r>
              <a:rPr lang="en-US" altLang="zh-CN" baseline="0" dirty="0"/>
              <a:t>       = ...</a:t>
            </a:r>
          </a:p>
          <a:p>
            <a:r>
              <a:rPr lang="en-US" altLang="zh-CN" baseline="0" dirty="0"/>
              <a:t>       = T(n/(2^k)) +k</a:t>
            </a:r>
          </a:p>
          <a:p>
            <a:r>
              <a:rPr lang="en-US" altLang="zh-CN" baseline="0" dirty="0"/>
              <a:t>2^k = n</a:t>
            </a:r>
          </a:p>
          <a:p>
            <a:r>
              <a:rPr lang="en-US" altLang="zh-CN" baseline="0" dirty="0"/>
              <a:t>k = </a:t>
            </a:r>
            <a:r>
              <a:rPr lang="en-US" altLang="zh-CN" baseline="0" dirty="0" err="1"/>
              <a:t>logn</a:t>
            </a:r>
            <a:r>
              <a:rPr lang="en-US" altLang="zh-CN" baseline="0" dirty="0"/>
              <a:t> </a:t>
            </a:r>
          </a:p>
          <a:p>
            <a:r>
              <a:rPr lang="en-US" altLang="zh-CN" baseline="0" dirty="0"/>
              <a:t>If x is not in A: will return false when the subarray length is reduced to 0 equals T(n)+1 (where x is in A).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Therefore, on average the number of times search is </a:t>
            </a:r>
            <a:r>
              <a:rPr lang="en-US" altLang="zh-CN" baseline="0" dirty="0" err="1"/>
              <a:t>logn</a:t>
            </a:r>
            <a:r>
              <a:rPr lang="en-US" altLang="zh-CN" baseline="0" dirty="0"/>
              <a:t>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41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12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In</a:t>
            </a:r>
            <a:r>
              <a:rPr lang="en-US" altLang="zh-CN" baseline="0" dirty="0"/>
              <a:t> general,</a:t>
            </a:r>
            <a:endParaRPr lang="en-US" altLang="zh-CN" dirty="0"/>
          </a:p>
          <a:p>
            <a:pPr eaLnBrk="1" hangingPunct="1"/>
            <a:r>
              <a:rPr lang="en-US" altLang="zh-CN" dirty="0"/>
              <a:t>Algorithm 2 is better</a:t>
            </a:r>
            <a:r>
              <a:rPr lang="en-US" altLang="zh-CN" baseline="0" dirty="0"/>
              <a:t> than Algorithm 1 (algorithm will terminate earlier)</a:t>
            </a:r>
          </a:p>
          <a:p>
            <a:pPr eaLnBrk="1" hangingPunct="1"/>
            <a:r>
              <a:rPr lang="en-US" altLang="zh-CN" baseline="0" dirty="0"/>
              <a:t>Algorithm 3 is better than Algorithm 2 (every time reduce the search space by half).</a:t>
            </a:r>
          </a:p>
          <a:p>
            <a:pPr eaLnBrk="1" hangingPunct="1"/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/>
              <a:t> Algorithm 3- in every recursion, 1(l&gt;r)+1(value=x)+1(value&gt;x)+2((</a:t>
            </a:r>
            <a:r>
              <a:rPr lang="en-US" altLang="zh-CN" baseline="0" dirty="0" err="1"/>
              <a:t>l+r</a:t>
            </a:r>
            <a:r>
              <a:rPr lang="en-US" altLang="zh-CN" baseline="0" dirty="0"/>
              <a:t>)/2)+1(A[])=6 times basic operation</a:t>
            </a:r>
          </a:p>
          <a:p>
            <a:pPr eaLnBrk="1" hangingPunct="1"/>
            <a:endParaRPr lang="en-US" altLang="zh-CN" baseline="0" dirty="0"/>
          </a:p>
          <a:p>
            <a:pPr eaLnBrk="1" hangingPunct="1"/>
            <a:r>
              <a:rPr lang="en-US" altLang="zh-CN" baseline="0" dirty="0"/>
              <a:t>Algorithm1 is the fastest of all:   A={1,2,3,4,5 } , x = 5 (algorithm 1 compares 5 times, algorithm 2 compares 9 times, extra else if comparison; algorithm 3 need 3</a:t>
            </a:r>
            <a:r>
              <a:rPr lang="zh-CN" altLang="en-US" baseline="0" dirty="0"/>
              <a:t>*</a:t>
            </a:r>
            <a:r>
              <a:rPr lang="en-US" altLang="zh-CN" baseline="0" dirty="0"/>
              <a:t>6</a:t>
            </a:r>
          </a:p>
          <a:p>
            <a:pPr eaLnBrk="1" hangingPunct="1"/>
            <a:endParaRPr lang="en-US" altLang="zh-CN" baseline="0" dirty="0"/>
          </a:p>
          <a:p>
            <a:pPr eaLnBrk="1" hangingPunct="1"/>
            <a:r>
              <a:rPr lang="en-US" altLang="zh-CN" baseline="0" dirty="0"/>
              <a:t>Algorithm2 is the fastest of all:  A={1,2,3,4,5}, x=-1 with only two comparisons; algorithm 1 need 5 comparisons; more efficient than algorithm 3</a:t>
            </a:r>
          </a:p>
          <a:p>
            <a:pPr eaLnBrk="1" hangingPunct="1"/>
            <a:endParaRPr lang="en-US" altLang="zh-CN" baseline="0" dirty="0"/>
          </a:p>
          <a:p>
            <a:pPr eaLnBrk="1" hangingPunct="1"/>
            <a:r>
              <a:rPr lang="en-US" altLang="zh-CN" baseline="0" dirty="0"/>
              <a:t>Algorithm3 is the fastest of all: A={1,2,</a:t>
            </a:r>
            <a:r>
              <a:rPr lang="mr-IN" altLang="zh-CN" baseline="0" dirty="0"/>
              <a:t>…</a:t>
            </a:r>
            <a:r>
              <a:rPr lang="en-US" altLang="zh-CN" baseline="0" dirty="0"/>
              <a:t>,63,64}, x = 64, algorithm 3: 7*6=42; for algorithm1 and algorithm2: 64, 64*2 respectively.</a:t>
            </a:r>
          </a:p>
          <a:p>
            <a:pPr eaLnBrk="1" hangingPunct="1"/>
            <a:r>
              <a:rPr lang="en-US" altLang="zh-CN" baseline="0" dirty="0"/>
              <a:t>1-64</a:t>
            </a:r>
          </a:p>
          <a:p>
            <a:pPr eaLnBrk="1" hangingPunct="1"/>
            <a:r>
              <a:rPr lang="en-US" altLang="zh-CN" baseline="0" dirty="0"/>
              <a:t>33-64</a:t>
            </a:r>
          </a:p>
          <a:p>
            <a:pPr eaLnBrk="1" hangingPunct="1"/>
            <a:r>
              <a:rPr lang="en-US" altLang="zh-CN" baseline="0" dirty="0"/>
              <a:t>49-64</a:t>
            </a:r>
          </a:p>
          <a:p>
            <a:pPr eaLnBrk="1" hangingPunct="1"/>
            <a:r>
              <a:rPr lang="en-US" altLang="zh-CN" baseline="0" dirty="0"/>
              <a:t>57-64</a:t>
            </a:r>
          </a:p>
          <a:p>
            <a:pPr eaLnBrk="1" hangingPunct="1"/>
            <a:r>
              <a:rPr lang="en-US" altLang="zh-CN" baseline="0" dirty="0"/>
              <a:t>61-64</a:t>
            </a:r>
          </a:p>
          <a:p>
            <a:pPr eaLnBrk="1" hangingPunct="1"/>
            <a:r>
              <a:rPr lang="en-US" altLang="zh-CN" baseline="0" dirty="0"/>
              <a:t>63-64</a:t>
            </a:r>
          </a:p>
          <a:p>
            <a:pPr eaLnBrk="1" hangingPunct="1"/>
            <a:r>
              <a:rPr lang="en-US" altLang="zh-CN" baseline="0" dirty="0"/>
              <a:t>64</a:t>
            </a:r>
            <a:r>
              <a:rPr lang="zh-CN" altLang="en-US" baseline="0" dirty="0"/>
              <a:t> </a:t>
            </a:r>
            <a:r>
              <a:rPr lang="en-US" altLang="zh-CN" baseline="0" dirty="0"/>
              <a:t>64</a:t>
            </a: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799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13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83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3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9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average-case running time: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input 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distributionss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hard to quantify what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 distribution will looks like in practice.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2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9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2n+2: n times increment (1, 2, ... n);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(n+1) times 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comparision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(1, 2, ..., n+1); 1 time initialization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4n: 2 times multiplication; 1 time addition; 1 time assignment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5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38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Order Groups: Exponential – non-Exponential</a:t>
            </a:r>
          </a:p>
          <a:p>
            <a:endParaRPr lang="en-US" dirty="0"/>
          </a:p>
          <a:p>
            <a:r>
              <a:rPr lang="en-US" altLang="zh-CN" dirty="0"/>
              <a:t>Polynomial</a:t>
            </a:r>
            <a:r>
              <a:rPr lang="zh-CN" altLang="en-US" dirty="0"/>
              <a:t> </a:t>
            </a:r>
            <a:r>
              <a:rPr lang="en-US" altLang="zh-CN" dirty="0"/>
              <a:t>time:</a:t>
            </a:r>
            <a:r>
              <a:rPr lang="zh-CN" altLang="en-US" dirty="0"/>
              <a:t> </a:t>
            </a:r>
            <a:r>
              <a:rPr lang="en-US" altLang="zh-CN" dirty="0"/>
              <a:t>running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exceed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multiples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polynomial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n^k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24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Yes</a:t>
            </a:r>
          </a:p>
          <a:p>
            <a:r>
              <a:rPr lang="en-US" altLang="zh-CN" dirty="0"/>
              <a:t>Yes</a:t>
            </a:r>
          </a:p>
          <a:p>
            <a:r>
              <a:rPr lang="en-US" altLang="zh-CN" dirty="0"/>
              <a:t>Yes</a:t>
            </a:r>
          </a:p>
          <a:p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91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5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4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90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5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𝑙𝑜𝑔𝑘 𝑛 </a:t>
            </a:r>
            <a:r>
              <a:rPr lang="en-US" altLang="zh-CN" dirty="0"/>
              <a:t>= </a:t>
            </a:r>
            <a:r>
              <a:rPr lang="zh-CN" altLang="en-US" dirty="0"/>
              <a:t>𝑂</a:t>
            </a:r>
            <a:r>
              <a:rPr lang="en-US" altLang="zh-CN" dirty="0"/>
              <a:t>(</a:t>
            </a:r>
            <a:r>
              <a:rPr lang="zh-CN" altLang="en-US" dirty="0"/>
              <a:t>𝑛</a:t>
            </a:r>
            <a:r>
              <a:rPr lang="en-US" altLang="zh-CN" dirty="0"/>
              <a:t>) </a:t>
            </a:r>
            <a:r>
              <a:rPr lang="zh-CN" altLang="en-US" dirty="0"/>
              <a:t>𝑓𝑜𝑟 𝑎𝑛𝑦 𝑐𝑜𝑛𝑠𝑡𝑎𝑛𝑡 𝑘</a:t>
            </a:r>
            <a:endParaRPr lang="en-US" altLang="zh-CN" dirty="0"/>
          </a:p>
          <a:p>
            <a:r>
              <a:rPr lang="en-US" altLang="zh-CN" dirty="0" err="1"/>
              <a:t>logn</a:t>
            </a:r>
            <a:r>
              <a:rPr lang="en-US" altLang="zh-CN" dirty="0"/>
              <a:t> is a function with extremely</a:t>
            </a:r>
            <a:r>
              <a:rPr lang="en-US" altLang="zh-CN" baseline="0" dirty="0"/>
              <a:t> slow growth. For any constant k, the multiplication of </a:t>
            </a:r>
            <a:r>
              <a:rPr lang="en-US" altLang="zh-CN" baseline="0" dirty="0" err="1"/>
              <a:t>logn</a:t>
            </a:r>
            <a:r>
              <a:rPr lang="en-US" altLang="zh-CN" baseline="0" dirty="0"/>
              <a:t> is still slower than polynomial time of n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Proof using L’ Hospital’s Rule</a:t>
            </a:r>
          </a:p>
          <a:p>
            <a:endParaRPr lang="en-US" altLang="zh-CN" baseline="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46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baseline="0" dirty="0"/>
              <a:t> </a:t>
            </a:r>
            <a:r>
              <a:rPr lang="en-US" altLang="zh-CN" baseline="0" dirty="0"/>
              <a:t>^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logn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t</a:t>
            </a:r>
          </a:p>
          <a:p>
            <a:r>
              <a:rPr lang="en-US" altLang="zh-CN" baseline="0" dirty="0" err="1"/>
              <a:t>Logn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en-US" altLang="zh-CN" baseline="0" dirty="0" err="1"/>
              <a:t>log_a</a:t>
            </a:r>
            <a:r>
              <a:rPr lang="zh-CN" altLang="en-US" baseline="0" dirty="0"/>
              <a:t> </a:t>
            </a:r>
            <a:r>
              <a:rPr lang="en-US" altLang="zh-CN" baseline="0" dirty="0"/>
              <a:t>t</a:t>
            </a:r>
          </a:p>
          <a:p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2^(</a:t>
            </a:r>
            <a:r>
              <a:rPr lang="en-US" altLang="zh-CN" baseline="0" dirty="0" err="1"/>
              <a:t>log_a</a:t>
            </a:r>
            <a:r>
              <a:rPr lang="zh-CN" altLang="en-US" baseline="0" dirty="0"/>
              <a:t> </a:t>
            </a:r>
            <a:r>
              <a:rPr lang="en-US" altLang="zh-CN" baseline="0" dirty="0"/>
              <a:t>t)</a:t>
            </a:r>
          </a:p>
          <a:p>
            <a:endParaRPr lang="en-US" altLang="zh-CN" baseline="0" dirty="0"/>
          </a:p>
          <a:p>
            <a:r>
              <a:rPr lang="en-US" altLang="zh-CN" baseline="0" dirty="0" err="1"/>
              <a:t>N^loga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2^(</a:t>
            </a:r>
            <a:r>
              <a:rPr lang="en-US" altLang="zh-CN" baseline="0" dirty="0" err="1"/>
              <a:t>log_a</a:t>
            </a:r>
            <a:r>
              <a:rPr lang="zh-CN" altLang="en-US" baseline="0" dirty="0"/>
              <a:t> </a:t>
            </a:r>
            <a:r>
              <a:rPr lang="en-US" altLang="zh-CN" baseline="0" dirty="0"/>
              <a:t>t)</a:t>
            </a:r>
            <a:r>
              <a:rPr lang="zh-CN" altLang="en-US" baseline="0" dirty="0"/>
              <a:t> </a:t>
            </a:r>
            <a:r>
              <a:rPr lang="en-US" altLang="zh-CN" baseline="0" dirty="0"/>
              <a:t>^</a:t>
            </a:r>
            <a:r>
              <a:rPr lang="en-US" altLang="zh-CN" baseline="0" dirty="0" err="1"/>
              <a:t>loga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2^loga</a:t>
            </a:r>
            <a:r>
              <a:rPr lang="zh-CN" altLang="en-US" baseline="0" dirty="0"/>
              <a:t> </a:t>
            </a:r>
            <a:r>
              <a:rPr lang="en-US" altLang="zh-CN" baseline="0" dirty="0"/>
              <a:t>^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log_a</a:t>
            </a:r>
            <a:r>
              <a:rPr lang="zh-CN" altLang="en-US" baseline="0" dirty="0"/>
              <a:t> </a:t>
            </a:r>
            <a:r>
              <a:rPr lang="en-US" altLang="zh-CN" baseline="0" dirty="0"/>
              <a:t>t=</a:t>
            </a:r>
            <a:r>
              <a:rPr lang="zh-CN" altLang="en-US" baseline="0" dirty="0"/>
              <a:t> </a:t>
            </a:r>
            <a:r>
              <a:rPr lang="en-US" altLang="zh-CN" baseline="0" dirty="0"/>
              <a:t>a</a:t>
            </a:r>
            <a:r>
              <a:rPr lang="zh-CN" altLang="en-US" baseline="0" dirty="0"/>
              <a:t> </a:t>
            </a:r>
            <a:r>
              <a:rPr lang="en-US" altLang="zh-CN" baseline="0" dirty="0"/>
              <a:t>^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log_a</a:t>
            </a:r>
            <a:r>
              <a:rPr lang="zh-CN" altLang="en-US" baseline="0" dirty="0"/>
              <a:t> </a:t>
            </a:r>
            <a:r>
              <a:rPr lang="en-US" altLang="zh-CN" baseline="0" dirty="0"/>
              <a:t>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t</a:t>
            </a:r>
            <a:r>
              <a:rPr lang="zh-CN" altLang="en-US" baseline="0" dirty="0"/>
              <a:t>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90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Polynomial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Group:</a:t>
            </a:r>
            <a:r>
              <a:rPr lang="zh-CN" altLang="en-US" baseline="0" dirty="0"/>
              <a:t> </a:t>
            </a:r>
            <a:r>
              <a:rPr lang="en-US" altLang="zh-CN" baseline="0" dirty="0"/>
              <a:t>constant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order,</a:t>
            </a:r>
            <a:r>
              <a:rPr lang="zh-CN" altLang="en-US" baseline="0" dirty="0"/>
              <a:t> </a:t>
            </a:r>
            <a:r>
              <a:rPr lang="en-US" altLang="zh-CN" baseline="0" dirty="0"/>
              <a:t>logarithm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order,</a:t>
            </a:r>
            <a:r>
              <a:rPr lang="zh-CN" altLang="en-US" baseline="0" dirty="0"/>
              <a:t> </a:t>
            </a:r>
            <a:r>
              <a:rPr lang="en-US" altLang="zh-CN" baseline="0" dirty="0"/>
              <a:t>linear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order,</a:t>
            </a:r>
            <a:r>
              <a:rPr lang="zh-CN" altLang="en-US" baseline="0" dirty="0"/>
              <a:t> </a:t>
            </a:r>
            <a:r>
              <a:rPr lang="en-US" altLang="zh-CN" baseline="0" dirty="0"/>
              <a:t>n-squared,</a:t>
            </a:r>
            <a:r>
              <a:rPr lang="zh-CN" altLang="en-US" baseline="0" dirty="0"/>
              <a:t> </a:t>
            </a:r>
            <a:r>
              <a:rPr lang="en-US" altLang="zh-CN" baseline="0" dirty="0"/>
              <a:t>n-cubic,</a:t>
            </a:r>
            <a:r>
              <a:rPr lang="zh-CN" altLang="en-US" baseline="0" dirty="0"/>
              <a:t> </a:t>
            </a:r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power</a:t>
            </a:r>
            <a:r>
              <a:rPr lang="zh-CN" altLang="en-US" baseline="0" dirty="0"/>
              <a:t> </a:t>
            </a:r>
            <a:r>
              <a:rPr lang="en-US" altLang="zh-CN" baseline="0" dirty="0"/>
              <a:t>of</a:t>
            </a:r>
            <a:r>
              <a:rPr lang="zh-CN" altLang="en-US" baseline="0" dirty="0"/>
              <a:t> </a:t>
            </a:r>
            <a:r>
              <a:rPr lang="en-US" altLang="zh-CN" baseline="0" dirty="0"/>
              <a:t>K</a:t>
            </a:r>
            <a:endParaRPr lang="en-US" altLang="zh-CN" dirty="0"/>
          </a:p>
          <a:p>
            <a:r>
              <a:rPr lang="en-US" altLang="zh-CN" dirty="0"/>
              <a:t>Non-polynomial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Group:</a:t>
            </a:r>
            <a:r>
              <a:rPr lang="zh-CN" altLang="en-US" baseline="0" dirty="0"/>
              <a:t> </a:t>
            </a:r>
            <a:r>
              <a:rPr lang="en-US" altLang="zh-CN" baseline="0" dirty="0"/>
              <a:t>-</a:t>
            </a:r>
            <a:r>
              <a:rPr lang="zh-CN" altLang="en-US" baseline="0" dirty="0"/>
              <a:t> </a:t>
            </a:r>
            <a:r>
              <a:rPr lang="en-US" altLang="zh-CN" baseline="0" dirty="0"/>
              <a:t>Exponential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</a:t>
            </a:r>
            <a:r>
              <a:rPr lang="zh-CN" altLang="en-US" baseline="0" dirty="0"/>
              <a:t>； </a:t>
            </a:r>
            <a:r>
              <a:rPr lang="en-US" altLang="zh-CN" baseline="0" dirty="0"/>
              <a:t>Factorial</a:t>
            </a:r>
            <a:r>
              <a:rPr lang="zh-CN" altLang="en-US" baseline="0" dirty="0"/>
              <a:t> </a:t>
            </a:r>
            <a:r>
              <a:rPr lang="en-US" altLang="zh-CN" baseline="0" dirty="0"/>
              <a:t>Order</a:t>
            </a:r>
          </a:p>
          <a:p>
            <a:endParaRPr lang="en-US" baseline="0" dirty="0"/>
          </a:p>
          <a:p>
            <a:r>
              <a:rPr lang="en-US" altLang="zh-CN" baseline="0" dirty="0"/>
              <a:t>2^x</a:t>
            </a:r>
            <a:r>
              <a:rPr lang="zh-CN" altLang="en-US" baseline="0" dirty="0"/>
              <a:t> </a:t>
            </a:r>
            <a:r>
              <a:rPr lang="en-US" altLang="zh-CN" baseline="0" dirty="0"/>
              <a:t>will</a:t>
            </a:r>
            <a:r>
              <a:rPr lang="zh-CN" altLang="en-US" baseline="0" dirty="0"/>
              <a:t> </a:t>
            </a:r>
            <a:r>
              <a:rPr lang="en-US" altLang="zh-CN" baseline="0" dirty="0"/>
              <a:t>larger</a:t>
            </a:r>
            <a:r>
              <a:rPr lang="zh-CN" altLang="en-US" baseline="0" dirty="0"/>
              <a:t> </a:t>
            </a:r>
            <a:r>
              <a:rPr lang="en-US" altLang="zh-CN" baseline="0" dirty="0"/>
              <a:t>than</a:t>
            </a:r>
            <a:r>
              <a:rPr lang="zh-CN" altLang="en-US" baseline="0" dirty="0"/>
              <a:t> </a:t>
            </a:r>
            <a:r>
              <a:rPr lang="en-US" altLang="zh-CN" baseline="0" dirty="0"/>
              <a:t>x^3</a:t>
            </a:r>
            <a:r>
              <a:rPr lang="zh-CN" altLang="en-US" baseline="0" dirty="0"/>
              <a:t> </a:t>
            </a:r>
            <a:r>
              <a:rPr lang="en-US" altLang="zh-CN" baseline="0" dirty="0"/>
              <a:t>when</a:t>
            </a:r>
            <a:r>
              <a:rPr lang="zh-CN" altLang="en-US" baseline="0" dirty="0"/>
              <a:t> </a:t>
            </a:r>
            <a:r>
              <a:rPr lang="en-US" altLang="zh-CN" baseline="0" dirty="0"/>
              <a:t>x=10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8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Selection</a:t>
            </a:r>
            <a:r>
              <a:rPr lang="zh-CN" altLang="en-US" dirty="0"/>
              <a:t> </a:t>
            </a:r>
            <a:r>
              <a:rPr lang="en-US" altLang="zh-CN" dirty="0"/>
              <a:t>sort:</a:t>
            </a:r>
            <a:r>
              <a:rPr lang="zh-CN" altLang="en-US" dirty="0"/>
              <a:t> 每次选最小的放到第一个位置；重复； 不稳定排序算法</a:t>
            </a:r>
            <a:r>
              <a:rPr lang="en-US" altLang="zh-CN" dirty="0"/>
              <a:t>(</a:t>
            </a:r>
            <a:r>
              <a:rPr lang="zh-CN" altLang="en-US" dirty="0"/>
              <a:t>相等元素经过排列后序列保持不变</a:t>
            </a:r>
            <a:r>
              <a:rPr lang="en-US" altLang="zh-CN" dirty="0"/>
              <a:t>)</a:t>
            </a:r>
            <a:r>
              <a:rPr lang="zh-CN" altLang="en-US" dirty="0"/>
              <a:t>：比较次数 </a:t>
            </a:r>
            <a:r>
              <a:rPr lang="en-US" altLang="zh-CN" dirty="0"/>
              <a:t>n(n-1)/2;</a:t>
            </a:r>
            <a:r>
              <a:rPr lang="zh-CN" altLang="en-US" dirty="0"/>
              <a:t> 交换次数 </a:t>
            </a:r>
            <a:r>
              <a:rPr lang="en-US" altLang="zh-CN" dirty="0"/>
              <a:t>0</a:t>
            </a:r>
            <a:r>
              <a:rPr lang="zh-CN" altLang="en-US" baseline="0" dirty="0"/>
              <a:t> </a:t>
            </a:r>
            <a:r>
              <a:rPr lang="mr-IN" altLang="zh-CN" baseline="0" dirty="0"/>
              <a:t>–</a:t>
            </a:r>
            <a:r>
              <a:rPr lang="zh-CN" altLang="en-US" baseline="0" dirty="0"/>
              <a:t> </a:t>
            </a:r>
            <a:r>
              <a:rPr lang="en-US" altLang="zh-CN" baseline="0" dirty="0"/>
              <a:t>n-1</a:t>
            </a:r>
            <a:r>
              <a:rPr lang="zh-CN" altLang="en-US" baseline="0" dirty="0"/>
              <a:t>次之间</a:t>
            </a:r>
            <a:endParaRPr lang="en-US" altLang="zh-CN" baseline="0" dirty="0"/>
          </a:p>
          <a:p>
            <a:r>
              <a:rPr lang="en-US" altLang="zh-CN" baseline="0" dirty="0"/>
              <a:t>Shell</a:t>
            </a:r>
            <a:r>
              <a:rPr lang="zh-CN" altLang="en-US" baseline="0" dirty="0"/>
              <a:t> </a:t>
            </a:r>
            <a:r>
              <a:rPr lang="en-US" altLang="zh-CN" baseline="0" dirty="0"/>
              <a:t>sort:</a:t>
            </a:r>
            <a:r>
              <a:rPr lang="zh-CN" altLang="en-US" baseline="0" dirty="0"/>
              <a:t> 插入排序的变种，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先取一个小于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的整数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作为第一个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增量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，把文件的全部记录分组。所有距离为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的倍数的记录放在同一个组中。先在各组内进行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直接插入排序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；然后，取第二个增量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d2&lt;d1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重复上述的分组和排序，直至所取的增量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=1(&lt;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…&lt;d2&lt;d1)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，即所有记录放在同一组中进行直接插入排序为止。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Insertion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sorted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sorted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Heap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heap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每次把最大元素放到最右侧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bubble,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（梳排序）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Cocktail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sort: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bubble,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bi-directional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8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179C-F361-AA43-A93D-34D11CB0F650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0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D9B5D-014B-B748-A80C-53EB61A546C0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8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F575-9EFC-D24D-A411-BE932C8A1A71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2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EA8BD-A95D-A248-9230-B22100A07360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8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832BE-3985-3145-8585-62A330D28277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15C0-5029-CF48-A08B-C7A897FABB52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B6B7-92C6-F441-A6F0-4FD9F2154165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6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F6B98-213B-864F-A462-DF81625F4E70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E980-83ED-7E48-917B-C03F43CC9E59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D23F2-64AB-1B4A-88A5-6AD6FDF3590C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7EAC-9E57-F54B-BF88-19AA56910B74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0E727-23F7-3F45-9A1A-D1CF1AF21F33}" type="datetime1">
              <a:rPr lang="en-HK" altLang="zh-CN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kihow.com/Write-Pseudoco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av6979707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2514600"/>
          </a:xfrm>
          <a:noFill/>
        </p:spPr>
        <p:txBody>
          <a:bodyPr>
            <a:noAutofit/>
          </a:bodyPr>
          <a:lstStyle/>
          <a:p>
            <a:r>
              <a:rPr lang="en-US" altLang="zh-CN" sz="3600" b="0" dirty="0">
                <a:solidFill>
                  <a:srgbClr val="C00000"/>
                </a:solidFill>
              </a:rPr>
              <a:t>Data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Structures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and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Algorithms</a:t>
            </a:r>
            <a:br>
              <a:rPr lang="en-US" altLang="zh-TW" sz="4400" b="1" dirty="0">
                <a:solidFill>
                  <a:srgbClr val="C00000"/>
                </a:solidFill>
              </a:rPr>
            </a:br>
            <a:br>
              <a:rPr lang="en-US" altLang="zh-TW" sz="4400" b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4400" b="0" dirty="0"/>
              <a:t>Lecture</a:t>
            </a:r>
            <a:r>
              <a:rPr lang="en-US" altLang="zh-CN" sz="4400" b="0" dirty="0"/>
              <a:t> 5</a:t>
            </a:r>
            <a:r>
              <a:rPr lang="en-US" altLang="zh-TW" sz="4400" b="0" dirty="0"/>
              <a:t>: </a:t>
            </a:r>
            <a:r>
              <a:rPr lang="en-US" altLang="zh-CN" sz="4400" b="0" dirty="0"/>
              <a:t>Analysis of Algorithms</a:t>
            </a:r>
            <a:endParaRPr lang="en-US" altLang="zh-TW" sz="4400" b="0" dirty="0"/>
          </a:p>
        </p:txBody>
      </p:sp>
      <p:sp>
        <p:nvSpPr>
          <p:cNvPr id="30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724400"/>
            <a:ext cx="77724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Data</a:t>
            </a:r>
            <a:r>
              <a:rPr lang="zh-CN" altLang="en-US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Science</a:t>
            </a: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117840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Algorithm  (</a:t>
            </a:r>
            <a:r>
              <a:rPr lang="zh-CN" altLang="en-US" dirty="0">
                <a:solidFill>
                  <a:srgbClr val="FF0000"/>
                </a:solidFill>
              </a:rPr>
              <a:t>算法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What is an algorithm?</a:t>
            </a:r>
          </a:p>
          <a:p>
            <a:pPr lvl="1"/>
            <a:r>
              <a:rPr lang="en-US" altLang="zh-CN" dirty="0"/>
              <a:t>How to describe an algorithm?</a:t>
            </a:r>
          </a:p>
          <a:p>
            <a:r>
              <a:rPr lang="en-US" altLang="zh-CN" dirty="0"/>
              <a:t>Analysis of algorithms</a:t>
            </a:r>
          </a:p>
          <a:p>
            <a:r>
              <a:rPr lang="en-US" altLang="zh-CN" dirty="0"/>
              <a:t>Growth Rate and the Big-O Notation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2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an Algorithm?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45382"/>
            <a:ext cx="8286750" cy="2667000"/>
          </a:xfrm>
        </p:spPr>
        <p:txBody>
          <a:bodyPr>
            <a:noAutofit/>
          </a:bodyPr>
          <a:lstStyle/>
          <a:p>
            <a:r>
              <a:rPr lang="en-US" altLang="zh-CN" sz="3000" dirty="0">
                <a:solidFill>
                  <a:srgbClr val="FF0000"/>
                </a:solidFill>
                <a:ea typeface="宋体" charset="-122"/>
              </a:rPr>
              <a:t>Algorithm</a:t>
            </a:r>
            <a:r>
              <a:rPr lang="en-US" altLang="zh-CN" sz="3000" dirty="0">
                <a:ea typeface="宋体" charset="-122"/>
              </a:rPr>
              <a:t>: a clearly specified </a:t>
            </a:r>
            <a:r>
              <a:rPr lang="en-US" altLang="zh-CN" sz="3000" dirty="0">
                <a:solidFill>
                  <a:schemeClr val="hlink"/>
                </a:solidFill>
                <a:ea typeface="宋体" charset="-122"/>
              </a:rPr>
              <a:t>set of simple instructions</a:t>
            </a:r>
            <a:r>
              <a:rPr lang="en-US" altLang="zh-CN" sz="3000" dirty="0">
                <a:ea typeface="宋体" charset="-122"/>
              </a:rPr>
              <a:t> to be followed to solve a problem </a:t>
            </a:r>
          </a:p>
          <a:p>
            <a:pPr lvl="1"/>
            <a:r>
              <a:rPr lang="en-US" altLang="zh-CN" sz="2800" dirty="0">
                <a:ea typeface="宋体" charset="-122"/>
              </a:rPr>
              <a:t>Takes a set of values as </a:t>
            </a:r>
            <a:r>
              <a:rPr lang="en-US" altLang="zh-CN" sz="2800" dirty="0">
                <a:solidFill>
                  <a:srgbClr val="C00000"/>
                </a:solidFill>
                <a:ea typeface="宋体" charset="-122"/>
              </a:rPr>
              <a:t>input (</a:t>
            </a:r>
            <a:r>
              <a:rPr lang="zh-CN" altLang="en-US" sz="2800" dirty="0">
                <a:solidFill>
                  <a:srgbClr val="C00000"/>
                </a:solidFill>
                <a:ea typeface="宋体" charset="-122"/>
              </a:rPr>
              <a:t>输入</a:t>
            </a:r>
            <a:r>
              <a:rPr lang="en-US" altLang="zh-CN" sz="2800" dirty="0">
                <a:solidFill>
                  <a:srgbClr val="C00000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.</a:t>
            </a:r>
          </a:p>
          <a:p>
            <a:pPr lvl="1"/>
            <a:r>
              <a:rPr lang="en-US" altLang="zh-CN" sz="2800" dirty="0">
                <a:ea typeface="宋体" charset="-122"/>
              </a:rPr>
              <a:t>Produces a value or set of values as </a:t>
            </a:r>
            <a:r>
              <a:rPr lang="en-US" altLang="zh-CN" sz="2800" dirty="0">
                <a:solidFill>
                  <a:srgbClr val="C00000"/>
                </a:solidFill>
                <a:ea typeface="宋体" charset="-122"/>
              </a:rPr>
              <a:t>output (</a:t>
            </a:r>
            <a:r>
              <a:rPr lang="zh-CN" altLang="en-US" sz="2800" dirty="0">
                <a:solidFill>
                  <a:srgbClr val="C00000"/>
                </a:solidFill>
                <a:ea typeface="宋体" charset="-122"/>
              </a:rPr>
              <a:t>输出</a:t>
            </a:r>
            <a:r>
              <a:rPr lang="en-US" altLang="zh-CN" sz="2800" dirty="0">
                <a:solidFill>
                  <a:srgbClr val="C00000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.</a:t>
            </a:r>
          </a:p>
          <a:p>
            <a:r>
              <a:rPr lang="en-US" altLang="zh-CN" sz="3000" dirty="0"/>
              <a:t>A </a:t>
            </a:r>
            <a:r>
              <a:rPr lang="en-US" altLang="zh-CN" sz="3000" b="1" dirty="0">
                <a:solidFill>
                  <a:srgbClr val="00B050"/>
                </a:solidFill>
              </a:rPr>
              <a:t>data structure </a:t>
            </a:r>
            <a:r>
              <a:rPr lang="en-US" altLang="zh-CN" sz="3000" dirty="0"/>
              <a:t>is a specialized format for organizing and storing data. </a:t>
            </a:r>
          </a:p>
          <a:p>
            <a:r>
              <a:rPr lang="en-US" altLang="zh-CN" sz="3000" dirty="0">
                <a:solidFill>
                  <a:srgbClr val="0070C0"/>
                </a:solidFill>
              </a:rPr>
              <a:t>Program = Algorithms + Data Structures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3180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Description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45382"/>
            <a:ext cx="8286750" cy="2667000"/>
          </a:xfrm>
        </p:spPr>
        <p:txBody>
          <a:bodyPr>
            <a:noAutofit/>
          </a:bodyPr>
          <a:lstStyle/>
          <a:p>
            <a:r>
              <a:rPr lang="en-US" altLang="zh-CN" sz="3200" dirty="0">
                <a:ea typeface="宋体" pitchFamily="2" charset="-122"/>
              </a:rPr>
              <a:t>An algorithm may be described</a:t>
            </a:r>
          </a:p>
          <a:p>
            <a:pPr marL="0" indent="0">
              <a:buNone/>
            </a:pPr>
            <a:endParaRPr lang="en-US" altLang="zh-CN" sz="3200" dirty="0">
              <a:ea typeface="宋体" pitchFamily="2" charset="-122"/>
            </a:endParaRPr>
          </a:p>
          <a:p>
            <a:pPr lvl="1"/>
            <a:r>
              <a:rPr lang="en-US" altLang="zh-CN" sz="2800" dirty="0">
                <a:ea typeface="宋体" pitchFamily="2" charset="-122"/>
              </a:rPr>
              <a:t>In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natural language </a:t>
            </a:r>
            <a:r>
              <a:rPr lang="en-US" altLang="zh-CN" sz="2800" dirty="0">
                <a:ea typeface="宋体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ea typeface="宋体" pitchFamily="2" charset="-122"/>
              </a:rPr>
              <a:t>自然语言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  <a:p>
            <a:pPr marL="342900" lvl="1" indent="0">
              <a:buNone/>
            </a:pP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800" dirty="0">
                <a:ea typeface="宋体" pitchFamily="2" charset="-122"/>
              </a:rPr>
              <a:t>As </a:t>
            </a:r>
            <a:r>
              <a:rPr lang="en-US" altLang="zh-CN" sz="2800" dirty="0">
                <a:solidFill>
                  <a:srgbClr val="C00000"/>
                </a:solidFill>
                <a:ea typeface="宋体" pitchFamily="2" charset="-122"/>
              </a:rPr>
              <a:t>pseudo-code</a:t>
            </a:r>
            <a:r>
              <a:rPr lang="en-US" altLang="zh-CN" sz="2800" dirty="0">
                <a:ea typeface="宋体" pitchFamily="2" charset="-122"/>
              </a:rPr>
              <a:t> (</a:t>
            </a:r>
            <a:r>
              <a:rPr lang="zh-CN" altLang="en-US" sz="2800" dirty="0">
                <a:solidFill>
                  <a:srgbClr val="C00000"/>
                </a:solidFill>
                <a:ea typeface="宋体" pitchFamily="2" charset="-122"/>
              </a:rPr>
              <a:t>伪代码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  <a:p>
            <a:pPr lvl="2"/>
            <a:r>
              <a:rPr lang="en-US" altLang="zh-CN" sz="2200" dirty="0">
                <a:ea typeface="宋体" pitchFamily="2" charset="-122"/>
              </a:rPr>
              <a:t>An informal high-level description of the operating principle</a:t>
            </a:r>
          </a:p>
          <a:p>
            <a:pPr lvl="2"/>
            <a:r>
              <a:rPr lang="en-US" altLang="zh-CN" sz="2200" dirty="0">
                <a:ea typeface="宋体" pitchFamily="2" charset="-122"/>
              </a:rPr>
              <a:t>Uses the structural conventions of a normal programming language, but is intended for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itchFamily="2" charset="-122"/>
              </a:rPr>
              <a:t> </a:t>
            </a:r>
            <a:r>
              <a:rPr lang="en-US" altLang="zh-CN" sz="2200" dirty="0">
                <a:solidFill>
                  <a:srgbClr val="0070C0"/>
                </a:solidFill>
                <a:ea typeface="宋体" pitchFamily="2" charset="-122"/>
              </a:rPr>
              <a:t>human reading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itchFamily="2" charset="-122"/>
              </a:rPr>
              <a:t> </a:t>
            </a:r>
            <a:r>
              <a:rPr lang="en-US" altLang="zh-CN" sz="2200" dirty="0">
                <a:ea typeface="宋体" pitchFamily="2" charset="-122"/>
              </a:rPr>
              <a:t>rather than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itchFamily="2" charset="-122"/>
              </a:rPr>
              <a:t> </a:t>
            </a:r>
            <a:r>
              <a:rPr lang="en-US" altLang="zh-CN" sz="2200" dirty="0">
                <a:solidFill>
                  <a:srgbClr val="0070C0"/>
                </a:solidFill>
                <a:ea typeface="宋体" pitchFamily="2" charset="-122"/>
              </a:rPr>
              <a:t>machine reading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itchFamily="2" charset="-122"/>
              </a:rPr>
              <a:t>.</a:t>
            </a:r>
          </a:p>
          <a:p>
            <a:pPr marL="685800" lvl="2" indent="0">
              <a:buNone/>
            </a:pPr>
            <a:endParaRPr lang="en-US" altLang="zh-CN" sz="2200" dirty="0">
              <a:solidFill>
                <a:schemeClr val="tx1">
                  <a:lumMod val="75000"/>
                  <a:lumOff val="25000"/>
                </a:schemeClr>
              </a:solidFill>
              <a:ea typeface="宋体" pitchFamily="2" charset="-122"/>
            </a:endParaRPr>
          </a:p>
          <a:p>
            <a:pPr lvl="1"/>
            <a:r>
              <a:rPr lang="en-US" altLang="zh-CN" sz="2800" dirty="0">
                <a:ea typeface="宋体" pitchFamily="2" charset="-122"/>
              </a:rPr>
              <a:t>As a </a:t>
            </a:r>
            <a:r>
              <a:rPr lang="en-US" altLang="zh-CN" sz="2800" dirty="0">
                <a:solidFill>
                  <a:srgbClr val="00B0F0"/>
                </a:solidFill>
                <a:ea typeface="宋体" pitchFamily="2" charset="-122"/>
              </a:rPr>
              <a:t>program</a:t>
            </a:r>
            <a:r>
              <a:rPr lang="en-US" altLang="zh-CN" sz="2800" dirty="0">
                <a:ea typeface="宋体" pitchFamily="2" charset="-122"/>
              </a:rPr>
              <a:t> (</a:t>
            </a:r>
            <a:r>
              <a:rPr lang="zh-CN" altLang="en-US" sz="2800" dirty="0">
                <a:solidFill>
                  <a:srgbClr val="00B0F0"/>
                </a:solidFill>
                <a:ea typeface="宋体" pitchFamily="2" charset="-122"/>
              </a:rPr>
              <a:t>程序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76515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A1A40B6-FE61-4BF5-B699-4E609F65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99" y="381000"/>
            <a:ext cx="5943601" cy="5975351"/>
          </a:xfr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B6F551-9A5E-477E-ADA4-E308E6A2C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79C993-F6A3-4217-A541-F3CB656B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74DC99-5CF3-4CA6-B9EC-8E45730A51B9}"/>
              </a:ext>
            </a:extLst>
          </p:cNvPr>
          <p:cNvSpPr txBox="1"/>
          <p:nvPr/>
        </p:nvSpPr>
        <p:spPr>
          <a:xfrm>
            <a:off x="7696200" y="137160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Algorithm described </a:t>
            </a:r>
          </a:p>
          <a:p>
            <a:r>
              <a:rPr lang="en-US" altLang="zh-CN" dirty="0"/>
              <a:t>in pseudo-code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03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Description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24000"/>
            <a:ext cx="8286750" cy="147881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solidFill>
                  <a:srgbClr val="0070C0"/>
                </a:solidFill>
              </a:rPr>
              <a:t>Problem</a:t>
            </a:r>
            <a:r>
              <a:rPr lang="en-US" altLang="zh-CN" sz="3000" dirty="0"/>
              <a:t>:  Given the score, decide whether the student Passes or Fails the course.</a:t>
            </a:r>
          </a:p>
          <a:p>
            <a:r>
              <a:rPr lang="en-US" altLang="zh-CN" sz="3000" dirty="0">
                <a:solidFill>
                  <a:srgbClr val="0070C0"/>
                </a:solidFill>
              </a:rPr>
              <a:t>Algorithm</a:t>
            </a:r>
            <a:r>
              <a:rPr lang="en-US" altLang="zh-CN" sz="3000" dirty="0"/>
              <a:t>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9600" y="3048000"/>
            <a:ext cx="2587752" cy="3200400"/>
            <a:chOff x="990600" y="3048000"/>
            <a:chExt cx="2438400" cy="3200400"/>
          </a:xfrm>
        </p:grpSpPr>
        <p:sp>
          <p:nvSpPr>
            <p:cNvPr id="8" name="Rectangle 7"/>
            <p:cNvSpPr/>
            <p:nvPr/>
          </p:nvSpPr>
          <p:spPr>
            <a:xfrm>
              <a:off x="990600" y="3581400"/>
              <a:ext cx="2438400" cy="2667000"/>
            </a:xfrm>
            <a:prstGeom prst="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182880" tIns="182880" rIns="182880" bIns="182880" rtlCol="0" anchor="t" anchorCtr="0"/>
            <a:lstStyle/>
            <a:p>
              <a:r>
                <a:rPr lang="en-US" dirty="0"/>
                <a:t>If the student’s score is greater or equal to 60, write "Pass". </a:t>
              </a:r>
            </a:p>
            <a:p>
              <a:endParaRPr lang="en-US" dirty="0"/>
            </a:p>
            <a:p>
              <a:r>
                <a:rPr lang="en-US" dirty="0"/>
                <a:t>Otherwise, write "Fail".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90600" y="3048000"/>
              <a:ext cx="2438400" cy="533400"/>
            </a:xfrm>
            <a:prstGeom prst="rect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Natural</a:t>
              </a:r>
              <a:r>
                <a:rPr lang="zh-CN" altLang="en-US" dirty="0">
                  <a:solidFill>
                    <a:schemeClr val="bg1"/>
                  </a:solidFill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</a:rPr>
                <a:t>Language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352800" y="3053862"/>
            <a:ext cx="2587752" cy="3200400"/>
            <a:chOff x="990600" y="3048000"/>
            <a:chExt cx="2438400" cy="3200400"/>
          </a:xfrm>
        </p:grpSpPr>
        <p:sp>
          <p:nvSpPr>
            <p:cNvPr id="11" name="Rectangle 10"/>
            <p:cNvSpPr/>
            <p:nvPr/>
          </p:nvSpPr>
          <p:spPr>
            <a:xfrm>
              <a:off x="990600" y="3581400"/>
              <a:ext cx="2438400" cy="2667000"/>
            </a:xfrm>
            <a:prstGeom prst="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182880" tIns="182880" rIns="182880" bIns="182880" rtlCol="0" anchor="t" anchorCtr="0"/>
            <a:lstStyle/>
            <a:p>
              <a:r>
                <a:rPr lang="en-US" dirty="0"/>
                <a:t>IF score &gt;= 60</a:t>
              </a:r>
            </a:p>
            <a:p>
              <a:r>
                <a:rPr lang="en-US" dirty="0"/>
                <a:t>    WRITE "Pass"</a:t>
              </a:r>
            </a:p>
            <a:p>
              <a:r>
                <a:rPr lang="en-US" dirty="0"/>
                <a:t>ELSE</a:t>
              </a:r>
            </a:p>
            <a:p>
              <a:r>
                <a:rPr lang="en-US" dirty="0"/>
                <a:t>    WRITE "Fail"</a:t>
              </a:r>
            </a:p>
            <a:p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90600" y="3048000"/>
              <a:ext cx="2438400" cy="533400"/>
            </a:xfrm>
            <a:prstGeom prst="rect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Pseudo-Code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96000" y="3048000"/>
            <a:ext cx="2590800" cy="3200400"/>
            <a:chOff x="990600" y="3048000"/>
            <a:chExt cx="2438400" cy="3200400"/>
          </a:xfrm>
        </p:grpSpPr>
        <p:sp>
          <p:nvSpPr>
            <p:cNvPr id="14" name="Rectangle 13"/>
            <p:cNvSpPr/>
            <p:nvPr/>
          </p:nvSpPr>
          <p:spPr>
            <a:xfrm>
              <a:off x="990600" y="3581400"/>
              <a:ext cx="2438400" cy="2667000"/>
            </a:xfrm>
            <a:prstGeom prst="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182880" tIns="182880" rIns="182880" bIns="182880" rtlCol="0" anchor="t" anchorCtr="0"/>
            <a:lstStyle/>
            <a:p>
              <a:r>
                <a:rPr lang="en-US" dirty="0"/>
                <a:t>#include &lt;</a:t>
              </a:r>
              <a:r>
                <a:rPr lang="en-US" dirty="0" err="1"/>
                <a:t>stdio.h</a:t>
              </a:r>
              <a:r>
                <a:rPr lang="en-US" dirty="0"/>
                <a:t>&gt;</a:t>
              </a:r>
            </a:p>
            <a:p>
              <a:r>
                <a:rPr lang="en-US" dirty="0"/>
                <a:t>void judge(</a:t>
              </a:r>
              <a:r>
                <a:rPr lang="en-US" dirty="0" err="1"/>
                <a:t>int</a:t>
              </a:r>
              <a:r>
                <a:rPr lang="en-US" dirty="0"/>
                <a:t> score)</a:t>
              </a:r>
            </a:p>
            <a:p>
              <a:r>
                <a:rPr lang="en-US" dirty="0"/>
                <a:t>{</a:t>
              </a:r>
            </a:p>
            <a:p>
              <a:r>
                <a:rPr lang="en-US" dirty="0"/>
                <a:t>    if(score &gt;= 60)</a:t>
              </a:r>
            </a:p>
            <a:p>
              <a:r>
                <a:rPr lang="en-US" dirty="0"/>
                <a:t>        puts("Pass");</a:t>
              </a:r>
            </a:p>
            <a:p>
              <a:r>
                <a:rPr lang="en-US" dirty="0"/>
                <a:t>    else</a:t>
              </a:r>
            </a:p>
            <a:p>
              <a:r>
                <a:rPr lang="en-US" dirty="0"/>
                <a:t>        puts("Fail");</a:t>
              </a:r>
            </a:p>
            <a:p>
              <a:r>
                <a:rPr lang="en-US" dirty="0"/>
                <a:t>}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90600" y="3048000"/>
              <a:ext cx="2438400" cy="533400"/>
            </a:xfrm>
            <a:prstGeom prst="rect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 Program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79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Pseudo-Code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24000"/>
            <a:ext cx="8134350" cy="3810000"/>
          </a:xfrm>
        </p:spPr>
        <p:txBody>
          <a:bodyPr>
            <a:noAutofit/>
          </a:bodyPr>
          <a:lstStyle/>
          <a:p>
            <a:r>
              <a:rPr lang="en-US" altLang="zh-CN" dirty="0"/>
              <a:t>A combination of </a:t>
            </a:r>
            <a:r>
              <a:rPr lang="en-US" altLang="zh-CN" dirty="0">
                <a:solidFill>
                  <a:srgbClr val="0070C0"/>
                </a:solidFill>
              </a:rPr>
              <a:t>human language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0070C0"/>
                </a:solidFill>
              </a:rPr>
              <a:t>programming language</a:t>
            </a:r>
          </a:p>
          <a:p>
            <a:pPr lvl="1"/>
            <a:r>
              <a:rPr lang="en-US" altLang="zh-CN" dirty="0"/>
              <a:t>Mimics the </a:t>
            </a:r>
            <a:r>
              <a:rPr lang="en-US" altLang="zh-CN" dirty="0">
                <a:solidFill>
                  <a:srgbClr val="FF0000"/>
                </a:solidFill>
              </a:rPr>
              <a:t>syntax (</a:t>
            </a:r>
            <a:r>
              <a:rPr lang="zh-CN" altLang="en-US" dirty="0">
                <a:solidFill>
                  <a:srgbClr val="FF0000"/>
                </a:solidFill>
              </a:rPr>
              <a:t>语法规则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of a programming language</a:t>
            </a:r>
          </a:p>
          <a:p>
            <a:pPr lvl="1"/>
            <a:r>
              <a:rPr lang="en-US" altLang="zh-CN" dirty="0"/>
              <a:t>Ignores implementation details</a:t>
            </a:r>
          </a:p>
          <a:p>
            <a:pPr lvl="1"/>
            <a:r>
              <a:rPr lang="en-US" altLang="zh-CN" dirty="0"/>
              <a:t>A bridge from an idea to a program</a:t>
            </a:r>
          </a:p>
          <a:p>
            <a:r>
              <a:rPr lang="en-US" altLang="zh-CN" dirty="0">
                <a:hlinkClick r:id="rId2"/>
              </a:rPr>
              <a:t>How to write pseudocode?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46565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351338"/>
          </a:xfrm>
        </p:spPr>
        <p:txBody>
          <a:bodyPr>
            <a:normAutofit/>
          </a:bodyPr>
          <a:lstStyle/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Why do we need algorithm analysis?</a:t>
            </a:r>
          </a:p>
          <a:p>
            <a:pPr lvl="1"/>
            <a:r>
              <a:rPr lang="en-US" altLang="zh-CN" dirty="0"/>
              <a:t>Once an algorithm is given for a problem and decided (somehow) to be </a:t>
            </a:r>
            <a:r>
              <a:rPr lang="en-US" altLang="zh-CN" dirty="0">
                <a:solidFill>
                  <a:srgbClr val="0070C0"/>
                </a:solidFill>
              </a:rPr>
              <a:t>correct</a:t>
            </a:r>
            <a:r>
              <a:rPr lang="en-US" altLang="zh-CN" dirty="0"/>
              <a:t>, an important step is to determine how much in the way of </a:t>
            </a:r>
            <a:r>
              <a:rPr lang="en-US" altLang="zh-CN" dirty="0">
                <a:solidFill>
                  <a:srgbClr val="C00000"/>
                </a:solidFill>
              </a:rPr>
              <a:t>resources</a:t>
            </a:r>
            <a:r>
              <a:rPr lang="en-US" altLang="zh-CN" dirty="0"/>
              <a:t>, such as </a:t>
            </a:r>
            <a:r>
              <a:rPr lang="en-US" altLang="zh-CN" dirty="0">
                <a:solidFill>
                  <a:srgbClr val="C00000"/>
                </a:solidFill>
              </a:rPr>
              <a:t>time or space</a:t>
            </a:r>
            <a:r>
              <a:rPr lang="en-US" altLang="zh-CN" dirty="0"/>
              <a:t>, the algorithm will require. </a:t>
            </a:r>
          </a:p>
          <a:p>
            <a:pPr lvl="1"/>
            <a:r>
              <a:rPr lang="en-US" altLang="zh-CN" dirty="0">
                <a:ea typeface="宋体" charset="-122"/>
              </a:rPr>
              <a:t>If the program is run on a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large data set</a:t>
            </a:r>
            <a:r>
              <a:rPr lang="en-US" altLang="zh-CN" dirty="0">
                <a:ea typeface="宋体" charset="-122"/>
              </a:rPr>
              <a:t>, then the running time becomes an issue.</a:t>
            </a:r>
            <a:endParaRPr lang="en-US" altLang="zh-CN" dirty="0"/>
          </a:p>
          <a:p>
            <a:pPr lvl="1"/>
            <a:r>
              <a:rPr lang="en-US" altLang="zh-CN" dirty="0"/>
              <a:t>For example, an algorithm that solves a problem but requires a year is hardly of any use. </a:t>
            </a: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50961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1828800"/>
          </a:xfrm>
        </p:spPr>
        <p:txBody>
          <a:bodyPr>
            <a:normAutofit fontScale="92500"/>
          </a:bodyPr>
          <a:lstStyle/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sz="3000" dirty="0">
                <a:solidFill>
                  <a:srgbClr val="0070C0"/>
                </a:solidFill>
                <a:ea typeface="宋体" charset="-122"/>
              </a:rPr>
              <a:t>Problem</a:t>
            </a:r>
            <a:r>
              <a:rPr lang="en-US" altLang="zh-CN" dirty="0">
                <a:ea typeface="宋体" charset="-122"/>
              </a:rPr>
              <a:t>: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Given an array, </a:t>
            </a:r>
            <a:r>
              <a:rPr lang="en-US" altLang="zh-CN" i="1" dirty="0">
                <a:ea typeface="宋体" charset="-122"/>
              </a:rPr>
              <a:t>A</a:t>
            </a:r>
            <a:r>
              <a:rPr lang="en-US" altLang="zh-CN" dirty="0">
                <a:ea typeface="宋体" charset="-122"/>
              </a:rPr>
              <a:t>, of </a:t>
            </a:r>
            <a:r>
              <a:rPr lang="en-US" altLang="zh-CN" i="1" dirty="0">
                <a:ea typeface="宋体" charset="-122"/>
              </a:rPr>
              <a:t>n</a:t>
            </a:r>
            <a:r>
              <a:rPr lang="en-US" altLang="zh-CN" dirty="0">
                <a:ea typeface="宋体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sorted</a:t>
            </a:r>
            <a:r>
              <a:rPr lang="en-US" altLang="zh-CN" dirty="0">
                <a:ea typeface="宋体" charset="-122"/>
              </a:rPr>
              <a:t> values (non-decreasing order), check whether a value, </a:t>
            </a:r>
            <a:r>
              <a:rPr lang="en-US" altLang="zh-CN" i="1" dirty="0">
                <a:ea typeface="宋体" charset="-122"/>
              </a:rPr>
              <a:t>x</a:t>
            </a:r>
            <a:r>
              <a:rPr lang="en-US" altLang="zh-CN" dirty="0">
                <a:ea typeface="宋体" charset="-122"/>
              </a:rPr>
              <a:t>, is one of it.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8650" y="2831891"/>
            <a:ext cx="78867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Algorithm 1</a:t>
            </a:r>
            <a:r>
              <a:rPr lang="en-US" altLang="zh-CN" dirty="0">
                <a:ea typeface="宋体" charset="-122"/>
              </a:rPr>
              <a:t>: </a:t>
            </a:r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2057400" y="4114800"/>
            <a:ext cx="4953000" cy="187304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/>
          <a:lstStyle/>
          <a:p>
            <a:r>
              <a:rPr lang="en-US" sz="2400" dirty="0"/>
              <a:t>FOR EACH value IN A</a:t>
            </a:r>
          </a:p>
          <a:p>
            <a:r>
              <a:rPr lang="en-US" sz="2400" dirty="0"/>
              <a:t>   IF value = x</a:t>
            </a:r>
          </a:p>
          <a:p>
            <a:r>
              <a:rPr lang="en-US" sz="2400" dirty="0"/>
              <a:t>        RETURN True</a:t>
            </a:r>
          </a:p>
          <a:p>
            <a:r>
              <a:rPr lang="en-US" sz="2400" dirty="0"/>
              <a:t>RETURN False</a:t>
            </a:r>
          </a:p>
          <a:p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3488760" y="2563200"/>
              <a:ext cx="2109240" cy="34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9400" y="2553840"/>
                <a:ext cx="212796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40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8650" y="1305720"/>
            <a:ext cx="78867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Algorithm 2</a:t>
            </a:r>
            <a:r>
              <a:rPr lang="en-US" altLang="zh-CN" dirty="0">
                <a:ea typeface="宋体" charset="-122"/>
              </a:rPr>
              <a:t>: </a:t>
            </a:r>
            <a:endParaRPr lang="zh-CN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0" y="2971800"/>
            <a:ext cx="4057650" cy="25047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/>
          <a:lstStyle/>
          <a:p>
            <a:r>
              <a:rPr lang="en-US" sz="2400" dirty="0"/>
              <a:t>FOR EACH value IN A</a:t>
            </a:r>
          </a:p>
          <a:p>
            <a:r>
              <a:rPr lang="en-US" sz="2400" dirty="0"/>
              <a:t>    IF value = x</a:t>
            </a:r>
          </a:p>
          <a:p>
            <a:r>
              <a:rPr lang="en-US" sz="2400" dirty="0"/>
              <a:t>        RETURN True</a:t>
            </a:r>
          </a:p>
          <a:p>
            <a:r>
              <a:rPr lang="en-US" sz="2400" dirty="0"/>
              <a:t>    ELSE IF value &gt; x</a:t>
            </a:r>
          </a:p>
          <a:p>
            <a:r>
              <a:rPr lang="en-US" sz="2400" dirty="0"/>
              <a:t>        RETURN False</a:t>
            </a:r>
          </a:p>
          <a:p>
            <a:r>
              <a:rPr lang="en-US" sz="2400" dirty="0"/>
              <a:t>RETURN False</a:t>
            </a:r>
          </a:p>
          <a:p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951720" y="3489120"/>
              <a:ext cx="763200" cy="11145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42360" y="3479760"/>
                <a:ext cx="781920" cy="113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96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03250" y="1136651"/>
            <a:ext cx="78867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Algorithm 3</a:t>
            </a:r>
            <a:r>
              <a:rPr lang="en-US" altLang="zh-CN" dirty="0">
                <a:ea typeface="宋体" charset="-122"/>
              </a:rPr>
              <a:t>:  (</a:t>
            </a:r>
            <a:r>
              <a:rPr lang="en-US" altLang="zh-CN" dirty="0">
                <a:solidFill>
                  <a:srgbClr val="063DE8"/>
                </a:solidFill>
                <a:ea typeface="宋体" charset="-122"/>
              </a:rPr>
              <a:t>Binary search</a:t>
            </a:r>
            <a:r>
              <a:rPr lang="en-US" altLang="zh-CN" dirty="0">
                <a:ea typeface="宋体" charset="-122"/>
              </a:rPr>
              <a:t>) </a:t>
            </a:r>
            <a:endParaRPr lang="zh-CN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1752600" y="2241551"/>
            <a:ext cx="6172200" cy="411480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/>
          <a:lstStyle/>
          <a:p>
            <a:r>
              <a:rPr lang="en-US" sz="2400" dirty="0"/>
              <a:t>OneOf(A, l, r, x)</a:t>
            </a:r>
          </a:p>
          <a:p>
            <a:r>
              <a:rPr lang="en-US" sz="2400" dirty="0"/>
              <a:t>    IF l&gt;r</a:t>
            </a:r>
          </a:p>
          <a:p>
            <a:r>
              <a:rPr lang="en-US" sz="2400" dirty="0"/>
              <a:t>        RETURN False</a:t>
            </a:r>
          </a:p>
          <a:p>
            <a:r>
              <a:rPr lang="en-US" sz="2400" dirty="0"/>
              <a:t>    value = A[(l+r)/2]</a:t>
            </a:r>
          </a:p>
          <a:p>
            <a:r>
              <a:rPr lang="en-US" sz="2400" dirty="0"/>
              <a:t>    IF value = x</a:t>
            </a:r>
          </a:p>
          <a:p>
            <a:r>
              <a:rPr lang="en-US" sz="2400" dirty="0"/>
              <a:t>        RETURN True</a:t>
            </a:r>
          </a:p>
          <a:p>
            <a:r>
              <a:rPr lang="en-US" sz="2400" dirty="0"/>
              <a:t>    ELSE IF value &gt; x</a:t>
            </a:r>
          </a:p>
          <a:p>
            <a:r>
              <a:rPr lang="en-US" sz="2400" dirty="0"/>
              <a:t>        RETURN OneOf(A, l, (l+r)/2</a:t>
            </a:r>
            <a:r>
              <a:rPr lang="en-US" sz="2400" b="1" dirty="0">
                <a:solidFill>
                  <a:srgbClr val="FF0000"/>
                </a:solidFill>
              </a:rPr>
              <a:t>-1</a:t>
            </a:r>
            <a:r>
              <a:rPr lang="en-US" sz="2400" dirty="0"/>
              <a:t>, x)</a:t>
            </a:r>
          </a:p>
          <a:p>
            <a:r>
              <a:rPr lang="en-US" sz="2400" dirty="0"/>
              <a:t>    ELSE</a:t>
            </a:r>
          </a:p>
          <a:p>
            <a:r>
              <a:rPr lang="en-US" sz="2400" dirty="0"/>
              <a:t>        RETURN OneOf(A, (l+r)/2</a:t>
            </a:r>
            <a:r>
              <a:rPr lang="en-US" sz="2400" b="1" dirty="0">
                <a:solidFill>
                  <a:srgbClr val="0070C0"/>
                </a:solidFill>
              </a:rPr>
              <a:t>+1</a:t>
            </a:r>
            <a:r>
              <a:rPr lang="en-US" sz="2400" dirty="0"/>
              <a:t>, r, x)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472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Discussion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15306"/>
            <a:ext cx="7848600" cy="407589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Which algorithm is generally faster?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Algorithm 1 or 2?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Algorithm 2 or 3?</a:t>
            </a:r>
          </a:p>
          <a:p>
            <a:r>
              <a:rPr lang="en-US" altLang="zh-CN" dirty="0">
                <a:ea typeface="宋体" pitchFamily="2" charset="-122"/>
              </a:rPr>
              <a:t>Describe an input instance,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(A, x)</a:t>
            </a:r>
            <a:r>
              <a:rPr lang="en-US" altLang="zh-CN" dirty="0">
                <a:ea typeface="宋体" pitchFamily="2" charset="-122"/>
              </a:rPr>
              <a:t>, such that 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Algorithm 1 is the fastest of all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Algorithm 2 is the fastest of all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Algorithm 3 is the fastest of all</a:t>
            </a:r>
          </a:p>
        </p:txBody>
      </p:sp>
      <p:sp>
        <p:nvSpPr>
          <p:cNvPr id="717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58796E-B373-4873-A00C-2CD4867340CC}" type="slidenum">
              <a:rPr lang="zh-CN" altLang="en-US" sz="1400">
                <a:solidFill>
                  <a:schemeClr val="bg2">
                    <a:lumMod val="75000"/>
                  </a:schemeClr>
                </a:solidFill>
                <a:latin typeface="+mn-lt"/>
              </a:rPr>
              <a:pPr eaLnBrk="1" hangingPunct="1"/>
              <a:t>12</a:t>
            </a:fld>
            <a:endParaRPr lang="en-US" altLang="zh-CN" sz="140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416775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Pre-assumption for Algorithm Analysis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717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58796E-B373-4873-A00C-2CD4867340CC}" type="slidenum">
              <a:rPr lang="zh-CN" altLang="en-US" sz="1400">
                <a:solidFill>
                  <a:schemeClr val="bg2">
                    <a:lumMod val="75000"/>
                  </a:schemeClr>
                </a:solidFill>
                <a:latin typeface="+mn-lt"/>
              </a:rPr>
              <a:pPr eaLnBrk="1" hangingPunct="1"/>
              <a:t>13</a:t>
            </a:fld>
            <a:endParaRPr lang="en-US" altLang="zh-CN" sz="140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8650" y="1905000"/>
            <a:ext cx="6838950" cy="358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97868"/>
            <a:ext cx="8134350" cy="4641045"/>
          </a:xfrm>
        </p:spPr>
        <p:txBody>
          <a:bodyPr>
            <a:normAutofit/>
          </a:bodyPr>
          <a:lstStyle/>
          <a:p>
            <a:r>
              <a:rPr lang="en-US" altLang="zh-CN" sz="3000" dirty="0">
                <a:ea typeface="宋体" pitchFamily="2" charset="-122"/>
              </a:rPr>
              <a:t>We only analyze </a:t>
            </a:r>
            <a:r>
              <a:rPr lang="en-US" altLang="zh-CN" sz="3000" dirty="0">
                <a:solidFill>
                  <a:srgbClr val="FF0000"/>
                </a:solidFill>
                <a:ea typeface="宋体" pitchFamily="2" charset="-122"/>
              </a:rPr>
              <a:t>correct</a:t>
            </a:r>
            <a:r>
              <a:rPr lang="en-US" altLang="zh-CN" sz="3000" dirty="0">
                <a:ea typeface="宋体" pitchFamily="2" charset="-122"/>
              </a:rPr>
              <a:t> algorithms</a:t>
            </a:r>
          </a:p>
          <a:p>
            <a:pPr lvl="1"/>
            <a:r>
              <a:rPr lang="en-US" altLang="zh-CN" sz="2800" dirty="0">
                <a:ea typeface="宋体" pitchFamily="2" charset="-122"/>
              </a:rPr>
              <a:t>Correct algorithms</a:t>
            </a:r>
          </a:p>
          <a:p>
            <a:pPr lvl="2"/>
            <a:r>
              <a:rPr lang="en-US" altLang="zh-CN" sz="2400" dirty="0">
                <a:ea typeface="宋体" pitchFamily="2" charset="-122"/>
              </a:rPr>
              <a:t>For </a:t>
            </a: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every input instance</a:t>
            </a:r>
            <a:r>
              <a:rPr lang="en-US" altLang="zh-CN" sz="2400" dirty="0">
                <a:ea typeface="宋体" pitchFamily="2" charset="-122"/>
              </a:rPr>
              <a:t>, halt with the correct output</a:t>
            </a:r>
          </a:p>
          <a:p>
            <a:pPr lvl="1"/>
            <a:r>
              <a:rPr lang="en-US" altLang="zh-CN" sz="2800" dirty="0">
                <a:ea typeface="宋体" pitchFamily="2" charset="-122"/>
              </a:rPr>
              <a:t>Incorrect algorithms</a:t>
            </a:r>
          </a:p>
          <a:p>
            <a:pPr lvl="2"/>
            <a:r>
              <a:rPr lang="en-US" altLang="zh-CN" sz="2400" dirty="0">
                <a:ea typeface="宋体" pitchFamily="2" charset="-122"/>
              </a:rPr>
              <a:t>Might not halt at all on some input instances.</a:t>
            </a:r>
          </a:p>
          <a:p>
            <a:pPr lvl="2"/>
            <a:r>
              <a:rPr lang="en-US" altLang="zh-CN" sz="2400" dirty="0">
                <a:ea typeface="宋体" pitchFamily="2" charset="-122"/>
              </a:rPr>
              <a:t>Might halt with a wrong answer.</a:t>
            </a:r>
          </a:p>
        </p:txBody>
      </p:sp>
    </p:spTree>
    <p:extLst>
      <p:ext uri="{BB962C8B-B14F-4D97-AF65-F5344CB8AC3E}">
        <p14:creationId xmlns:p14="http://schemas.microsoft.com/office/powerpoint/2010/main" val="69952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Analysis - 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ea typeface="宋体" charset="-122"/>
              </a:rPr>
              <a:t>Algorithm analysis predicts the </a:t>
            </a:r>
            <a:r>
              <a:rPr lang="en-US" altLang="zh-CN" sz="3200" dirty="0">
                <a:solidFill>
                  <a:srgbClr val="C00000"/>
                </a:solidFill>
                <a:ea typeface="宋体" charset="-122"/>
              </a:rPr>
              <a:t>resources</a:t>
            </a:r>
            <a:r>
              <a:rPr lang="en-US" altLang="zh-CN" sz="3200" dirty="0">
                <a:ea typeface="宋体" charset="-122"/>
              </a:rPr>
              <a:t> that an algorithm requires</a:t>
            </a:r>
          </a:p>
          <a:p>
            <a:pPr lvl="1"/>
            <a:r>
              <a:rPr lang="en-US" altLang="zh-CN" sz="2800" dirty="0">
                <a:solidFill>
                  <a:srgbClr val="00B050"/>
                </a:solidFill>
                <a:ea typeface="宋体" charset="-122"/>
              </a:rPr>
              <a:t>Memory</a:t>
            </a:r>
            <a:r>
              <a:rPr lang="en-US" altLang="zh-CN" sz="2800" dirty="0">
                <a:ea typeface="宋体" charset="-122"/>
              </a:rPr>
              <a:t> (</a:t>
            </a:r>
            <a:r>
              <a:rPr lang="zh-CN" altLang="en-US" sz="2800" dirty="0">
                <a:solidFill>
                  <a:srgbClr val="00B050"/>
                </a:solidFill>
                <a:ea typeface="宋体" charset="-122"/>
              </a:rPr>
              <a:t>内存</a:t>
            </a:r>
            <a:r>
              <a:rPr lang="en-US" altLang="zh-CN" sz="2800" dirty="0">
                <a:ea typeface="宋体" charset="-122"/>
              </a:rPr>
              <a:t>)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  <a:ea typeface="宋体" charset="-122"/>
              </a:rPr>
              <a:t>Computational time </a:t>
            </a:r>
            <a:r>
              <a:rPr lang="en-US" altLang="zh-CN" sz="2800" dirty="0">
                <a:ea typeface="宋体" charset="-122"/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ea typeface="宋体" charset="-122"/>
              </a:rPr>
              <a:t>Efficiency</a:t>
            </a:r>
            <a:r>
              <a:rPr lang="en-US" altLang="zh-CN" sz="2800" dirty="0">
                <a:ea typeface="宋体" charset="-122"/>
              </a:rPr>
              <a:t>)</a:t>
            </a:r>
          </a:p>
          <a:p>
            <a:pPr lvl="1"/>
            <a:r>
              <a:rPr lang="en-US" altLang="zh-CN" sz="2800" dirty="0">
                <a:ea typeface="宋体" charset="-122"/>
              </a:rPr>
              <a:t>Communication bandwidth (</a:t>
            </a:r>
            <a:r>
              <a:rPr lang="zh-CN" altLang="en-US" sz="2800" dirty="0">
                <a:ea typeface="宋体" charset="-122"/>
              </a:rPr>
              <a:t>通信带宽</a:t>
            </a:r>
            <a:r>
              <a:rPr lang="en-US" altLang="zh-CN" sz="2800" dirty="0">
                <a:ea typeface="宋体" charset="-122"/>
              </a:rPr>
              <a:t>)</a:t>
            </a:r>
          </a:p>
          <a:p>
            <a:pPr lvl="1"/>
            <a:r>
              <a:rPr lang="en-US" altLang="zh-CN" sz="2800" dirty="0">
                <a:ea typeface="宋体" charset="-122"/>
              </a:rPr>
              <a:t>Power consumption</a:t>
            </a:r>
          </a:p>
          <a:p>
            <a:pPr lvl="1"/>
            <a:r>
              <a:rPr lang="en-US" altLang="zh-CN" sz="2800" dirty="0">
                <a:ea typeface="宋体" charset="-122"/>
              </a:rPr>
              <a:t>......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24271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Analysis - 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ea typeface="宋体" charset="-122"/>
              </a:rPr>
              <a:t>Factors affecting the computational time</a:t>
            </a:r>
          </a:p>
          <a:p>
            <a:pPr lvl="1"/>
            <a:r>
              <a:rPr lang="en-US" altLang="zh-CN" sz="2800" dirty="0">
                <a:ea typeface="宋体" charset="-122"/>
              </a:rPr>
              <a:t>Computer </a:t>
            </a:r>
          </a:p>
          <a:p>
            <a:pPr lvl="1"/>
            <a:r>
              <a:rPr lang="en-US" altLang="zh-CN" sz="2800" dirty="0">
                <a:ea typeface="宋体" charset="-122"/>
              </a:rPr>
              <a:t>Compiler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  <a:ea typeface="宋体" charset="-122"/>
              </a:rPr>
              <a:t>Algorithm</a:t>
            </a:r>
            <a:r>
              <a:rPr lang="en-US" altLang="zh-CN" sz="2800" dirty="0">
                <a:ea typeface="宋体" charset="-122"/>
              </a:rPr>
              <a:t> used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  <a:ea typeface="宋体" charset="-122"/>
              </a:rPr>
              <a:t>Input to the algorithm</a:t>
            </a:r>
          </a:p>
          <a:p>
            <a:pPr lvl="2"/>
            <a:r>
              <a:rPr lang="en-US" altLang="zh-CN" sz="2400" dirty="0">
                <a:ea typeface="宋体" charset="-122"/>
              </a:rPr>
              <a:t>The input size (number of items in the input) affects the running time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71786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Analysis - 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rmAutofit fontScale="92500"/>
          </a:bodyPr>
          <a:lstStyle/>
          <a:p>
            <a:r>
              <a:rPr lang="en-US" altLang="zh-CN" sz="3200" dirty="0">
                <a:solidFill>
                  <a:srgbClr val="0070C0"/>
                </a:solidFill>
                <a:ea typeface="宋体" charset="-122"/>
              </a:rPr>
              <a:t>Worst-case running time </a:t>
            </a:r>
            <a:r>
              <a:rPr lang="en-US" altLang="zh-CN" sz="3200" dirty="0">
                <a:ea typeface="宋体" charset="-122"/>
              </a:rPr>
              <a:t>of an algorithm</a:t>
            </a:r>
          </a:p>
          <a:p>
            <a:pPr lvl="1"/>
            <a:r>
              <a:rPr lang="en-US" altLang="zh-CN" sz="2600" dirty="0">
                <a:ea typeface="宋体" charset="-122"/>
              </a:rPr>
              <a:t>The </a:t>
            </a:r>
            <a:r>
              <a:rPr lang="en-US" altLang="zh-CN" sz="2600" b="1" dirty="0">
                <a:solidFill>
                  <a:srgbClr val="063DE8"/>
                </a:solidFill>
                <a:ea typeface="宋体" charset="-122"/>
              </a:rPr>
              <a:t>longest</a:t>
            </a:r>
            <a:r>
              <a:rPr lang="en-US" altLang="zh-CN" sz="2600" dirty="0">
                <a:ea typeface="宋体" charset="-122"/>
              </a:rPr>
              <a:t> running time for any input of size n</a:t>
            </a:r>
          </a:p>
          <a:p>
            <a:pPr lvl="1"/>
            <a:r>
              <a:rPr lang="en-US" altLang="zh-CN" sz="2600" dirty="0">
                <a:ea typeface="宋体" charset="-122"/>
              </a:rPr>
              <a:t>An </a:t>
            </a:r>
            <a:r>
              <a:rPr lang="en-US" altLang="zh-CN" sz="2600" dirty="0">
                <a:solidFill>
                  <a:srgbClr val="0070C0"/>
                </a:solidFill>
                <a:ea typeface="宋体" charset="-122"/>
              </a:rPr>
              <a:t>upper bound </a:t>
            </a:r>
            <a:r>
              <a:rPr lang="en-US" altLang="zh-CN" sz="2600" dirty="0">
                <a:ea typeface="宋体" charset="-122"/>
              </a:rPr>
              <a:t>on the running time for any input of size n</a:t>
            </a:r>
          </a:p>
          <a:p>
            <a:pPr lvl="1"/>
            <a:r>
              <a:rPr lang="en-US" altLang="zh-CN" sz="2600" dirty="0">
                <a:ea typeface="宋体" charset="-122"/>
              </a:rPr>
              <a:t>guarantee that the algorithm will never take longer time</a:t>
            </a:r>
          </a:p>
          <a:p>
            <a:pPr lvl="1"/>
            <a:r>
              <a:rPr lang="en-US" altLang="zh-CN" sz="2600" dirty="0">
                <a:ea typeface="宋体" charset="-122"/>
              </a:rPr>
              <a:t>Example: </a:t>
            </a:r>
            <a:r>
              <a:rPr lang="en-US" altLang="zh-CN" dirty="0">
                <a:ea typeface="宋体" charset="-122"/>
              </a:rPr>
              <a:t>Search a linked list for a value, and the value is at the end</a:t>
            </a:r>
          </a:p>
          <a:p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Best-case</a:t>
            </a:r>
            <a:r>
              <a:rPr lang="en-US" altLang="zh-CN" sz="3200" dirty="0">
                <a:ea typeface="宋体" charset="-122"/>
              </a:rPr>
              <a:t> running time</a:t>
            </a:r>
          </a:p>
          <a:p>
            <a:pPr lvl="1"/>
            <a:r>
              <a:rPr lang="en-US" altLang="zh-CN" sz="2800" dirty="0">
                <a:ea typeface="宋体" charset="-122"/>
              </a:rPr>
              <a:t>The shortest running time for any input of size n</a:t>
            </a:r>
          </a:p>
          <a:p>
            <a:r>
              <a:rPr lang="en-US" altLang="zh-CN" sz="3200" dirty="0">
                <a:solidFill>
                  <a:srgbClr val="00B0F0"/>
                </a:solidFill>
                <a:ea typeface="宋体" charset="-122"/>
              </a:rPr>
              <a:t>Average-case</a:t>
            </a:r>
            <a:r>
              <a:rPr lang="en-US" altLang="zh-CN" sz="3200" dirty="0">
                <a:ea typeface="宋体" charset="-122"/>
              </a:rPr>
              <a:t> running time</a:t>
            </a:r>
          </a:p>
          <a:p>
            <a:pPr lvl="1"/>
            <a:r>
              <a:rPr lang="en-US" altLang="zh-CN" sz="2800" dirty="0">
                <a:ea typeface="宋体" charset="-122"/>
              </a:rPr>
              <a:t>May be difficult to define what “average” means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1566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3430" y="1447800"/>
            <a:ext cx="4884992" cy="363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182880" tIns="182880" rIns="182880" bIns="18288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sum(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spcAft>
                <a:spcPts val="600"/>
              </a:spcAft>
            </a:pPr>
            <a:r>
              <a:rPr lang="nn-NO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nn-NO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n-NO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nn-NO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2400" dirty="0">
                <a:latin typeface="Courier New" pitchFamily="49" charset="0"/>
                <a:cs typeface="Courier New" pitchFamily="49" charset="0"/>
              </a:rPr>
              <a:t> i=1; i&lt;=n; i++)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+= i*i*i;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33214" y="4927114"/>
                <a:ext cx="6077571" cy="1429237"/>
              </a:xfrm>
              <a:prstGeom prst="rect">
                <a:avLst/>
              </a:prstGeom>
              <a:noFill/>
            </p:spPr>
            <p:txBody>
              <a:bodyPr wrap="square" lIns="182880" tIns="182880" rIns="182880" bIns="18288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Function to calculate the sum by equation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/>
                      </a:rPr>
                      <m:t>𝑠𝑢𝑚</m:t>
                    </m:r>
                    <m:d>
                      <m:dPr>
                        <m:ctrlPr>
                          <a:rPr lang="pt-B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sz="240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pt-B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14" y="4927114"/>
                <a:ext cx="6077571" cy="1429237"/>
              </a:xfrm>
              <a:prstGeom prst="rect">
                <a:avLst/>
              </a:prstGeom>
              <a:blipFill>
                <a:blip r:embed="rId3"/>
                <a:stretch>
                  <a:fillRect b="-5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30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7652"/>
            <a:ext cx="7886700" cy="1325563"/>
          </a:xfrm>
        </p:spPr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1446542"/>
            <a:ext cx="7391400" cy="363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2880" tIns="182880" rIns="182880" bIns="18288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sum(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ea typeface="Adobe Myungjo Std M" pitchFamily="18" charset="-128"/>
                <a:cs typeface="Courier New" pitchFamily="49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spcAft>
                <a:spcPts val="600"/>
              </a:spcAft>
            </a:pPr>
            <a:r>
              <a:rPr lang="nn-NO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nn-NO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n-NO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nn-NO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2400" dirty="0">
                <a:latin typeface="Courier New" pitchFamily="49" charset="0"/>
                <a:cs typeface="Courier New" pitchFamily="49" charset="0"/>
              </a:rPr>
              <a:t> i=1; i&lt;=n; i++)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+= i*i*i;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partialSum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8411" y="2522989"/>
            <a:ext cx="7391400" cy="2077492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1:                                            .…….</a:t>
            </a:r>
            <a:r>
              <a:rPr lang="nn-NO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...................... 1</a:t>
            </a:r>
            <a:endParaRPr lang="en-US" sz="2400" dirty="0">
              <a:solidFill>
                <a:srgbClr val="C00000"/>
              </a:solidFill>
              <a:latin typeface="Adobe Garamond Pro" pitchFamily="18" charset="0"/>
            </a:endParaRPr>
          </a:p>
          <a:p>
            <a:pPr>
              <a:spcAft>
                <a:spcPts val="600"/>
              </a:spcAft>
            </a:pPr>
            <a:r>
              <a:rPr lang="nn-NO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2:                                                             ............... 2n+2</a:t>
            </a:r>
            <a:endParaRPr lang="nn-NO" sz="2400" dirty="0">
              <a:solidFill>
                <a:srgbClr val="C00000"/>
              </a:solidFill>
              <a:latin typeface="Adobe Garamond Pro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3:                                                           …….</a:t>
            </a:r>
            <a:r>
              <a:rPr lang="nn-NO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........ 4n</a:t>
            </a:r>
            <a:endParaRPr lang="en-US" sz="2400" dirty="0">
              <a:solidFill>
                <a:srgbClr val="C00000"/>
              </a:solidFill>
              <a:latin typeface="Adobe Garamond Pro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4:                                                   …….</a:t>
            </a:r>
            <a:r>
              <a:rPr lang="nn-NO" sz="2400" dirty="0">
                <a:solidFill>
                  <a:srgbClr val="C00000"/>
                </a:solidFill>
                <a:latin typeface="Adobe Garamond Pro" pitchFamily="18" charset="0"/>
                <a:ea typeface="Adobe Myungjo Std M" pitchFamily="18" charset="-128"/>
                <a:cs typeface="Adobe Arabic" pitchFamily="18" charset="-78"/>
              </a:rPr>
              <a:t>................ 1</a:t>
            </a:r>
            <a:endParaRPr lang="en-US" sz="2400" dirty="0">
              <a:solidFill>
                <a:srgbClr val="C00000"/>
              </a:solidFill>
              <a:latin typeface="Adobe Garamond Pro" pitchFamily="18" charset="0"/>
              <a:cs typeface="Courier New" pitchFamily="49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8891873-9CB4-4593-9940-1F44534E3E33}"/>
              </a:ext>
            </a:extLst>
          </p:cNvPr>
          <p:cNvSpPr/>
          <p:nvPr/>
        </p:nvSpPr>
        <p:spPr>
          <a:xfrm>
            <a:off x="-102268" y="5117164"/>
            <a:ext cx="9170068" cy="800219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We use T(n) to denote the </a:t>
            </a:r>
            <a:r>
              <a:rPr lang="en-US" sz="2800" dirty="0">
                <a:solidFill>
                  <a:srgbClr val="FF0000"/>
                </a:solidFill>
              </a:rPr>
              <a:t>Cost Function </a:t>
            </a:r>
            <a:r>
              <a:rPr lang="en-US" sz="2800" dirty="0">
                <a:solidFill>
                  <a:srgbClr val="0070C0"/>
                </a:solidFill>
              </a:rPr>
              <a:t>with input of size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36DBE983-DF90-47C4-985D-18D16079BE54}"/>
                  </a:ext>
                </a:extLst>
              </p:cNvPr>
              <p:cNvSpPr/>
              <p:nvPr/>
            </p:nvSpPr>
            <p:spPr>
              <a:xfrm>
                <a:off x="-286151" y="5659675"/>
                <a:ext cx="7798468" cy="800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2880" tIns="182880" rIns="182880" bIns="18288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70C0"/>
                    </a:solidFill>
                  </a:rPr>
                  <a:t>For this example, Cost Function: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pt-B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sz="280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/>
                      </a:rPr>
                      <m:t>6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/>
                      </a:rPr>
                      <m:t>+4</m:t>
                    </m:r>
                  </m:oMath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36DBE983-DF90-47C4-985D-18D16079B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6151" y="5659675"/>
                <a:ext cx="7798468" cy="800219"/>
              </a:xfrm>
              <a:prstGeom prst="rect">
                <a:avLst/>
              </a:prstGeom>
              <a:blipFill>
                <a:blip r:embed="rId3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9">
            <a:extLst>
              <a:ext uri="{FF2B5EF4-FFF2-40B4-BE49-F238E27FC236}">
                <a16:creationId xmlns:a16="http://schemas.microsoft.com/office/drawing/2014/main" id="{572F44C2-1C89-4C0F-8234-B98E02BBEE64}"/>
              </a:ext>
            </a:extLst>
          </p:cNvPr>
          <p:cNvSpPr/>
          <p:nvPr/>
        </p:nvSpPr>
        <p:spPr>
          <a:xfrm>
            <a:off x="431132" y="730433"/>
            <a:ext cx="8084218" cy="800219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How many operations are needed for this algorithm?</a:t>
            </a:r>
          </a:p>
        </p:txBody>
      </p:sp>
    </p:spTree>
    <p:extLst>
      <p:ext uri="{BB962C8B-B14F-4D97-AF65-F5344CB8AC3E}">
        <p14:creationId xmlns:p14="http://schemas.microsoft.com/office/powerpoint/2010/main" val="37909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Growth Rate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3000" dirty="0"/>
                  <a:t>At the current stage, we will ignore details and focus on the </a:t>
                </a:r>
                <a:r>
                  <a:rPr lang="en-US" altLang="zh-CN" sz="3000" dirty="0">
                    <a:solidFill>
                      <a:srgbClr val="FF0000"/>
                    </a:solidFill>
                  </a:rPr>
                  <a:t>growth rate </a:t>
                </a:r>
                <a:r>
                  <a:rPr lang="en-US" altLang="zh-CN" sz="3000" dirty="0"/>
                  <a:t>of the cost.</a:t>
                </a:r>
              </a:p>
              <a:p>
                <a:r>
                  <a:rPr lang="en-US" altLang="zh-CN" sz="3000" dirty="0"/>
                  <a:t>Under our level of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granularity, the following two cost functions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=6</m:t>
                    </m:r>
                    <m:r>
                      <a:rPr lang="en-US" altLang="zh-CN" i="1">
                        <a:latin typeface="Cambria Math"/>
                      </a:rPr>
                      <m:t>𝑛</m:t>
                    </m:r>
                    <m:r>
                      <a:rPr lang="en-US" altLang="zh-CN" i="1">
                        <a:latin typeface="Cambria Math"/>
                      </a:rPr>
                      <m:t>+4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𝑛</m:t>
                    </m:r>
                    <m:r>
                      <a:rPr lang="en-US" altLang="zh-CN" i="1">
                        <a:latin typeface="Cambria Math"/>
                      </a:rPr>
                      <m:t>)=</m:t>
                    </m:r>
                    <m:r>
                      <a:rPr lang="en-US" altLang="zh-CN" i="1">
                        <a:latin typeface="Cambria Math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pPr marL="342900" lvl="1" indent="0">
                  <a:buNone/>
                </a:pPr>
                <a:r>
                  <a:rPr lang="en-US" altLang="zh-CN" sz="3000" dirty="0"/>
                  <a:t>are of the same </a:t>
                </a:r>
                <a:r>
                  <a:rPr lang="en-US" altLang="zh-CN" sz="3000" dirty="0">
                    <a:solidFill>
                      <a:srgbClr val="C00000"/>
                    </a:solidFill>
                  </a:rPr>
                  <a:t>growth rate</a:t>
                </a:r>
                <a:r>
                  <a:rPr lang="en-US" altLang="zh-CN" sz="3000" dirty="0"/>
                  <a:t>.</a:t>
                </a:r>
              </a:p>
              <a:p>
                <a:pPr marL="342900" lvl="1" indent="0">
                  <a:buNone/>
                </a:pPr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801" r="-1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724752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Growth Rate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27177"/>
            <a:ext cx="8591550" cy="2816224"/>
          </a:xfrm>
        </p:spPr>
        <p:txBody>
          <a:bodyPr>
            <a:normAutofit fontScale="92500"/>
          </a:bodyPr>
          <a:lstStyle/>
          <a:p>
            <a:r>
              <a:rPr lang="en-US" altLang="zh-CN" sz="3000" dirty="0">
                <a:ea typeface="宋体" charset="-122"/>
              </a:rPr>
              <a:t>Describes </a:t>
            </a:r>
            <a:r>
              <a:rPr lang="en-US" altLang="zh-CN" sz="3000" dirty="0">
                <a:solidFill>
                  <a:srgbClr val="0070C0"/>
                </a:solidFill>
                <a:ea typeface="宋体" charset="-122"/>
              </a:rPr>
              <a:t>how fast the time cost increases </a:t>
            </a:r>
            <a:r>
              <a:rPr lang="en-US" altLang="zh-CN" sz="3000" dirty="0">
                <a:ea typeface="宋体" charset="-122"/>
              </a:rPr>
              <a:t>as the </a:t>
            </a:r>
            <a:r>
              <a:rPr lang="en-US" altLang="zh-CN" sz="3000" dirty="0">
                <a:solidFill>
                  <a:srgbClr val="FF0000"/>
                </a:solidFill>
                <a:ea typeface="宋体" charset="-122"/>
              </a:rPr>
              <a:t>input size n  </a:t>
            </a:r>
            <a:r>
              <a:rPr lang="en-US" altLang="zh-CN" sz="3000" dirty="0">
                <a:ea typeface="宋体" charset="-122"/>
              </a:rPr>
              <a:t>increases.</a:t>
            </a:r>
          </a:p>
          <a:p>
            <a:r>
              <a:rPr lang="en-US" altLang="zh-CN" sz="3000" dirty="0">
                <a:ea typeface="宋体" charset="-122"/>
              </a:rPr>
              <a:t>The idea is to establish a relative </a:t>
            </a:r>
            <a:r>
              <a:rPr lang="en-US" altLang="zh-CN" sz="3000" dirty="0">
                <a:solidFill>
                  <a:srgbClr val="C00000"/>
                </a:solidFill>
                <a:ea typeface="宋体" charset="-122"/>
              </a:rPr>
              <a:t>order (</a:t>
            </a:r>
            <a:r>
              <a:rPr lang="zh-CN" altLang="en-US" sz="3000" dirty="0">
                <a:solidFill>
                  <a:srgbClr val="C00000"/>
                </a:solidFill>
                <a:ea typeface="宋体" charset="-122"/>
              </a:rPr>
              <a:t>阶</a:t>
            </a:r>
            <a:r>
              <a:rPr lang="en-US" altLang="zh-CN" sz="3000" dirty="0">
                <a:solidFill>
                  <a:srgbClr val="C00000"/>
                </a:solidFill>
                <a:ea typeface="宋体" charset="-122"/>
              </a:rPr>
              <a:t>)</a:t>
            </a:r>
            <a:r>
              <a:rPr lang="en-US" altLang="zh-CN" sz="3000" dirty="0">
                <a:ea typeface="宋体" charset="-122"/>
              </a:rPr>
              <a:t> among the cost functions.</a:t>
            </a:r>
          </a:p>
          <a:p>
            <a:r>
              <a:rPr lang="en-US" altLang="zh-CN" sz="3000" dirty="0">
                <a:ea typeface="宋体" charset="-122"/>
              </a:rPr>
              <a:t>Applies only </a:t>
            </a:r>
            <a:r>
              <a:rPr lang="en-US" altLang="zh-CN" sz="3000" dirty="0">
                <a:solidFill>
                  <a:srgbClr val="C00000"/>
                </a:solidFill>
                <a:latin typeface="+mn-lt"/>
              </a:rPr>
              <a:t>for large n.</a:t>
            </a:r>
          </a:p>
          <a:p>
            <a:r>
              <a:rPr lang="en-US" altLang="zh-CN" sz="3000" dirty="0">
                <a:solidFill>
                  <a:srgbClr val="0070C0"/>
                </a:solidFill>
                <a:latin typeface="+mn-lt"/>
                <a:ea typeface="宋体" charset="-122"/>
              </a:rPr>
              <a:t>Typical Order Groups (also known as Complexity Class):</a:t>
            </a:r>
          </a:p>
          <a:p>
            <a:endParaRPr lang="en-US" altLang="zh-CN" sz="1400" dirty="0">
              <a:solidFill>
                <a:srgbClr val="C00000"/>
              </a:solidFill>
              <a:latin typeface="+mn-lt"/>
              <a:ea typeface="宋体" charset="-122"/>
            </a:endParaRPr>
          </a:p>
          <a:p>
            <a:endParaRPr lang="en-US" altLang="zh-CN" sz="3200" dirty="0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0707115"/>
                  </p:ext>
                </p:extLst>
              </p:nvPr>
            </p:nvGraphicFramePr>
            <p:xfrm>
              <a:off x="1409700" y="4540251"/>
              <a:ext cx="6324600" cy="18288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2857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67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Constant Time: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)=1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Logarithmic</a:t>
                          </a:r>
                          <a:r>
                            <a:rPr lang="en-US" sz="2400" baseline="0" dirty="0"/>
                            <a:t> Time: 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Polynomial Time: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Exponential Time:</a:t>
                          </a:r>
                          <a:endParaRPr lang="en-US" sz="2400" dirty="0">
                            <a:solidFill>
                              <a:schemeClr val="bg2">
                                <a:lumMod val="9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en-US" sz="2400" dirty="0">
                            <a:solidFill>
                              <a:schemeClr val="bg2">
                                <a:lumMod val="9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0707115"/>
                  </p:ext>
                </p:extLst>
              </p:nvPr>
            </p:nvGraphicFramePr>
            <p:xfrm>
              <a:off x="1409700" y="4540251"/>
              <a:ext cx="6324600" cy="18288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2857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67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Constant Time:</a:t>
                          </a:r>
                          <a:endParaRPr lang="en-US" sz="2400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2601" t="-9333" r="-351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Logarithmic</a:t>
                          </a:r>
                          <a:r>
                            <a:rPr lang="en-US" sz="2400" baseline="0" dirty="0" smtClean="0"/>
                            <a:t> Time: 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2601" t="-107895" r="-351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Polynomial Time: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2601" t="-210667" r="-351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Exponential Time:</a:t>
                          </a:r>
                          <a:endParaRPr lang="en-US" sz="2400" dirty="0">
                            <a:solidFill>
                              <a:schemeClr val="bg2">
                                <a:lumMod val="9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82601" t="-310667" r="-351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4577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An Analogous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93749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If we place these terms in our grading system 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91350" y="6356351"/>
            <a:ext cx="20574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022346"/>
                  </p:ext>
                </p:extLst>
              </p:nvPr>
            </p:nvGraphicFramePr>
            <p:xfrm>
              <a:off x="1447800" y="2362200"/>
              <a:ext cx="6324600" cy="27432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Order</a:t>
                          </a:r>
                          <a:r>
                            <a:rPr lang="en-US" sz="2400" baseline="0" dirty="0"/>
                            <a:t> Group</a:t>
                          </a:r>
                          <a:endParaRPr lang="en-US" sz="2400" b="1" dirty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sz="2400" dirty="0"/>
                            <a:t>Order</a:t>
                          </a:r>
                          <a:endParaRPr lang="en-US" sz="2400" b="1" dirty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Function</a:t>
                          </a:r>
                          <a:endParaRPr lang="en-US" sz="2400" b="1" dirty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PASS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90,</a:t>
                          </a:r>
                          <a:r>
                            <a:rPr lang="en-US" sz="2400" baseline="0" dirty="0"/>
                            <a:t> 92.5, 93.67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75.4,</a:t>
                          </a:r>
                          <a:r>
                            <a:rPr lang="en-US" sz="2400" baseline="0" dirty="0"/>
                            <a:t> 81, 82.3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C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63, 62.2,</a:t>
                          </a:r>
                          <a:r>
                            <a:rPr lang="en-US" sz="2400" baseline="0" dirty="0"/>
                            <a:t> 66.7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D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51, 53.1,</a:t>
                          </a:r>
                          <a:r>
                            <a:rPr lang="en-US" sz="2400" baseline="0" dirty="0"/>
                            <a:t> 55.7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FAIL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0, 12, 24.5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022346"/>
                  </p:ext>
                </p:extLst>
              </p:nvPr>
            </p:nvGraphicFramePr>
            <p:xfrm>
              <a:off x="1447800" y="2362200"/>
              <a:ext cx="6324600" cy="27432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Order</a:t>
                          </a:r>
                          <a:r>
                            <a:rPr lang="en-US" sz="2400" baseline="0" dirty="0" smtClean="0"/>
                            <a:t> Group</a:t>
                          </a:r>
                          <a:endParaRPr lang="en-US" sz="2400" b="1" dirty="0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3491" t="-9333" r="-208019" b="-5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/>
                            <a:t>Function</a:t>
                          </a:r>
                          <a:endParaRPr lang="en-US" sz="2400" b="1" dirty="0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rowSpan="4"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PASS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A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/>
                            <a:t>90,</a:t>
                          </a:r>
                          <a:r>
                            <a:rPr lang="en-US" sz="2400" baseline="0" dirty="0" smtClean="0"/>
                            <a:t> 92.5, 93.67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B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/>
                            <a:t>75.4,</a:t>
                          </a:r>
                          <a:r>
                            <a:rPr lang="en-US" sz="2400" baseline="0" dirty="0" smtClean="0"/>
                            <a:t> 81, 82.3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C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/>
                            <a:t>63, 62.2,</a:t>
                          </a:r>
                          <a:r>
                            <a:rPr lang="en-US" sz="2400" baseline="0" dirty="0" smtClean="0"/>
                            <a:t> 66.7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r"/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D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/>
                            <a:t>51, 53.1,</a:t>
                          </a:r>
                          <a:r>
                            <a:rPr lang="en-US" sz="2400" baseline="0" dirty="0" smtClean="0"/>
                            <a:t> 55.7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/>
                            <a:t>FAIL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F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 smtClean="0"/>
                            <a:t>0, 12, 24.5</a:t>
                          </a:r>
                          <a:endParaRPr lang="en-US" sz="24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091782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Growth Rate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307975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CN" sz="3000" dirty="0">
                    <a:latin typeface="+mn-lt"/>
                    <a:ea typeface="宋体" pitchFamily="2" charset="-122"/>
                  </a:rPr>
                  <a:t>The details that we ignored when we compare growth rate</a:t>
                </a:r>
              </a:p>
              <a:p>
                <a:pPr marL="800100" lvl="1" indent="-457200">
                  <a:buFont typeface="+mj-lt"/>
                  <a:buAutoNum type="alphaLcParenR"/>
                </a:pPr>
                <a:r>
                  <a:rPr lang="en-US" altLang="zh-CN" dirty="0">
                    <a:solidFill>
                      <a:srgbClr val="0070C0"/>
                    </a:solidFill>
                    <a:latin typeface="+mn-lt"/>
                    <a:ea typeface="宋体" pitchFamily="2" charset="-122"/>
                  </a:rPr>
                  <a:t>The coefficient (</a:t>
                </a:r>
                <a:r>
                  <a:rPr lang="zh-CN" altLang="en-US" dirty="0">
                    <a:solidFill>
                      <a:srgbClr val="0070C0"/>
                    </a:solidFill>
                    <a:latin typeface="+mn-lt"/>
                    <a:ea typeface="宋体" pitchFamily="2" charset="-122"/>
                  </a:rPr>
                  <a:t>系数</a:t>
                </a:r>
                <a:r>
                  <a:rPr lang="en-US" altLang="zh-CN" dirty="0">
                    <a:solidFill>
                      <a:srgbClr val="0070C0"/>
                    </a:solidFill>
                    <a:latin typeface="+mn-lt"/>
                    <a:ea typeface="宋体" pitchFamily="2" charset="-122"/>
                  </a:rPr>
                  <a:t>)</a:t>
                </a:r>
              </a:p>
              <a:p>
                <a:pPr marL="800100" lvl="1" indent="-457200">
                  <a:buFont typeface="+mj-lt"/>
                  <a:buAutoNum type="alphaLcParenR"/>
                </a:pPr>
                <a:r>
                  <a:rPr lang="en-US" altLang="zh-CN" dirty="0">
                    <a:solidFill>
                      <a:srgbClr val="0070C0"/>
                    </a:solidFill>
                    <a:latin typeface="+mn-lt"/>
                    <a:ea typeface="宋体" pitchFamily="2" charset="-122"/>
                  </a:rPr>
                  <a:t> Less significant terms</a:t>
                </a:r>
              </a:p>
              <a:p>
                <a:pPr marL="342900" lvl="1" indent="0">
                  <a:buNone/>
                </a:pPr>
                <a:endParaRPr lang="en-US" altLang="zh-CN" dirty="0">
                  <a:solidFill>
                    <a:srgbClr val="0070C0"/>
                  </a:solidFill>
                  <a:latin typeface="+mn-lt"/>
                  <a:ea typeface="宋体" pitchFamily="2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Only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the leading term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(</a:t>
                </a:r>
                <a:r>
                  <a:rPr lang="en-US" altLang="zh-CN" dirty="0">
                    <a:ea typeface="宋体" charset="-122"/>
                  </a:rPr>
                  <a:t>the </a:t>
                </a:r>
                <a:r>
                  <a:rPr lang="en-US" altLang="zh-CN" dirty="0"/>
                  <a:t>term with the highest exponent)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is  considered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chemeClr val="tx1"/>
                  </a:solidFill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Are the functions below of the same grow rate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?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ea typeface="宋体" pitchFamily="2" charset="-122"/>
                  </a:rPr>
                  <a:t>In other words, are they of order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+mn-lt"/>
                    <a:ea typeface="宋体" pitchFamily="2" charset="-122"/>
                  </a:rPr>
                  <a:t>?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3079750"/>
              </a:xfrm>
              <a:blipFill>
                <a:blip r:embed="rId3"/>
                <a:stretch>
                  <a:fillRect l="-1111" t="-4158" r="-963" b="-2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717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7627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40587"/>
                  </p:ext>
                </p:extLst>
              </p:nvPr>
            </p:nvGraphicFramePr>
            <p:xfrm>
              <a:off x="2185937" y="4617640"/>
              <a:ext cx="3467100" cy="1828800"/>
            </p:xfrm>
            <a:graphic>
              <a:graphicData uri="http://schemas.openxmlformats.org/drawingml/2006/table">
                <a:tbl>
                  <a:tblPr>
                    <a:tableStyleId>{7E9639D4-E3E2-4D34-9284-5A2195B3D0D7}</a:tableStyleId>
                  </a:tblPr>
                  <a:tblGrid>
                    <a:gridCol w="3467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109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)=3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ysClr val="windowText" lastClr="00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11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11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119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)=2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40587"/>
                  </p:ext>
                </p:extLst>
              </p:nvPr>
            </p:nvGraphicFramePr>
            <p:xfrm>
              <a:off x="2185937" y="4617640"/>
              <a:ext cx="3467100" cy="1828800"/>
            </p:xfrm>
            <a:graphic>
              <a:graphicData uri="http://schemas.openxmlformats.org/drawingml/2006/table">
                <a:tbl>
                  <a:tblPr>
                    <a:tableStyleId>{7E9639D4-E3E2-4D34-9284-5A2195B3D0D7}</a:tableStyleId>
                  </a:tblPr>
                  <a:tblGrid>
                    <a:gridCol w="3467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1333" r="-175" b="-3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100000" r="-175" b="-21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202667" r="-175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302667" r="-175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815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Asymptotic Analysis of algorithms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458200" cy="41306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3000" dirty="0"/>
                  <a:t>Asymptotic analysis (</a:t>
                </a:r>
                <a:r>
                  <a:rPr lang="zh-CN" altLang="en-US" sz="3000" dirty="0"/>
                  <a:t>渐进分析</a:t>
                </a:r>
                <a:r>
                  <a:rPr lang="en-US" altLang="zh-CN" sz="3000" dirty="0"/>
                  <a:t>) concerns how the running time of an algorithm increases with the size of input </a:t>
                </a:r>
                <a:r>
                  <a:rPr lang="en-US" altLang="zh-CN" sz="3000" i="1" dirty="0">
                    <a:solidFill>
                      <a:srgbClr val="0070C0"/>
                    </a:solidFill>
                  </a:rPr>
                  <a:t>in the limit</a:t>
                </a:r>
                <a:r>
                  <a:rPr lang="en-US" altLang="zh-CN" sz="3000" dirty="0"/>
                  <a:t>, as the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size of the input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increases without bound (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→∞).</m:t>
                    </m:r>
                  </m:oMath>
                </a14:m>
                <a:endParaRPr lang="en-US" altLang="zh-CN" sz="3000" dirty="0">
                  <a:solidFill>
                    <a:srgbClr val="0070C0"/>
                  </a:solidFill>
                </a:endParaRPr>
              </a:p>
              <a:p>
                <a:r>
                  <a:rPr lang="en-US" altLang="zh-CN" sz="3000" dirty="0"/>
                  <a:t>Asymptotic notations: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1"/>
                <a:r>
                  <a:rPr lang="en-US" altLang="zh-CN" sz="2600" dirty="0"/>
                  <a:t>Big-O (O), </a:t>
                </a:r>
              </a:p>
              <a:p>
                <a:pPr lvl="1"/>
                <a:r>
                  <a:rPr lang="en-US" altLang="zh-CN" sz="2600" dirty="0"/>
                  <a:t>Big-Omega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2600" dirty="0"/>
                  <a:t>),</a:t>
                </a:r>
              </a:p>
              <a:p>
                <a:pPr lvl="1"/>
                <a:r>
                  <a:rPr lang="en-US" altLang="zh-CN" sz="2600" dirty="0"/>
                  <a:t>Big-Theta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zh-CN" sz="2600" dirty="0"/>
                  <a:t>).</a:t>
                </a:r>
                <a:br>
                  <a:rPr lang="en-US" altLang="zh-CN" dirty="0"/>
                </a:b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458200" cy="4130674"/>
              </a:xfrm>
              <a:blipFill>
                <a:blip r:embed="rId2"/>
                <a:stretch>
                  <a:fillRect l="-1441" t="-3250" r="-1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9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256912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Big-O: The upper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" y="1600200"/>
                <a:ext cx="9144000" cy="4159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ea typeface="宋体" charset="-122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宋体" charset="-122"/>
                  </a:rPr>
                  <a:t>, we denote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O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宋体" charset="-122"/>
                  </a:rPr>
                  <a:t> the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charset="-122"/>
                  </a:rPr>
                  <a:t>set</a:t>
                </a:r>
                <a:r>
                  <a:rPr lang="en-US" altLang="zh-CN" sz="2400" dirty="0">
                    <a:solidFill>
                      <a:schemeClr val="tx1"/>
                    </a:solidFill>
                    <a:ea typeface="宋体" charset="-122"/>
                  </a:rPr>
                  <a:t> of functions:</a:t>
                </a:r>
                <a:endParaRPr lang="en-US" altLang="zh-CN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宋体" charset="-122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𝐎</m:t>
                      </m:r>
                      <m:d>
                        <m:dPr>
                          <m:ctrlPr>
                            <a:rPr lang="en-US" altLang="zh-CN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={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: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𝑖𝑛𝑡𝑒𝑔𝑒𝑟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𝑠𝑢𝑐h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𝑡h𝑎𝑡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b="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0≤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,∀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solidFill>
                    <a:srgbClr val="0070C0"/>
                  </a:solidFill>
                  <a:ea typeface="宋体" charset="-122"/>
                </a:endParaRPr>
              </a:p>
              <a:p>
                <a:r>
                  <a:rPr lang="en-US" altLang="zh-CN" sz="2400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 is</a:t>
                </a:r>
                <a:r>
                  <a:rPr lang="en-US" altLang="zh-CN" sz="2400" dirty="0">
                    <a:solidFill>
                      <a:schemeClr val="accent1"/>
                    </a:solidFill>
                    <a:ea typeface="宋体" charset="-122"/>
                  </a:rPr>
                  <a:t> </a:t>
                </a:r>
                <a:r>
                  <a:rPr lang="en-US" altLang="zh-CN" sz="2400" dirty="0">
                    <a:solidFill>
                      <a:srgbClr val="C00000"/>
                    </a:solidFill>
                    <a:ea typeface="宋体" charset="-122"/>
                  </a:rPr>
                  <a:t>less than or equal to </a:t>
                </a:r>
                <a:r>
                  <a:rPr lang="en-US" altLang="zh-CN" sz="2400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endParaRPr lang="en-US" altLang="zh-CN" dirty="0">
                  <a:ea typeface="宋体" pitchFamily="2" charset="-122"/>
                </a:endParaRPr>
              </a:p>
              <a:p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600200"/>
                <a:ext cx="9144000" cy="4159250"/>
              </a:xfrm>
              <a:blipFill>
                <a:blip r:embed="rId3"/>
                <a:stretch>
                  <a:fillRect l="-867" t="-2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 descr="fig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280168"/>
            <a:ext cx="2644139" cy="257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633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Big-O: The upper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394002" cy="415925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 is an asymptotic </a:t>
                </a:r>
                <a:r>
                  <a:rPr lang="en-US" altLang="zh-CN" sz="2400" dirty="0">
                    <a:solidFill>
                      <a:srgbClr val="0070C0"/>
                    </a:solidFill>
                    <a:ea typeface="宋体" charset="-122"/>
                  </a:rPr>
                  <a:t>upper bound</a:t>
                </a:r>
                <a:r>
                  <a:rPr lang="en-US" altLang="zh-CN" sz="2400" dirty="0">
                    <a:solidFill>
                      <a:schemeClr val="accent1"/>
                    </a:solidFill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宋体" charset="-122"/>
                      </a:rPr>
                      <m:t>.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grows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no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faster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than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for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 “</m:t>
                    </m:r>
                    <m:r>
                      <m:rPr>
                        <m:nor/>
                      </m:rPr>
                      <a:rPr lang="en-US" altLang="zh-CN" sz="2400" dirty="0" smtClean="0">
                        <a:solidFill>
                          <a:srgbClr val="FF0000"/>
                        </a:solidFill>
                        <a:ea typeface="宋体" charset="-122"/>
                      </a:rPr>
                      <m:t>large</m:t>
                    </m:r>
                    <m:r>
                      <m:rPr>
                        <m:nor/>
                      </m:rPr>
                      <a:rPr lang="en-US" altLang="zh-CN" sz="2400" dirty="0">
                        <a:ea typeface="宋体" charset="-122"/>
                      </a:rPr>
                      <m:t>”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r>
                  <a:rPr lang="en-US" altLang="zh-CN" sz="2400" dirty="0">
                    <a:ea typeface="宋体" charset="-122"/>
                  </a:rPr>
                  <a:t>Remark: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ea typeface="宋体" charset="-122"/>
                      </a:rPr>
                      <m:t>O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 means that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 </a:t>
                </a:r>
                <a:r>
                  <a:rPr lang="en-US" altLang="zh-CN" sz="2400" dirty="0">
                    <a:solidFill>
                      <a:srgbClr val="C00000"/>
                    </a:solidFill>
                    <a:ea typeface="宋体" charset="-122"/>
                  </a:rPr>
                  <a:t>is an element of set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ea typeface="宋体" charset="-122"/>
                      </a:rPr>
                      <m:t>O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endParaRPr lang="en-US" altLang="zh-CN" dirty="0">
                  <a:ea typeface="宋体" pitchFamily="2" charset="-122"/>
                </a:endParaRPr>
              </a:p>
              <a:p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394002" cy="4159250"/>
              </a:xfrm>
              <a:blipFill>
                <a:blip r:embed="rId3"/>
                <a:stretch>
                  <a:fillRect l="-944" t="-2053" r="-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 descr="fig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679825"/>
            <a:ext cx="2644139" cy="257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702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Big-O: The upper bound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1"/>
                <a:ext cx="7620000" cy="1905000"/>
              </a:xfrm>
              <a:noFill/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the worst-case time cost for an algorithm,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𝑔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)=</m:t>
                      </m:r>
                      <m:r>
                        <a:rPr lang="en-US" sz="28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400" dirty="0"/>
                  <a:t>Then the time cost for </a:t>
                </a:r>
                <a:r>
                  <a:rPr lang="en-US" sz="2400" i="1" dirty="0"/>
                  <a:t>A</a:t>
                </a:r>
                <a:r>
                  <a:rPr lang="en-US" sz="2400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</a:rPr>
                        <m:t>O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</a:rPr>
                        <m:t>O</m:t>
                      </m:r>
                      <m:r>
                        <a:rPr lang="en-US" sz="2800" b="0" i="1" smtClean="0">
                          <a:latin typeface="Cambria Math"/>
                        </a:rPr>
                        <m:t>(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1"/>
                <a:ext cx="7620000" cy="1905000"/>
              </a:xfrm>
              <a:blipFill>
                <a:blip r:embed="rId3"/>
                <a:stretch>
                  <a:fillRect l="-1118" t="-41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533400" y="3657600"/>
                <a:ext cx="8229600" cy="2286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Meaning: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As input size increases, </a:t>
                </a:r>
                <a:r>
                  <a:rPr lang="en-US" i="1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’s time cost will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  <a:latin typeface="+mn-lt"/>
                  </a:rPr>
                  <a:t>not grow faster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 than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does</a:t>
                </a:r>
                <a:endParaRPr lang="en-US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𝑔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is the </a:t>
                </a:r>
                <a:r>
                  <a:rPr lang="en-US" dirty="0">
                    <a:solidFill>
                      <a:srgbClr val="0070C0"/>
                    </a:solidFill>
                    <a:latin typeface="+mn-lt"/>
                  </a:rPr>
                  <a:t>upper bound 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of </a:t>
                </a:r>
                <a:r>
                  <a:rPr lang="en-US" i="1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’s time cost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657600"/>
                <a:ext cx="8229600" cy="2286000"/>
              </a:xfrm>
              <a:prstGeom prst="rect">
                <a:avLst/>
              </a:prstGeom>
              <a:blipFill rotWithShape="0">
                <a:blip r:embed="rId4"/>
                <a:stretch>
                  <a:fillRect l="-1704" t="-3467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425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Big-O: The upper bound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7850" y="1690689"/>
                <a:ext cx="7886700" cy="4351338"/>
              </a:xfrm>
            </p:spPr>
            <p:txBody>
              <a:bodyPr/>
              <a:lstStyle/>
              <a:p>
                <a:r>
                  <a:rPr lang="en-US" altLang="zh-CN" dirty="0">
                    <a:ea typeface="宋体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 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  Then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(best answer, asymptotically tight)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: reads </a:t>
                </a:r>
                <a:r>
                  <a:rPr lang="en-US" altLang="zh-CN" dirty="0">
                    <a:latin typeface="Arial"/>
                    <a:ea typeface="宋体" charset="-122"/>
                  </a:rPr>
                  <a:t>“</a:t>
                </a:r>
                <a:r>
                  <a:rPr lang="en-US" altLang="zh-CN" dirty="0">
                    <a:solidFill>
                      <a:srgbClr val="00B0F0"/>
                    </a:solidFill>
                    <a:ea typeface="宋体" charset="-122"/>
                  </a:rPr>
                  <a:t>order n-squared</a:t>
                </a:r>
                <a:r>
                  <a:rPr lang="en-US" altLang="zh-CN" dirty="0">
                    <a:latin typeface="Arial"/>
                    <a:ea typeface="宋体" charset="-122"/>
                  </a:rPr>
                  <a:t>”</a:t>
                </a:r>
                <a:r>
                  <a:rPr lang="en-US" altLang="zh-CN" dirty="0">
                    <a:ea typeface="宋体" charset="-122"/>
                  </a:rPr>
                  <a:t> or </a:t>
                </a:r>
                <a:r>
                  <a:rPr lang="en-US" altLang="zh-CN" dirty="0">
                    <a:latin typeface="Arial"/>
                    <a:ea typeface="宋体" charset="-122"/>
                  </a:rPr>
                  <a:t>“</a:t>
                </a:r>
                <a:r>
                  <a:rPr lang="en-US" altLang="zh-CN" dirty="0">
                    <a:ea typeface="宋体" charset="-122"/>
                  </a:rPr>
                  <a:t>Big-O n-squared</a:t>
                </a:r>
                <a:r>
                  <a:rPr lang="en-US" altLang="zh-CN" dirty="0">
                    <a:latin typeface="Arial"/>
                    <a:ea typeface="宋体" charset="-122"/>
                  </a:rPr>
                  <a:t>”</a:t>
                </a:r>
                <a:r>
                  <a:rPr lang="en-US" altLang="zh-CN" sz="3200" dirty="0">
                    <a:ea typeface="宋体" charset="-122"/>
                  </a:rPr>
                  <a:t> 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7850" y="1690689"/>
                <a:ext cx="7886700" cy="4351338"/>
              </a:xfrm>
              <a:blipFill>
                <a:blip r:embed="rId3"/>
                <a:stretch>
                  <a:fillRect l="-1391" t="-2241" r="-3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017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Big-O: More Examples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7800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/ 2 – 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7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+ 10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+ 3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10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/ 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10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sin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(1);  10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(1), 2023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(1)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e>
                    </m:nary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 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𝑙𝑜𝑔</m:t>
                    </m:r>
                    <m:r>
                      <a:rPr lang="en-US" altLang="zh-CN" sz="2400" i="1" baseline="30000" dirty="0" err="1">
                        <a:latin typeface="Cambria Math" panose="02040503050406030204" pitchFamily="18" charset="0"/>
                        <a:ea typeface="宋体" charset="-122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𝑓𝑜𝑟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𝑎𝑛𝑦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𝑐𝑜𝑛𝑠𝑡𝑎𝑛𝑡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𝑘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sz="2400" b="0" i="1" baseline="30000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), 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𝑏𝑢𝑡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 2</m:t>
                    </m:r>
                    <m:r>
                      <a:rPr lang="en-US" altLang="zh-CN" sz="2400" b="0" i="1" baseline="30000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𝑖𝑠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𝑛𝑜𝑡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  <a:ea typeface="宋体" charset="-122"/>
                      </a:rPr>
                      <m:t>10</m:t>
                    </m:r>
                    <m:r>
                      <a:rPr lang="en-US" altLang="zh-CN" sz="2400" b="0" i="1" baseline="30000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𝑖𝑠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𝑛𝑜𝑡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sz="2400" b="0" i="1" baseline="30000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40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0"/>
                <a:ext cx="7886700" cy="4351338"/>
              </a:xfrm>
              <a:blipFill>
                <a:blip r:embed="rId3"/>
                <a:stretch>
                  <a:fillRect l="-3787" t="-281" b="-18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80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62950" cy="1325563"/>
          </a:xfrm>
        </p:spPr>
        <p:txBody>
          <a:bodyPr/>
          <a:lstStyle/>
          <a:p>
            <a:r>
              <a:rPr lang="en-US" altLang="zh-CN" dirty="0"/>
              <a:t>Math Review: </a:t>
            </a:r>
            <a:r>
              <a:rPr lang="en-US" altLang="zh-CN" dirty="0">
                <a:ea typeface="宋体" charset="-122"/>
              </a:rPr>
              <a:t>logarithmic functions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6356351"/>
            <a:ext cx="3086100" cy="365125"/>
          </a:xfrm>
        </p:spPr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37" name="灯片编号占位符 3"/>
          <p:cNvSpPr txBox="1">
            <a:spLocks/>
          </p:cNvSpPr>
          <p:nvPr/>
        </p:nvSpPr>
        <p:spPr>
          <a:xfrm>
            <a:off x="6534150" y="63404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51037"/>
                <a:ext cx="78867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𝑖𝑓𝑓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den>
                    </m:f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51037"/>
                <a:ext cx="78867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455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58150" cy="1325563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Some Rules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716089"/>
                <a:ext cx="7981950" cy="4351338"/>
              </a:xfrm>
            </p:spPr>
            <p:txBody>
              <a:bodyPr/>
              <a:lstStyle/>
              <a:p>
                <a:r>
                  <a:rPr lang="en-US" altLang="zh-CN" dirty="0">
                    <a:ea typeface="宋体" charset="-122"/>
                  </a:rPr>
                  <a:t>When considering the growth rate of a function using Big-O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Ignore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lower order terms </a:t>
                </a:r>
                <a:r>
                  <a:rPr lang="en-US" altLang="zh-CN" dirty="0">
                    <a:ea typeface="宋体" charset="-122"/>
                  </a:rPr>
                  <a:t>and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coefficient</a:t>
                </a:r>
                <a:r>
                  <a:rPr lang="en-US" altLang="zh-CN" dirty="0">
                    <a:solidFill>
                      <a:schemeClr val="accent1"/>
                    </a:solidFill>
                    <a:ea typeface="宋体" charset="-122"/>
                  </a:rPr>
                  <a:t>s</a:t>
                </a:r>
                <a:r>
                  <a:rPr lang="en-US" altLang="zh-CN" dirty="0">
                    <a:ea typeface="宋体" charset="-122"/>
                  </a:rPr>
                  <a:t> of the highest-order term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No need to specify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base of logarithm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Changing the base from one constant to another changes the value of the logarithm by only a constant factor</a:t>
                </a:r>
              </a:p>
              <a:p>
                <a:pPr lvl="1"/>
                <a:r>
                  <a:rPr lang="en-US" altLang="zh-CN" dirty="0">
                    <a:latin typeface="+mn-lt"/>
                    <a:ea typeface="宋体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lt"/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r>
                  <a:rPr lang="en-US" altLang="zh-CN" dirty="0">
                    <a:latin typeface="+mn-lt"/>
                    <a:ea typeface="宋体" charset="-122"/>
                  </a:rPr>
                  <a:t>, 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2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sz="2200" i="1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+ 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sz="2200" i="1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max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⁡(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)),  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))),</m:t>
                    </m:r>
                  </m:oMath>
                </a14:m>
                <a:endParaRPr lang="en-US" altLang="zh-CN" sz="2200" dirty="0">
                  <a:solidFill>
                    <a:srgbClr val="0070C0"/>
                  </a:solidFill>
                  <a:latin typeface="+mn-lt"/>
                  <a:ea typeface="宋体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2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sz="2200" i="1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∗ 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sz="2200" i="1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 ∗ 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2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endParaRPr lang="en-US" altLang="zh-CN" sz="2200" dirty="0">
                  <a:solidFill>
                    <a:srgbClr val="0070C0"/>
                  </a:solidFill>
                  <a:latin typeface="+mn-lt"/>
                  <a:ea typeface="宋体" charset="-122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716089"/>
                <a:ext cx="7981950" cy="4351338"/>
              </a:xfrm>
              <a:blipFill>
                <a:blip r:embed="rId2"/>
                <a:stretch>
                  <a:fillRect l="-1375" t="-2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226819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 of the Rules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37587" y="5181600"/>
                <a:ext cx="4668826" cy="6857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Therefore,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/>
                      </a:rPr>
                      <m:t>𝑂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7587" y="5181600"/>
                <a:ext cx="4668826" cy="685799"/>
              </a:xfrm>
              <a:blipFill>
                <a:blip r:embed="rId2"/>
                <a:stretch>
                  <a:fillRect l="-2611" t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4"/>
              <p:cNvSpPr/>
              <p:nvPr/>
            </p:nvSpPr>
            <p:spPr>
              <a:xfrm>
                <a:off x="1954553" y="1589715"/>
                <a:ext cx="5234895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CN" sz="32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  <m:sSup>
                        <m:sSupPr>
                          <m:ctrlP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altLang="zh-CN" sz="32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32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func>
                        <m:funcPr>
                          <m:ctrlP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32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7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553" y="1589715"/>
                <a:ext cx="523489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五边形 5"/>
          <p:cNvSpPr/>
          <p:nvPr/>
        </p:nvSpPr>
        <p:spPr>
          <a:xfrm rot="16200000">
            <a:off x="2750192" y="2885815"/>
            <a:ext cx="1839285" cy="533398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Coefficient</a:t>
            </a:r>
            <a:endParaRPr lang="zh-CN" altLang="en-US" sz="2000" dirty="0"/>
          </a:p>
        </p:txBody>
      </p:sp>
      <p:sp>
        <p:nvSpPr>
          <p:cNvPr id="9" name="五边形 6"/>
          <p:cNvSpPr/>
          <p:nvPr/>
        </p:nvSpPr>
        <p:spPr>
          <a:xfrm rot="16200000">
            <a:off x="3787284" y="3228714"/>
            <a:ext cx="2525084" cy="533399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Lower Order Term</a:t>
            </a:r>
            <a:endParaRPr lang="zh-CN" altLang="en-US" sz="2000" dirty="0"/>
          </a:p>
        </p:txBody>
      </p:sp>
      <p:sp>
        <p:nvSpPr>
          <p:cNvPr id="10" name="五边形 7"/>
          <p:cNvSpPr/>
          <p:nvPr/>
        </p:nvSpPr>
        <p:spPr>
          <a:xfrm rot="16200000">
            <a:off x="5235084" y="3228714"/>
            <a:ext cx="2525084" cy="533399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Lower Order Term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1182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Big-Omega: The Lower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447800"/>
                <a:ext cx="8991600" cy="342899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ea typeface="宋体" charset="-122"/>
                  </a:rPr>
                  <a:t>,we denote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the set of functions:</a:t>
                </a:r>
                <a:endParaRPr lang="en-US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={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: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</m:t>
                      </m:r>
                      <m:r>
                        <m:rPr>
                          <m:sty m:val="p"/>
                        </m:rP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0≤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,∀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solidFill>
                    <a:srgbClr val="0070C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</a:t>
                </a:r>
                <a:r>
                  <a:rPr lang="en-US" altLang="zh-CN" dirty="0">
                    <a:solidFill>
                      <a:schemeClr val="accent1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a typeface="宋体" charset="-122"/>
                  </a:rPr>
                  <a:t>greater than or equal to </a:t>
                </a:r>
                <a:r>
                  <a:rPr lang="en-US" altLang="zh-CN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447800"/>
                <a:ext cx="8991600" cy="3428999"/>
              </a:xfrm>
              <a:blipFill>
                <a:blip r:embed="rId2"/>
                <a:stretch>
                  <a:fillRect l="-1220" t="-3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 descr="fig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235" y="3972741"/>
            <a:ext cx="2525530" cy="2383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828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Big-Omega: The Lower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1350" y="1460116"/>
                <a:ext cx="8134350" cy="349091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an asymptotic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lower bound</a:t>
                </a:r>
                <a:r>
                  <a:rPr lang="en-US" altLang="zh-CN" dirty="0">
                    <a:solidFill>
                      <a:schemeClr val="accent1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dirty="0">
                        <a:latin typeface="Cambria Math" panose="02040503050406030204" pitchFamily="18" charset="0"/>
                        <a:ea typeface="宋体" charset="-122"/>
                      </a:rPr>
                      <m:t>.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grows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no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b="0" i="0" dirty="0" smtClean="0">
                        <a:ea typeface="宋体" charset="-122"/>
                      </a:rPr>
                      <m:t>slower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than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for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 “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large</m:t>
                    </m:r>
                    <m:r>
                      <m:rPr>
                        <m:nor/>
                      </m:rPr>
                      <a:rPr lang="en-US" altLang="zh-CN" dirty="0">
                        <a:ea typeface="宋体" charset="-122"/>
                      </a:rPr>
                      <m:t>”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</a:rPr>
                  <a:t>Remark: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>
                    <a:ea typeface="宋体" charset="-122"/>
                  </a:rPr>
                  <a:t> means that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ea typeface="宋体" charset="-122"/>
                  </a:rPr>
                  <a:t> is a member of set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350" y="1460116"/>
                <a:ext cx="8134350" cy="3490911"/>
              </a:xfrm>
              <a:blipFill>
                <a:blip r:embed="rId2"/>
                <a:stretch>
                  <a:fillRect l="-1348" t="-29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7" name="Picture 6" descr="fig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235" y="3972741"/>
            <a:ext cx="2525530" cy="2383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162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Big-Omega: The Lower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050" y="1752600"/>
                <a:ext cx="8134350" cy="349091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3200" dirty="0">
                    <a:latin typeface="+mn-lt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320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US" altLang="zh-CN" sz="2800" b="0" dirty="0">
                    <a:solidFill>
                      <a:srgbClr val="0070C0"/>
                    </a:solidFill>
                    <a:latin typeface="+mn-lt"/>
                    <a:ea typeface="Cambria Math" panose="02040503050406030204" pitchFamily="18" charset="0"/>
                  </a:rPr>
                  <a:t>(best answer)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800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1752600"/>
                <a:ext cx="8134350" cy="3490911"/>
              </a:xfrm>
              <a:blipFill>
                <a:blip r:embed="rId2"/>
                <a:stretch>
                  <a:fillRect l="-1723" t="-3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65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Big-Theta: Tight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04825" y="1447800"/>
                <a:ext cx="8334376" cy="35052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ea typeface="宋体" charset="-122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,we denote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 the set of functions:</a:t>
                </a:r>
                <a:endParaRPr lang="en-US" altLang="zh-CN" sz="2400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={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: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0≤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,∀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solidFill>
                    <a:srgbClr val="0070C0"/>
                  </a:solidFill>
                  <a:ea typeface="宋体" charset="-122"/>
                </a:endParaRPr>
              </a:p>
              <a:p>
                <a:r>
                  <a:rPr lang="en-US" altLang="zh-CN" sz="2400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 </a:t>
                </a:r>
                <a:r>
                  <a:rPr lang="en-US" altLang="zh-CN" sz="2400" dirty="0">
                    <a:solidFill>
                      <a:srgbClr val="C00000"/>
                    </a:solidFill>
                    <a:ea typeface="宋体" charset="-122"/>
                  </a:rPr>
                  <a:t>equals to </a:t>
                </a:r>
                <a:r>
                  <a:rPr lang="en-US" altLang="zh-CN" sz="2400" dirty="0">
                    <a:ea typeface="宋体" charset="-122"/>
                  </a:rPr>
                  <a:t>the growth rate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altLang="zh-CN" sz="2000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825" y="1447800"/>
                <a:ext cx="8334376" cy="3505200"/>
              </a:xfrm>
              <a:blipFill>
                <a:blip r:embed="rId2"/>
                <a:stretch>
                  <a:fillRect l="-1024" t="-2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pic>
        <p:nvPicPr>
          <p:cNvPr id="7" name="Picture 6" descr="fig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056803"/>
            <a:ext cx="2921178" cy="26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779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Big-Theta: Tight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宋体" charset="-122"/>
                  </a:rPr>
                  <a:t> is an asymptotic </a:t>
                </a:r>
                <a:r>
                  <a:rPr lang="en-US" altLang="zh-CN" sz="2400" dirty="0">
                    <a:solidFill>
                      <a:srgbClr val="0070C0"/>
                    </a:solidFill>
                    <a:ea typeface="宋体" charset="-122"/>
                  </a:rPr>
                  <a:t>tight bound</a:t>
                </a:r>
                <a:r>
                  <a:rPr lang="en-US" altLang="zh-CN" sz="2400" dirty="0">
                    <a:solidFill>
                      <a:schemeClr val="accent1"/>
                    </a:solidFill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r>
                  <a:rPr lang="en-US" altLang="zh-CN" sz="2400" dirty="0">
                    <a:ea typeface="宋体" charset="-122"/>
                  </a:rPr>
                  <a:t>Remark: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 means that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 is a member of set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altLang="zh-CN" sz="2000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  <a:blipFill>
                <a:blip r:embed="rId2"/>
                <a:stretch>
                  <a:fillRect l="-1024" t="-2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pic>
        <p:nvPicPr>
          <p:cNvPr id="7" name="Picture 6" descr="fig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306728"/>
            <a:ext cx="2921178" cy="26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488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Big-Theta: Tight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Courier New" pitchFamily="49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ourier New" pitchFamily="49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ourier New" pitchFamily="49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Courier New" pitchFamily="49" charset="0"/>
                      </a:rPr>
                      <m:t>+2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ourier New" pitchFamily="49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ourier New" pitchFamily="49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49" charset="0"/>
                      </a:rPr>
                      <m:t>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itchFamily="49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>
                  <a:ea typeface="Cambria Math" panose="02040503050406030204" pitchFamily="18" charset="0"/>
                  <a:cs typeface="Courier New" pitchFamily="49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ourier New" pitchFamily="49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ourier New" pitchFamily="49" charset="0"/>
                          </a:rPr>
                          <m:t>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ourier New" pitchFamily="49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ourier New" pitchFamily="49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Courier New" pitchFamily="49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ourier New" pitchFamily="49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ourier New" pitchFamily="49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ourier New" pitchFamily="49" charset="0"/>
                      </a:rPr>
                      <m:t>+5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ourier New" pitchFamily="49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49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itchFamily="49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itchFamily="49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000" dirty="0">
                  <a:cs typeface="Courier New" pitchFamily="49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dirty="0"/>
                  <a:t>Note that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CN" dirty="0"/>
                  <a:t>if and only if </a:t>
                </a:r>
              </a:p>
              <a:p>
                <a:pPr lvl="1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 = Ω(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CN" sz="2600" dirty="0"/>
                  <a:t>and</a:t>
                </a:r>
              </a:p>
              <a:p>
                <a:pPr lvl="1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altLang="zh-CN" sz="17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altLang="zh-CN" sz="1600" dirty="0"/>
                </a:br>
                <a:endParaRPr lang="en-US" altLang="zh-CN" sz="1600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  <a:blipFill>
                <a:blip r:embed="rId2"/>
                <a:stretch>
                  <a:fillRect l="-1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4015018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 Rules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a polynomial of degree k, then </a:t>
                </a:r>
              </a:p>
              <a:p>
                <a:pP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𝑇</m:t>
                      </m:r>
                      <m:r>
                        <a:rPr lang="en-US" altLang="zh-CN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(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𝑛</m:t>
                      </m:r>
                      <m:r>
                        <a:rPr lang="en-US" altLang="zh-CN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) =</m:t>
                      </m:r>
                      <m:r>
                        <m:rPr>
                          <m:sty m:val="p"/>
                        </m:rPr>
                        <a:rPr lang="el-GR" altLang="zh-CN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(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𝑛</m:t>
                      </m:r>
                      <m:r>
                        <a:rPr lang="en-US" altLang="zh-CN" i="1" baseline="30000" dirty="0" err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𝑘</m:t>
                      </m:r>
                      <m:r>
                        <a:rPr lang="en-US" altLang="zh-CN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).</m:t>
                      </m:r>
                    </m:oMath>
                  </m:oMathPara>
                </a14:m>
                <a:endParaRPr lang="en-US" altLang="zh-CN" dirty="0">
                  <a:solidFill>
                    <a:srgbClr val="0070C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ea typeface="宋体" charset="-122"/>
                  </a:rPr>
                  <a:t>For logarithmic functions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𝑙𝑜𝑔</m:t>
                    </m:r>
                    <m:r>
                      <a:rPr lang="en-US" altLang="zh-CN" i="1" baseline="-25000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𝑚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宋体" charset="-122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)= </m:t>
                    </m:r>
                    <m:r>
                      <m:rPr>
                        <m:sty m:val="p"/>
                      </m:rPr>
                      <a:rPr lang="el-GR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⁡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.</a:t>
                </a:r>
                <a:br>
                  <a:rPr lang="en-US" altLang="zh-CN" sz="1600" dirty="0"/>
                </a:br>
                <a:endParaRPr lang="en-US" altLang="zh-CN" sz="1600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89090"/>
                <a:ext cx="8334376" cy="3505200"/>
              </a:xfrm>
              <a:blipFill>
                <a:blip r:embed="rId2"/>
                <a:stretch>
                  <a:fillRect l="-1317" t="-2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929848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00843"/>
            <a:ext cx="7848600" cy="838200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Typical Growth Rates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97038"/>
            <a:ext cx="7848600" cy="4800600"/>
          </a:xfrm>
        </p:spPr>
        <p:txBody>
          <a:bodyPr/>
          <a:lstStyle/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613899"/>
            <a:ext cx="6096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427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Growth rates </a:t>
            </a:r>
            <a:r>
              <a:rPr lang="en-US" altLang="zh-CN" dirty="0">
                <a:latin typeface="Times New Roman"/>
                <a:ea typeface="宋体" charset="-122"/>
              </a:rPr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89090"/>
                <a:ext cx="8312150" cy="45069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Doubling the input size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 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log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⁡2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  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2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4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8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= 2</m:t>
                    </m:r>
                    <m:r>
                      <a:rPr lang="en-US" altLang="zh-CN" b="0" i="1" baseline="30000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 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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Advantages</a:t>
                </a:r>
                <a:r>
                  <a:rPr lang="en-US" altLang="zh-CN" dirty="0">
                    <a:ea typeface="宋体" charset="-122"/>
                  </a:rPr>
                  <a:t> of algorithm analysis 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To eliminate bad algorithms early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pinpoints the bottlenecks, which are worth coding carefully</a:t>
                </a:r>
              </a:p>
              <a:p>
                <a:endParaRPr lang="en-US" altLang="zh-CN" sz="1600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89090"/>
                <a:ext cx="8312150" cy="4506910"/>
              </a:xfrm>
              <a:blipFill>
                <a:blip r:embed="rId2"/>
                <a:stretch>
                  <a:fillRect l="-1320" t="-2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73651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3"/>
              </a:rPr>
              <a:t>Visualization and Comparison of Sorting Algorithms</a:t>
            </a:r>
            <a:endParaRPr lang="en-US" sz="2400" dirty="0"/>
          </a:p>
          <a:p>
            <a:r>
              <a:rPr lang="en-US" sz="2400" dirty="0"/>
              <a:t>Algorithms used: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68855"/>
              </p:ext>
            </p:extLst>
          </p:nvPr>
        </p:nvGraphicFramePr>
        <p:xfrm>
          <a:off x="2895600" y="2590800"/>
          <a:ext cx="3657600" cy="2667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Selection</a:t>
                      </a:r>
                      <a:r>
                        <a:rPr lang="en-US" sz="2000" baseline="0" dirty="0"/>
                        <a:t> Sort</a:t>
                      </a:r>
                      <a:endParaRPr lang="en-US" sz="2000" dirty="0"/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Shell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Insertion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Merge Sort</a:t>
                      </a:r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Quick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Heap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Bubble Sort</a:t>
                      </a:r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Comb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Cocktail Sort</a:t>
                      </a:r>
                    </a:p>
                  </a:txBody>
                  <a:tcPr anchor="ctr" anchorCtr="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883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990600" y="4114800"/>
            <a:ext cx="6705600" cy="1524000"/>
          </a:xfrm>
          <a:prstGeom prst="rect">
            <a:avLst/>
          </a:prstGeom>
          <a:solidFill>
            <a:schemeClr val="bg2"/>
          </a:solidFill>
          <a:ln w="3175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Using L' Hopital's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54648" y="1447800"/>
                <a:ext cx="7803552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solidFill>
                      <a:srgbClr val="0070C0"/>
                    </a:solidFill>
                    <a:ea typeface="宋体" charset="-122"/>
                  </a:rPr>
                  <a:t>L' </a:t>
                </a:r>
                <a:r>
                  <a:rPr lang="en-US" altLang="zh-CN" sz="2400" dirty="0" err="1">
                    <a:solidFill>
                      <a:srgbClr val="0070C0"/>
                    </a:solidFill>
                    <a:ea typeface="宋体" charset="-122"/>
                  </a:rPr>
                  <a:t>Hopital's</a:t>
                </a:r>
                <a:r>
                  <a:rPr lang="en-US" altLang="zh-CN" sz="2400" dirty="0">
                    <a:solidFill>
                      <a:srgbClr val="0070C0"/>
                    </a:solidFill>
                    <a:ea typeface="宋体" charset="-122"/>
                  </a:rPr>
                  <a:t> rule</a:t>
                </a: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If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i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func>
                  </m:oMath>
                </a14:m>
                <a:r>
                  <a:rPr lang="en-US" altLang="zh-CN" sz="2000" dirty="0">
                    <a:ea typeface="宋体" charset="-122"/>
                  </a:rPr>
                  <a:t> and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宋体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20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func>
                  </m:oMath>
                </a14:m>
                <a:endParaRPr lang="en-US" altLang="zh-CN" sz="2000" dirty="0">
                  <a:ea typeface="宋体" charset="-122"/>
                  <a:sym typeface="Symbol" pitchFamily="18" charset="2"/>
                </a:endParaRPr>
              </a:p>
              <a:p>
                <a:pPr lvl="1">
                  <a:buFont typeface="Wingdings" pitchFamily="2" charset="2"/>
                  <a:buNone/>
                </a:pPr>
                <a:r>
                  <a:rPr lang="en-US" altLang="zh-CN" sz="2000" dirty="0">
                    <a:ea typeface="宋体" charset="-122"/>
                    <a:sym typeface="Symbol" pitchFamily="18" charset="2"/>
                  </a:rPr>
                  <a:t>   then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宋体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𝑛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 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altLang="zh-CN" sz="2000" dirty="0">
                    <a:ea typeface="宋体" charset="-122"/>
                    <a:sym typeface="Symbol" pitchFamily="18" charset="2"/>
                  </a:rPr>
                  <a:t>         </a:t>
                </a:r>
                <a:endParaRPr lang="en-US" altLang="zh-CN" sz="2000" dirty="0">
                  <a:ea typeface="宋体" charset="-122"/>
                </a:endParaRPr>
              </a:p>
              <a:p>
                <a:endParaRPr lang="en-US" altLang="zh-CN" sz="2000" dirty="0">
                  <a:ea typeface="宋体" charset="-122"/>
                </a:endParaRPr>
              </a:p>
              <a:p>
                <a:r>
                  <a:rPr lang="en-US" altLang="zh-CN" sz="2000" dirty="0">
                    <a:ea typeface="宋体" charset="-122"/>
                  </a:rPr>
                  <a:t>Determine the relative growth rates (using L' </a:t>
                </a:r>
                <a:r>
                  <a:rPr lang="en-US" altLang="zh-CN" sz="2000" dirty="0" err="1">
                    <a:ea typeface="宋体" charset="-122"/>
                  </a:rPr>
                  <a:t>Hopital's</a:t>
                </a:r>
                <a:r>
                  <a:rPr lang="en-US" altLang="zh-CN" sz="2000" dirty="0">
                    <a:ea typeface="宋体" charset="-122"/>
                  </a:rPr>
                  <a:t> rule if necessary)</a:t>
                </a: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compute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宋体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if 0:		</a:t>
                </a:r>
                <a14:m>
                  <m:oMath xmlns:m="http://schemas.openxmlformats.org/officeDocument/2006/math"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宋体" charset="-122"/>
                      </a:rPr>
                      <m:t>      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n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))   </m:t>
                    </m:r>
                  </m:oMath>
                </a14:m>
                <a:r>
                  <a:rPr lang="en-US" altLang="zh-CN" sz="1800" dirty="0">
                    <a:solidFill>
                      <a:srgbClr val="0070C0"/>
                    </a:solidFill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d>
                      <m:dPr>
                        <m:ctrlPr>
                          <a:rPr lang="en-US" altLang="zh-CN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𝑖𝑠</m:t>
                    </m:r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𝑛𝑜𝑡</m:t>
                    </m:r>
                    <m:r>
                      <a:rPr lang="en-US" altLang="zh-CN" sz="18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 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</m:t>
                    </m:r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endParaRPr lang="en-US" altLang="zh-CN" sz="1800" dirty="0">
                  <a:solidFill>
                    <a:srgbClr val="0070C0"/>
                  </a:solidFill>
                  <a:ea typeface="宋体" charset="-122"/>
                </a:endParaRP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if constant </a:t>
                </a:r>
                <a:r>
                  <a:rPr lang="en-US" altLang="zh-CN" sz="2000" dirty="0">
                    <a:ea typeface="宋体" charset="-122"/>
                    <a:sym typeface="Symbol" pitchFamily="18" charset="2"/>
                  </a:rPr>
                  <a:t> </a:t>
                </a:r>
                <a:r>
                  <a:rPr lang="en-US" altLang="zh-CN" sz="2000" dirty="0">
                    <a:ea typeface="宋体" charset="-122"/>
                  </a:rPr>
                  <a:t>0: 	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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endParaRPr lang="en-US" altLang="zh-CN" sz="2000" dirty="0">
                  <a:ea typeface="宋体" charset="-122"/>
                </a:endParaRP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if </a:t>
                </a:r>
                <a:r>
                  <a:rPr lang="en-US" altLang="zh-CN" sz="2000" dirty="0">
                    <a:ea typeface="宋体" charset="-122"/>
                    <a:sym typeface="Symbol" pitchFamily="18" charset="2"/>
                  </a:rPr>
                  <a:t></a:t>
                </a:r>
                <a:r>
                  <a:rPr lang="en-US" altLang="zh-CN" sz="2000" dirty="0">
                    <a:ea typeface="宋体" charset="-122"/>
                  </a:rPr>
                  <a:t>:		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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))    </m:t>
                    </m:r>
                  </m:oMath>
                </a14:m>
                <a:r>
                  <a:rPr lang="en-US" altLang="zh-CN" sz="1800" dirty="0">
                    <a:solidFill>
                      <a:srgbClr val="0070C0"/>
                    </a:solidFill>
                    <a:ea typeface="宋体" charset="-12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𝑓</m:t>
                    </m:r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18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rgbClr val="0070C0"/>
                    </a:solidFill>
                    <a:ea typeface="宋体" charset="-122"/>
                  </a:rPr>
                  <a:t> is not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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𝑔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1800" b="0" i="1" dirty="0" smtClean="0">
                        <a:solidFill>
                          <a:srgbClr val="0070C0"/>
                        </a:solidFill>
                        <a:latin typeface="Cambria Math" charset="0"/>
                        <a:ea typeface="宋体" charset="-122"/>
                      </a:rPr>
                      <m:t>𝑛</m:t>
                    </m:r>
                    <m:r>
                      <a:rPr lang="en-US" altLang="zh-CN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))</m:t>
                    </m:r>
                  </m:oMath>
                </a14:m>
                <a:endParaRPr lang="en-US" altLang="zh-CN" sz="2000" dirty="0">
                  <a:solidFill>
                    <a:srgbClr val="0070C0"/>
                  </a:solidFill>
                  <a:ea typeface="宋体" charset="-122"/>
                </a:endParaRPr>
              </a:p>
              <a:p>
                <a:pPr lvl="1"/>
                <a:r>
                  <a:rPr lang="en-US" altLang="zh-CN" sz="2000" dirty="0">
                    <a:ea typeface="宋体" charset="-122"/>
                  </a:rPr>
                  <a:t>limit oscillates: no relation</a:t>
                </a:r>
              </a:p>
            </p:txBody>
          </p:sp>
        </mc:Choice>
        <mc:Fallback xmlns="">
          <p:sp>
            <p:nvSpPr>
              <p:cNvPr id="778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4648" y="1447800"/>
                <a:ext cx="7803552" cy="4351338"/>
              </a:xfrm>
              <a:blipFill rotWithShape="0">
                <a:blip r:embed="rId2"/>
                <a:stretch>
                  <a:fillRect l="-1015" t="-1964" b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9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determine growth rate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5950" y="1524000"/>
                <a:ext cx="7886700" cy="4351338"/>
              </a:xfrm>
            </p:spPr>
            <p:txBody>
              <a:bodyPr/>
              <a:lstStyle/>
              <a:p>
                <a:r>
                  <a:rPr lang="en-US" altLang="zh-CN" dirty="0">
                    <a:ea typeface="宋体" charset="-122"/>
                  </a:rPr>
                  <a:t>For loops:</a:t>
                </a:r>
              </a:p>
              <a:p>
                <a:pPr lvl="1"/>
                <a:r>
                  <a:rPr lang="en-US" altLang="zh-CN" dirty="0">
                    <a:ea typeface="宋体" charset="-122"/>
                  </a:rPr>
                  <a:t>at most the running time of the statements inside the for-loop (including tests) times the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number of iterations</a:t>
                </a:r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</a:rPr>
                  <a:t>Nested for loops: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the running time of the statement multiplied by the product of the sizes of all the for-loops.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5950" y="1524000"/>
                <a:ext cx="7886700" cy="4351338"/>
              </a:xfrm>
              <a:blipFill>
                <a:blip r:embed="rId2"/>
                <a:stretch>
                  <a:fillRect l="-1391" t="-2241" r="-386"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4600" y="3170872"/>
            <a:ext cx="516231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182880" tIns="182880" rIns="182880" bIns="18288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=0; i&lt;n; i++)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j=0; j&lt;n; j++)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k++;</a:t>
            </a:r>
          </a:p>
        </p:txBody>
      </p:sp>
    </p:spTree>
    <p:extLst>
      <p:ext uri="{BB962C8B-B14F-4D97-AF65-F5344CB8AC3E}">
        <p14:creationId xmlns:p14="http://schemas.microsoft.com/office/powerpoint/2010/main" val="23443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determine growth rate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Consecutive statements: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Just add the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baseline="30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r>
                  <a:rPr lang="en-US" altLang="zh-CN" sz="2400" dirty="0">
                    <a:latin typeface="+mn-lt"/>
                    <a:ea typeface="宋体" charset="-122"/>
                  </a:rPr>
                  <a:t>For</a:t>
                </a:r>
                <a:r>
                  <a:rPr lang="en-US" altLang="zh-CN" sz="2400" dirty="0">
                    <a:latin typeface="Courier New" pitchFamily="49" charset="0"/>
                    <a:ea typeface="宋体" charset="-122"/>
                  </a:rPr>
                  <a:t> 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Courier New" pitchFamily="49" charset="0"/>
                    <a:ea typeface="宋体" charset="-122"/>
                  </a:rPr>
                  <a:t>If S1 Else S2</a:t>
                </a:r>
              </a:p>
              <a:p>
                <a:pPr lvl="1"/>
                <a:r>
                  <a:rPr lang="en-US" altLang="zh-CN" sz="2200" dirty="0">
                    <a:ea typeface="宋体" charset="-122"/>
                  </a:rPr>
                  <a:t>never more than the running time of the </a:t>
                </a:r>
                <a:r>
                  <a:rPr lang="en-US" altLang="zh-CN" sz="2200" dirty="0">
                    <a:solidFill>
                      <a:srgbClr val="FF0000"/>
                    </a:solidFill>
                    <a:ea typeface="宋体" charset="-122"/>
                  </a:rPr>
                  <a:t>test</a:t>
                </a:r>
                <a:r>
                  <a:rPr lang="en-US" altLang="zh-CN" sz="2200" dirty="0">
                    <a:ea typeface="宋体" charset="-122"/>
                  </a:rPr>
                  <a:t> plus the larger of the running times of S1 and S2.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  <a:blipFill>
                <a:blip r:embed="rId2"/>
                <a:stretch>
                  <a:fillRect l="-1385" t="-1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0" y="1981200"/>
            <a:ext cx="5162311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182880" tIns="182880" rIns="182880" bIns="18288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=0; i&lt;n; i++)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   k++;</a:t>
            </a:r>
            <a:endParaRPr lang="en-US" sz="240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=0; i&lt;n; i++)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j=0; j&lt;n; j++)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k++;</a:t>
            </a:r>
          </a:p>
        </p:txBody>
      </p:sp>
    </p:spTree>
    <p:extLst>
      <p:ext uri="{BB962C8B-B14F-4D97-AF65-F5344CB8AC3E}">
        <p14:creationId xmlns:p14="http://schemas.microsoft.com/office/powerpoint/2010/main" val="13134698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determine growth rate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Recursions: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Find out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recurrence relation </a:t>
                </a:r>
                <a:r>
                  <a:rPr lang="en-US" altLang="zh-CN" dirty="0">
                    <a:ea typeface="宋体" charset="-122"/>
                  </a:rPr>
                  <a:t>between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cost functions </a:t>
                </a:r>
                <a:r>
                  <a:rPr lang="en-US" altLang="zh-CN" dirty="0">
                    <a:ea typeface="宋体" charset="-122"/>
                  </a:rPr>
                  <a:t>of different inputs: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𝑇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  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Then solve the recurrence relation,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800" dirty="0">
                    <a:ea typeface="宋体" charset="-122"/>
                  </a:rPr>
                  <a:t>.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  <a:blipFill>
                <a:blip r:embed="rId2"/>
                <a:stretch>
                  <a:fillRect l="-1385" t="-1956" r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93074" y="1743055"/>
            <a:ext cx="4062651" cy="1908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182880" tIns="182880" rIns="182880" bIns="18288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sum(</a:t>
            </a:r>
            <a:r>
              <a:rPr lang="en-US" sz="20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(n&lt;=0)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 + sum(n-1);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73646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Solving </a:t>
            </a:r>
            <a:r>
              <a:rPr lang="en-US" altLang="zh-CN" dirty="0">
                <a:ea typeface="宋体" charset="-122"/>
              </a:rPr>
              <a:t>Recurrence </a:t>
            </a:r>
            <a:r>
              <a:rPr lang="en-US" altLang="zh-CN" dirty="0"/>
              <a:t>Relation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ea typeface="宋体" charset="-122"/>
                  </a:rPr>
                  <a:t>Let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                     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lt"/>
                  </a:rPr>
                  <a:t>Then</a:t>
                </a:r>
                <a:r>
                  <a:rPr lang="en-US" altLang="zh-CN" i="1" dirty="0">
                    <a:latin typeface="Cambria Math" panose="020405030504060302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     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+ 1 + 1	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+ 2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     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+ 3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	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=… 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	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	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101"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75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determine growth rate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Recursions: Example 2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endParaRPr lang="en-US" altLang="zh-CN" sz="2000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Find out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charset="-122"/>
                  </a:rPr>
                  <a:t>recurrence relation </a:t>
                </a:r>
                <a:r>
                  <a:rPr lang="en-US" altLang="zh-CN" dirty="0">
                    <a:ea typeface="宋体" charset="-122"/>
                  </a:rPr>
                  <a:t>between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cost functions </a:t>
                </a:r>
                <a:r>
                  <a:rPr lang="en-US" altLang="zh-CN" dirty="0">
                    <a:ea typeface="宋体" charset="-122"/>
                  </a:rPr>
                  <a:t>of different input </a:t>
                </a:r>
                <a:r>
                  <a:rPr lang="en-US" altLang="zh-CN" i="1" dirty="0">
                    <a:ea typeface="宋体" charset="-122"/>
                  </a:rPr>
                  <a:t>n</a:t>
                </a:r>
                <a:r>
                  <a:rPr lang="en-US" altLang="zh-CN" dirty="0">
                    <a:ea typeface="宋体" charset="-122"/>
                  </a:rPr>
                  <a:t>: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charset="-122"/>
                        </a:rPr>
                        <m:t>𝑇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  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宋体" charset="-122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>
                  <a:ea typeface="宋体" charset="-122"/>
                </a:endParaRPr>
              </a:p>
              <a:p>
                <a:pPr lvl="1"/>
                <a:r>
                  <a:rPr lang="en-US" altLang="zh-CN" dirty="0">
                    <a:ea typeface="宋体" charset="-122"/>
                  </a:rPr>
                  <a:t>Then solve the recurrence relation,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2800" dirty="0">
                    <a:ea typeface="宋体" charset="-122"/>
                  </a:rPr>
                  <a:t>.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371600"/>
                <a:ext cx="7924800" cy="4984751"/>
              </a:xfrm>
              <a:blipFill>
                <a:blip r:embed="rId2"/>
                <a:stretch>
                  <a:fillRect l="-1385" t="-1956" r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93074" y="1743055"/>
            <a:ext cx="4062651" cy="1908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182880" tIns="182880" rIns="182880" bIns="18288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fac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(n&lt;=0)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1;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 + fac(n/2);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755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A7D970-73C1-4018-AFB4-81420599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785BD8-BC90-40BE-9AF7-FDCFC072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3C42DB-027C-4164-8476-00FBB803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32" y="0"/>
            <a:ext cx="6776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7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4337</TotalTime>
  <Words>4053</Words>
  <Application>Microsoft Office PowerPoint</Application>
  <PresentationFormat>全屏显示(4:3)</PresentationFormat>
  <Paragraphs>609</Paragraphs>
  <Slides>48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Adobe Arabic</vt:lpstr>
      <vt:lpstr>Adobe Garamond Pro</vt:lpstr>
      <vt:lpstr>Adobe Myungjo Std M</vt:lpstr>
      <vt:lpstr>DengXian</vt:lpstr>
      <vt:lpstr>宋体</vt:lpstr>
      <vt:lpstr>微软雅黑 Light</vt:lpstr>
      <vt:lpstr>Arial</vt:lpstr>
      <vt:lpstr>Calibri</vt:lpstr>
      <vt:lpstr>Cambria Math</vt:lpstr>
      <vt:lpstr>Courier New</vt:lpstr>
      <vt:lpstr>Mangal</vt:lpstr>
      <vt:lpstr>Symbol</vt:lpstr>
      <vt:lpstr>Times New Roman</vt:lpstr>
      <vt:lpstr>Wingdings</vt:lpstr>
      <vt:lpstr>Office Theme</vt:lpstr>
      <vt:lpstr>Data Structures and Algorithms  Lecture 5: Analysis of Algorithms</vt:lpstr>
      <vt:lpstr>Outline</vt:lpstr>
      <vt:lpstr>What is an Algorithm?</vt:lpstr>
      <vt:lpstr>Algorithm Description</vt:lpstr>
      <vt:lpstr>PowerPoint 演示文稿</vt:lpstr>
      <vt:lpstr>Algorithm Description</vt:lpstr>
      <vt:lpstr>Pseudo-Code</vt:lpstr>
      <vt:lpstr>Algorithm Analysis</vt:lpstr>
      <vt:lpstr>Algorithm Example</vt:lpstr>
      <vt:lpstr>Algorithm Example</vt:lpstr>
      <vt:lpstr>Algorithm Example</vt:lpstr>
      <vt:lpstr>Discussion</vt:lpstr>
      <vt:lpstr>Pre-assumption for Algorithm Analysis</vt:lpstr>
      <vt:lpstr>Algorithm Analysis - What</vt:lpstr>
      <vt:lpstr>Algorithm Analysis - What</vt:lpstr>
      <vt:lpstr>Algorithm Analysis - What</vt:lpstr>
      <vt:lpstr>Example</vt:lpstr>
      <vt:lpstr>Example</vt:lpstr>
      <vt:lpstr>Growth Rate</vt:lpstr>
      <vt:lpstr>Growth Rate</vt:lpstr>
      <vt:lpstr>An Analogous Example</vt:lpstr>
      <vt:lpstr>Growth Rate</vt:lpstr>
      <vt:lpstr>Asymptotic Analysis of algorithms </vt:lpstr>
      <vt:lpstr>Big-O: The upper bound</vt:lpstr>
      <vt:lpstr>Big-O: The upper bound</vt:lpstr>
      <vt:lpstr>Big-O: The upper bound</vt:lpstr>
      <vt:lpstr>Big-O: The upper bound</vt:lpstr>
      <vt:lpstr>Big-O: More Examples</vt:lpstr>
      <vt:lpstr>Math Review: logarithmic functions</vt:lpstr>
      <vt:lpstr>Some Rules</vt:lpstr>
      <vt:lpstr>Application of the Rules</vt:lpstr>
      <vt:lpstr>Big-Omega: The Lower Bound</vt:lpstr>
      <vt:lpstr>Big-Omega: The Lower Bound</vt:lpstr>
      <vt:lpstr>Big-Omega: The Lower Bound</vt:lpstr>
      <vt:lpstr>Big-Theta: Tight Bound</vt:lpstr>
      <vt:lpstr>Big-Theta: Tight Bound</vt:lpstr>
      <vt:lpstr>Big-Theta: Tight Bound</vt:lpstr>
      <vt:lpstr>Some Rules</vt:lpstr>
      <vt:lpstr>Typical Growth Rates</vt:lpstr>
      <vt:lpstr>Growth rates …</vt:lpstr>
      <vt:lpstr>Visualization</vt:lpstr>
      <vt:lpstr>Using L' Hopital's rule</vt:lpstr>
      <vt:lpstr>How to determine growth rate</vt:lpstr>
      <vt:lpstr>How to determine growth rate</vt:lpstr>
      <vt:lpstr>How to determine growth rate</vt:lpstr>
      <vt:lpstr>Solving Recurrence Relation</vt:lpstr>
      <vt:lpstr>How to determine growth rate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Windows User</cp:lastModifiedBy>
  <cp:revision>438</cp:revision>
  <dcterms:created xsi:type="dcterms:W3CDTF">2006-08-16T00:00:00Z</dcterms:created>
  <dcterms:modified xsi:type="dcterms:W3CDTF">2023-11-09T04:55:53Z</dcterms:modified>
</cp:coreProperties>
</file>