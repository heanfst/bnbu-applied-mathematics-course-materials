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notesMasterIdLst>
    <p:notesMasterId r:id="rId23"/>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140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6" name="PlaceHolder 1"/>
          <p:cNvSpPr>
            <a:spLocks noGrp="1" noRot="1" noChangeAspect="1"/>
          </p:cNvSpPr>
          <p:nvPr>
            <p:ph type="sldImg"/>
          </p:nvPr>
        </p:nvSpPr>
        <p:spPr>
          <a:xfrm>
            <a:off x="533520" y="764280"/>
            <a:ext cx="6704640" cy="3771360"/>
          </a:xfrm>
          <a:prstGeom prst="rect">
            <a:avLst/>
          </a:prstGeom>
        </p:spPr>
        <p:txBody>
          <a:bodyPr lIns="0" tIns="0" rIns="0" bIns="0" anchor="ctr"/>
          <a:lstStyle/>
          <a:p>
            <a:pPr algn="ctr"/>
            <a:r>
              <a:rPr lang="en-US" sz="4400" b="0" strike="noStrike" spc="-1">
                <a:latin typeface="Arial"/>
              </a:rPr>
              <a:t>Click to move the slide</a:t>
            </a:r>
          </a:p>
        </p:txBody>
      </p:sp>
      <p:sp>
        <p:nvSpPr>
          <p:cNvPr id="77" name="PlaceHolder 2"/>
          <p:cNvSpPr>
            <a:spLocks noGrp="1"/>
          </p:cNvSpPr>
          <p:nvPr>
            <p:ph type="body"/>
          </p:nvPr>
        </p:nvSpPr>
        <p:spPr>
          <a:xfrm>
            <a:off x="777240" y="4777560"/>
            <a:ext cx="6217560" cy="4525920"/>
          </a:xfrm>
          <a:prstGeom prst="rect">
            <a:avLst/>
          </a:prstGeom>
        </p:spPr>
        <p:txBody>
          <a:bodyPr lIns="0" tIns="0" rIns="0" bIns="0"/>
          <a:lstStyle/>
          <a:p>
            <a:r>
              <a:rPr lang="en-US" sz="2000" b="0" strike="noStrike" spc="-1">
                <a:latin typeface="Arial"/>
              </a:rPr>
              <a:t>Click to edit the notes format</a:t>
            </a:r>
          </a:p>
        </p:txBody>
      </p:sp>
      <p:sp>
        <p:nvSpPr>
          <p:cNvPr id="78" name="PlaceHolder 3"/>
          <p:cNvSpPr>
            <a:spLocks noGrp="1"/>
          </p:cNvSpPr>
          <p:nvPr>
            <p:ph type="hdr"/>
          </p:nvPr>
        </p:nvSpPr>
        <p:spPr>
          <a:xfrm>
            <a:off x="0" y="0"/>
            <a:ext cx="3372840" cy="502560"/>
          </a:xfrm>
          <a:prstGeom prst="rect">
            <a:avLst/>
          </a:prstGeom>
        </p:spPr>
        <p:txBody>
          <a:bodyPr lIns="0" tIns="0" rIns="0" bIns="0"/>
          <a:lstStyle/>
          <a:p>
            <a:r>
              <a:rPr lang="en-US" sz="1400" b="0" strike="noStrike" spc="-1">
                <a:latin typeface="Times New Roman"/>
              </a:rPr>
              <a:t> </a:t>
            </a:r>
          </a:p>
        </p:txBody>
      </p:sp>
      <p:sp>
        <p:nvSpPr>
          <p:cNvPr id="79" name="PlaceHolder 4"/>
          <p:cNvSpPr>
            <a:spLocks noGrp="1"/>
          </p:cNvSpPr>
          <p:nvPr>
            <p:ph type="dt"/>
          </p:nvPr>
        </p:nvSpPr>
        <p:spPr>
          <a:xfrm>
            <a:off x="4399200" y="0"/>
            <a:ext cx="3372840" cy="502560"/>
          </a:xfrm>
          <a:prstGeom prst="rect">
            <a:avLst/>
          </a:prstGeom>
        </p:spPr>
        <p:txBody>
          <a:bodyPr lIns="0" tIns="0" rIns="0" bIns="0"/>
          <a:lstStyle/>
          <a:p>
            <a:pPr algn="r"/>
            <a:r>
              <a:rPr lang="en-US" sz="1400" b="0" strike="noStrike" spc="-1">
                <a:latin typeface="Times New Roman"/>
              </a:rPr>
              <a:t> </a:t>
            </a:r>
          </a:p>
        </p:txBody>
      </p:sp>
      <p:sp>
        <p:nvSpPr>
          <p:cNvPr id="80" name="PlaceHolder 5"/>
          <p:cNvSpPr>
            <a:spLocks noGrp="1"/>
          </p:cNvSpPr>
          <p:nvPr>
            <p:ph type="ftr"/>
          </p:nvPr>
        </p:nvSpPr>
        <p:spPr>
          <a:xfrm>
            <a:off x="0" y="9555480"/>
            <a:ext cx="3372840" cy="502560"/>
          </a:xfrm>
          <a:prstGeom prst="rect">
            <a:avLst/>
          </a:prstGeom>
        </p:spPr>
        <p:txBody>
          <a:bodyPr lIns="0" tIns="0" rIns="0" bIns="0" anchor="b"/>
          <a:lstStyle/>
          <a:p>
            <a:r>
              <a:rPr lang="en-US" sz="1400" b="0" strike="noStrike" spc="-1">
                <a:latin typeface="Times New Roman"/>
              </a:rPr>
              <a:t> </a:t>
            </a:r>
          </a:p>
        </p:txBody>
      </p:sp>
      <p:sp>
        <p:nvSpPr>
          <p:cNvPr id="81" name="PlaceHolder 6"/>
          <p:cNvSpPr>
            <a:spLocks noGrp="1"/>
          </p:cNvSpPr>
          <p:nvPr>
            <p:ph type="sldNum"/>
          </p:nvPr>
        </p:nvSpPr>
        <p:spPr>
          <a:xfrm>
            <a:off x="4399200" y="9555480"/>
            <a:ext cx="3372840" cy="502560"/>
          </a:xfrm>
          <a:prstGeom prst="rect">
            <a:avLst/>
          </a:prstGeom>
        </p:spPr>
        <p:txBody>
          <a:bodyPr lIns="0" tIns="0" rIns="0" bIns="0" anchor="b"/>
          <a:lstStyle/>
          <a:p>
            <a:pPr algn="r"/>
            <a:fld id="{94388B26-8858-4605-BAD7-844C4CD470BB}" type="slidenum">
              <a:rPr lang="en-US" sz="1400" b="0" strike="noStrike" spc="-1">
                <a:latin typeface="Times New Roman"/>
              </a:rPr>
              <a:t>‹#›</a:t>
            </a:fld>
            <a:endParaRPr lang="en-US" sz="1400" b="0" strike="noStrike" spc="-1">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 name="CustomShape 1"/>
          <p:cNvSpPr/>
          <p:nvPr/>
        </p:nvSpPr>
        <p:spPr>
          <a:xfrm>
            <a:off x="3884760" y="8685360"/>
            <a:ext cx="2970720" cy="456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5AB74BFA-031E-47A6-8A8C-244FBA6B9D2E}" type="slidenum">
              <a:rPr lang="en-US" sz="1000" b="0" strike="noStrike" spc="-1">
                <a:solidFill>
                  <a:srgbClr val="000000"/>
                </a:solidFill>
                <a:latin typeface="Times New Roman"/>
                <a:ea typeface="宋体"/>
              </a:rPr>
              <a:t>1</a:t>
            </a:fld>
            <a:endParaRPr lang="en-US" sz="1000" b="0" strike="noStrike" spc="-1">
              <a:latin typeface="Arial"/>
            </a:endParaRPr>
          </a:p>
        </p:txBody>
      </p:sp>
      <p:sp>
        <p:nvSpPr>
          <p:cNvPr id="293" name="PlaceHolder 2"/>
          <p:cNvSpPr>
            <a:spLocks noGrp="1" noRot="1" noChangeAspect="1"/>
          </p:cNvSpPr>
          <p:nvPr>
            <p:ph type="sldImg"/>
          </p:nvPr>
        </p:nvSpPr>
        <p:spPr>
          <a:xfrm>
            <a:off x="911225" y="744538"/>
            <a:ext cx="4957763" cy="3717925"/>
          </a:xfrm>
          <a:prstGeom prst="rect">
            <a:avLst/>
          </a:prstGeom>
        </p:spPr>
      </p:sp>
      <p:sp>
        <p:nvSpPr>
          <p:cNvPr id="294" name="PlaceHolder 3"/>
          <p:cNvSpPr>
            <a:spLocks noGrp="1"/>
          </p:cNvSpPr>
          <p:nvPr>
            <p:ph type="body"/>
          </p:nvPr>
        </p:nvSpPr>
        <p:spPr>
          <a:xfrm>
            <a:off x="677880" y="4711680"/>
            <a:ext cx="5424840" cy="4461480"/>
          </a:xfrm>
          <a:prstGeom prst="rect">
            <a:avLst/>
          </a:prstGeom>
        </p:spPr>
        <p:txBody>
          <a:bodyPr lIns="0" tIns="0" rIns="0" bIns="0"/>
          <a:lstStyle/>
          <a:p>
            <a:pPr marL="216000" indent="-215280">
              <a:lnSpc>
                <a:spcPct val="100000"/>
              </a:lnSpc>
            </a:pPr>
            <a:r>
              <a:rPr lang="en-US" sz="1200" b="0" strike="noStrike" spc="-1">
                <a:solidFill>
                  <a:srgbClr val="000000"/>
                </a:solidFill>
                <a:latin typeface="+mn-lt"/>
                <a:ea typeface="+mn-ea"/>
              </a:rPr>
              <a:t>Start to discuss three of the most simple and basic data structures. Virtually every</a:t>
            </a:r>
            <a:endParaRPr lang="en-US" sz="1200" b="0" strike="noStrike" spc="-1">
              <a:latin typeface="Arial"/>
            </a:endParaRPr>
          </a:p>
          <a:p>
            <a:pPr marL="216000" indent="-215280">
              <a:lnSpc>
                <a:spcPct val="100000"/>
              </a:lnSpc>
            </a:pPr>
            <a:r>
              <a:rPr lang="en-US" sz="1200" b="0" strike="noStrike" spc="-1">
                <a:solidFill>
                  <a:srgbClr val="000000"/>
                </a:solidFill>
                <a:latin typeface="+mn-lt"/>
                <a:ea typeface="+mn-ea"/>
              </a:rPr>
              <a:t>significant program will use at least one of these structures explicitly, and a stack is always implicitly used in a program, whether or not you declare one.</a:t>
            </a:r>
            <a:endParaRPr lang="en-US" sz="1200" b="0" strike="noStrike" spc="-1">
              <a:latin typeface="Arial"/>
            </a:endParaRPr>
          </a:p>
          <a:p>
            <a:pPr marL="216000" indent="-215280">
              <a:lnSpc>
                <a:spcPct val="100000"/>
              </a:lnSpc>
            </a:pPr>
            <a:r>
              <a:rPr lang="en-US" sz="1200" b="0" strike="noStrike" spc="-1">
                <a:solidFill>
                  <a:srgbClr val="000000"/>
                </a:solidFill>
                <a:latin typeface="+mn-lt"/>
                <a:ea typeface="+mn-ea"/>
              </a:rPr>
              <a:t>List, Stack, Queue</a:t>
            </a:r>
            <a:endParaRPr lang="en-US" sz="1200" b="0" strike="noStrike" spc="-1">
              <a:latin typeface="Arial"/>
            </a:endParaRPr>
          </a:p>
          <a:p>
            <a:pPr marL="216000" indent="-215280">
              <a:lnSpc>
                <a:spcPct val="100000"/>
              </a:lnSpc>
            </a:pPr>
            <a:endParaRPr lang="en-US" sz="1200" b="0" strike="noStrike" spc="-1">
              <a:latin typeface="Arial"/>
            </a:endParaRPr>
          </a:p>
          <a:p>
            <a:pPr marL="216000" indent="-215280">
              <a:lnSpc>
                <a:spcPct val="100000"/>
              </a:lnSpc>
            </a:pPr>
            <a:r>
              <a:rPr lang="en-US" sz="1200" b="0" strike="noStrike" spc="-1">
                <a:solidFill>
                  <a:srgbClr val="000000"/>
                </a:solidFill>
                <a:latin typeface="+mn-lt"/>
                <a:ea typeface="+mn-ea"/>
              </a:rPr>
              <a:t>A data structure is a specialized format for organizing and storing data. Any data structure is designed to organize data to suit a specific purpose so that it can be accessed and worked with in appropriate ways. In computer programming, a data structure may be selected or designed to store data for the purpose of working on it with various algorithm.</a:t>
            </a:r>
            <a:endParaRPr lang="en-US" sz="1200" b="0" strike="noStrike" spc="-1">
              <a:latin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 name="CustomShape 1"/>
          <p:cNvSpPr/>
          <p:nvPr/>
        </p:nvSpPr>
        <p:spPr>
          <a:xfrm>
            <a:off x="3884760" y="8685360"/>
            <a:ext cx="2970720" cy="456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F5A975F2-1074-4AFC-8EFD-56A667F5A837}" type="slidenum">
              <a:rPr lang="en-US" sz="1200" b="0" strike="noStrike" spc="-1">
                <a:solidFill>
                  <a:srgbClr val="000000"/>
                </a:solidFill>
                <a:latin typeface="Arial"/>
                <a:ea typeface="宋体"/>
              </a:rPr>
              <a:t>5</a:t>
            </a:fld>
            <a:endParaRPr lang="en-US" sz="1200" b="0" strike="noStrike" spc="-1">
              <a:latin typeface="Arial"/>
            </a:endParaRPr>
          </a:p>
        </p:txBody>
      </p:sp>
      <p:sp>
        <p:nvSpPr>
          <p:cNvPr id="296" name="PlaceHolder 2"/>
          <p:cNvSpPr>
            <a:spLocks noGrp="1" noRot="1" noChangeAspect="1"/>
          </p:cNvSpPr>
          <p:nvPr>
            <p:ph type="sldImg"/>
          </p:nvPr>
        </p:nvSpPr>
        <p:spPr>
          <a:xfrm>
            <a:off x="1143000" y="685800"/>
            <a:ext cx="4570413" cy="3427413"/>
          </a:xfrm>
          <a:prstGeom prst="rect">
            <a:avLst/>
          </a:prstGeom>
        </p:spPr>
      </p:sp>
      <p:sp>
        <p:nvSpPr>
          <p:cNvPr id="297" name="PlaceHolder 3"/>
          <p:cNvSpPr>
            <a:spLocks noGrp="1"/>
          </p:cNvSpPr>
          <p:nvPr>
            <p:ph type="body"/>
          </p:nvPr>
        </p:nvSpPr>
        <p:spPr>
          <a:xfrm>
            <a:off x="685800" y="4343400"/>
            <a:ext cx="5485320" cy="4113720"/>
          </a:xfrm>
          <a:prstGeom prst="rect">
            <a:avLst/>
          </a:prstGeom>
        </p:spPr>
        <p:txBody>
          <a:bodyPr lIns="0" tIns="0" rIns="0" bIns="0"/>
          <a:lstStyle/>
          <a:p>
            <a:endParaRPr lang="en-US" sz="2000" b="0" strike="noStrike" spc="-1">
              <a:latin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8" name="CustomShape 1"/>
          <p:cNvSpPr/>
          <p:nvPr/>
        </p:nvSpPr>
        <p:spPr>
          <a:xfrm>
            <a:off x="3884760" y="8685360"/>
            <a:ext cx="2970720" cy="456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94AF7690-F29B-4BD7-9289-4556B5D512CF}" type="slidenum">
              <a:rPr lang="en-US" sz="1200" b="0" strike="noStrike" spc="-1">
                <a:solidFill>
                  <a:srgbClr val="000000"/>
                </a:solidFill>
                <a:latin typeface="Arial"/>
                <a:ea typeface="宋体"/>
              </a:rPr>
              <a:t>6</a:t>
            </a:fld>
            <a:endParaRPr lang="en-US" sz="1200" b="0" strike="noStrike" spc="-1">
              <a:latin typeface="Arial"/>
            </a:endParaRPr>
          </a:p>
        </p:txBody>
      </p:sp>
      <p:sp>
        <p:nvSpPr>
          <p:cNvPr id="299" name="PlaceHolder 2"/>
          <p:cNvSpPr>
            <a:spLocks noGrp="1" noRot="1" noChangeAspect="1"/>
          </p:cNvSpPr>
          <p:nvPr>
            <p:ph type="sldImg"/>
          </p:nvPr>
        </p:nvSpPr>
        <p:spPr>
          <a:xfrm>
            <a:off x="1143000" y="685800"/>
            <a:ext cx="4570413" cy="3427413"/>
          </a:xfrm>
          <a:prstGeom prst="rect">
            <a:avLst/>
          </a:prstGeom>
        </p:spPr>
      </p:sp>
      <p:sp>
        <p:nvSpPr>
          <p:cNvPr id="300" name="PlaceHolder 3"/>
          <p:cNvSpPr>
            <a:spLocks noGrp="1"/>
          </p:cNvSpPr>
          <p:nvPr>
            <p:ph type="body"/>
          </p:nvPr>
        </p:nvSpPr>
        <p:spPr>
          <a:xfrm>
            <a:off x="685800" y="4343400"/>
            <a:ext cx="5485320" cy="4113720"/>
          </a:xfrm>
          <a:prstGeom prst="rect">
            <a:avLst/>
          </a:prstGeom>
        </p:spPr>
        <p:txBody>
          <a:bodyPr lIns="0" tIns="0" rIns="0" bIns="0"/>
          <a:lstStyle/>
          <a:p>
            <a:endParaRPr lang="en-US" sz="2000" b="0" strike="noStrike" spc="-1">
              <a:latin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 name="PlaceHolder 1"/>
          <p:cNvSpPr>
            <a:spLocks noGrp="1" noRot="1" noChangeAspect="1"/>
          </p:cNvSpPr>
          <p:nvPr>
            <p:ph type="sldImg"/>
          </p:nvPr>
        </p:nvSpPr>
        <p:spPr>
          <a:xfrm>
            <a:off x="1143000" y="685800"/>
            <a:ext cx="4570413" cy="3427413"/>
          </a:xfrm>
          <a:prstGeom prst="rect">
            <a:avLst/>
          </a:prstGeom>
        </p:spPr>
      </p:sp>
      <p:sp>
        <p:nvSpPr>
          <p:cNvPr id="302" name="PlaceHolder 2"/>
          <p:cNvSpPr>
            <a:spLocks noGrp="1"/>
          </p:cNvSpPr>
          <p:nvPr>
            <p:ph type="body"/>
          </p:nvPr>
        </p:nvSpPr>
        <p:spPr>
          <a:xfrm>
            <a:off x="685800" y="4343400"/>
            <a:ext cx="5485320" cy="4113720"/>
          </a:xfrm>
          <a:prstGeom prst="rect">
            <a:avLst/>
          </a:prstGeom>
        </p:spPr>
        <p:txBody>
          <a:bodyPr lIns="0" tIns="0" rIns="0" bIns="0"/>
          <a:lstStyle/>
          <a:p>
            <a:pPr marL="216000" indent="-215280">
              <a:lnSpc>
                <a:spcPct val="100000"/>
              </a:lnSpc>
            </a:pPr>
            <a:r>
              <a:rPr lang="en-US" sz="1200" b="0" strike="noStrike" spc="-1">
                <a:solidFill>
                  <a:srgbClr val="000000"/>
                </a:solidFill>
                <a:latin typeface="+mn-lt"/>
                <a:ea typeface="+mn-ea"/>
              </a:rPr>
              <a:t>This expression is referred to as </a:t>
            </a:r>
            <a:r>
              <a:rPr lang="en-US" sz="1200" b="1" strike="noStrike" spc="-1">
                <a:solidFill>
                  <a:srgbClr val="000000"/>
                </a:solidFill>
                <a:latin typeface="+mn-lt"/>
                <a:ea typeface="+mn-ea"/>
              </a:rPr>
              <a:t>infix</a:t>
            </a:r>
            <a:r>
              <a:rPr lang="en-US" sz="1200" b="0" strike="noStrike" spc="-1">
                <a:solidFill>
                  <a:srgbClr val="000000"/>
                </a:solidFill>
                <a:latin typeface="+mn-lt"/>
                <a:ea typeface="+mn-ea"/>
              </a:rPr>
              <a:t> since the operator is </a:t>
            </a:r>
            <a:r>
              <a:rPr lang="en-US" sz="1200" b="0" i="1" strike="noStrike" spc="-1">
                <a:solidFill>
                  <a:srgbClr val="000000"/>
                </a:solidFill>
                <a:latin typeface="+mn-lt"/>
                <a:ea typeface="+mn-ea"/>
              </a:rPr>
              <a:t>in between</a:t>
            </a:r>
            <a:r>
              <a:rPr lang="en-US" sz="1200" b="0" strike="noStrike" spc="-1">
                <a:solidFill>
                  <a:srgbClr val="000000"/>
                </a:solidFill>
                <a:latin typeface="+mn-lt"/>
                <a:ea typeface="+mn-ea"/>
              </a:rPr>
              <a:t> the two operands that it is working on: A*B</a:t>
            </a:r>
            <a:endParaRPr lang="en-US" sz="1200" b="0" strike="noStrike" spc="-1">
              <a:latin typeface="Arial"/>
            </a:endParaRPr>
          </a:p>
          <a:p>
            <a:pPr marL="216000" indent="-215280">
              <a:lnSpc>
                <a:spcPct val="100000"/>
              </a:lnSpc>
            </a:pPr>
            <a:r>
              <a:rPr lang="en-US" sz="1200" b="0" strike="noStrike" spc="-1">
                <a:solidFill>
                  <a:srgbClr val="000000"/>
                </a:solidFill>
                <a:latin typeface="+mn-lt"/>
                <a:ea typeface="+mn-ea"/>
              </a:rPr>
              <a:t>Prefix expression notation requires that all operators precede the two operands that they work on:  *AB</a:t>
            </a:r>
            <a:endParaRPr lang="en-US" sz="1200" b="0" strike="noStrike" spc="-1">
              <a:latin typeface="Arial"/>
            </a:endParaRPr>
          </a:p>
          <a:p>
            <a:pPr marL="216000" indent="-215280">
              <a:lnSpc>
                <a:spcPct val="100000"/>
              </a:lnSpc>
            </a:pPr>
            <a:r>
              <a:rPr lang="en-US" sz="1200" b="0" strike="noStrike" spc="-1">
                <a:solidFill>
                  <a:srgbClr val="000000"/>
                </a:solidFill>
                <a:latin typeface="+mn-lt"/>
                <a:ea typeface="+mn-ea"/>
              </a:rPr>
              <a:t>Postfix, on the other hand, requires that its operators come after the corresponding operands: AB*</a:t>
            </a:r>
            <a:endParaRPr lang="en-US" sz="1200" b="0" strike="noStrike" spc="-1">
              <a:latin typeface="Arial"/>
            </a:endParaRPr>
          </a:p>
          <a:p>
            <a:pPr marL="216000" indent="-215280">
              <a:lnSpc>
                <a:spcPct val="100000"/>
              </a:lnSpc>
            </a:pPr>
            <a:endParaRPr lang="en-US" sz="1200" b="0" strike="noStrike" spc="-1">
              <a:latin typeface="Arial"/>
            </a:endParaRPr>
          </a:p>
          <a:p>
            <a:pPr marL="216000" indent="-215280">
              <a:lnSpc>
                <a:spcPct val="100000"/>
              </a:lnSpc>
            </a:pPr>
            <a:r>
              <a:rPr lang="en-US" sz="1200" b="0" strike="noStrike" spc="-1">
                <a:solidFill>
                  <a:srgbClr val="000000"/>
                </a:solidFill>
                <a:latin typeface="+mn-lt"/>
                <a:ea typeface="+mn-ea"/>
              </a:rPr>
              <a:t>Only infix notation requires the additional symbols. The order of operations within prefix and postfix expressions is completely determined by the position of the operator and nothing else. In many ways, this makes infix the least desirable notation to use.</a:t>
            </a:r>
            <a:endParaRPr lang="en-US" sz="1200" b="0" strike="noStrike" spc="-1">
              <a:latin typeface="Arial"/>
            </a:endParaRPr>
          </a:p>
          <a:p>
            <a:pPr marL="216000" indent="-215280">
              <a:lnSpc>
                <a:spcPct val="100000"/>
              </a:lnSpc>
            </a:pPr>
            <a:endParaRPr lang="en-US" sz="1200" b="0" strike="noStrike" spc="-1">
              <a:latin typeface="Arial"/>
            </a:endParaRPr>
          </a:p>
          <a:p>
            <a:pPr marL="216000" indent="-215280">
              <a:lnSpc>
                <a:spcPct val="100000"/>
              </a:lnSpc>
            </a:pPr>
            <a:r>
              <a:rPr lang="en-US" sz="1200" b="0" strike="noStrike" spc="-1">
                <a:solidFill>
                  <a:srgbClr val="000000"/>
                </a:solidFill>
                <a:latin typeface="+mn-lt"/>
                <a:ea typeface="+mn-ea"/>
              </a:rPr>
              <a:t>(A+ B)* C        *+ABC      AB+C*     </a:t>
            </a:r>
            <a:endParaRPr lang="en-US" sz="1200" b="0" strike="noStrike" spc="-1">
              <a:latin typeface="Arial"/>
            </a:endParaRPr>
          </a:p>
        </p:txBody>
      </p:sp>
      <p:sp>
        <p:nvSpPr>
          <p:cNvPr id="303" name="CustomShape 3"/>
          <p:cNvSpPr/>
          <p:nvPr/>
        </p:nvSpPr>
        <p:spPr>
          <a:xfrm>
            <a:off x="3884760" y="8685360"/>
            <a:ext cx="2970720" cy="456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D607DA07-C266-435C-83A7-93A199611952}" type="slidenum">
              <a:rPr lang="en-US" sz="1200" b="0" strike="noStrike" spc="-1">
                <a:solidFill>
                  <a:srgbClr val="000000"/>
                </a:solidFill>
                <a:latin typeface="+mn-lt"/>
                <a:ea typeface="+mn-ea"/>
              </a:rPr>
              <a:t>7</a:t>
            </a:fld>
            <a:endParaRPr lang="en-US" sz="1200" b="0" strike="noStrike" spc="-1">
              <a:latin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 name="PlaceHolder 1"/>
          <p:cNvSpPr>
            <a:spLocks noGrp="1" noRot="1" noChangeAspect="1"/>
          </p:cNvSpPr>
          <p:nvPr>
            <p:ph type="sldImg"/>
          </p:nvPr>
        </p:nvSpPr>
        <p:spPr>
          <a:xfrm>
            <a:off x="1143000" y="685800"/>
            <a:ext cx="4570413" cy="3427413"/>
          </a:xfrm>
          <a:prstGeom prst="rect">
            <a:avLst/>
          </a:prstGeom>
        </p:spPr>
      </p:sp>
      <p:sp>
        <p:nvSpPr>
          <p:cNvPr id="305" name="PlaceHolder 2"/>
          <p:cNvSpPr>
            <a:spLocks noGrp="1"/>
          </p:cNvSpPr>
          <p:nvPr>
            <p:ph type="body"/>
          </p:nvPr>
        </p:nvSpPr>
        <p:spPr>
          <a:xfrm>
            <a:off x="685800" y="4343400"/>
            <a:ext cx="5485320" cy="4113720"/>
          </a:xfrm>
          <a:prstGeom prst="rect">
            <a:avLst/>
          </a:prstGeom>
        </p:spPr>
        <p:txBody>
          <a:bodyPr lIns="0" tIns="0" rIns="0" bIns="0"/>
          <a:lstStyle/>
          <a:p>
            <a:pPr marL="216000" indent="-215280">
              <a:lnSpc>
                <a:spcPct val="100000"/>
              </a:lnSpc>
            </a:pPr>
            <a:r>
              <a:rPr lang="en-US" sz="2000" b="0" strike="noStrike" spc="-1">
                <a:latin typeface="Arial"/>
              </a:rPr>
              <a:t>Evaluation of prefix is similar by scanning from the end of the expression.</a:t>
            </a:r>
          </a:p>
          <a:p>
            <a:pPr marL="216000" indent="-215280">
              <a:lnSpc>
                <a:spcPct val="100000"/>
              </a:lnSpc>
            </a:pPr>
            <a:endParaRPr lang="en-US" sz="2000" b="0" strike="noStrike" spc="-1">
              <a:latin typeface="Arial"/>
            </a:endParaRPr>
          </a:p>
          <a:p>
            <a:pPr marL="216000" indent="-215280">
              <a:lnSpc>
                <a:spcPct val="100000"/>
              </a:lnSpc>
            </a:pPr>
            <a:r>
              <a:rPr lang="en-US" sz="2000" b="0" strike="noStrike" spc="-1">
                <a:latin typeface="Arial"/>
              </a:rPr>
              <a:t>Evaluation of postfix and prefix is faster than infix as we don’t need to process any brackets or follow precedence rule.</a:t>
            </a:r>
          </a:p>
        </p:txBody>
      </p:sp>
      <p:sp>
        <p:nvSpPr>
          <p:cNvPr id="306" name="CustomShape 3"/>
          <p:cNvSpPr/>
          <p:nvPr/>
        </p:nvSpPr>
        <p:spPr>
          <a:xfrm>
            <a:off x="3884760" y="8685360"/>
            <a:ext cx="2970720" cy="456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13E8A084-4E7F-49AD-BD62-AE9A9C4861DC}" type="slidenum">
              <a:rPr lang="en-US" sz="1200" b="0" strike="noStrike" spc="-1">
                <a:solidFill>
                  <a:srgbClr val="000000"/>
                </a:solidFill>
                <a:latin typeface="+mn-lt"/>
                <a:ea typeface="+mn-ea"/>
              </a:rPr>
              <a:t>8</a:t>
            </a:fld>
            <a:endParaRPr lang="en-US" sz="1200" b="0" strike="noStrike" spc="-1">
              <a:latin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 name="PlaceHolder 1"/>
          <p:cNvSpPr>
            <a:spLocks noGrp="1" noRot="1" noChangeAspect="1"/>
          </p:cNvSpPr>
          <p:nvPr>
            <p:ph type="sldImg"/>
          </p:nvPr>
        </p:nvSpPr>
        <p:spPr>
          <a:xfrm>
            <a:off x="1143000" y="685800"/>
            <a:ext cx="4570413" cy="3427413"/>
          </a:xfrm>
          <a:prstGeom prst="rect">
            <a:avLst/>
          </a:prstGeom>
        </p:spPr>
      </p:sp>
      <p:sp>
        <p:nvSpPr>
          <p:cNvPr id="308" name="PlaceHolder 2"/>
          <p:cNvSpPr>
            <a:spLocks noGrp="1"/>
          </p:cNvSpPr>
          <p:nvPr>
            <p:ph type="body"/>
          </p:nvPr>
        </p:nvSpPr>
        <p:spPr>
          <a:xfrm>
            <a:off x="685800" y="4343400"/>
            <a:ext cx="5485320" cy="4113720"/>
          </a:xfrm>
          <a:prstGeom prst="rect">
            <a:avLst/>
          </a:prstGeom>
        </p:spPr>
        <p:txBody>
          <a:bodyPr lIns="0" tIns="0" rIns="0" bIns="0"/>
          <a:lstStyle/>
          <a:p>
            <a:endParaRPr lang="en-US" sz="2000" b="0" strike="noStrike" spc="-1">
              <a:latin typeface="Arial"/>
            </a:endParaRPr>
          </a:p>
        </p:txBody>
      </p:sp>
      <p:sp>
        <p:nvSpPr>
          <p:cNvPr id="309" name="CustomShape 3"/>
          <p:cNvSpPr/>
          <p:nvPr/>
        </p:nvSpPr>
        <p:spPr>
          <a:xfrm>
            <a:off x="3884760" y="8685360"/>
            <a:ext cx="2970720" cy="456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9FC3D9E9-D6DF-480A-AC97-DE589D7340DE}" type="slidenum">
              <a:rPr lang="en-US" sz="1200" b="0" strike="noStrike" spc="-1">
                <a:solidFill>
                  <a:srgbClr val="000000"/>
                </a:solidFill>
                <a:latin typeface="+mn-lt"/>
                <a:ea typeface="+mn-ea"/>
              </a:rPr>
              <a:t>9</a:t>
            </a:fld>
            <a:endParaRPr lang="en-US" sz="1200" b="0" strike="noStrike" spc="-1">
              <a:latin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 name="PlaceHolder 1"/>
          <p:cNvSpPr>
            <a:spLocks noGrp="1" noRot="1" noChangeAspect="1"/>
          </p:cNvSpPr>
          <p:nvPr>
            <p:ph type="sldImg"/>
          </p:nvPr>
        </p:nvSpPr>
        <p:spPr>
          <a:xfrm>
            <a:off x="1143000" y="685800"/>
            <a:ext cx="4570413" cy="3427413"/>
          </a:xfrm>
          <a:prstGeom prst="rect">
            <a:avLst/>
          </a:prstGeom>
        </p:spPr>
      </p:sp>
      <p:sp>
        <p:nvSpPr>
          <p:cNvPr id="311" name="PlaceHolder 2"/>
          <p:cNvSpPr>
            <a:spLocks noGrp="1"/>
          </p:cNvSpPr>
          <p:nvPr>
            <p:ph type="body"/>
          </p:nvPr>
        </p:nvSpPr>
        <p:spPr>
          <a:xfrm>
            <a:off x="685800" y="4343400"/>
            <a:ext cx="5485320" cy="4113720"/>
          </a:xfrm>
          <a:prstGeom prst="rect">
            <a:avLst/>
          </a:prstGeom>
        </p:spPr>
        <p:txBody>
          <a:bodyPr lIns="0" tIns="0" rIns="0" bIns="0"/>
          <a:lstStyle/>
          <a:p>
            <a:pPr marL="216000" indent="-215280">
              <a:lnSpc>
                <a:spcPct val="100000"/>
              </a:lnSpc>
            </a:pPr>
            <a:r>
              <a:rPr lang="en-US" sz="1200" b="0" strike="noStrike" spc="-1" dirty="0">
                <a:solidFill>
                  <a:srgbClr val="000000"/>
                </a:solidFill>
                <a:latin typeface="+mn-lt"/>
                <a:ea typeface="+mn-ea"/>
              </a:rPr>
              <a:t> The first implementation of a stack uses a singly linked list. We perform a push  by inserting</a:t>
            </a:r>
            <a:endParaRPr lang="en-US" sz="1200" b="0" strike="noStrike" spc="-1" dirty="0">
              <a:latin typeface="Arial"/>
            </a:endParaRPr>
          </a:p>
          <a:p>
            <a:pPr marL="216000" indent="-215280">
              <a:lnSpc>
                <a:spcPct val="100000"/>
              </a:lnSpc>
            </a:pPr>
            <a:r>
              <a:rPr lang="en-US" sz="1200" b="0" strike="noStrike" spc="-1" dirty="0">
                <a:solidFill>
                  <a:srgbClr val="000000"/>
                </a:solidFill>
                <a:latin typeface="+mn-lt"/>
                <a:ea typeface="+mn-ea"/>
              </a:rPr>
              <a:t>at the front of the list. We perform a pop  by deleting the element at the front of the list.</a:t>
            </a:r>
            <a:endParaRPr lang="en-US" sz="1200" b="0" strike="noStrike" spc="-1" dirty="0">
              <a:latin typeface="Arial"/>
            </a:endParaRPr>
          </a:p>
          <a:p>
            <a:pPr marL="216000" indent="-215280">
              <a:lnSpc>
                <a:spcPct val="100000"/>
              </a:lnSpc>
            </a:pPr>
            <a:r>
              <a:rPr lang="en-US" sz="1200" b="0" strike="noStrike" spc="-1" dirty="0">
                <a:solidFill>
                  <a:srgbClr val="000000"/>
                </a:solidFill>
                <a:latin typeface="+mn-lt"/>
                <a:ea typeface="+mn-ea"/>
              </a:rPr>
              <a:t>A top  operation merely examines the element at the front of the list, returning its value.</a:t>
            </a:r>
            <a:endParaRPr lang="en-US" sz="1200" b="0" strike="noStrike" spc="-1" dirty="0">
              <a:latin typeface="Arial"/>
            </a:endParaRPr>
          </a:p>
          <a:p>
            <a:pPr marL="216000" indent="-215280">
              <a:lnSpc>
                <a:spcPct val="100000"/>
              </a:lnSpc>
            </a:pPr>
            <a:r>
              <a:rPr lang="en-US" sz="1200" b="0" strike="noStrike" spc="-1" dirty="0">
                <a:solidFill>
                  <a:srgbClr val="000000"/>
                </a:solidFill>
                <a:latin typeface="+mn-lt"/>
                <a:ea typeface="+mn-ea"/>
              </a:rPr>
              <a:t>Sometimes the pop  and top  operations are combined into one.</a:t>
            </a:r>
            <a:endParaRPr lang="en-US" sz="1200" b="0" strike="noStrike" spc="-1" dirty="0">
              <a:latin typeface="Arial"/>
            </a:endParaRPr>
          </a:p>
          <a:p>
            <a:pPr marL="216000" indent="-215280">
              <a:lnSpc>
                <a:spcPct val="100000"/>
              </a:lnSpc>
            </a:pPr>
            <a:endParaRPr lang="en-US" sz="1200" b="0" strike="noStrike" spc="-1" dirty="0">
              <a:latin typeface="Arial"/>
            </a:endParaRPr>
          </a:p>
          <a:p>
            <a:pPr marL="216000" indent="-215280">
              <a:lnSpc>
                <a:spcPct val="100000"/>
              </a:lnSpc>
            </a:pPr>
            <a:r>
              <a:rPr lang="en-US" sz="2000" b="0" strike="noStrike" spc="-1" dirty="0">
                <a:solidFill>
                  <a:srgbClr val="000000"/>
                </a:solidFill>
                <a:latin typeface="+mn-lt"/>
                <a:ea typeface="+mn-ea"/>
              </a:rPr>
              <a:t>Push &amp; pop &amp; Top: O(1) (use the end as the top)</a:t>
            </a:r>
            <a:endParaRPr lang="en-US" sz="2000" b="0" strike="noStrike" spc="-1" dirty="0">
              <a:latin typeface="Arial"/>
            </a:endParaRPr>
          </a:p>
          <a:p>
            <a:pPr marL="216000" indent="-215280">
              <a:lnSpc>
                <a:spcPct val="100000"/>
              </a:lnSpc>
            </a:pPr>
            <a:endParaRPr lang="en-US" sz="2000" b="0" strike="noStrike" spc="-1" dirty="0">
              <a:latin typeface="Arial"/>
            </a:endParaRPr>
          </a:p>
          <a:p>
            <a:pPr marL="216000" indent="-215280">
              <a:lnSpc>
                <a:spcPct val="100000"/>
              </a:lnSpc>
            </a:pPr>
            <a:r>
              <a:rPr lang="en-US" sz="2000" b="0" strike="noStrike" spc="-1" dirty="0">
                <a:solidFill>
                  <a:srgbClr val="000000"/>
                </a:solidFill>
                <a:latin typeface="+mn-lt"/>
                <a:ea typeface="+mn-ea"/>
              </a:rPr>
              <a:t>Linked list: insert and delete in the head O(1)</a:t>
            </a:r>
            <a:endParaRPr lang="en-US" sz="2000" b="0" strike="noStrike" spc="-1" dirty="0">
              <a:latin typeface="Arial"/>
            </a:endParaRPr>
          </a:p>
          <a:p>
            <a:pPr marL="216000" indent="-215280">
              <a:lnSpc>
                <a:spcPct val="100000"/>
              </a:lnSpc>
            </a:pPr>
            <a:endParaRPr lang="en-US" sz="2000" b="0" strike="noStrike" spc="-1" dirty="0">
              <a:latin typeface="Arial"/>
            </a:endParaRPr>
          </a:p>
          <a:p>
            <a:pPr marL="216000" indent="-215280">
              <a:lnSpc>
                <a:spcPct val="100000"/>
              </a:lnSpc>
            </a:pPr>
            <a:r>
              <a:rPr lang="en-US" sz="2000" b="0" strike="noStrike" spc="-1" dirty="0">
                <a:solidFill>
                  <a:srgbClr val="000000"/>
                </a:solidFill>
                <a:latin typeface="+mn-lt"/>
                <a:ea typeface="+mn-ea"/>
              </a:rPr>
              <a:t>Space: Array contiguous space, and limited in size (dynamically increase the elements)</a:t>
            </a:r>
            <a:endParaRPr lang="en-US" sz="2000" b="0" strike="noStrike" spc="-1" dirty="0">
              <a:latin typeface="Arial"/>
            </a:endParaRPr>
          </a:p>
          <a:p>
            <a:pPr marL="216000" indent="-215280">
              <a:lnSpc>
                <a:spcPct val="100000"/>
              </a:lnSpc>
            </a:pPr>
            <a:r>
              <a:rPr lang="en-US" sz="2000" b="0" strike="noStrike" spc="-1" dirty="0">
                <a:solidFill>
                  <a:srgbClr val="000000"/>
                </a:solidFill>
                <a:latin typeface="+mn-lt"/>
                <a:ea typeface="+mn-ea"/>
              </a:rPr>
              <a:t>            Linked list non-contiguous</a:t>
            </a:r>
            <a:endParaRPr lang="en-US" sz="2000" b="0" strike="noStrike" spc="-1" dirty="0">
              <a:latin typeface="Arial"/>
            </a:endParaRPr>
          </a:p>
          <a:p>
            <a:pPr marL="216000" indent="-215280">
              <a:lnSpc>
                <a:spcPct val="100000"/>
              </a:lnSpc>
            </a:pPr>
            <a:endParaRPr lang="en-US" sz="2000" b="0" strike="noStrike" spc="-1" dirty="0">
              <a:latin typeface="Arial"/>
            </a:endParaRPr>
          </a:p>
          <a:p>
            <a:pPr marL="216000" indent="-215280">
              <a:lnSpc>
                <a:spcPct val="100000"/>
              </a:lnSpc>
            </a:pPr>
            <a:r>
              <a:rPr lang="en-US" sz="1200" b="0" strike="noStrike" spc="-1" dirty="0">
                <a:solidFill>
                  <a:srgbClr val="000000"/>
                </a:solidFill>
                <a:latin typeface="+mn-lt"/>
                <a:ea typeface="+mn-ea"/>
              </a:rPr>
              <a:t>Stack can be easily implemented using an Array or a Linked List. Arrays are quick, but are limited in size and Linked List requires overhead to allocate, link, unlink, and deallocate, but is not limited in size. </a:t>
            </a:r>
            <a:endParaRPr lang="en-US" sz="1200" b="0" strike="noStrike" spc="-1" dirty="0">
              <a:latin typeface="Arial"/>
            </a:endParaRPr>
          </a:p>
        </p:txBody>
      </p:sp>
      <p:sp>
        <p:nvSpPr>
          <p:cNvPr id="312" name="CustomShape 3"/>
          <p:cNvSpPr/>
          <p:nvPr/>
        </p:nvSpPr>
        <p:spPr>
          <a:xfrm>
            <a:off x="3884760" y="8685360"/>
            <a:ext cx="2970720" cy="456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E9D2F000-6358-4CD2-B285-441DC91E2F05}" type="slidenum">
              <a:rPr lang="en-US" sz="1200" b="0" strike="noStrike" spc="-1">
                <a:solidFill>
                  <a:srgbClr val="000000"/>
                </a:solidFill>
                <a:latin typeface="+mn-lt"/>
                <a:ea typeface="+mn-ea"/>
              </a:rPr>
              <a:t>10</a:t>
            </a:fld>
            <a:endParaRPr lang="en-US" sz="1200" b="0" strike="noStrike" spc="-1">
              <a:latin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0013" y="763588"/>
            <a:ext cx="5030787" cy="3771900"/>
          </a:xfrm>
        </p:spPr>
      </p:sp>
      <p:sp>
        <p:nvSpPr>
          <p:cNvPr id="3" name="备注占位符 2"/>
          <p:cNvSpPr>
            <a:spLocks noGrp="1"/>
          </p:cNvSpPr>
          <p:nvPr>
            <p:ph type="body" idx="1"/>
          </p:nvPr>
        </p:nvSpPr>
        <p:spPr/>
        <p:txBody>
          <a:bodyPr/>
          <a:lstStyle/>
          <a:p>
            <a:r>
              <a:rPr lang="en-US" altLang="zh-CN" sz="1200" b="0" strike="noStrike" spc="-1" dirty="0">
                <a:solidFill>
                  <a:srgbClr val="000000"/>
                </a:solidFill>
                <a:latin typeface="Calibri"/>
                <a:ea typeface="Calibri"/>
              </a:rPr>
              <a:t>In an empty stack, we set top as -1, that is, top = -1 in the empty list. </a:t>
            </a:r>
          </a:p>
          <a:p>
            <a:endParaRPr lang="zh-CN" altLang="en-US" dirty="0"/>
          </a:p>
        </p:txBody>
      </p:sp>
      <p:sp>
        <p:nvSpPr>
          <p:cNvPr id="4" name="灯片编号占位符 3"/>
          <p:cNvSpPr>
            <a:spLocks noGrp="1"/>
          </p:cNvSpPr>
          <p:nvPr>
            <p:ph type="sldNum"/>
          </p:nvPr>
        </p:nvSpPr>
        <p:spPr/>
        <p:txBody>
          <a:bodyPr/>
          <a:lstStyle/>
          <a:p>
            <a:pPr algn="r"/>
            <a:fld id="{94388B26-8858-4605-BAD7-844C4CD470BB}" type="slidenum">
              <a:rPr lang="en-US" sz="1400" b="0" strike="noStrike" spc="-1" smtClean="0">
                <a:latin typeface="Times New Roman"/>
              </a:rPr>
              <a:t>13</a:t>
            </a:fld>
            <a:endParaRPr lang="en-US" sz="1400" b="0" strike="noStrike" spc="-1">
              <a:latin typeface="Times New Roman"/>
            </a:endParaRPr>
          </a:p>
        </p:txBody>
      </p:sp>
    </p:spTree>
    <p:extLst>
      <p:ext uri="{BB962C8B-B14F-4D97-AF65-F5344CB8AC3E}">
        <p14:creationId xmlns:p14="http://schemas.microsoft.com/office/powerpoint/2010/main" val="26225725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 name="PlaceHolder 1"/>
          <p:cNvSpPr>
            <a:spLocks noGrp="1" noRot="1" noChangeAspect="1"/>
          </p:cNvSpPr>
          <p:nvPr>
            <p:ph type="sldImg"/>
          </p:nvPr>
        </p:nvSpPr>
        <p:spPr>
          <a:xfrm>
            <a:off x="1143000" y="685800"/>
            <a:ext cx="4570413" cy="3427413"/>
          </a:xfrm>
          <a:prstGeom prst="rect">
            <a:avLst/>
          </a:prstGeom>
        </p:spPr>
      </p:sp>
      <p:sp>
        <p:nvSpPr>
          <p:cNvPr id="314" name="PlaceHolder 2"/>
          <p:cNvSpPr>
            <a:spLocks noGrp="1"/>
          </p:cNvSpPr>
          <p:nvPr>
            <p:ph type="body"/>
          </p:nvPr>
        </p:nvSpPr>
        <p:spPr>
          <a:xfrm>
            <a:off x="685800" y="4343400"/>
            <a:ext cx="5485320" cy="4113720"/>
          </a:xfrm>
          <a:prstGeom prst="rect">
            <a:avLst/>
          </a:prstGeom>
        </p:spPr>
        <p:txBody>
          <a:bodyPr lIns="0" tIns="0" rIns="0" bIns="0"/>
          <a:lstStyle/>
          <a:p>
            <a:pPr marL="216000" indent="-215280">
              <a:lnSpc>
                <a:spcPct val="100000"/>
              </a:lnSpc>
            </a:pPr>
            <a:r>
              <a:rPr lang="en-US" sz="1200" b="0" strike="noStrike" spc="-1">
                <a:solidFill>
                  <a:srgbClr val="000000"/>
                </a:solidFill>
                <a:latin typeface="+mn-lt"/>
                <a:ea typeface="+mn-ea"/>
              </a:rPr>
              <a:t>#include “stack.h”: the ” ” here are used to instructs the preprocessor to look into the present folder and into the standard folder of all header files if not found in present folder.</a:t>
            </a:r>
            <a:endParaRPr lang="en-US" sz="1200" b="0" strike="noStrike" spc="-1">
              <a:latin typeface="Arial"/>
            </a:endParaRPr>
          </a:p>
          <a:p>
            <a:pPr marL="216000" indent="-215280">
              <a:lnSpc>
                <a:spcPct val="100000"/>
              </a:lnSpc>
            </a:pPr>
            <a:endParaRPr lang="en-US" sz="1200" b="0" strike="noStrike" spc="-1">
              <a:latin typeface="Arial"/>
            </a:endParaRPr>
          </a:p>
          <a:p>
            <a:pPr marL="216000" indent="-215280">
              <a:lnSpc>
                <a:spcPct val="100000"/>
              </a:lnSpc>
            </a:pPr>
            <a:r>
              <a:rPr lang="en-US" sz="1200" b="0" strike="noStrike" spc="-1">
                <a:solidFill>
                  <a:srgbClr val="000000"/>
                </a:solidFill>
                <a:latin typeface="+mn-lt"/>
                <a:ea typeface="+mn-ea"/>
              </a:rPr>
              <a:t>When compilation, the compiler will find the function definition for the functions defined in header. (not necessarily has the same name for cpp and header file)</a:t>
            </a:r>
            <a:endParaRPr lang="en-US" sz="1200" b="0" strike="noStrike" spc="-1">
              <a:latin typeface="Arial"/>
            </a:endParaRPr>
          </a:p>
          <a:p>
            <a:pPr marL="216000" indent="-215280">
              <a:lnSpc>
                <a:spcPct val="100000"/>
              </a:lnSpc>
            </a:pPr>
            <a:endParaRPr lang="en-US" sz="1200" b="0" strike="noStrike" spc="-1">
              <a:latin typeface="Arial"/>
            </a:endParaRPr>
          </a:p>
        </p:txBody>
      </p:sp>
      <p:sp>
        <p:nvSpPr>
          <p:cNvPr id="315" name="CustomShape 3"/>
          <p:cNvSpPr/>
          <p:nvPr/>
        </p:nvSpPr>
        <p:spPr>
          <a:xfrm>
            <a:off x="3884760" y="8685360"/>
            <a:ext cx="2970720" cy="456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EC4BC690-7491-4B12-9627-90CDF08B8137}" type="slidenum">
              <a:rPr lang="en-US" sz="1200" b="0" strike="noStrike" spc="-1">
                <a:solidFill>
                  <a:srgbClr val="000000"/>
                </a:solidFill>
                <a:latin typeface="+mn-lt"/>
                <a:ea typeface="+mn-ea"/>
              </a:rPr>
              <a:t>19</a:t>
            </a:fld>
            <a:endParaRPr lang="en-US" sz="1200" b="0" strike="noStrike" spc="-1">
              <a:latin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3" name="PlaceHolder 2"/>
          <p:cNvSpPr>
            <a:spLocks noGrp="1"/>
          </p:cNvSpPr>
          <p:nvPr>
            <p:ph type="subTitle"/>
          </p:nvPr>
        </p:nvSpPr>
        <p:spPr>
          <a:xfrm>
            <a:off x="457200" y="1604520"/>
            <a:ext cx="8229240" cy="3977280"/>
          </a:xfrm>
          <a:prstGeom prst="rect">
            <a:avLst/>
          </a:prstGeom>
        </p:spPr>
        <p:txBody>
          <a:bodyPr lIns="0" tIns="0" rIns="0" bIns="0" anchor="ctr"/>
          <a:lstStyle/>
          <a:p>
            <a:pPr algn="ctr"/>
            <a:endParaRPr lang="en-US"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5"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7"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latin typeface="Arial"/>
            </a:endParaRPr>
          </a:p>
        </p:txBody>
      </p:sp>
      <p:sp>
        <p:nvSpPr>
          <p:cNvPr id="8"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457200" y="273600"/>
            <a:ext cx="8229240" cy="5307840"/>
          </a:xfrm>
          <a:prstGeom prst="rect">
            <a:avLst/>
          </a:prstGeom>
        </p:spPr>
        <p:txBody>
          <a:bodyPr lIns="0" tIns="0" rIns="0" bIns="0" anchor="ctr"/>
          <a:lstStyle/>
          <a:p>
            <a:pPr algn="ctr"/>
            <a:endParaRPr lang="en-US"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12"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latin typeface="Arial"/>
            </a:endParaRPr>
          </a:p>
        </p:txBody>
      </p:sp>
      <p:sp>
        <p:nvSpPr>
          <p:cNvPr id="13"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latin typeface="Arial"/>
            </a:endParaRPr>
          </a:p>
        </p:txBody>
      </p:sp>
      <p:sp>
        <p:nvSpPr>
          <p:cNvPr id="14"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16"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latin typeface="Arial"/>
            </a:endParaRPr>
          </a:p>
        </p:txBody>
      </p:sp>
      <p:sp>
        <p:nvSpPr>
          <p:cNvPr id="17"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latin typeface="Arial"/>
            </a:endParaRPr>
          </a:p>
        </p:txBody>
      </p:sp>
      <p:sp>
        <p:nvSpPr>
          <p:cNvPr id="18"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2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latin typeface="Arial"/>
            </a:endParaRPr>
          </a:p>
        </p:txBody>
      </p:sp>
      <p:sp>
        <p:nvSpPr>
          <p:cNvPr id="21"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latin typeface="Arial"/>
            </a:endParaRPr>
          </a:p>
        </p:txBody>
      </p:sp>
      <p:sp>
        <p:nvSpPr>
          <p:cNvPr id="22"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24"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latin typeface="Arial"/>
            </a:endParaRPr>
          </a:p>
        </p:txBody>
      </p:sp>
      <p:sp>
        <p:nvSpPr>
          <p:cNvPr id="25"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27"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latin typeface="Arial"/>
            </a:endParaRPr>
          </a:p>
        </p:txBody>
      </p:sp>
      <p:sp>
        <p:nvSpPr>
          <p:cNvPr id="28"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latin typeface="Arial"/>
            </a:endParaRPr>
          </a:p>
        </p:txBody>
      </p:sp>
      <p:sp>
        <p:nvSpPr>
          <p:cNvPr id="29"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latin typeface="Arial"/>
            </a:endParaRPr>
          </a:p>
        </p:txBody>
      </p:sp>
      <p:sp>
        <p:nvSpPr>
          <p:cNvPr id="30"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32"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latin typeface="Arial"/>
            </a:endParaRPr>
          </a:p>
        </p:txBody>
      </p:sp>
      <p:sp>
        <p:nvSpPr>
          <p:cNvPr id="33"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latin typeface="Arial"/>
            </a:endParaRPr>
          </a:p>
        </p:txBody>
      </p:sp>
      <p:sp>
        <p:nvSpPr>
          <p:cNvPr id="34"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latin typeface="Arial"/>
            </a:endParaRPr>
          </a:p>
        </p:txBody>
      </p:sp>
      <p:sp>
        <p:nvSpPr>
          <p:cNvPr id="35"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latin typeface="Arial"/>
            </a:endParaRPr>
          </a:p>
        </p:txBody>
      </p:sp>
      <p:sp>
        <p:nvSpPr>
          <p:cNvPr id="36"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latin typeface="Arial"/>
            </a:endParaRPr>
          </a:p>
        </p:txBody>
      </p:sp>
      <p:sp>
        <p:nvSpPr>
          <p:cNvPr id="37"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0"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41" name="PlaceHolder 2"/>
          <p:cNvSpPr>
            <a:spLocks noGrp="1"/>
          </p:cNvSpPr>
          <p:nvPr>
            <p:ph type="subTitle"/>
          </p:nvPr>
        </p:nvSpPr>
        <p:spPr>
          <a:xfrm>
            <a:off x="457200" y="1604520"/>
            <a:ext cx="8229240" cy="3977280"/>
          </a:xfrm>
          <a:prstGeom prst="rect">
            <a:avLst/>
          </a:prstGeom>
        </p:spPr>
        <p:txBody>
          <a:bodyPr lIns="0" tIns="0" rIns="0" bIns="0" anchor="ctr"/>
          <a:lstStyle/>
          <a:p>
            <a:pPr algn="ctr"/>
            <a:endParaRPr lang="en-US"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2"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4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4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latin typeface="Arial"/>
            </a:endParaRPr>
          </a:p>
        </p:txBody>
      </p:sp>
      <p:sp>
        <p:nvSpPr>
          <p:cNvPr id="4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47"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48" name="PlaceHolder 1"/>
          <p:cNvSpPr>
            <a:spLocks noGrp="1"/>
          </p:cNvSpPr>
          <p:nvPr>
            <p:ph type="subTitle"/>
          </p:nvPr>
        </p:nvSpPr>
        <p:spPr>
          <a:xfrm>
            <a:off x="457200" y="273600"/>
            <a:ext cx="8229240" cy="5307840"/>
          </a:xfrm>
          <a:prstGeom prst="rect">
            <a:avLst/>
          </a:prstGeom>
        </p:spPr>
        <p:txBody>
          <a:bodyPr lIns="0" tIns="0" rIns="0" bIns="0" anchor="ctr"/>
          <a:lstStyle/>
          <a:p>
            <a:pPr algn="ctr"/>
            <a:endParaRPr lang="en-US"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5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latin typeface="Arial"/>
            </a:endParaRPr>
          </a:p>
        </p:txBody>
      </p:sp>
      <p:sp>
        <p:nvSpPr>
          <p:cNvPr id="5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latin typeface="Arial"/>
            </a:endParaRPr>
          </a:p>
        </p:txBody>
      </p:sp>
      <p:sp>
        <p:nvSpPr>
          <p:cNvPr id="5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3"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5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latin typeface="Arial"/>
            </a:endParaRPr>
          </a:p>
        </p:txBody>
      </p:sp>
      <p:sp>
        <p:nvSpPr>
          <p:cNvPr id="5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latin typeface="Arial"/>
            </a:endParaRPr>
          </a:p>
        </p:txBody>
      </p:sp>
      <p:sp>
        <p:nvSpPr>
          <p:cNvPr id="5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57"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5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latin typeface="Arial"/>
            </a:endParaRPr>
          </a:p>
        </p:txBody>
      </p:sp>
      <p:sp>
        <p:nvSpPr>
          <p:cNvPr id="5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latin typeface="Arial"/>
            </a:endParaRPr>
          </a:p>
        </p:txBody>
      </p:sp>
      <p:sp>
        <p:nvSpPr>
          <p:cNvPr id="6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6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latin typeface="Arial"/>
            </a:endParaRPr>
          </a:p>
        </p:txBody>
      </p:sp>
      <p:sp>
        <p:nvSpPr>
          <p:cNvPr id="6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6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latin typeface="Arial"/>
            </a:endParaRPr>
          </a:p>
        </p:txBody>
      </p:sp>
      <p:sp>
        <p:nvSpPr>
          <p:cNvPr id="6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latin typeface="Arial"/>
            </a:endParaRPr>
          </a:p>
        </p:txBody>
      </p:sp>
      <p:sp>
        <p:nvSpPr>
          <p:cNvPr id="6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latin typeface="Arial"/>
            </a:endParaRPr>
          </a:p>
        </p:txBody>
      </p:sp>
      <p:sp>
        <p:nvSpPr>
          <p:cNvPr id="6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7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latin typeface="Arial"/>
            </a:endParaRPr>
          </a:p>
        </p:txBody>
      </p:sp>
      <p:sp>
        <p:nvSpPr>
          <p:cNvPr id="7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latin typeface="Arial"/>
            </a:endParaRPr>
          </a:p>
        </p:txBody>
      </p:sp>
      <p:sp>
        <p:nvSpPr>
          <p:cNvPr id="7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latin typeface="Arial"/>
            </a:endParaRPr>
          </a:p>
        </p:txBody>
      </p:sp>
      <p:sp>
        <p:nvSpPr>
          <p:cNvPr id="7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latin typeface="Arial"/>
            </a:endParaRPr>
          </a:p>
        </p:txBody>
      </p:sp>
      <p:sp>
        <p:nvSpPr>
          <p:cNvPr id="7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latin typeface="Arial"/>
            </a:endParaRPr>
          </a:p>
        </p:txBody>
      </p:sp>
      <p:sp>
        <p:nvSpPr>
          <p:cNvPr id="7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73600"/>
            <a:ext cx="8228880" cy="1144440"/>
          </a:xfrm>
          <a:prstGeom prst="rect">
            <a:avLst/>
          </a:prstGeom>
        </p:spPr>
        <p:txBody>
          <a:bodyPr lIns="0" tIns="0" rIns="0" bIns="0" anchor="ctr"/>
          <a:lstStyle/>
          <a:p>
            <a:r>
              <a:rPr lang="en-US" sz="1800" b="0" strike="noStrike" spc="-1">
                <a:latin typeface="Arial"/>
              </a:rPr>
              <a:t>Click to edit the title text format</a:t>
            </a:r>
          </a:p>
        </p:txBody>
      </p:sp>
      <p:sp>
        <p:nvSpPr>
          <p:cNvPr id="3" name="PlaceHolder 2"/>
          <p:cNvSpPr>
            <a:spLocks noGrp="1"/>
          </p:cNvSpPr>
          <p:nvPr>
            <p:ph type="body"/>
          </p:nvPr>
        </p:nvSpPr>
        <p:spPr>
          <a:xfrm>
            <a:off x="457200" y="1604520"/>
            <a:ext cx="8228880" cy="397692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18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US" sz="1800" b="0" strike="noStrike" spc="-1">
                <a:latin typeface="Arial"/>
              </a:rPr>
              <a:t>Second Outline Level</a:t>
            </a:r>
          </a:p>
          <a:p>
            <a:pPr marL="1296000" lvl="2" indent="-288000">
              <a:spcBef>
                <a:spcPts val="850"/>
              </a:spcBef>
              <a:buClr>
                <a:srgbClr val="000000"/>
              </a:buClr>
              <a:buSzPct val="45000"/>
              <a:buFont typeface="Wingdings" charset="2"/>
              <a:buChar char=""/>
            </a:pPr>
            <a:r>
              <a:rPr lang="en-US" sz="1800" b="0" strike="noStrike" spc="-1">
                <a:latin typeface="Arial"/>
              </a:rPr>
              <a:t>Third Outline Level</a:t>
            </a:r>
          </a:p>
          <a:p>
            <a:pPr marL="1728000" lvl="3" indent="-216000">
              <a:spcBef>
                <a:spcPts val="567"/>
              </a:spcBef>
              <a:buClr>
                <a:srgbClr val="000000"/>
              </a:buClr>
              <a:buSzPct val="75000"/>
              <a:buFont typeface="Symbol" charset="2"/>
              <a:buChar char=""/>
            </a:pPr>
            <a:r>
              <a:rPr lang="en-US" sz="1800" b="0" strike="noStrike" spc="-1">
                <a:latin typeface="Arial"/>
              </a:rPr>
              <a:t>Fourth Outline Level</a:t>
            </a:r>
          </a:p>
          <a:p>
            <a:pPr marL="2160000" lvl="4" indent="-216000">
              <a:spcBef>
                <a:spcPts val="283"/>
              </a:spcBef>
              <a:buClr>
                <a:srgbClr val="000000"/>
              </a:buClr>
              <a:buSzPct val="45000"/>
              <a:buFont typeface="Wingdings" charset="2"/>
              <a:buChar char=""/>
            </a:pPr>
            <a:r>
              <a:rPr lang="en-US" sz="1800" b="0" strike="noStrike" spc="-1">
                <a:latin typeface="Arial"/>
              </a:rPr>
              <a:t>Fifth Outline Level</a:t>
            </a:r>
          </a:p>
          <a:p>
            <a:pPr marL="2592000" lvl="5" indent="-216000">
              <a:spcBef>
                <a:spcPts val="283"/>
              </a:spcBef>
              <a:buClr>
                <a:srgbClr val="000000"/>
              </a:buClr>
              <a:buSzPct val="45000"/>
              <a:buFont typeface="Wingdings" charset="2"/>
              <a:buChar char=""/>
            </a:pPr>
            <a:r>
              <a:rPr lang="en-US" sz="1800" b="0" strike="noStrike" spc="-1">
                <a:latin typeface="Arial"/>
              </a:rPr>
              <a:t>Sixth Outline Level</a:t>
            </a:r>
          </a:p>
          <a:p>
            <a:pPr marL="3024000" lvl="6" indent="-216000">
              <a:spcBef>
                <a:spcPts val="283"/>
              </a:spcBef>
              <a:buClr>
                <a:srgbClr val="000000"/>
              </a:buClr>
              <a:buSzPct val="45000"/>
              <a:buFont typeface="Wingdings" charset="2"/>
              <a:buChar char=""/>
            </a:pPr>
            <a:r>
              <a:rPr lang="en-US" sz="18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457200" y="273600"/>
            <a:ext cx="8229240" cy="1144800"/>
          </a:xfrm>
          <a:prstGeom prst="rect">
            <a:avLst/>
          </a:prstGeom>
        </p:spPr>
        <p:txBody>
          <a:bodyPr lIns="0" tIns="0" rIns="0" bIns="0" anchor="ctr"/>
          <a:lstStyle/>
          <a:p>
            <a:pPr algn="ctr"/>
            <a:r>
              <a:rPr lang="en-US" sz="4400" b="0" strike="noStrike" spc="-1">
                <a:latin typeface="Arial"/>
              </a:rPr>
              <a:t>Click to edit the title text format</a:t>
            </a:r>
          </a:p>
        </p:txBody>
      </p:sp>
      <p:sp>
        <p:nvSpPr>
          <p:cNvPr id="39" name="PlaceHolder 2"/>
          <p:cNvSpPr>
            <a:spLocks noGrp="1"/>
          </p:cNvSpPr>
          <p:nvPr>
            <p:ph type="body"/>
          </p:nvPr>
        </p:nvSpPr>
        <p:spPr>
          <a:xfrm>
            <a:off x="457200" y="1604520"/>
            <a:ext cx="82292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latin typeface="Arial"/>
              </a:rPr>
              <a:t>Second Outline Level</a:t>
            </a:r>
          </a:p>
          <a:p>
            <a:pPr marL="1296000" lvl="2" indent="-288000">
              <a:spcBef>
                <a:spcPts val="850"/>
              </a:spcBef>
              <a:buClr>
                <a:srgbClr val="000000"/>
              </a:buClr>
              <a:buSzPct val="45000"/>
              <a:buFont typeface="Wingdings" charset="2"/>
              <a:buChar char=""/>
            </a:pPr>
            <a:r>
              <a:rPr lang="en-US" sz="2400" b="0" strike="noStrike" spc="-1">
                <a:latin typeface="Arial"/>
              </a:rPr>
              <a:t>Third Outline Level</a:t>
            </a:r>
          </a:p>
          <a:p>
            <a:pPr marL="1728000" lvl="3" indent="-216000">
              <a:spcBef>
                <a:spcPts val="567"/>
              </a:spcBef>
              <a:buClr>
                <a:srgbClr val="000000"/>
              </a:buClr>
              <a:buSzPct val="75000"/>
              <a:buFont typeface="Symbol" charset="2"/>
              <a:buChar char=""/>
            </a:pPr>
            <a:r>
              <a:rPr lang="en-US" sz="2000" b="0" strike="noStrike" spc="-1">
                <a:latin typeface="Arial"/>
              </a:rPr>
              <a:t>Fourth Outline Level</a:t>
            </a:r>
          </a:p>
          <a:p>
            <a:pPr marL="2160000" lvl="4" indent="-216000">
              <a:spcBef>
                <a:spcPts val="283"/>
              </a:spcBef>
              <a:buClr>
                <a:srgbClr val="000000"/>
              </a:buClr>
              <a:buSzPct val="45000"/>
              <a:buFont typeface="Wingdings" charset="2"/>
              <a:buChar char=""/>
            </a:pPr>
            <a:r>
              <a:rPr lang="en-US" sz="2000" b="0" strike="noStrike" spc="-1">
                <a:latin typeface="Arial"/>
              </a:rPr>
              <a:t>Fifth Outline Level</a:t>
            </a:r>
          </a:p>
          <a:p>
            <a:pPr marL="2592000" lvl="5" indent="-216000">
              <a:spcBef>
                <a:spcPts val="283"/>
              </a:spcBef>
              <a:buClr>
                <a:srgbClr val="000000"/>
              </a:buClr>
              <a:buSzPct val="45000"/>
              <a:buFont typeface="Wingdings" charset="2"/>
              <a:buChar char=""/>
            </a:pPr>
            <a:r>
              <a:rPr lang="en-US" sz="2000" b="0" strike="noStrike" spc="-1">
                <a:latin typeface="Arial"/>
              </a:rPr>
              <a:t>Sixth Outline Level</a:t>
            </a:r>
          </a:p>
          <a:p>
            <a:pPr marL="3024000" lvl="6" indent="-216000">
              <a:spcBef>
                <a:spcPts val="283"/>
              </a:spcBef>
              <a:buClr>
                <a:srgbClr val="000000"/>
              </a:buClr>
              <a:buSzPct val="45000"/>
              <a:buFont typeface="Wingdings" charset="2"/>
              <a:buChar char=""/>
            </a:pPr>
            <a:r>
              <a:rPr lang="en-US"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hyperlink" Target="http://www.cs.armstrong.edu/liang/animation/web/Stack.html" TargetMode="Externa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CustomShape 1"/>
          <p:cNvSpPr/>
          <p:nvPr/>
        </p:nvSpPr>
        <p:spPr>
          <a:xfrm>
            <a:off x="685800" y="1295280"/>
            <a:ext cx="7771320" cy="25135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lnSpc>
                <a:spcPct val="90000"/>
              </a:lnSpc>
            </a:pPr>
            <a:r>
              <a:rPr lang="en-US" sz="3600" b="0" strike="noStrike" spc="-1">
                <a:solidFill>
                  <a:srgbClr val="C00000"/>
                </a:solidFill>
                <a:latin typeface="Calibri"/>
                <a:ea typeface="Calibri"/>
              </a:rPr>
              <a:t>Data Structures and Algorithms</a:t>
            </a:r>
            <a:br/>
            <a:br/>
            <a:r>
              <a:rPr lang="en-US" sz="4400" b="0" strike="noStrike" spc="-1">
                <a:solidFill>
                  <a:srgbClr val="000000"/>
                </a:solidFill>
                <a:latin typeface="Calibri"/>
                <a:ea typeface="Calibri"/>
              </a:rPr>
              <a:t>Lecture 2: Stacks (栈)</a:t>
            </a:r>
            <a:endParaRPr lang="en-US" sz="4400" b="0" strike="noStrike" spc="-1">
              <a:latin typeface="Arial"/>
            </a:endParaRPr>
          </a:p>
        </p:txBody>
      </p:sp>
      <p:sp>
        <p:nvSpPr>
          <p:cNvPr id="83" name="CustomShape 2"/>
          <p:cNvSpPr/>
          <p:nvPr/>
        </p:nvSpPr>
        <p:spPr>
          <a:xfrm>
            <a:off x="685800" y="4724280"/>
            <a:ext cx="7771320" cy="13705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ctr">
              <a:lnSpc>
                <a:spcPct val="90000"/>
              </a:lnSpc>
              <a:spcBef>
                <a:spcPts val="751"/>
              </a:spcBef>
            </a:pPr>
            <a:r>
              <a:rPr lang="en-US" sz="2400" b="0" strike="noStrike" spc="-1">
                <a:solidFill>
                  <a:srgbClr val="000000"/>
                </a:solidFill>
                <a:latin typeface="Calibri"/>
                <a:ea typeface="宋体"/>
              </a:rPr>
              <a:t>Data Science</a:t>
            </a:r>
            <a:endParaRPr lang="en-US" sz="2400" b="0" strike="noStrike" spc="-1">
              <a:latin typeface="Arial"/>
            </a:endParaRPr>
          </a:p>
          <a:p>
            <a:pPr algn="ctr">
              <a:lnSpc>
                <a:spcPct val="90000"/>
              </a:lnSpc>
              <a:spcBef>
                <a:spcPts val="751"/>
              </a:spcBef>
            </a:pPr>
            <a:r>
              <a:rPr lang="en-US" sz="2400" b="0" strike="noStrike" spc="-1">
                <a:solidFill>
                  <a:srgbClr val="000000"/>
                </a:solidFill>
                <a:latin typeface="Calibri"/>
                <a:ea typeface="宋体"/>
              </a:rPr>
              <a:t>United International College</a:t>
            </a:r>
            <a:endParaRPr lang="en-US" sz="24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CustomShape 1"/>
          <p:cNvSpPr/>
          <p:nvPr/>
        </p:nvSpPr>
        <p:spPr>
          <a:xfrm>
            <a:off x="628560" y="365040"/>
            <a:ext cx="7885800" cy="13244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4400" b="0" strike="noStrike" spc="-1">
                <a:solidFill>
                  <a:srgbClr val="C00000"/>
                </a:solidFill>
                <a:latin typeface="Calibri"/>
                <a:ea typeface="Calibri"/>
              </a:rPr>
              <a:t>Outline</a:t>
            </a:r>
            <a:endParaRPr lang="en-US" sz="4400" b="0" strike="noStrike" spc="-1">
              <a:latin typeface="Arial"/>
            </a:endParaRPr>
          </a:p>
        </p:txBody>
      </p:sp>
      <p:sp>
        <p:nvSpPr>
          <p:cNvPr id="85" name="CustomShape 2"/>
          <p:cNvSpPr/>
          <p:nvPr/>
        </p:nvSpPr>
        <p:spPr>
          <a:xfrm>
            <a:off x="628560" y="1825560"/>
            <a:ext cx="7885800" cy="43502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171360" indent="-170280">
              <a:lnSpc>
                <a:spcPct val="90000"/>
              </a:lnSpc>
              <a:spcBef>
                <a:spcPts val="751"/>
              </a:spcBef>
              <a:buClr>
                <a:srgbClr val="000000"/>
              </a:buClr>
              <a:buFont typeface="Arial"/>
              <a:buChar char="•"/>
            </a:pPr>
            <a:r>
              <a:rPr lang="en-US" sz="2800" b="0" strike="noStrike" spc="-1">
                <a:solidFill>
                  <a:srgbClr val="000000"/>
                </a:solidFill>
                <a:latin typeface="Calibri"/>
                <a:ea typeface="Calibri"/>
              </a:rPr>
              <a:t>Stack ADT</a:t>
            </a:r>
            <a:endParaRPr lang="en-US" sz="2800" b="0" strike="noStrike" spc="-1">
              <a:latin typeface="Arial"/>
            </a:endParaRPr>
          </a:p>
          <a:p>
            <a:pPr marL="171360" indent="-170280">
              <a:lnSpc>
                <a:spcPct val="90000"/>
              </a:lnSpc>
              <a:spcBef>
                <a:spcPts val="751"/>
              </a:spcBef>
              <a:buClr>
                <a:srgbClr val="000000"/>
              </a:buClr>
              <a:buFont typeface="Arial"/>
              <a:buChar char="•"/>
            </a:pPr>
            <a:r>
              <a:rPr lang="en-US" sz="2800" b="0" strike="noStrike" spc="-1">
                <a:solidFill>
                  <a:srgbClr val="000000"/>
                </a:solidFill>
                <a:latin typeface="Calibri"/>
                <a:ea typeface="Calibri"/>
              </a:rPr>
              <a:t>Basic operations of stack</a:t>
            </a:r>
            <a:endParaRPr lang="en-US" sz="2800" b="0" strike="noStrike" spc="-1">
              <a:latin typeface="Arial"/>
            </a:endParaRPr>
          </a:p>
          <a:p>
            <a:pPr marL="171360" indent="-170280">
              <a:lnSpc>
                <a:spcPct val="90000"/>
              </a:lnSpc>
              <a:spcBef>
                <a:spcPts val="751"/>
              </a:spcBef>
              <a:buClr>
                <a:srgbClr val="000000"/>
              </a:buClr>
              <a:buFont typeface="Arial"/>
              <a:buChar char="•"/>
            </a:pPr>
            <a:r>
              <a:rPr lang="en-US" sz="2800" b="0" strike="noStrike" spc="-1">
                <a:solidFill>
                  <a:srgbClr val="000000"/>
                </a:solidFill>
                <a:latin typeface="Calibri"/>
                <a:ea typeface="Calibri"/>
              </a:rPr>
              <a:t>Applications of stacks</a:t>
            </a:r>
            <a:endParaRPr lang="en-US" sz="2800" b="0" strike="noStrike" spc="-1">
              <a:latin typeface="Arial"/>
            </a:endParaRPr>
          </a:p>
          <a:p>
            <a:pPr marL="171360" indent="-170280">
              <a:lnSpc>
                <a:spcPct val="90000"/>
              </a:lnSpc>
              <a:spcBef>
                <a:spcPts val="751"/>
              </a:spcBef>
              <a:buClr>
                <a:srgbClr val="000000"/>
              </a:buClr>
              <a:buFont typeface="Arial"/>
              <a:buChar char="•"/>
            </a:pPr>
            <a:r>
              <a:rPr lang="en-US" sz="2800" b="0" strike="noStrike" spc="-1">
                <a:solidFill>
                  <a:srgbClr val="000000"/>
                </a:solidFill>
                <a:latin typeface="Calibri"/>
                <a:ea typeface="Calibri"/>
              </a:rPr>
              <a:t>Implementations of stacks</a:t>
            </a:r>
            <a:endParaRPr lang="en-US" sz="2800" b="0" strike="noStrike" spc="-1">
              <a:latin typeface="Arial"/>
            </a:endParaRPr>
          </a:p>
        </p:txBody>
      </p:sp>
      <p:sp>
        <p:nvSpPr>
          <p:cNvPr id="86" name="CustomShape 3"/>
          <p:cNvSpPr/>
          <p:nvPr/>
        </p:nvSpPr>
        <p:spPr>
          <a:xfrm>
            <a:off x="3029040" y="6356520"/>
            <a:ext cx="3085200" cy="363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a:lnSpc>
                <a:spcPct val="100000"/>
              </a:lnSpc>
            </a:pPr>
            <a:r>
              <a:rPr lang="en-US" sz="900" b="0" strike="noStrike" spc="-1">
                <a:solidFill>
                  <a:srgbClr val="8B8B8B"/>
                </a:solidFill>
                <a:latin typeface="Calibri"/>
                <a:ea typeface="DejaVu Sans"/>
              </a:rPr>
              <a:t>Data Structures and Algorithms</a:t>
            </a:r>
            <a:endParaRPr lang="en-US" sz="900" b="0" strike="noStrike" spc="-1">
              <a:latin typeface="Arial"/>
            </a:endParaRPr>
          </a:p>
        </p:txBody>
      </p:sp>
      <p:sp>
        <p:nvSpPr>
          <p:cNvPr id="87" name="CustomShape 4"/>
          <p:cNvSpPr/>
          <p:nvPr/>
        </p:nvSpPr>
        <p:spPr>
          <a:xfrm>
            <a:off x="6458040" y="6356520"/>
            <a:ext cx="2056320" cy="363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r">
              <a:lnSpc>
                <a:spcPct val="100000"/>
              </a:lnSpc>
            </a:pPr>
            <a:fld id="{DCA4BC12-9440-4AB6-994F-AB2952F56760}" type="slidenum">
              <a:rPr lang="en-US" sz="900" b="0" strike="noStrike" spc="-1">
                <a:solidFill>
                  <a:srgbClr val="8B8B8B"/>
                </a:solidFill>
                <a:latin typeface="Calibri"/>
                <a:ea typeface="DejaVu Sans"/>
              </a:rPr>
              <a:t>2</a:t>
            </a:fld>
            <a:endParaRPr lang="en-US" sz="9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CustomShape 1"/>
          <p:cNvSpPr/>
          <p:nvPr/>
        </p:nvSpPr>
        <p:spPr>
          <a:xfrm>
            <a:off x="628560" y="365040"/>
            <a:ext cx="7885800" cy="13244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4400" b="0" strike="noStrike" spc="-1">
                <a:solidFill>
                  <a:srgbClr val="C00000"/>
                </a:solidFill>
                <a:latin typeface="Calibri"/>
                <a:ea typeface="Calibri"/>
              </a:rPr>
              <a:t>Stack ADT</a:t>
            </a:r>
            <a:endParaRPr lang="en-US" sz="4400" b="0" strike="noStrike" spc="-1">
              <a:latin typeface="Arial"/>
            </a:endParaRPr>
          </a:p>
        </p:txBody>
      </p:sp>
      <p:sp>
        <p:nvSpPr>
          <p:cNvPr id="89" name="CustomShape 2"/>
          <p:cNvSpPr/>
          <p:nvPr/>
        </p:nvSpPr>
        <p:spPr>
          <a:xfrm>
            <a:off x="457200" y="1600200"/>
            <a:ext cx="4342320" cy="4524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marL="171360" indent="-170280">
              <a:lnSpc>
                <a:spcPct val="90000"/>
              </a:lnSpc>
              <a:spcBef>
                <a:spcPts val="751"/>
              </a:spcBef>
              <a:buClr>
                <a:srgbClr val="000000"/>
              </a:buClr>
              <a:buFont typeface="Arial"/>
              <a:buChar char="•"/>
            </a:pPr>
            <a:r>
              <a:rPr lang="en-US" sz="2800" b="0" strike="noStrike" spc="-1" dirty="0">
                <a:solidFill>
                  <a:srgbClr val="000000"/>
                </a:solidFill>
                <a:latin typeface="Calibri"/>
                <a:ea typeface="Calibri"/>
              </a:rPr>
              <a:t>Stack is a special list where </a:t>
            </a:r>
            <a:r>
              <a:rPr lang="en-US" sz="2800" b="0" strike="noStrike" spc="-1" dirty="0">
                <a:solidFill>
                  <a:srgbClr val="0070C0"/>
                </a:solidFill>
                <a:latin typeface="Calibri"/>
                <a:ea typeface="Calibri"/>
              </a:rPr>
              <a:t>insertion </a:t>
            </a:r>
            <a:r>
              <a:rPr lang="en-US" sz="2800" b="0" strike="noStrike" spc="-1" dirty="0">
                <a:solidFill>
                  <a:srgbClr val="000000"/>
                </a:solidFill>
                <a:latin typeface="Calibri"/>
                <a:ea typeface="Calibri"/>
              </a:rPr>
              <a:t>and </a:t>
            </a:r>
            <a:r>
              <a:rPr lang="en-US" sz="2800" b="0" strike="noStrike" spc="-1" dirty="0">
                <a:solidFill>
                  <a:srgbClr val="0070C0"/>
                </a:solidFill>
                <a:latin typeface="Calibri"/>
                <a:ea typeface="Calibri"/>
              </a:rPr>
              <a:t>deletion </a:t>
            </a:r>
            <a:r>
              <a:rPr lang="en-US" sz="2800" b="0" strike="noStrike" spc="-1" dirty="0">
                <a:solidFill>
                  <a:srgbClr val="000000"/>
                </a:solidFill>
                <a:latin typeface="Calibri"/>
                <a:ea typeface="Calibri"/>
              </a:rPr>
              <a:t>take place </a:t>
            </a:r>
            <a:r>
              <a:rPr lang="en-US" sz="2800" b="0" strike="noStrike" spc="-1" dirty="0">
                <a:solidFill>
                  <a:srgbClr val="C00000"/>
                </a:solidFill>
                <a:latin typeface="Calibri"/>
                <a:ea typeface="Calibri"/>
              </a:rPr>
              <a:t>at the same end</a:t>
            </a:r>
            <a:endParaRPr lang="en-US" sz="2800" b="0" strike="noStrike" spc="-1" dirty="0">
              <a:solidFill>
                <a:srgbClr val="C00000"/>
              </a:solidFill>
              <a:latin typeface="Arial"/>
            </a:endParaRPr>
          </a:p>
          <a:p>
            <a:pPr marL="514440" lvl="1" indent="-170280">
              <a:lnSpc>
                <a:spcPct val="90000"/>
              </a:lnSpc>
              <a:spcBef>
                <a:spcPts val="374"/>
              </a:spcBef>
              <a:buClr>
                <a:srgbClr val="000000"/>
              </a:buClr>
              <a:buFont typeface="Arial"/>
              <a:buChar char="•"/>
            </a:pPr>
            <a:r>
              <a:rPr lang="en-US" sz="2400" b="0" strike="noStrike" spc="-1" dirty="0">
                <a:solidFill>
                  <a:srgbClr val="000000"/>
                </a:solidFill>
                <a:latin typeface="Calibri"/>
                <a:ea typeface="宋体"/>
              </a:rPr>
              <a:t>This end is called </a:t>
            </a:r>
            <a:r>
              <a:rPr lang="en-US" sz="2400" b="0" i="1" strike="noStrike" spc="-1" dirty="0">
                <a:solidFill>
                  <a:srgbClr val="0070C0"/>
                </a:solidFill>
                <a:latin typeface="Calibri"/>
                <a:ea typeface="宋体"/>
              </a:rPr>
              <a:t>top (</a:t>
            </a:r>
            <a:r>
              <a:rPr lang="en-US" sz="2400" b="0" i="1" strike="noStrike" spc="-1" dirty="0" err="1">
                <a:solidFill>
                  <a:srgbClr val="0070C0"/>
                </a:solidFill>
                <a:latin typeface="Calibri"/>
                <a:ea typeface="宋体"/>
              </a:rPr>
              <a:t>栈顶</a:t>
            </a:r>
            <a:r>
              <a:rPr lang="en-US" sz="2400" b="0" i="1" strike="noStrike" spc="-1" dirty="0">
                <a:solidFill>
                  <a:srgbClr val="0070C0"/>
                </a:solidFill>
                <a:latin typeface="Calibri"/>
                <a:ea typeface="宋体"/>
              </a:rPr>
              <a:t>)</a:t>
            </a:r>
            <a:endParaRPr lang="en-US" sz="2400" b="0" strike="noStrike" spc="-1" dirty="0">
              <a:latin typeface="Arial"/>
            </a:endParaRPr>
          </a:p>
          <a:p>
            <a:pPr marL="514440" lvl="1" indent="-170280">
              <a:lnSpc>
                <a:spcPct val="90000"/>
              </a:lnSpc>
              <a:spcBef>
                <a:spcPts val="374"/>
              </a:spcBef>
              <a:buClr>
                <a:srgbClr val="000000"/>
              </a:buClr>
              <a:buFont typeface="Arial"/>
              <a:buChar char="•"/>
            </a:pPr>
            <a:r>
              <a:rPr lang="en-US" sz="2400" b="0" strike="noStrike" spc="-1" dirty="0">
                <a:solidFill>
                  <a:srgbClr val="000000"/>
                </a:solidFill>
                <a:latin typeface="Calibri"/>
                <a:ea typeface="宋体"/>
              </a:rPr>
              <a:t>The other end is called </a:t>
            </a:r>
            <a:r>
              <a:rPr lang="en-US" sz="2400" b="0" i="1" strike="noStrike" spc="-1" dirty="0">
                <a:solidFill>
                  <a:srgbClr val="0070C0"/>
                </a:solidFill>
                <a:latin typeface="Calibri"/>
                <a:ea typeface="宋体"/>
              </a:rPr>
              <a:t>bottom (</a:t>
            </a:r>
            <a:r>
              <a:rPr lang="en-US" sz="2400" b="0" i="1" strike="noStrike" spc="-1" dirty="0" err="1">
                <a:solidFill>
                  <a:srgbClr val="0070C0"/>
                </a:solidFill>
                <a:latin typeface="Calibri"/>
                <a:ea typeface="宋体"/>
              </a:rPr>
              <a:t>栈底</a:t>
            </a:r>
            <a:r>
              <a:rPr lang="en-US" sz="2400" b="0" i="1" strike="noStrike" spc="-1" dirty="0">
                <a:solidFill>
                  <a:srgbClr val="0070C0"/>
                </a:solidFill>
                <a:latin typeface="Calibri"/>
                <a:ea typeface="宋体"/>
              </a:rPr>
              <a:t>)</a:t>
            </a:r>
            <a:endParaRPr lang="en-US" sz="2400" b="0" strike="noStrike" spc="-1" dirty="0">
              <a:latin typeface="Arial"/>
            </a:endParaRPr>
          </a:p>
          <a:p>
            <a:pPr marL="171360" indent="-170280">
              <a:lnSpc>
                <a:spcPct val="90000"/>
              </a:lnSpc>
              <a:spcBef>
                <a:spcPts val="751"/>
              </a:spcBef>
              <a:buClr>
                <a:srgbClr val="FF0000"/>
              </a:buClr>
              <a:buFont typeface="Arial"/>
              <a:buChar char="•"/>
            </a:pPr>
            <a:r>
              <a:rPr lang="en-US" sz="2800" b="0" strike="noStrike" spc="-1" dirty="0">
                <a:solidFill>
                  <a:srgbClr val="FF0000"/>
                </a:solidFill>
                <a:latin typeface="Calibri"/>
                <a:ea typeface="Calibri"/>
              </a:rPr>
              <a:t>Everything</a:t>
            </a:r>
            <a:r>
              <a:rPr lang="en-US" sz="2800" b="0" strike="noStrike" spc="-1" dirty="0">
                <a:solidFill>
                  <a:srgbClr val="AFABAB"/>
                </a:solidFill>
                <a:latin typeface="Calibri"/>
                <a:ea typeface="Calibri"/>
              </a:rPr>
              <a:t> </a:t>
            </a:r>
            <a:r>
              <a:rPr lang="en-US" sz="2800" b="0" strike="noStrike" spc="-1" dirty="0">
                <a:solidFill>
                  <a:srgbClr val="000000"/>
                </a:solidFill>
                <a:latin typeface="Calibri"/>
                <a:ea typeface="Calibri"/>
              </a:rPr>
              <a:t>happens at the </a:t>
            </a:r>
            <a:r>
              <a:rPr lang="en-US" sz="2800" b="0" strike="noStrike" spc="-1" dirty="0">
                <a:solidFill>
                  <a:srgbClr val="0070C0"/>
                </a:solidFill>
                <a:latin typeface="Calibri"/>
                <a:ea typeface="Calibri"/>
              </a:rPr>
              <a:t>top</a:t>
            </a:r>
            <a:endParaRPr lang="en-US" sz="2800" b="0" strike="noStrike" spc="-1" dirty="0">
              <a:latin typeface="Arial"/>
            </a:endParaRPr>
          </a:p>
          <a:p>
            <a:pPr marL="171360" indent="-170280">
              <a:lnSpc>
                <a:spcPct val="90000"/>
              </a:lnSpc>
              <a:spcBef>
                <a:spcPts val="751"/>
              </a:spcBef>
              <a:buClr>
                <a:srgbClr val="FF0000"/>
              </a:buClr>
              <a:buFont typeface="Arial"/>
              <a:buChar char="•"/>
            </a:pPr>
            <a:r>
              <a:rPr lang="en-US" sz="2800" b="0" strike="noStrike" spc="-1" dirty="0">
                <a:solidFill>
                  <a:srgbClr val="FF0000"/>
                </a:solidFill>
                <a:latin typeface="Calibri"/>
                <a:ea typeface="Calibri"/>
              </a:rPr>
              <a:t>Nothing</a:t>
            </a:r>
            <a:r>
              <a:rPr lang="en-US" sz="2800" b="0" strike="noStrike" spc="-1" dirty="0">
                <a:solidFill>
                  <a:srgbClr val="000000"/>
                </a:solidFill>
                <a:latin typeface="Calibri"/>
                <a:ea typeface="Calibri"/>
              </a:rPr>
              <a:t> happens at the </a:t>
            </a:r>
            <a:r>
              <a:rPr lang="en-US" sz="2800" b="0" strike="noStrike" spc="-1" dirty="0">
                <a:solidFill>
                  <a:srgbClr val="0070C0"/>
                </a:solidFill>
                <a:latin typeface="Calibri"/>
                <a:ea typeface="Calibri"/>
              </a:rPr>
              <a:t>bottom</a:t>
            </a:r>
            <a:endParaRPr lang="en-US" sz="2800" b="0" strike="noStrike" spc="-1" dirty="0">
              <a:latin typeface="Arial"/>
            </a:endParaRPr>
          </a:p>
        </p:txBody>
      </p:sp>
      <p:sp>
        <p:nvSpPr>
          <p:cNvPr id="90" name="CustomShape 3"/>
          <p:cNvSpPr/>
          <p:nvPr/>
        </p:nvSpPr>
        <p:spPr>
          <a:xfrm>
            <a:off x="6458040" y="6356520"/>
            <a:ext cx="2056320" cy="363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r">
              <a:lnSpc>
                <a:spcPct val="100000"/>
              </a:lnSpc>
            </a:pPr>
            <a:fld id="{63FD1E9D-2A7D-40CE-858C-D9E484338B4E}" type="slidenum">
              <a:rPr lang="en-US" sz="900" b="0" strike="noStrike" spc="-1">
                <a:solidFill>
                  <a:srgbClr val="8B8B8B"/>
                </a:solidFill>
                <a:latin typeface="Calibri"/>
                <a:ea typeface="DejaVu Sans"/>
              </a:rPr>
              <a:t>3</a:t>
            </a:fld>
            <a:endParaRPr lang="en-US" sz="900" b="0" strike="noStrike" spc="-1">
              <a:latin typeface="Arial"/>
            </a:endParaRPr>
          </a:p>
        </p:txBody>
      </p:sp>
      <p:graphicFrame>
        <p:nvGraphicFramePr>
          <p:cNvPr id="91" name="Table 4"/>
          <p:cNvGraphicFramePr/>
          <p:nvPr/>
        </p:nvGraphicFramePr>
        <p:xfrm>
          <a:off x="5638680" y="1752480"/>
          <a:ext cx="1447560" cy="4165200"/>
        </p:xfrm>
        <a:graphic>
          <a:graphicData uri="http://schemas.openxmlformats.org/drawingml/2006/table">
            <a:tbl>
              <a:tblPr/>
              <a:tblGrid>
                <a:gridCol w="1447560">
                  <a:extLst>
                    <a:ext uri="{9D8B030D-6E8A-4147-A177-3AD203B41FA5}">
                      <a16:colId xmlns:a16="http://schemas.microsoft.com/office/drawing/2014/main" val="20000"/>
                    </a:ext>
                  </a:extLst>
                </a:gridCol>
              </a:tblGrid>
              <a:tr h="520560">
                <a:tc>
                  <a:txBody>
                    <a:bodyPr/>
                    <a:lstStyle/>
                    <a:p>
                      <a:endParaRPr lang="zh-CN"/>
                    </a:p>
                  </a:txBody>
                  <a:tcPr>
                    <a:lnL w="12240">
                      <a:solidFill>
                        <a:srgbClr val="000000"/>
                      </a:solidFill>
                    </a:lnL>
                    <a:lnR w="12240">
                      <a:solidFill>
                        <a:srgbClr val="000000"/>
                      </a:solidFill>
                    </a:lnR>
                    <a:lnT w="12240">
                      <a:solidFill>
                        <a:srgbClr val="000000"/>
                      </a:solidFill>
                    </a:lnT>
                    <a:lnB w="12240">
                      <a:solidFill>
                        <a:srgbClr val="000000"/>
                      </a:solidFill>
                    </a:lnB>
                    <a:solidFill>
                      <a:srgbClr val="B9B9B9"/>
                    </a:solidFill>
                  </a:tcPr>
                </a:tc>
                <a:extLst>
                  <a:ext uri="{0D108BD9-81ED-4DB2-BD59-A6C34878D82A}">
                    <a16:rowId xmlns:a16="http://schemas.microsoft.com/office/drawing/2014/main" val="10000"/>
                  </a:ext>
                </a:extLst>
              </a:tr>
              <a:tr h="520560">
                <a:tc>
                  <a:txBody>
                    <a:bodyPr/>
                    <a:lstStyle/>
                    <a:p>
                      <a:endParaRPr lang="zh-CN"/>
                    </a:p>
                  </a:txBody>
                  <a:tcPr>
                    <a:lnL w="12240">
                      <a:solidFill>
                        <a:srgbClr val="000000"/>
                      </a:solidFill>
                    </a:lnL>
                    <a:lnR w="12240">
                      <a:solidFill>
                        <a:srgbClr val="000000"/>
                      </a:solidFill>
                    </a:lnR>
                    <a:lnT w="12240">
                      <a:solidFill>
                        <a:srgbClr val="000000"/>
                      </a:solidFill>
                    </a:lnT>
                    <a:lnB w="12240">
                      <a:solidFill>
                        <a:srgbClr val="000000"/>
                      </a:solidFill>
                    </a:lnB>
                    <a:solidFill>
                      <a:srgbClr val="C7C7C7"/>
                    </a:solidFill>
                  </a:tcPr>
                </a:tc>
                <a:extLst>
                  <a:ext uri="{0D108BD9-81ED-4DB2-BD59-A6C34878D82A}">
                    <a16:rowId xmlns:a16="http://schemas.microsoft.com/office/drawing/2014/main" val="10001"/>
                  </a:ext>
                </a:extLst>
              </a:tr>
              <a:tr h="520560">
                <a:tc>
                  <a:txBody>
                    <a:bodyPr/>
                    <a:lstStyle/>
                    <a:p>
                      <a:endParaRPr lang="zh-CN"/>
                    </a:p>
                  </a:txBody>
                  <a:tcPr>
                    <a:lnL w="12240">
                      <a:solidFill>
                        <a:srgbClr val="000000"/>
                      </a:solidFill>
                    </a:lnL>
                    <a:lnR w="12240">
                      <a:solidFill>
                        <a:srgbClr val="000000"/>
                      </a:solidFill>
                    </a:lnR>
                    <a:lnT w="12240">
                      <a:solidFill>
                        <a:srgbClr val="000000"/>
                      </a:solidFill>
                    </a:lnT>
                    <a:lnB w="12240">
                      <a:solidFill>
                        <a:srgbClr val="000000"/>
                      </a:solidFill>
                    </a:lnB>
                    <a:solidFill>
                      <a:srgbClr val="B9B9B9"/>
                    </a:solidFill>
                  </a:tcPr>
                </a:tc>
                <a:extLst>
                  <a:ext uri="{0D108BD9-81ED-4DB2-BD59-A6C34878D82A}">
                    <a16:rowId xmlns:a16="http://schemas.microsoft.com/office/drawing/2014/main" val="10002"/>
                  </a:ext>
                </a:extLst>
              </a:tr>
              <a:tr h="520560">
                <a:tc>
                  <a:txBody>
                    <a:bodyPr/>
                    <a:lstStyle/>
                    <a:p>
                      <a:endParaRPr lang="zh-CN"/>
                    </a:p>
                  </a:txBody>
                  <a:tcPr>
                    <a:lnL w="12240">
                      <a:solidFill>
                        <a:srgbClr val="000000"/>
                      </a:solidFill>
                    </a:lnL>
                    <a:lnR w="12240">
                      <a:solidFill>
                        <a:srgbClr val="000000"/>
                      </a:solidFill>
                    </a:lnR>
                    <a:lnT w="12240">
                      <a:solidFill>
                        <a:srgbClr val="000000"/>
                      </a:solidFill>
                    </a:lnT>
                    <a:lnB w="12240">
                      <a:solidFill>
                        <a:srgbClr val="000000"/>
                      </a:solidFill>
                    </a:lnB>
                    <a:solidFill>
                      <a:srgbClr val="C7C7C7"/>
                    </a:solidFill>
                  </a:tcPr>
                </a:tc>
                <a:extLst>
                  <a:ext uri="{0D108BD9-81ED-4DB2-BD59-A6C34878D82A}">
                    <a16:rowId xmlns:a16="http://schemas.microsoft.com/office/drawing/2014/main" val="10003"/>
                  </a:ext>
                </a:extLst>
              </a:tr>
              <a:tr h="520560">
                <a:tc>
                  <a:txBody>
                    <a:bodyPr/>
                    <a:lstStyle/>
                    <a:p>
                      <a:pPr algn="ctr">
                        <a:lnSpc>
                          <a:spcPct val="100000"/>
                        </a:lnSpc>
                      </a:pPr>
                      <a:r>
                        <a:rPr lang="en-US" sz="1350" b="0" strike="noStrike" spc="-1">
                          <a:solidFill>
                            <a:srgbClr val="000000"/>
                          </a:solidFill>
                          <a:latin typeface="Calibri"/>
                        </a:rPr>
                        <a:t>6</a:t>
                      </a:r>
                      <a:endParaRPr lang="en-US" sz="135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B9B9B9"/>
                    </a:solidFill>
                  </a:tcPr>
                </a:tc>
                <a:extLst>
                  <a:ext uri="{0D108BD9-81ED-4DB2-BD59-A6C34878D82A}">
                    <a16:rowId xmlns:a16="http://schemas.microsoft.com/office/drawing/2014/main" val="10004"/>
                  </a:ext>
                </a:extLst>
              </a:tr>
              <a:tr h="520560">
                <a:tc>
                  <a:txBody>
                    <a:bodyPr/>
                    <a:lstStyle/>
                    <a:p>
                      <a:pPr algn="ctr">
                        <a:lnSpc>
                          <a:spcPct val="100000"/>
                        </a:lnSpc>
                      </a:pPr>
                      <a:r>
                        <a:rPr lang="en-US" sz="1350" b="0" strike="noStrike" spc="-1">
                          <a:solidFill>
                            <a:srgbClr val="000000"/>
                          </a:solidFill>
                          <a:latin typeface="Calibri"/>
                        </a:rPr>
                        <a:t>8</a:t>
                      </a:r>
                      <a:endParaRPr lang="en-US" sz="135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C7C7C7"/>
                    </a:solidFill>
                  </a:tcPr>
                </a:tc>
                <a:extLst>
                  <a:ext uri="{0D108BD9-81ED-4DB2-BD59-A6C34878D82A}">
                    <a16:rowId xmlns:a16="http://schemas.microsoft.com/office/drawing/2014/main" val="10005"/>
                  </a:ext>
                </a:extLst>
              </a:tr>
              <a:tr h="520560">
                <a:tc>
                  <a:txBody>
                    <a:bodyPr/>
                    <a:lstStyle/>
                    <a:p>
                      <a:pPr algn="ctr">
                        <a:lnSpc>
                          <a:spcPct val="100000"/>
                        </a:lnSpc>
                      </a:pPr>
                      <a:r>
                        <a:rPr lang="en-US" sz="1350" b="0" strike="noStrike" spc="-1">
                          <a:solidFill>
                            <a:srgbClr val="000000"/>
                          </a:solidFill>
                          <a:latin typeface="Calibri"/>
                        </a:rPr>
                        <a:t>4</a:t>
                      </a:r>
                      <a:endParaRPr lang="en-US" sz="135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B9B9B9"/>
                    </a:solidFill>
                  </a:tcPr>
                </a:tc>
                <a:extLst>
                  <a:ext uri="{0D108BD9-81ED-4DB2-BD59-A6C34878D82A}">
                    <a16:rowId xmlns:a16="http://schemas.microsoft.com/office/drawing/2014/main" val="10006"/>
                  </a:ext>
                </a:extLst>
              </a:tr>
              <a:tr h="521280">
                <a:tc>
                  <a:txBody>
                    <a:bodyPr/>
                    <a:lstStyle/>
                    <a:p>
                      <a:pPr algn="ctr">
                        <a:lnSpc>
                          <a:spcPct val="100000"/>
                        </a:lnSpc>
                      </a:pPr>
                      <a:r>
                        <a:rPr lang="en-US" sz="1350" b="0" strike="noStrike" spc="-1">
                          <a:solidFill>
                            <a:srgbClr val="000000"/>
                          </a:solidFill>
                          <a:latin typeface="Calibri"/>
                        </a:rPr>
                        <a:t>3</a:t>
                      </a:r>
                      <a:endParaRPr lang="en-US" sz="135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C7C7C7"/>
                    </a:solidFill>
                  </a:tcPr>
                </a:tc>
                <a:extLst>
                  <a:ext uri="{0D108BD9-81ED-4DB2-BD59-A6C34878D82A}">
                    <a16:rowId xmlns:a16="http://schemas.microsoft.com/office/drawing/2014/main" val="10007"/>
                  </a:ext>
                </a:extLst>
              </a:tr>
            </a:tbl>
          </a:graphicData>
        </a:graphic>
      </p:graphicFrame>
      <p:sp>
        <p:nvSpPr>
          <p:cNvPr id="92" name="CustomShape 5"/>
          <p:cNvSpPr/>
          <p:nvPr/>
        </p:nvSpPr>
        <p:spPr>
          <a:xfrm>
            <a:off x="7744320" y="3886200"/>
            <a:ext cx="553680" cy="36396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800" b="0" strike="noStrike" spc="-1">
                <a:solidFill>
                  <a:srgbClr val="000000"/>
                </a:solidFill>
                <a:latin typeface="Calibri Light"/>
                <a:ea typeface="DejaVu Sans"/>
              </a:rPr>
              <a:t>top</a:t>
            </a:r>
            <a:endParaRPr lang="en-US" sz="1800" b="0" strike="noStrike" spc="-1">
              <a:latin typeface="Arial"/>
            </a:endParaRPr>
          </a:p>
        </p:txBody>
      </p:sp>
      <p:sp>
        <p:nvSpPr>
          <p:cNvPr id="93" name="CustomShape 6"/>
          <p:cNvSpPr/>
          <p:nvPr/>
        </p:nvSpPr>
        <p:spPr>
          <a:xfrm flipH="1">
            <a:off x="7162200" y="4070880"/>
            <a:ext cx="608400" cy="360"/>
          </a:xfrm>
          <a:custGeom>
            <a:avLst/>
            <a:gdLst/>
            <a:ahLst/>
            <a:cxnLst/>
            <a:rect l="l" t="t" r="r" b="b"/>
            <a:pathLst>
              <a:path w="21600" h="21600">
                <a:moveTo>
                  <a:pt x="0" y="0"/>
                </a:moveTo>
                <a:lnTo>
                  <a:pt x="21600" y="21600"/>
                </a:lnTo>
              </a:path>
            </a:pathLst>
          </a:custGeom>
          <a:noFill/>
          <a:ln>
            <a:solidFill>
              <a:srgbClr val="5597D3"/>
            </a:solidFill>
            <a:round/>
            <a:tailEnd type="triangle" w="med" len="med"/>
          </a:ln>
        </p:spPr>
        <p:style>
          <a:lnRef idx="1">
            <a:schemeClr val="accent1"/>
          </a:lnRef>
          <a:fillRef idx="0">
            <a:schemeClr val="accent1"/>
          </a:fillRef>
          <a:effectRef idx="0">
            <a:schemeClr val="accent1"/>
          </a:effectRef>
          <a:fontRef idx="minor"/>
        </p:style>
      </p:sp>
      <p:sp>
        <p:nvSpPr>
          <p:cNvPr id="94" name="CustomShape 7"/>
          <p:cNvSpPr/>
          <p:nvPr/>
        </p:nvSpPr>
        <p:spPr>
          <a:xfrm>
            <a:off x="7705440" y="5486400"/>
            <a:ext cx="1006560" cy="36396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800" b="0" strike="noStrike" spc="-1">
                <a:solidFill>
                  <a:srgbClr val="000000"/>
                </a:solidFill>
                <a:latin typeface="Calibri Light"/>
                <a:ea typeface="DejaVu Sans"/>
              </a:rPr>
              <a:t>bottom</a:t>
            </a:r>
            <a:endParaRPr lang="en-US" sz="1800" b="0" strike="noStrike" spc="-1">
              <a:latin typeface="Arial"/>
            </a:endParaRPr>
          </a:p>
        </p:txBody>
      </p:sp>
      <p:sp>
        <p:nvSpPr>
          <p:cNvPr id="95" name="CustomShape 8"/>
          <p:cNvSpPr/>
          <p:nvPr/>
        </p:nvSpPr>
        <p:spPr>
          <a:xfrm flipH="1">
            <a:off x="7162200" y="5671080"/>
            <a:ext cx="608400" cy="360"/>
          </a:xfrm>
          <a:custGeom>
            <a:avLst/>
            <a:gdLst/>
            <a:ahLst/>
            <a:cxnLst/>
            <a:rect l="l" t="t" r="r" b="b"/>
            <a:pathLst>
              <a:path w="21600" h="21600">
                <a:moveTo>
                  <a:pt x="0" y="0"/>
                </a:moveTo>
                <a:lnTo>
                  <a:pt x="21600" y="21600"/>
                </a:lnTo>
              </a:path>
            </a:pathLst>
          </a:custGeom>
          <a:noFill/>
          <a:ln>
            <a:solidFill>
              <a:srgbClr val="5597D3"/>
            </a:solidFill>
            <a:round/>
            <a:tailEnd type="triangle" w="med" len="med"/>
          </a:ln>
        </p:spPr>
        <p:style>
          <a:lnRef idx="1">
            <a:schemeClr val="accent1"/>
          </a:lnRef>
          <a:fillRef idx="0">
            <a:schemeClr val="accent1"/>
          </a:fillRef>
          <a:effectRef idx="0">
            <a:schemeClr val="accent1"/>
          </a:effectRef>
          <a:fontRef idx="minor"/>
        </p:style>
      </p:sp>
      <p:sp>
        <p:nvSpPr>
          <p:cNvPr id="96" name="CustomShape 9"/>
          <p:cNvSpPr/>
          <p:nvPr/>
        </p:nvSpPr>
        <p:spPr>
          <a:xfrm>
            <a:off x="3029040" y="6356520"/>
            <a:ext cx="3085200" cy="363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a:lnSpc>
                <a:spcPct val="100000"/>
              </a:lnSpc>
            </a:pPr>
            <a:r>
              <a:rPr lang="en-US" sz="900" b="0" strike="noStrike" spc="-1">
                <a:solidFill>
                  <a:srgbClr val="8B8B8B"/>
                </a:solidFill>
                <a:latin typeface="Calibri"/>
                <a:ea typeface="DejaVu Sans"/>
              </a:rPr>
              <a:t>Data Structures and Algorithms</a:t>
            </a:r>
            <a:endParaRPr lang="en-US" sz="9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CustomShape 1"/>
          <p:cNvSpPr/>
          <p:nvPr/>
        </p:nvSpPr>
        <p:spPr>
          <a:xfrm>
            <a:off x="628560" y="365040"/>
            <a:ext cx="7885800" cy="13244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4400" b="0" strike="noStrike" spc="-1">
                <a:solidFill>
                  <a:srgbClr val="C00000"/>
                </a:solidFill>
                <a:latin typeface="Calibri"/>
                <a:ea typeface="Calibri"/>
              </a:rPr>
              <a:t>Stack Animation </a:t>
            </a:r>
            <a:endParaRPr lang="en-US" sz="4400" b="0" strike="noStrike" spc="-1">
              <a:latin typeface="Arial"/>
            </a:endParaRPr>
          </a:p>
        </p:txBody>
      </p:sp>
      <p:sp>
        <p:nvSpPr>
          <p:cNvPr id="98" name="CustomShape 2"/>
          <p:cNvSpPr/>
          <p:nvPr/>
        </p:nvSpPr>
        <p:spPr>
          <a:xfrm>
            <a:off x="628560" y="1825560"/>
            <a:ext cx="7885800" cy="43502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171360" indent="-170280">
              <a:lnSpc>
                <a:spcPct val="90000"/>
              </a:lnSpc>
              <a:spcBef>
                <a:spcPts val="751"/>
              </a:spcBef>
              <a:buClr>
                <a:srgbClr val="000000"/>
              </a:buClr>
              <a:buFont typeface="Arial"/>
              <a:buChar char="•"/>
            </a:pPr>
            <a:r>
              <a:rPr lang="en-US" sz="2800" b="0" u="sng" strike="noStrike" spc="-1" dirty="0">
                <a:solidFill>
                  <a:srgbClr val="0563C1"/>
                </a:solidFill>
                <a:uFillTx/>
                <a:latin typeface="Calibri"/>
                <a:ea typeface="Calibri"/>
                <a:hlinkClick r:id="rId2"/>
              </a:rPr>
              <a:t>http://www.cs.armstrong.edu/liang/animation/web/Stack.html</a:t>
            </a:r>
            <a:endParaRPr lang="en-US" sz="2800" b="0" u="sng" strike="noStrike" spc="-1" dirty="0">
              <a:solidFill>
                <a:srgbClr val="0563C1"/>
              </a:solidFill>
              <a:uFillTx/>
              <a:latin typeface="Calibri"/>
              <a:ea typeface="Calibri"/>
            </a:endParaRPr>
          </a:p>
          <a:p>
            <a:pPr marL="1080">
              <a:lnSpc>
                <a:spcPct val="90000"/>
              </a:lnSpc>
              <a:spcBef>
                <a:spcPts val="751"/>
              </a:spcBef>
              <a:buClr>
                <a:srgbClr val="000000"/>
              </a:buClr>
            </a:pPr>
            <a:endParaRPr lang="en-US" sz="2800" b="0" strike="noStrike" spc="-1" dirty="0">
              <a:latin typeface="Arial"/>
            </a:endParaRPr>
          </a:p>
          <a:p>
            <a:pPr marL="171360" indent="-170280">
              <a:lnSpc>
                <a:spcPct val="90000"/>
              </a:lnSpc>
              <a:spcBef>
                <a:spcPts val="751"/>
              </a:spcBef>
              <a:buClr>
                <a:srgbClr val="000000"/>
              </a:buClr>
              <a:buFont typeface="Arial"/>
              <a:buChar char="•"/>
            </a:pPr>
            <a:r>
              <a:rPr lang="en-US" sz="2800" b="0" strike="noStrike" spc="-1" dirty="0">
                <a:solidFill>
                  <a:srgbClr val="FF0000"/>
                </a:solidFill>
                <a:latin typeface="Calibri"/>
                <a:ea typeface="宋体"/>
              </a:rPr>
              <a:t>Stacks are known as LIFO (Last In, First Out, </a:t>
            </a:r>
            <a:r>
              <a:rPr lang="en-US" sz="2800" b="0" strike="noStrike" spc="-1" dirty="0" err="1">
                <a:solidFill>
                  <a:srgbClr val="FF0000"/>
                </a:solidFill>
                <a:latin typeface="Calibri"/>
                <a:ea typeface="宋体"/>
              </a:rPr>
              <a:t>后进先出</a:t>
            </a:r>
            <a:r>
              <a:rPr lang="en-US" sz="2800" b="0" strike="noStrike" spc="-1" dirty="0">
                <a:solidFill>
                  <a:srgbClr val="FF0000"/>
                </a:solidFill>
                <a:latin typeface="Calibri"/>
                <a:ea typeface="宋体"/>
              </a:rPr>
              <a:t>) lists.</a:t>
            </a:r>
            <a:endParaRPr lang="en-US" sz="2800" b="0" strike="noStrike" spc="-1" dirty="0">
              <a:solidFill>
                <a:srgbClr val="FF0000"/>
              </a:solidFill>
              <a:latin typeface="Arial"/>
            </a:endParaRPr>
          </a:p>
          <a:p>
            <a:pPr>
              <a:lnSpc>
                <a:spcPct val="90000"/>
              </a:lnSpc>
              <a:spcBef>
                <a:spcPts val="751"/>
              </a:spcBef>
            </a:pPr>
            <a:endParaRPr lang="en-US" sz="2800" b="0" strike="noStrike" spc="-1" dirty="0">
              <a:latin typeface="Arial"/>
            </a:endParaRPr>
          </a:p>
          <a:p>
            <a:pPr>
              <a:lnSpc>
                <a:spcPct val="90000"/>
              </a:lnSpc>
              <a:spcBef>
                <a:spcPts val="751"/>
              </a:spcBef>
            </a:pPr>
            <a:endParaRPr lang="en-US" sz="2800" b="0" strike="noStrike" spc="-1" dirty="0">
              <a:latin typeface="Arial"/>
            </a:endParaRPr>
          </a:p>
        </p:txBody>
      </p:sp>
      <p:sp>
        <p:nvSpPr>
          <p:cNvPr id="99" name="CustomShape 3"/>
          <p:cNvSpPr/>
          <p:nvPr/>
        </p:nvSpPr>
        <p:spPr>
          <a:xfrm>
            <a:off x="6458040" y="6356520"/>
            <a:ext cx="2056320" cy="363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r">
              <a:lnSpc>
                <a:spcPct val="100000"/>
              </a:lnSpc>
            </a:pPr>
            <a:fld id="{349FA57B-05E0-489B-A2DD-73D85DFD6F96}" type="slidenum">
              <a:rPr lang="en-US" sz="900" b="0" strike="noStrike" spc="-1">
                <a:solidFill>
                  <a:srgbClr val="8B8B8B"/>
                </a:solidFill>
                <a:latin typeface="Calibri"/>
                <a:ea typeface="DejaVu Sans"/>
              </a:rPr>
              <a:t>4</a:t>
            </a:fld>
            <a:endParaRPr lang="en-US" sz="900" b="0" strike="noStrike" spc="-1">
              <a:latin typeface="Arial"/>
            </a:endParaRPr>
          </a:p>
        </p:txBody>
      </p:sp>
      <p:sp>
        <p:nvSpPr>
          <p:cNvPr id="100" name="CustomShape 4"/>
          <p:cNvSpPr/>
          <p:nvPr/>
        </p:nvSpPr>
        <p:spPr>
          <a:xfrm>
            <a:off x="3029040" y="6356520"/>
            <a:ext cx="3085200" cy="363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a:lnSpc>
                <a:spcPct val="100000"/>
              </a:lnSpc>
            </a:pPr>
            <a:r>
              <a:rPr lang="en-US" sz="900" b="0" strike="noStrike" spc="-1">
                <a:solidFill>
                  <a:srgbClr val="8B8B8B"/>
                </a:solidFill>
                <a:latin typeface="Calibri"/>
                <a:ea typeface="DejaVu Sans"/>
              </a:rPr>
              <a:t>Data Structures and Algorithms</a:t>
            </a:r>
            <a:endParaRPr lang="en-US" sz="9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CustomShape 1"/>
          <p:cNvSpPr/>
          <p:nvPr/>
        </p:nvSpPr>
        <p:spPr>
          <a:xfrm>
            <a:off x="628560" y="365040"/>
            <a:ext cx="7885800" cy="13244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4400" b="0" strike="noStrike" spc="-1">
                <a:solidFill>
                  <a:srgbClr val="C00000"/>
                </a:solidFill>
                <a:latin typeface="Calibri"/>
                <a:ea typeface="宋体"/>
              </a:rPr>
              <a:t>Push and Pop</a:t>
            </a:r>
            <a:endParaRPr lang="en-US" sz="4400" b="0" strike="noStrike" spc="-1">
              <a:latin typeface="Arial"/>
            </a:endParaRPr>
          </a:p>
        </p:txBody>
      </p:sp>
      <p:sp>
        <p:nvSpPr>
          <p:cNvPr id="102" name="CustomShape 2"/>
          <p:cNvSpPr/>
          <p:nvPr/>
        </p:nvSpPr>
        <p:spPr>
          <a:xfrm>
            <a:off x="609480" y="1369440"/>
            <a:ext cx="7847640" cy="28944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marL="171360" indent="-170280">
              <a:lnSpc>
                <a:spcPct val="90000"/>
              </a:lnSpc>
              <a:spcBef>
                <a:spcPts val="751"/>
              </a:spcBef>
              <a:buClr>
                <a:srgbClr val="000000"/>
              </a:buClr>
              <a:buFont typeface="Arial"/>
              <a:buChar char="•"/>
            </a:pPr>
            <a:r>
              <a:rPr lang="en-US" sz="2800" b="0" strike="noStrike" spc="-1" dirty="0">
                <a:solidFill>
                  <a:srgbClr val="000000"/>
                </a:solidFill>
                <a:latin typeface="Calibri"/>
                <a:ea typeface="宋体"/>
              </a:rPr>
              <a:t>Primary operations: </a:t>
            </a:r>
            <a:r>
              <a:rPr lang="en-US" sz="2800" b="0" strike="noStrike" spc="-1" dirty="0">
                <a:solidFill>
                  <a:srgbClr val="0070C0"/>
                </a:solidFill>
                <a:latin typeface="Calibri"/>
                <a:ea typeface="宋体"/>
              </a:rPr>
              <a:t>Push (</a:t>
            </a:r>
            <a:r>
              <a:rPr lang="en-US" sz="2800" b="0" strike="noStrike" spc="-1" dirty="0" err="1">
                <a:solidFill>
                  <a:srgbClr val="0070C0"/>
                </a:solidFill>
                <a:latin typeface="Calibri"/>
                <a:ea typeface="宋体"/>
              </a:rPr>
              <a:t>压入</a:t>
            </a:r>
            <a:r>
              <a:rPr lang="en-US" sz="2800" b="0" strike="noStrike" spc="-1" dirty="0">
                <a:solidFill>
                  <a:srgbClr val="0070C0"/>
                </a:solidFill>
                <a:latin typeface="Calibri"/>
                <a:ea typeface="宋体"/>
              </a:rPr>
              <a:t>)</a:t>
            </a:r>
            <a:r>
              <a:rPr lang="en-US" sz="2800" b="0" strike="noStrike" spc="-1" dirty="0">
                <a:solidFill>
                  <a:srgbClr val="5B9BD5"/>
                </a:solidFill>
                <a:latin typeface="Calibri"/>
                <a:ea typeface="宋体"/>
              </a:rPr>
              <a:t> </a:t>
            </a:r>
            <a:r>
              <a:rPr lang="en-US" sz="2800" b="0" strike="noStrike" spc="-1" dirty="0">
                <a:solidFill>
                  <a:srgbClr val="000000"/>
                </a:solidFill>
                <a:latin typeface="Calibri"/>
                <a:ea typeface="宋体"/>
              </a:rPr>
              <a:t>and </a:t>
            </a:r>
            <a:r>
              <a:rPr lang="en-US" sz="2800" b="0" strike="noStrike" spc="-1" dirty="0">
                <a:solidFill>
                  <a:srgbClr val="0070C0"/>
                </a:solidFill>
                <a:latin typeface="Calibri"/>
                <a:ea typeface="宋体"/>
              </a:rPr>
              <a:t>Pop (</a:t>
            </a:r>
            <a:r>
              <a:rPr lang="en-US" sz="2800" b="0" strike="noStrike" spc="-1" dirty="0" err="1">
                <a:solidFill>
                  <a:srgbClr val="0070C0"/>
                </a:solidFill>
                <a:latin typeface="Calibri"/>
                <a:ea typeface="宋体"/>
              </a:rPr>
              <a:t>弹出</a:t>
            </a:r>
            <a:r>
              <a:rPr lang="en-US" sz="2800" b="0" strike="noStrike" spc="-1" dirty="0">
                <a:solidFill>
                  <a:srgbClr val="0070C0"/>
                </a:solidFill>
                <a:latin typeface="Calibri"/>
                <a:ea typeface="宋体"/>
              </a:rPr>
              <a:t>)</a:t>
            </a:r>
            <a:endParaRPr lang="en-US" sz="2800" b="0" strike="noStrike" spc="-1" dirty="0">
              <a:latin typeface="Arial"/>
            </a:endParaRPr>
          </a:p>
          <a:p>
            <a:pPr marL="514440" lvl="1" indent="-170280">
              <a:lnSpc>
                <a:spcPct val="90000"/>
              </a:lnSpc>
              <a:spcBef>
                <a:spcPts val="374"/>
              </a:spcBef>
              <a:buClr>
                <a:srgbClr val="000000"/>
              </a:buClr>
              <a:buFont typeface="Arial"/>
              <a:buChar char="•"/>
            </a:pPr>
            <a:r>
              <a:rPr lang="en-US" sz="2400" b="0" strike="noStrike" spc="-1" dirty="0">
                <a:solidFill>
                  <a:srgbClr val="000000"/>
                </a:solidFill>
                <a:latin typeface="Calibri"/>
                <a:ea typeface="宋体"/>
              </a:rPr>
              <a:t>Push : </a:t>
            </a:r>
            <a:r>
              <a:rPr lang="en-US" sz="2400" b="0" strike="noStrike" spc="-1" dirty="0">
                <a:solidFill>
                  <a:srgbClr val="FF0000"/>
                </a:solidFill>
                <a:latin typeface="Calibri"/>
                <a:ea typeface="宋体"/>
              </a:rPr>
              <a:t>Add</a:t>
            </a:r>
            <a:r>
              <a:rPr lang="en-US" sz="2400" b="0" strike="noStrike" spc="-1" dirty="0">
                <a:solidFill>
                  <a:srgbClr val="000000"/>
                </a:solidFill>
                <a:latin typeface="Calibri"/>
                <a:ea typeface="宋体"/>
              </a:rPr>
              <a:t> an element to the top of the stack</a:t>
            </a:r>
            <a:endParaRPr lang="en-US" sz="2400" b="0" strike="noStrike" spc="-1" dirty="0">
              <a:latin typeface="Arial"/>
            </a:endParaRPr>
          </a:p>
          <a:p>
            <a:pPr marL="514440" lvl="1" indent="-170280">
              <a:lnSpc>
                <a:spcPct val="90000"/>
              </a:lnSpc>
              <a:spcBef>
                <a:spcPts val="374"/>
              </a:spcBef>
              <a:buClr>
                <a:srgbClr val="000000"/>
              </a:buClr>
              <a:buFont typeface="Arial"/>
              <a:buChar char="•"/>
            </a:pPr>
            <a:r>
              <a:rPr lang="en-US" sz="2400" b="0" strike="noStrike" spc="-1" dirty="0">
                <a:solidFill>
                  <a:srgbClr val="000000"/>
                </a:solidFill>
                <a:latin typeface="Calibri"/>
                <a:ea typeface="宋体"/>
              </a:rPr>
              <a:t>Pop:    Remove the element at the top of the stack</a:t>
            </a:r>
            <a:endParaRPr lang="en-US" sz="2400" b="0" strike="noStrike" spc="-1" dirty="0">
              <a:latin typeface="Arial"/>
            </a:endParaRPr>
          </a:p>
          <a:p>
            <a:pPr marL="171360" indent="-170280">
              <a:lnSpc>
                <a:spcPct val="90000"/>
              </a:lnSpc>
              <a:spcBef>
                <a:spcPts val="751"/>
              </a:spcBef>
              <a:buClr>
                <a:srgbClr val="000000"/>
              </a:buClr>
              <a:buFont typeface="Arial"/>
              <a:buChar char="•"/>
            </a:pPr>
            <a:r>
              <a:rPr lang="en-US" sz="2800" b="0" strike="noStrike" spc="-1" dirty="0">
                <a:solidFill>
                  <a:srgbClr val="000000"/>
                </a:solidFill>
                <a:latin typeface="Calibri"/>
                <a:ea typeface="宋体"/>
              </a:rPr>
              <a:t>Top (or Peak)</a:t>
            </a:r>
            <a:endParaRPr lang="en-US" sz="2800" b="0" strike="noStrike" spc="-1" dirty="0">
              <a:latin typeface="Arial"/>
            </a:endParaRPr>
          </a:p>
          <a:p>
            <a:pPr marL="514440" lvl="1" indent="-170280">
              <a:lnSpc>
                <a:spcPct val="90000"/>
              </a:lnSpc>
              <a:spcBef>
                <a:spcPts val="374"/>
              </a:spcBef>
              <a:buClr>
                <a:srgbClr val="000000"/>
              </a:buClr>
              <a:buFont typeface="Arial"/>
              <a:buChar char="•"/>
            </a:pPr>
            <a:r>
              <a:rPr lang="en-US" sz="2400" b="0" strike="noStrike" spc="-1" dirty="0">
                <a:solidFill>
                  <a:srgbClr val="000000"/>
                </a:solidFill>
                <a:latin typeface="Calibri"/>
                <a:ea typeface="宋体"/>
              </a:rPr>
              <a:t>Return, without removing, the element at the top</a:t>
            </a:r>
            <a:endParaRPr lang="en-US" sz="2400" b="0" strike="noStrike" spc="-1" dirty="0">
              <a:latin typeface="Arial"/>
            </a:endParaRPr>
          </a:p>
        </p:txBody>
      </p:sp>
      <p:sp>
        <p:nvSpPr>
          <p:cNvPr id="103" name="CustomShape 3"/>
          <p:cNvSpPr/>
          <p:nvPr/>
        </p:nvSpPr>
        <p:spPr>
          <a:xfrm>
            <a:off x="6458040" y="6356520"/>
            <a:ext cx="2056320" cy="363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r">
              <a:lnSpc>
                <a:spcPct val="100000"/>
              </a:lnSpc>
            </a:pPr>
            <a:fld id="{D2B749C4-EB23-4F30-BF96-12B353D84B99}" type="slidenum">
              <a:rPr lang="en-US" sz="1400" b="0" strike="noStrike" spc="-1">
                <a:solidFill>
                  <a:srgbClr val="AFABAB"/>
                </a:solidFill>
                <a:latin typeface="Calibri"/>
                <a:ea typeface="宋体"/>
              </a:rPr>
              <a:t>5</a:t>
            </a:fld>
            <a:endParaRPr lang="en-US" sz="1400" b="0" strike="noStrike" spc="-1">
              <a:latin typeface="Arial"/>
            </a:endParaRPr>
          </a:p>
        </p:txBody>
      </p:sp>
      <p:sp>
        <p:nvSpPr>
          <p:cNvPr id="104" name="CustomShape 4"/>
          <p:cNvSpPr/>
          <p:nvPr/>
        </p:nvSpPr>
        <p:spPr>
          <a:xfrm>
            <a:off x="3029040" y="6356520"/>
            <a:ext cx="3085200" cy="363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a:lnSpc>
                <a:spcPct val="100000"/>
              </a:lnSpc>
            </a:pPr>
            <a:r>
              <a:rPr lang="en-US" sz="900" b="0" strike="noStrike" spc="-1">
                <a:solidFill>
                  <a:srgbClr val="8B8B8B"/>
                </a:solidFill>
                <a:latin typeface="Calibri"/>
                <a:ea typeface="DejaVu Sans"/>
              </a:rPr>
              <a:t>Data Structures and Algorithms</a:t>
            </a:r>
            <a:endParaRPr lang="en-US" sz="900" b="0" strike="noStrike" spc="-1">
              <a:latin typeface="Arial"/>
            </a:endParaRPr>
          </a:p>
        </p:txBody>
      </p:sp>
      <p:graphicFrame>
        <p:nvGraphicFramePr>
          <p:cNvPr id="105" name="Table 5"/>
          <p:cNvGraphicFramePr/>
          <p:nvPr/>
        </p:nvGraphicFramePr>
        <p:xfrm>
          <a:off x="3809880" y="4273560"/>
          <a:ext cx="1447560" cy="2082600"/>
        </p:xfrm>
        <a:graphic>
          <a:graphicData uri="http://schemas.openxmlformats.org/drawingml/2006/table">
            <a:tbl>
              <a:tblPr/>
              <a:tblGrid>
                <a:gridCol w="1447560">
                  <a:extLst>
                    <a:ext uri="{9D8B030D-6E8A-4147-A177-3AD203B41FA5}">
                      <a16:colId xmlns:a16="http://schemas.microsoft.com/office/drawing/2014/main" val="20000"/>
                    </a:ext>
                  </a:extLst>
                </a:gridCol>
              </a:tblGrid>
              <a:tr h="520560">
                <a:tc>
                  <a:txBody>
                    <a:bodyPr/>
                    <a:lstStyle/>
                    <a:p>
                      <a:endParaRPr lang="zh-CN"/>
                    </a:p>
                  </a:txBody>
                  <a:tcPr>
                    <a:lnL w="12240">
                      <a:solidFill>
                        <a:srgbClr val="000000"/>
                      </a:solidFill>
                    </a:lnL>
                    <a:lnR w="12240">
                      <a:solidFill>
                        <a:srgbClr val="000000"/>
                      </a:solidFill>
                    </a:lnR>
                    <a:lnT w="12240">
                      <a:solidFill>
                        <a:srgbClr val="000000"/>
                      </a:solidFill>
                    </a:lnT>
                    <a:lnB w="12240">
                      <a:solidFill>
                        <a:srgbClr val="000000"/>
                      </a:solidFill>
                    </a:lnB>
                    <a:solidFill>
                      <a:srgbClr val="B9B9B9"/>
                    </a:solidFill>
                  </a:tcPr>
                </a:tc>
                <a:extLst>
                  <a:ext uri="{0D108BD9-81ED-4DB2-BD59-A6C34878D82A}">
                    <a16:rowId xmlns:a16="http://schemas.microsoft.com/office/drawing/2014/main" val="10000"/>
                  </a:ext>
                </a:extLst>
              </a:tr>
              <a:tr h="520560">
                <a:tc>
                  <a:txBody>
                    <a:bodyPr/>
                    <a:lstStyle/>
                    <a:p>
                      <a:pPr algn="ctr">
                        <a:lnSpc>
                          <a:spcPct val="100000"/>
                        </a:lnSpc>
                      </a:pPr>
                      <a:r>
                        <a:rPr lang="en-US" sz="1350" b="0" strike="noStrike" spc="-1">
                          <a:solidFill>
                            <a:srgbClr val="000000"/>
                          </a:solidFill>
                          <a:latin typeface="Calibri"/>
                        </a:rPr>
                        <a:t>8</a:t>
                      </a:r>
                      <a:endParaRPr lang="en-US" sz="135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C7C7C7"/>
                    </a:solidFill>
                  </a:tcPr>
                </a:tc>
                <a:extLst>
                  <a:ext uri="{0D108BD9-81ED-4DB2-BD59-A6C34878D82A}">
                    <a16:rowId xmlns:a16="http://schemas.microsoft.com/office/drawing/2014/main" val="10001"/>
                  </a:ext>
                </a:extLst>
              </a:tr>
              <a:tr h="520560">
                <a:tc>
                  <a:txBody>
                    <a:bodyPr/>
                    <a:lstStyle/>
                    <a:p>
                      <a:pPr algn="ctr">
                        <a:lnSpc>
                          <a:spcPct val="100000"/>
                        </a:lnSpc>
                      </a:pPr>
                      <a:r>
                        <a:rPr lang="en-US" sz="1350" b="0" strike="noStrike" spc="-1">
                          <a:solidFill>
                            <a:srgbClr val="000000"/>
                          </a:solidFill>
                          <a:latin typeface="Calibri"/>
                        </a:rPr>
                        <a:t>4</a:t>
                      </a:r>
                      <a:endParaRPr lang="en-US" sz="135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B9B9B9"/>
                    </a:solidFill>
                  </a:tcPr>
                </a:tc>
                <a:extLst>
                  <a:ext uri="{0D108BD9-81ED-4DB2-BD59-A6C34878D82A}">
                    <a16:rowId xmlns:a16="http://schemas.microsoft.com/office/drawing/2014/main" val="10002"/>
                  </a:ext>
                </a:extLst>
              </a:tr>
              <a:tr h="520920">
                <a:tc>
                  <a:txBody>
                    <a:bodyPr/>
                    <a:lstStyle/>
                    <a:p>
                      <a:pPr algn="ctr">
                        <a:lnSpc>
                          <a:spcPct val="100000"/>
                        </a:lnSpc>
                      </a:pPr>
                      <a:r>
                        <a:rPr lang="en-US" sz="1350" b="0" strike="noStrike" spc="-1">
                          <a:solidFill>
                            <a:srgbClr val="000000"/>
                          </a:solidFill>
                          <a:latin typeface="Calibri"/>
                        </a:rPr>
                        <a:t>3</a:t>
                      </a:r>
                      <a:endParaRPr lang="en-US" sz="135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C7C7C7"/>
                    </a:solidFill>
                  </a:tcPr>
                </a:tc>
                <a:extLst>
                  <a:ext uri="{0D108BD9-81ED-4DB2-BD59-A6C34878D82A}">
                    <a16:rowId xmlns:a16="http://schemas.microsoft.com/office/drawing/2014/main" val="10003"/>
                  </a:ext>
                </a:extLst>
              </a:tr>
            </a:tbl>
          </a:graphicData>
        </a:graphic>
      </p:graphicFrame>
      <p:sp>
        <p:nvSpPr>
          <p:cNvPr id="106" name="CustomShape 6"/>
          <p:cNvSpPr/>
          <p:nvPr/>
        </p:nvSpPr>
        <p:spPr>
          <a:xfrm>
            <a:off x="2480040" y="3580920"/>
            <a:ext cx="1065600" cy="552960"/>
          </a:xfrm>
          <a:prstGeom prst="rect">
            <a:avLst/>
          </a:prstGeom>
          <a:ln>
            <a:round/>
          </a:ln>
        </p:spPr>
        <p:style>
          <a:lnRef idx="2">
            <a:schemeClr val="accent1">
              <a:shade val="50000"/>
            </a:schemeClr>
          </a:lnRef>
          <a:fillRef idx="1">
            <a:schemeClr val="accent1"/>
          </a:fillRef>
          <a:effectRef idx="0">
            <a:schemeClr val="accent1"/>
          </a:effectRef>
          <a:fontRef idx="minor"/>
        </p:style>
      </p:sp>
      <p:sp>
        <p:nvSpPr>
          <p:cNvPr id="107" name="CustomShape 7"/>
          <p:cNvSpPr/>
          <p:nvPr/>
        </p:nvSpPr>
        <p:spPr>
          <a:xfrm>
            <a:off x="5600880" y="3577680"/>
            <a:ext cx="1065600" cy="552960"/>
          </a:xfrm>
          <a:prstGeom prst="rect">
            <a:avLst/>
          </a:prstGeom>
          <a:ln>
            <a:round/>
          </a:ln>
        </p:spPr>
        <p:style>
          <a:lnRef idx="2">
            <a:schemeClr val="accent1">
              <a:shade val="50000"/>
            </a:schemeClr>
          </a:lnRef>
          <a:fillRef idx="1">
            <a:schemeClr val="accent1"/>
          </a:fillRef>
          <a:effectRef idx="0">
            <a:schemeClr val="accent1"/>
          </a:effectRef>
          <a:fontRef idx="minor"/>
        </p:style>
      </p:sp>
      <p:sp>
        <p:nvSpPr>
          <p:cNvPr id="108" name="CustomShape 8"/>
          <p:cNvSpPr/>
          <p:nvPr/>
        </p:nvSpPr>
        <p:spPr>
          <a:xfrm>
            <a:off x="3547080" y="3858120"/>
            <a:ext cx="985680" cy="414360"/>
          </a:xfrm>
          <a:prstGeom prst="curvedConnector2">
            <a:avLst/>
          </a:prstGeom>
          <a:noFill/>
          <a:ln>
            <a:solidFill>
              <a:srgbClr val="5597D3"/>
            </a:solidFill>
            <a:round/>
            <a:tailEnd type="triangle" w="med" len="med"/>
          </a:ln>
        </p:spPr>
        <p:style>
          <a:lnRef idx="1">
            <a:schemeClr val="accent1"/>
          </a:lnRef>
          <a:fillRef idx="0">
            <a:schemeClr val="accent1"/>
          </a:fillRef>
          <a:effectRef idx="0">
            <a:schemeClr val="accent1"/>
          </a:effectRef>
          <a:fontRef idx="minor"/>
        </p:style>
      </p:sp>
      <p:sp>
        <p:nvSpPr>
          <p:cNvPr id="109" name="CustomShape 9"/>
          <p:cNvSpPr/>
          <p:nvPr/>
        </p:nvSpPr>
        <p:spPr>
          <a:xfrm rot="5400000" flipH="1" flipV="1">
            <a:off x="4858560" y="3530160"/>
            <a:ext cx="417600" cy="1065600"/>
          </a:xfrm>
          <a:prstGeom prst="curvedConnector2">
            <a:avLst/>
          </a:prstGeom>
          <a:noFill/>
          <a:ln>
            <a:solidFill>
              <a:srgbClr val="5597D3"/>
            </a:solidFill>
            <a:round/>
            <a:tailEnd type="triangle" w="med" len="med"/>
          </a:ln>
        </p:spPr>
        <p:style>
          <a:lnRef idx="1">
            <a:schemeClr val="accent1"/>
          </a:lnRef>
          <a:fillRef idx="0">
            <a:schemeClr val="accent1"/>
          </a:fillRef>
          <a:effectRef idx="0">
            <a:schemeClr val="accent1"/>
          </a:effectRef>
          <a:fontRef idx="minor"/>
        </p:style>
      </p:sp>
      <p:sp>
        <p:nvSpPr>
          <p:cNvPr id="110" name="CustomShape 10"/>
          <p:cNvSpPr/>
          <p:nvPr/>
        </p:nvSpPr>
        <p:spPr>
          <a:xfrm>
            <a:off x="3886200" y="3580920"/>
            <a:ext cx="646560" cy="363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US" sz="1800" b="0" strike="noStrike" spc="-1">
                <a:solidFill>
                  <a:srgbClr val="C00000"/>
                </a:solidFill>
                <a:latin typeface="Calibri"/>
                <a:ea typeface="DejaVu Sans"/>
              </a:rPr>
              <a:t>push</a:t>
            </a:r>
            <a:endParaRPr lang="en-US" sz="1800" b="0" strike="noStrike" spc="-1">
              <a:latin typeface="Arial"/>
            </a:endParaRPr>
          </a:p>
        </p:txBody>
      </p:sp>
      <p:sp>
        <p:nvSpPr>
          <p:cNvPr id="111" name="CustomShape 11"/>
          <p:cNvSpPr/>
          <p:nvPr/>
        </p:nvSpPr>
        <p:spPr>
          <a:xfrm>
            <a:off x="4770000" y="3592440"/>
            <a:ext cx="646560" cy="363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US" sz="1800" b="0" strike="noStrike" spc="-1">
                <a:solidFill>
                  <a:srgbClr val="C00000"/>
                </a:solidFill>
                <a:latin typeface="Calibri"/>
                <a:ea typeface="DejaVu Sans"/>
              </a:rPr>
              <a:t>pop</a:t>
            </a:r>
            <a:endParaRPr lang="en-US" sz="18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2" name="Group 1"/>
          <p:cNvGrpSpPr/>
          <p:nvPr/>
        </p:nvGrpSpPr>
        <p:grpSpPr>
          <a:xfrm>
            <a:off x="4419000" y="4572000"/>
            <a:ext cx="2286360" cy="1981440"/>
            <a:chOff x="4419000" y="4572000"/>
            <a:chExt cx="2286360" cy="1981440"/>
          </a:xfrm>
        </p:grpSpPr>
        <p:grpSp>
          <p:nvGrpSpPr>
            <p:cNvPr id="113" name="Group 2"/>
            <p:cNvGrpSpPr/>
            <p:nvPr/>
          </p:nvGrpSpPr>
          <p:grpSpPr>
            <a:xfrm>
              <a:off x="4419000" y="5410080"/>
              <a:ext cx="609840" cy="394560"/>
              <a:chOff x="4419000" y="5410080"/>
              <a:chExt cx="609840" cy="394560"/>
            </a:xfrm>
          </p:grpSpPr>
          <p:sp>
            <p:nvSpPr>
              <p:cNvPr id="114" name="CustomShape 3"/>
              <p:cNvSpPr/>
              <p:nvPr/>
            </p:nvSpPr>
            <p:spPr>
              <a:xfrm>
                <a:off x="4473360" y="5410080"/>
                <a:ext cx="531000" cy="39456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2000" b="0" strike="noStrike" spc="-1">
                    <a:solidFill>
                      <a:srgbClr val="FF0000"/>
                    </a:solidFill>
                    <a:latin typeface="Calibri"/>
                    <a:ea typeface="宋体"/>
                  </a:rPr>
                  <a:t>top</a:t>
                </a:r>
                <a:endParaRPr lang="en-US" sz="2000" b="0" strike="noStrike" spc="-1">
                  <a:latin typeface="Arial"/>
                </a:endParaRPr>
              </a:p>
            </p:txBody>
          </p:sp>
          <p:sp>
            <p:nvSpPr>
              <p:cNvPr id="115" name="Line 4"/>
              <p:cNvSpPr/>
              <p:nvPr/>
            </p:nvSpPr>
            <p:spPr>
              <a:xfrm>
                <a:off x="4419000" y="5792760"/>
                <a:ext cx="609840" cy="360"/>
              </a:xfrm>
              <a:prstGeom prst="line">
                <a:avLst/>
              </a:prstGeom>
              <a:ln>
                <a:round/>
                <a:tailEnd type="triangle" w="med" len="med"/>
              </a:ln>
            </p:spPr>
            <p:style>
              <a:lnRef idx="1">
                <a:schemeClr val="dk1"/>
              </a:lnRef>
              <a:fillRef idx="0">
                <a:schemeClr val="dk1"/>
              </a:fillRef>
              <a:effectRef idx="0">
                <a:schemeClr val="dk1"/>
              </a:effectRef>
              <a:fontRef idx="minor"/>
            </p:style>
          </p:sp>
        </p:grpSp>
        <p:grpSp>
          <p:nvGrpSpPr>
            <p:cNvPr id="116" name="Group 5"/>
            <p:cNvGrpSpPr/>
            <p:nvPr/>
          </p:nvGrpSpPr>
          <p:grpSpPr>
            <a:xfrm>
              <a:off x="4800600" y="5105160"/>
              <a:ext cx="1904760" cy="1448280"/>
              <a:chOff x="4800600" y="5105160"/>
              <a:chExt cx="1904760" cy="1448280"/>
            </a:xfrm>
          </p:grpSpPr>
          <p:sp>
            <p:nvSpPr>
              <p:cNvPr id="117" name="Line 6"/>
              <p:cNvSpPr/>
              <p:nvPr/>
            </p:nvSpPr>
            <p:spPr>
              <a:xfrm>
                <a:off x="4800600" y="5105160"/>
                <a:ext cx="304560" cy="360"/>
              </a:xfrm>
              <a:prstGeom prst="line">
                <a:avLst/>
              </a:prstGeom>
              <a:ln w="31680">
                <a:solidFill>
                  <a:schemeClr val="accent1"/>
                </a:solidFill>
                <a:round/>
              </a:ln>
            </p:spPr>
            <p:style>
              <a:lnRef idx="0">
                <a:scrgbClr r="0" g="0" b="0"/>
              </a:lnRef>
              <a:fillRef idx="0">
                <a:scrgbClr r="0" g="0" b="0"/>
              </a:fillRef>
              <a:effectRef idx="0">
                <a:scrgbClr r="0" g="0" b="0"/>
              </a:effectRef>
              <a:fontRef idx="minor"/>
            </p:style>
          </p:sp>
          <p:sp>
            <p:nvSpPr>
              <p:cNvPr id="118" name="Line 7"/>
              <p:cNvSpPr/>
              <p:nvPr/>
            </p:nvSpPr>
            <p:spPr>
              <a:xfrm>
                <a:off x="5105160" y="5105160"/>
                <a:ext cx="360" cy="1447920"/>
              </a:xfrm>
              <a:prstGeom prst="line">
                <a:avLst/>
              </a:prstGeom>
              <a:ln w="31680">
                <a:solidFill>
                  <a:schemeClr val="accent1"/>
                </a:solidFill>
                <a:round/>
              </a:ln>
            </p:spPr>
            <p:style>
              <a:lnRef idx="0">
                <a:scrgbClr r="0" g="0" b="0"/>
              </a:lnRef>
              <a:fillRef idx="0">
                <a:scrgbClr r="0" g="0" b="0"/>
              </a:fillRef>
              <a:effectRef idx="0">
                <a:scrgbClr r="0" g="0" b="0"/>
              </a:effectRef>
              <a:fontRef idx="minor"/>
            </p:style>
          </p:sp>
          <p:sp>
            <p:nvSpPr>
              <p:cNvPr id="119" name="Line 8"/>
              <p:cNvSpPr/>
              <p:nvPr/>
            </p:nvSpPr>
            <p:spPr>
              <a:xfrm>
                <a:off x="5105160" y="6553080"/>
                <a:ext cx="1295640" cy="360"/>
              </a:xfrm>
              <a:prstGeom prst="line">
                <a:avLst/>
              </a:prstGeom>
              <a:ln w="31680">
                <a:solidFill>
                  <a:schemeClr val="accent1"/>
                </a:solidFill>
                <a:round/>
              </a:ln>
            </p:spPr>
            <p:style>
              <a:lnRef idx="0">
                <a:scrgbClr r="0" g="0" b="0"/>
              </a:lnRef>
              <a:fillRef idx="0">
                <a:scrgbClr r="0" g="0" b="0"/>
              </a:fillRef>
              <a:effectRef idx="0">
                <a:scrgbClr r="0" g="0" b="0"/>
              </a:effectRef>
              <a:fontRef idx="minor"/>
            </p:style>
          </p:sp>
          <p:sp>
            <p:nvSpPr>
              <p:cNvPr id="120" name="Line 9"/>
              <p:cNvSpPr/>
              <p:nvPr/>
            </p:nvSpPr>
            <p:spPr>
              <a:xfrm flipV="1">
                <a:off x="6400800" y="5105160"/>
                <a:ext cx="360" cy="1447920"/>
              </a:xfrm>
              <a:prstGeom prst="line">
                <a:avLst/>
              </a:prstGeom>
              <a:ln w="31680">
                <a:solidFill>
                  <a:schemeClr val="accent1"/>
                </a:solidFill>
                <a:round/>
              </a:ln>
            </p:spPr>
            <p:style>
              <a:lnRef idx="0">
                <a:scrgbClr r="0" g="0" b="0"/>
              </a:lnRef>
              <a:fillRef idx="0">
                <a:scrgbClr r="0" g="0" b="0"/>
              </a:fillRef>
              <a:effectRef idx="0">
                <a:scrgbClr r="0" g="0" b="0"/>
              </a:effectRef>
              <a:fontRef idx="minor"/>
            </p:style>
          </p:sp>
          <p:sp>
            <p:nvSpPr>
              <p:cNvPr id="121" name="Line 10"/>
              <p:cNvSpPr/>
              <p:nvPr/>
            </p:nvSpPr>
            <p:spPr>
              <a:xfrm>
                <a:off x="6400800" y="5105160"/>
                <a:ext cx="304560" cy="360"/>
              </a:xfrm>
              <a:prstGeom prst="line">
                <a:avLst/>
              </a:prstGeom>
              <a:ln w="31680">
                <a:solidFill>
                  <a:schemeClr val="accent1"/>
                </a:solidFill>
                <a:round/>
              </a:ln>
            </p:spPr>
            <p:style>
              <a:lnRef idx="0">
                <a:scrgbClr r="0" g="0" b="0"/>
              </a:lnRef>
              <a:fillRef idx="0">
                <a:scrgbClr r="0" g="0" b="0"/>
              </a:fillRef>
              <a:effectRef idx="0">
                <a:scrgbClr r="0" g="0" b="0"/>
              </a:effectRef>
              <a:fontRef idx="minor"/>
            </p:style>
          </p:sp>
        </p:grpSp>
        <p:sp>
          <p:nvSpPr>
            <p:cNvPr id="122" name="CustomShape 11"/>
            <p:cNvSpPr/>
            <p:nvPr/>
          </p:nvSpPr>
          <p:spPr>
            <a:xfrm>
              <a:off x="5350680" y="4572000"/>
              <a:ext cx="878400" cy="39456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2000" b="0" strike="noStrike" spc="-1">
                  <a:solidFill>
                    <a:srgbClr val="000000"/>
                  </a:solidFill>
                  <a:latin typeface="Calibri"/>
                  <a:ea typeface="宋体"/>
                </a:rPr>
                <a:t>push B</a:t>
              </a:r>
              <a:endParaRPr lang="en-US" sz="2000" b="0" strike="noStrike" spc="-1">
                <a:latin typeface="Arial"/>
              </a:endParaRPr>
            </a:p>
          </p:txBody>
        </p:sp>
        <p:grpSp>
          <p:nvGrpSpPr>
            <p:cNvPr id="123" name="Group 12"/>
            <p:cNvGrpSpPr/>
            <p:nvPr/>
          </p:nvGrpSpPr>
          <p:grpSpPr>
            <a:xfrm>
              <a:off x="5308560" y="6103800"/>
              <a:ext cx="913320" cy="333000"/>
              <a:chOff x="5308560" y="6103800"/>
              <a:chExt cx="913320" cy="333000"/>
            </a:xfrm>
          </p:grpSpPr>
          <p:sp>
            <p:nvSpPr>
              <p:cNvPr id="124" name="CustomShape 13"/>
              <p:cNvSpPr/>
              <p:nvPr/>
            </p:nvSpPr>
            <p:spPr>
              <a:xfrm>
                <a:off x="5308560" y="6108840"/>
                <a:ext cx="913320" cy="303840"/>
              </a:xfrm>
              <a:prstGeom prst="rect">
                <a:avLst/>
              </a:prstGeom>
              <a:solidFill>
                <a:schemeClr val="accent6">
                  <a:lumMod val="20000"/>
                  <a:lumOff val="80000"/>
                </a:schemeClr>
              </a:solidFill>
              <a:ln w="28440">
                <a:solidFill>
                  <a:schemeClr val="tx1"/>
                </a:solidFill>
                <a:miter/>
              </a:ln>
            </p:spPr>
            <p:style>
              <a:lnRef idx="0">
                <a:scrgbClr r="0" g="0" b="0"/>
              </a:lnRef>
              <a:fillRef idx="0">
                <a:scrgbClr r="0" g="0" b="0"/>
              </a:fillRef>
              <a:effectRef idx="0">
                <a:scrgbClr r="0" g="0" b="0"/>
              </a:effectRef>
              <a:fontRef idx="minor"/>
            </p:style>
          </p:sp>
          <p:sp>
            <p:nvSpPr>
              <p:cNvPr id="125" name="CustomShape 14"/>
              <p:cNvSpPr/>
              <p:nvPr/>
            </p:nvSpPr>
            <p:spPr>
              <a:xfrm>
                <a:off x="5611680" y="6103800"/>
                <a:ext cx="332280" cy="333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ctr">
                  <a:lnSpc>
                    <a:spcPct val="100000"/>
                  </a:lnSpc>
                </a:pPr>
                <a:r>
                  <a:rPr lang="en-US" sz="1600" b="0" strike="noStrike" spc="-1">
                    <a:solidFill>
                      <a:srgbClr val="000000"/>
                    </a:solidFill>
                    <a:latin typeface="Calibri"/>
                    <a:ea typeface="宋体"/>
                  </a:rPr>
                  <a:t>A</a:t>
                </a:r>
                <a:endParaRPr lang="en-US" sz="1600" b="0" strike="noStrike" spc="-1">
                  <a:latin typeface="Arial"/>
                </a:endParaRPr>
              </a:p>
            </p:txBody>
          </p:sp>
        </p:grpSp>
        <p:grpSp>
          <p:nvGrpSpPr>
            <p:cNvPr id="126" name="Group 15"/>
            <p:cNvGrpSpPr/>
            <p:nvPr/>
          </p:nvGrpSpPr>
          <p:grpSpPr>
            <a:xfrm>
              <a:off x="5321160" y="5656320"/>
              <a:ext cx="913320" cy="333000"/>
              <a:chOff x="5321160" y="5656320"/>
              <a:chExt cx="913320" cy="333000"/>
            </a:xfrm>
          </p:grpSpPr>
          <p:sp>
            <p:nvSpPr>
              <p:cNvPr id="127" name="CustomShape 16"/>
              <p:cNvSpPr/>
              <p:nvPr/>
            </p:nvSpPr>
            <p:spPr>
              <a:xfrm>
                <a:off x="5321160" y="5664240"/>
                <a:ext cx="913320" cy="303840"/>
              </a:xfrm>
              <a:prstGeom prst="rect">
                <a:avLst/>
              </a:prstGeom>
              <a:solidFill>
                <a:schemeClr val="accent6">
                  <a:lumMod val="20000"/>
                  <a:lumOff val="80000"/>
                </a:schemeClr>
              </a:solidFill>
              <a:ln w="28440">
                <a:solidFill>
                  <a:schemeClr val="tx1"/>
                </a:solidFill>
                <a:miter/>
              </a:ln>
            </p:spPr>
            <p:style>
              <a:lnRef idx="0">
                <a:scrgbClr r="0" g="0" b="0"/>
              </a:lnRef>
              <a:fillRef idx="0">
                <a:scrgbClr r="0" g="0" b="0"/>
              </a:fillRef>
              <a:effectRef idx="0">
                <a:scrgbClr r="0" g="0" b="0"/>
              </a:effectRef>
              <a:fontRef idx="minor"/>
            </p:style>
          </p:sp>
          <p:sp>
            <p:nvSpPr>
              <p:cNvPr id="128" name="CustomShape 17"/>
              <p:cNvSpPr/>
              <p:nvPr/>
            </p:nvSpPr>
            <p:spPr>
              <a:xfrm>
                <a:off x="5624640" y="5656320"/>
                <a:ext cx="332280" cy="333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ctr">
                  <a:lnSpc>
                    <a:spcPct val="100000"/>
                  </a:lnSpc>
                </a:pPr>
                <a:r>
                  <a:rPr lang="en-US" sz="1600" b="0" strike="noStrike" spc="-1">
                    <a:solidFill>
                      <a:srgbClr val="000000"/>
                    </a:solidFill>
                    <a:latin typeface="Calibri"/>
                    <a:ea typeface="宋体"/>
                  </a:rPr>
                  <a:t>B</a:t>
                </a:r>
                <a:endParaRPr lang="en-US" sz="1600" b="0" strike="noStrike" spc="-1">
                  <a:latin typeface="Arial"/>
                </a:endParaRPr>
              </a:p>
            </p:txBody>
          </p:sp>
        </p:grpSp>
      </p:grpSp>
      <p:sp>
        <p:nvSpPr>
          <p:cNvPr id="129" name="CustomShape 18"/>
          <p:cNvSpPr/>
          <p:nvPr/>
        </p:nvSpPr>
        <p:spPr>
          <a:xfrm>
            <a:off x="628560" y="365040"/>
            <a:ext cx="7885800" cy="13244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4400" b="0" strike="noStrike" spc="-1">
                <a:solidFill>
                  <a:srgbClr val="C00000"/>
                </a:solidFill>
                <a:latin typeface="Calibri"/>
                <a:ea typeface="宋体"/>
              </a:rPr>
              <a:t>Push and Pop</a:t>
            </a:r>
            <a:endParaRPr lang="en-US" sz="4400" b="0" strike="noStrike" spc="-1">
              <a:latin typeface="Arial"/>
            </a:endParaRPr>
          </a:p>
        </p:txBody>
      </p:sp>
      <p:sp>
        <p:nvSpPr>
          <p:cNvPr id="130" name="CustomShape 19"/>
          <p:cNvSpPr/>
          <p:nvPr/>
        </p:nvSpPr>
        <p:spPr>
          <a:xfrm>
            <a:off x="609480" y="1676520"/>
            <a:ext cx="7847640" cy="28944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marL="171360" indent="-170280">
              <a:lnSpc>
                <a:spcPct val="90000"/>
              </a:lnSpc>
              <a:spcBef>
                <a:spcPts val="751"/>
              </a:spcBef>
              <a:buClr>
                <a:srgbClr val="000000"/>
              </a:buClr>
              <a:buFont typeface="Arial"/>
              <a:buChar char="•"/>
            </a:pPr>
            <a:r>
              <a:rPr lang="en-US" sz="2800" b="0" strike="noStrike" spc="-1" dirty="0">
                <a:solidFill>
                  <a:srgbClr val="000000"/>
                </a:solidFill>
                <a:latin typeface="Calibri"/>
                <a:ea typeface="宋体"/>
              </a:rPr>
              <a:t>Primary operations: </a:t>
            </a:r>
            <a:r>
              <a:rPr lang="en-US" sz="2800" b="0" strike="noStrike" spc="-1" dirty="0">
                <a:solidFill>
                  <a:srgbClr val="0070C0"/>
                </a:solidFill>
                <a:latin typeface="Calibri"/>
                <a:ea typeface="宋体"/>
              </a:rPr>
              <a:t>Push</a:t>
            </a:r>
            <a:r>
              <a:rPr lang="en-US" sz="2800" b="0" strike="noStrike" spc="-1" dirty="0">
                <a:solidFill>
                  <a:srgbClr val="5B9BD5"/>
                </a:solidFill>
                <a:latin typeface="Calibri"/>
                <a:ea typeface="宋体"/>
              </a:rPr>
              <a:t> </a:t>
            </a:r>
            <a:r>
              <a:rPr lang="en-US" sz="2800" b="0" strike="noStrike" spc="-1" dirty="0">
                <a:solidFill>
                  <a:srgbClr val="000000"/>
                </a:solidFill>
                <a:latin typeface="Calibri"/>
                <a:ea typeface="宋体"/>
              </a:rPr>
              <a:t>and </a:t>
            </a:r>
            <a:r>
              <a:rPr lang="en-US" sz="2800" b="0" strike="noStrike" spc="-1" dirty="0">
                <a:solidFill>
                  <a:srgbClr val="0070C0"/>
                </a:solidFill>
                <a:latin typeface="Calibri"/>
                <a:ea typeface="宋体"/>
              </a:rPr>
              <a:t>Pop</a:t>
            </a:r>
            <a:endParaRPr lang="en-US" sz="2800" b="0" strike="noStrike" spc="-1" dirty="0">
              <a:latin typeface="Arial"/>
            </a:endParaRPr>
          </a:p>
          <a:p>
            <a:pPr marL="514440" lvl="1" indent="-170280">
              <a:lnSpc>
                <a:spcPct val="90000"/>
              </a:lnSpc>
              <a:spcBef>
                <a:spcPts val="374"/>
              </a:spcBef>
              <a:buClr>
                <a:srgbClr val="000000"/>
              </a:buClr>
              <a:buFont typeface="Arial"/>
              <a:buChar char="•"/>
            </a:pPr>
            <a:r>
              <a:rPr lang="en-US" sz="2400" b="0" strike="noStrike" spc="-1" dirty="0">
                <a:solidFill>
                  <a:srgbClr val="000000"/>
                </a:solidFill>
                <a:latin typeface="Calibri"/>
                <a:ea typeface="宋体"/>
              </a:rPr>
              <a:t>Push : Add an element to the top of the stack</a:t>
            </a:r>
            <a:endParaRPr lang="en-US" sz="2400" b="0" strike="noStrike" spc="-1" dirty="0">
              <a:latin typeface="Arial"/>
            </a:endParaRPr>
          </a:p>
          <a:p>
            <a:pPr marL="514440" lvl="1" indent="-170280">
              <a:lnSpc>
                <a:spcPct val="90000"/>
              </a:lnSpc>
              <a:spcBef>
                <a:spcPts val="374"/>
              </a:spcBef>
              <a:buClr>
                <a:srgbClr val="000000"/>
              </a:buClr>
              <a:buFont typeface="Arial"/>
              <a:buChar char="•"/>
            </a:pPr>
            <a:r>
              <a:rPr lang="en-US" sz="2400" b="0" strike="noStrike" spc="-1" dirty="0">
                <a:solidFill>
                  <a:srgbClr val="000000"/>
                </a:solidFill>
                <a:latin typeface="Calibri"/>
                <a:ea typeface="宋体"/>
              </a:rPr>
              <a:t>Pop: Remove the element at the top of the stack</a:t>
            </a:r>
            <a:endParaRPr lang="en-US" sz="2400" b="0" strike="noStrike" spc="-1" dirty="0">
              <a:latin typeface="Arial"/>
            </a:endParaRPr>
          </a:p>
          <a:p>
            <a:pPr marL="171360" indent="-170280">
              <a:lnSpc>
                <a:spcPct val="90000"/>
              </a:lnSpc>
              <a:spcBef>
                <a:spcPts val="751"/>
              </a:spcBef>
              <a:buClr>
                <a:srgbClr val="000000"/>
              </a:buClr>
              <a:buFont typeface="Arial"/>
              <a:buChar char="•"/>
            </a:pPr>
            <a:r>
              <a:rPr lang="en-US" sz="2800" b="0" strike="noStrike" spc="-1" dirty="0">
                <a:solidFill>
                  <a:srgbClr val="000000"/>
                </a:solidFill>
                <a:latin typeface="Calibri"/>
                <a:ea typeface="宋体"/>
              </a:rPr>
              <a:t>Top (or Peak)</a:t>
            </a:r>
            <a:endParaRPr lang="en-US" sz="2800" b="0" strike="noStrike" spc="-1" dirty="0">
              <a:latin typeface="Arial"/>
            </a:endParaRPr>
          </a:p>
          <a:p>
            <a:pPr marL="514440" lvl="1" indent="-170280">
              <a:lnSpc>
                <a:spcPct val="90000"/>
              </a:lnSpc>
              <a:spcBef>
                <a:spcPts val="374"/>
              </a:spcBef>
              <a:buClr>
                <a:srgbClr val="000000"/>
              </a:buClr>
              <a:buFont typeface="Arial"/>
              <a:buChar char="•"/>
            </a:pPr>
            <a:r>
              <a:rPr lang="en-US" sz="2400" b="0" strike="noStrike" spc="-1" dirty="0">
                <a:solidFill>
                  <a:srgbClr val="000000"/>
                </a:solidFill>
                <a:latin typeface="Calibri"/>
                <a:ea typeface="宋体"/>
              </a:rPr>
              <a:t>Return, without removing, the element at the top</a:t>
            </a:r>
            <a:endParaRPr lang="en-US" sz="2400" b="0" strike="noStrike" spc="-1" dirty="0">
              <a:latin typeface="Arial"/>
            </a:endParaRPr>
          </a:p>
        </p:txBody>
      </p:sp>
      <p:sp>
        <p:nvSpPr>
          <p:cNvPr id="131" name="CustomShape 20"/>
          <p:cNvSpPr/>
          <p:nvPr/>
        </p:nvSpPr>
        <p:spPr>
          <a:xfrm>
            <a:off x="6458040" y="6356520"/>
            <a:ext cx="2056320" cy="363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r">
              <a:lnSpc>
                <a:spcPct val="100000"/>
              </a:lnSpc>
            </a:pPr>
            <a:fld id="{EF29B601-6184-4CD6-8B2B-8F88792F71A6}" type="slidenum">
              <a:rPr lang="en-US" sz="1400" b="0" strike="noStrike" spc="-1">
                <a:solidFill>
                  <a:srgbClr val="AFABAB"/>
                </a:solidFill>
                <a:latin typeface="Calibri"/>
                <a:ea typeface="宋体"/>
              </a:rPr>
              <a:t>6</a:t>
            </a:fld>
            <a:endParaRPr lang="en-US" sz="1400" b="0" strike="noStrike" spc="-1">
              <a:latin typeface="Arial"/>
            </a:endParaRPr>
          </a:p>
        </p:txBody>
      </p:sp>
      <p:grpSp>
        <p:nvGrpSpPr>
          <p:cNvPr id="132" name="Group 21"/>
          <p:cNvGrpSpPr/>
          <p:nvPr/>
        </p:nvGrpSpPr>
        <p:grpSpPr>
          <a:xfrm>
            <a:off x="228600" y="4572000"/>
            <a:ext cx="2286000" cy="1994760"/>
            <a:chOff x="228600" y="4572000"/>
            <a:chExt cx="2286000" cy="1994760"/>
          </a:xfrm>
        </p:grpSpPr>
        <p:sp>
          <p:nvSpPr>
            <p:cNvPr id="133" name="Line 22"/>
            <p:cNvSpPr/>
            <p:nvPr/>
          </p:nvSpPr>
          <p:spPr>
            <a:xfrm>
              <a:off x="228600" y="6554520"/>
              <a:ext cx="609480" cy="360"/>
            </a:xfrm>
            <a:prstGeom prst="line">
              <a:avLst/>
            </a:prstGeom>
            <a:ln>
              <a:round/>
              <a:tailEnd type="triangle" w="med" len="med"/>
            </a:ln>
          </p:spPr>
          <p:style>
            <a:lnRef idx="1">
              <a:schemeClr val="dk1"/>
            </a:lnRef>
            <a:fillRef idx="0">
              <a:schemeClr val="dk1"/>
            </a:fillRef>
            <a:effectRef idx="0">
              <a:schemeClr val="dk1"/>
            </a:effectRef>
            <a:fontRef idx="minor"/>
          </p:style>
        </p:sp>
        <p:sp>
          <p:nvSpPr>
            <p:cNvPr id="134" name="CustomShape 23"/>
            <p:cNvSpPr/>
            <p:nvPr/>
          </p:nvSpPr>
          <p:spPr>
            <a:xfrm>
              <a:off x="282240" y="6172200"/>
              <a:ext cx="531000" cy="39456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2000" b="0" strike="noStrike" spc="-1">
                  <a:solidFill>
                    <a:srgbClr val="FF0000"/>
                  </a:solidFill>
                  <a:latin typeface="Calibri"/>
                  <a:ea typeface="宋体"/>
                </a:rPr>
                <a:t>top</a:t>
              </a:r>
              <a:endParaRPr lang="en-US" sz="2000" b="0" strike="noStrike" spc="-1">
                <a:latin typeface="Arial"/>
              </a:endParaRPr>
            </a:p>
          </p:txBody>
        </p:sp>
        <p:sp>
          <p:nvSpPr>
            <p:cNvPr id="135" name="CustomShape 24"/>
            <p:cNvSpPr/>
            <p:nvPr/>
          </p:nvSpPr>
          <p:spPr>
            <a:xfrm>
              <a:off x="880920" y="4572000"/>
              <a:ext cx="1425600" cy="39456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2000" b="0" strike="noStrike" spc="-1">
                  <a:solidFill>
                    <a:srgbClr val="000000"/>
                  </a:solidFill>
                  <a:latin typeface="Calibri"/>
                  <a:ea typeface="宋体"/>
                </a:rPr>
                <a:t>empty stack</a:t>
              </a:r>
              <a:endParaRPr lang="en-US" sz="2000" b="0" strike="noStrike" spc="-1">
                <a:latin typeface="Arial"/>
              </a:endParaRPr>
            </a:p>
          </p:txBody>
        </p:sp>
        <p:grpSp>
          <p:nvGrpSpPr>
            <p:cNvPr id="136" name="Group 25"/>
            <p:cNvGrpSpPr/>
            <p:nvPr/>
          </p:nvGrpSpPr>
          <p:grpSpPr>
            <a:xfrm>
              <a:off x="609480" y="5105160"/>
              <a:ext cx="1905120" cy="1448280"/>
              <a:chOff x="609480" y="5105160"/>
              <a:chExt cx="1905120" cy="1448280"/>
            </a:xfrm>
          </p:grpSpPr>
          <p:sp>
            <p:nvSpPr>
              <p:cNvPr id="137" name="Line 26"/>
              <p:cNvSpPr/>
              <p:nvPr/>
            </p:nvSpPr>
            <p:spPr>
              <a:xfrm>
                <a:off x="609480" y="5105160"/>
                <a:ext cx="304920" cy="360"/>
              </a:xfrm>
              <a:prstGeom prst="line">
                <a:avLst/>
              </a:prstGeom>
              <a:ln w="31680">
                <a:solidFill>
                  <a:schemeClr val="accent1"/>
                </a:solidFill>
                <a:round/>
              </a:ln>
            </p:spPr>
            <p:style>
              <a:lnRef idx="0">
                <a:scrgbClr r="0" g="0" b="0"/>
              </a:lnRef>
              <a:fillRef idx="0">
                <a:scrgbClr r="0" g="0" b="0"/>
              </a:fillRef>
              <a:effectRef idx="0">
                <a:scrgbClr r="0" g="0" b="0"/>
              </a:effectRef>
              <a:fontRef idx="minor"/>
            </p:style>
          </p:sp>
          <p:sp>
            <p:nvSpPr>
              <p:cNvPr id="138" name="Line 27"/>
              <p:cNvSpPr/>
              <p:nvPr/>
            </p:nvSpPr>
            <p:spPr>
              <a:xfrm>
                <a:off x="914400" y="5105160"/>
                <a:ext cx="360" cy="1447920"/>
              </a:xfrm>
              <a:prstGeom prst="line">
                <a:avLst/>
              </a:prstGeom>
              <a:ln w="31680">
                <a:solidFill>
                  <a:schemeClr val="accent1"/>
                </a:solidFill>
                <a:round/>
              </a:ln>
            </p:spPr>
            <p:style>
              <a:lnRef idx="0">
                <a:scrgbClr r="0" g="0" b="0"/>
              </a:lnRef>
              <a:fillRef idx="0">
                <a:scrgbClr r="0" g="0" b="0"/>
              </a:fillRef>
              <a:effectRef idx="0">
                <a:scrgbClr r="0" g="0" b="0"/>
              </a:effectRef>
              <a:fontRef idx="minor"/>
            </p:style>
          </p:sp>
          <p:sp>
            <p:nvSpPr>
              <p:cNvPr id="139" name="Line 28"/>
              <p:cNvSpPr/>
              <p:nvPr/>
            </p:nvSpPr>
            <p:spPr>
              <a:xfrm>
                <a:off x="914400" y="6553080"/>
                <a:ext cx="1295280" cy="360"/>
              </a:xfrm>
              <a:prstGeom prst="line">
                <a:avLst/>
              </a:prstGeom>
              <a:ln w="31680">
                <a:solidFill>
                  <a:schemeClr val="accent1"/>
                </a:solidFill>
                <a:round/>
              </a:ln>
            </p:spPr>
            <p:style>
              <a:lnRef idx="0">
                <a:scrgbClr r="0" g="0" b="0"/>
              </a:lnRef>
              <a:fillRef idx="0">
                <a:scrgbClr r="0" g="0" b="0"/>
              </a:fillRef>
              <a:effectRef idx="0">
                <a:scrgbClr r="0" g="0" b="0"/>
              </a:effectRef>
              <a:fontRef idx="minor"/>
            </p:style>
          </p:sp>
          <p:sp>
            <p:nvSpPr>
              <p:cNvPr id="140" name="Line 29"/>
              <p:cNvSpPr/>
              <p:nvPr/>
            </p:nvSpPr>
            <p:spPr>
              <a:xfrm flipV="1">
                <a:off x="2209680" y="5105160"/>
                <a:ext cx="360" cy="1447920"/>
              </a:xfrm>
              <a:prstGeom prst="line">
                <a:avLst/>
              </a:prstGeom>
              <a:ln w="31680">
                <a:solidFill>
                  <a:schemeClr val="accent1"/>
                </a:solidFill>
                <a:round/>
              </a:ln>
            </p:spPr>
            <p:style>
              <a:lnRef idx="0">
                <a:scrgbClr r="0" g="0" b="0"/>
              </a:lnRef>
              <a:fillRef idx="0">
                <a:scrgbClr r="0" g="0" b="0"/>
              </a:fillRef>
              <a:effectRef idx="0">
                <a:scrgbClr r="0" g="0" b="0"/>
              </a:effectRef>
              <a:fontRef idx="minor"/>
            </p:style>
          </p:sp>
          <p:sp>
            <p:nvSpPr>
              <p:cNvPr id="141" name="Line 30"/>
              <p:cNvSpPr/>
              <p:nvPr/>
            </p:nvSpPr>
            <p:spPr>
              <a:xfrm>
                <a:off x="2209680" y="5105160"/>
                <a:ext cx="304920" cy="360"/>
              </a:xfrm>
              <a:prstGeom prst="line">
                <a:avLst/>
              </a:prstGeom>
              <a:ln w="31680">
                <a:solidFill>
                  <a:schemeClr val="accent1"/>
                </a:solidFill>
                <a:round/>
              </a:ln>
            </p:spPr>
            <p:style>
              <a:lnRef idx="0">
                <a:scrgbClr r="0" g="0" b="0"/>
              </a:lnRef>
              <a:fillRef idx="0">
                <a:scrgbClr r="0" g="0" b="0"/>
              </a:fillRef>
              <a:effectRef idx="0">
                <a:scrgbClr r="0" g="0" b="0"/>
              </a:effectRef>
              <a:fontRef idx="minor"/>
            </p:style>
          </p:sp>
        </p:grpSp>
      </p:grpSp>
      <p:grpSp>
        <p:nvGrpSpPr>
          <p:cNvPr id="142" name="Group 31"/>
          <p:cNvGrpSpPr/>
          <p:nvPr/>
        </p:nvGrpSpPr>
        <p:grpSpPr>
          <a:xfrm>
            <a:off x="2361600" y="4572000"/>
            <a:ext cx="2286360" cy="1981440"/>
            <a:chOff x="2361600" y="4572000"/>
            <a:chExt cx="2286360" cy="1981440"/>
          </a:xfrm>
        </p:grpSpPr>
        <p:grpSp>
          <p:nvGrpSpPr>
            <p:cNvPr id="143" name="Group 32"/>
            <p:cNvGrpSpPr/>
            <p:nvPr/>
          </p:nvGrpSpPr>
          <p:grpSpPr>
            <a:xfrm>
              <a:off x="3276720" y="6113520"/>
              <a:ext cx="913320" cy="333000"/>
              <a:chOff x="3276720" y="6113520"/>
              <a:chExt cx="913320" cy="333000"/>
            </a:xfrm>
          </p:grpSpPr>
          <p:sp>
            <p:nvSpPr>
              <p:cNvPr id="144" name="CustomShape 33"/>
              <p:cNvSpPr/>
              <p:nvPr/>
            </p:nvSpPr>
            <p:spPr>
              <a:xfrm>
                <a:off x="3276720" y="6127920"/>
                <a:ext cx="913320" cy="303840"/>
              </a:xfrm>
              <a:prstGeom prst="rect">
                <a:avLst/>
              </a:prstGeom>
              <a:solidFill>
                <a:schemeClr val="accent6">
                  <a:lumMod val="20000"/>
                  <a:lumOff val="80000"/>
                </a:schemeClr>
              </a:solidFill>
              <a:ln w="28440">
                <a:solidFill>
                  <a:schemeClr val="tx1"/>
                </a:solidFill>
                <a:miter/>
              </a:ln>
            </p:spPr>
            <p:style>
              <a:lnRef idx="0">
                <a:scrgbClr r="0" g="0" b="0"/>
              </a:lnRef>
              <a:fillRef idx="0">
                <a:scrgbClr r="0" g="0" b="0"/>
              </a:fillRef>
              <a:effectRef idx="0">
                <a:scrgbClr r="0" g="0" b="0"/>
              </a:effectRef>
              <a:fontRef idx="minor"/>
            </p:style>
          </p:sp>
          <p:sp>
            <p:nvSpPr>
              <p:cNvPr id="145" name="CustomShape 34"/>
              <p:cNvSpPr/>
              <p:nvPr/>
            </p:nvSpPr>
            <p:spPr>
              <a:xfrm>
                <a:off x="3570120" y="6113520"/>
                <a:ext cx="332280" cy="333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ctr">
                  <a:lnSpc>
                    <a:spcPct val="100000"/>
                  </a:lnSpc>
                </a:pPr>
                <a:r>
                  <a:rPr lang="en-US" sz="1600" b="0" strike="noStrike" spc="-1">
                    <a:solidFill>
                      <a:srgbClr val="000000"/>
                    </a:solidFill>
                    <a:latin typeface="Calibri"/>
                    <a:ea typeface="宋体"/>
                  </a:rPr>
                  <a:t>A</a:t>
                </a:r>
                <a:endParaRPr lang="en-US" sz="1600" b="0" strike="noStrike" spc="-1">
                  <a:latin typeface="Arial"/>
                </a:endParaRPr>
              </a:p>
            </p:txBody>
          </p:sp>
        </p:grpSp>
        <p:grpSp>
          <p:nvGrpSpPr>
            <p:cNvPr id="146" name="Group 35"/>
            <p:cNvGrpSpPr/>
            <p:nvPr/>
          </p:nvGrpSpPr>
          <p:grpSpPr>
            <a:xfrm>
              <a:off x="2361600" y="5867280"/>
              <a:ext cx="609840" cy="394560"/>
              <a:chOff x="2361600" y="5867280"/>
              <a:chExt cx="609840" cy="394560"/>
            </a:xfrm>
          </p:grpSpPr>
          <p:sp>
            <p:nvSpPr>
              <p:cNvPr id="147" name="Line 36"/>
              <p:cNvSpPr/>
              <p:nvPr/>
            </p:nvSpPr>
            <p:spPr>
              <a:xfrm>
                <a:off x="2361600" y="6249960"/>
                <a:ext cx="609840" cy="360"/>
              </a:xfrm>
              <a:prstGeom prst="line">
                <a:avLst/>
              </a:prstGeom>
              <a:ln>
                <a:round/>
                <a:tailEnd type="triangle" w="med" len="med"/>
              </a:ln>
            </p:spPr>
            <p:style>
              <a:lnRef idx="1">
                <a:schemeClr val="dk1"/>
              </a:lnRef>
              <a:fillRef idx="0">
                <a:schemeClr val="dk1"/>
              </a:fillRef>
              <a:effectRef idx="0">
                <a:schemeClr val="dk1"/>
              </a:effectRef>
              <a:fontRef idx="minor"/>
            </p:style>
          </p:sp>
          <p:sp>
            <p:nvSpPr>
              <p:cNvPr id="148" name="CustomShape 37"/>
              <p:cNvSpPr/>
              <p:nvPr/>
            </p:nvSpPr>
            <p:spPr>
              <a:xfrm>
                <a:off x="2415960" y="5867280"/>
                <a:ext cx="531000" cy="39456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2000" b="0" strike="noStrike" spc="-1">
                    <a:solidFill>
                      <a:srgbClr val="FF0000"/>
                    </a:solidFill>
                    <a:latin typeface="Calibri"/>
                    <a:ea typeface="宋体"/>
                  </a:rPr>
                  <a:t>top</a:t>
                </a:r>
                <a:endParaRPr lang="en-US" sz="2000" b="0" strike="noStrike" spc="-1">
                  <a:latin typeface="Arial"/>
                </a:endParaRPr>
              </a:p>
            </p:txBody>
          </p:sp>
        </p:grpSp>
        <p:grpSp>
          <p:nvGrpSpPr>
            <p:cNvPr id="149" name="Group 38"/>
            <p:cNvGrpSpPr/>
            <p:nvPr/>
          </p:nvGrpSpPr>
          <p:grpSpPr>
            <a:xfrm>
              <a:off x="2742840" y="5105160"/>
              <a:ext cx="1905120" cy="1448280"/>
              <a:chOff x="2742840" y="5105160"/>
              <a:chExt cx="1905120" cy="1448280"/>
            </a:xfrm>
          </p:grpSpPr>
          <p:sp>
            <p:nvSpPr>
              <p:cNvPr id="150" name="Line 39"/>
              <p:cNvSpPr/>
              <p:nvPr/>
            </p:nvSpPr>
            <p:spPr>
              <a:xfrm>
                <a:off x="2742840" y="5105160"/>
                <a:ext cx="304920" cy="360"/>
              </a:xfrm>
              <a:prstGeom prst="line">
                <a:avLst/>
              </a:prstGeom>
              <a:ln w="31680">
                <a:solidFill>
                  <a:schemeClr val="accent1"/>
                </a:solidFill>
                <a:round/>
              </a:ln>
            </p:spPr>
            <p:style>
              <a:lnRef idx="0">
                <a:scrgbClr r="0" g="0" b="0"/>
              </a:lnRef>
              <a:fillRef idx="0">
                <a:scrgbClr r="0" g="0" b="0"/>
              </a:fillRef>
              <a:effectRef idx="0">
                <a:scrgbClr r="0" g="0" b="0"/>
              </a:effectRef>
              <a:fontRef idx="minor"/>
            </p:style>
          </p:sp>
          <p:sp>
            <p:nvSpPr>
              <p:cNvPr id="151" name="Line 40"/>
              <p:cNvSpPr/>
              <p:nvPr/>
            </p:nvSpPr>
            <p:spPr>
              <a:xfrm>
                <a:off x="3047760" y="5105160"/>
                <a:ext cx="360" cy="1447920"/>
              </a:xfrm>
              <a:prstGeom prst="line">
                <a:avLst/>
              </a:prstGeom>
              <a:ln w="31680">
                <a:solidFill>
                  <a:schemeClr val="accent1"/>
                </a:solidFill>
                <a:round/>
              </a:ln>
            </p:spPr>
            <p:style>
              <a:lnRef idx="0">
                <a:scrgbClr r="0" g="0" b="0"/>
              </a:lnRef>
              <a:fillRef idx="0">
                <a:scrgbClr r="0" g="0" b="0"/>
              </a:fillRef>
              <a:effectRef idx="0">
                <a:scrgbClr r="0" g="0" b="0"/>
              </a:effectRef>
              <a:fontRef idx="minor"/>
            </p:style>
          </p:sp>
          <p:sp>
            <p:nvSpPr>
              <p:cNvPr id="152" name="Line 41"/>
              <p:cNvSpPr/>
              <p:nvPr/>
            </p:nvSpPr>
            <p:spPr>
              <a:xfrm>
                <a:off x="3047760" y="6553080"/>
                <a:ext cx="1295640" cy="360"/>
              </a:xfrm>
              <a:prstGeom prst="line">
                <a:avLst/>
              </a:prstGeom>
              <a:ln w="31680">
                <a:solidFill>
                  <a:schemeClr val="accent1"/>
                </a:solidFill>
                <a:round/>
              </a:ln>
            </p:spPr>
            <p:style>
              <a:lnRef idx="0">
                <a:scrgbClr r="0" g="0" b="0"/>
              </a:lnRef>
              <a:fillRef idx="0">
                <a:scrgbClr r="0" g="0" b="0"/>
              </a:fillRef>
              <a:effectRef idx="0">
                <a:scrgbClr r="0" g="0" b="0"/>
              </a:effectRef>
              <a:fontRef idx="minor"/>
            </p:style>
          </p:sp>
          <p:sp>
            <p:nvSpPr>
              <p:cNvPr id="153" name="Line 42"/>
              <p:cNvSpPr/>
              <p:nvPr/>
            </p:nvSpPr>
            <p:spPr>
              <a:xfrm flipV="1">
                <a:off x="4343400" y="5105160"/>
                <a:ext cx="360" cy="1447920"/>
              </a:xfrm>
              <a:prstGeom prst="line">
                <a:avLst/>
              </a:prstGeom>
              <a:ln w="31680">
                <a:solidFill>
                  <a:schemeClr val="accent1"/>
                </a:solidFill>
                <a:round/>
              </a:ln>
            </p:spPr>
            <p:style>
              <a:lnRef idx="0">
                <a:scrgbClr r="0" g="0" b="0"/>
              </a:lnRef>
              <a:fillRef idx="0">
                <a:scrgbClr r="0" g="0" b="0"/>
              </a:fillRef>
              <a:effectRef idx="0">
                <a:scrgbClr r="0" g="0" b="0"/>
              </a:effectRef>
              <a:fontRef idx="minor"/>
            </p:style>
          </p:sp>
          <p:sp>
            <p:nvSpPr>
              <p:cNvPr id="154" name="Line 43"/>
              <p:cNvSpPr/>
              <p:nvPr/>
            </p:nvSpPr>
            <p:spPr>
              <a:xfrm>
                <a:off x="4343400" y="5105160"/>
                <a:ext cx="304560" cy="360"/>
              </a:xfrm>
              <a:prstGeom prst="line">
                <a:avLst/>
              </a:prstGeom>
              <a:ln w="31680">
                <a:solidFill>
                  <a:schemeClr val="accent1"/>
                </a:solidFill>
                <a:round/>
              </a:ln>
            </p:spPr>
            <p:style>
              <a:lnRef idx="0">
                <a:scrgbClr r="0" g="0" b="0"/>
              </a:lnRef>
              <a:fillRef idx="0">
                <a:scrgbClr r="0" g="0" b="0"/>
              </a:fillRef>
              <a:effectRef idx="0">
                <a:scrgbClr r="0" g="0" b="0"/>
              </a:effectRef>
              <a:fontRef idx="minor"/>
            </p:style>
          </p:sp>
        </p:grpSp>
        <p:sp>
          <p:nvSpPr>
            <p:cNvPr id="155" name="CustomShape 44"/>
            <p:cNvSpPr/>
            <p:nvPr/>
          </p:nvSpPr>
          <p:spPr>
            <a:xfrm>
              <a:off x="3212280" y="4572000"/>
              <a:ext cx="887400" cy="39456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2000" b="0" strike="noStrike" spc="-1">
                  <a:solidFill>
                    <a:srgbClr val="000000"/>
                  </a:solidFill>
                  <a:latin typeface="Calibri"/>
                  <a:ea typeface="宋体"/>
                </a:rPr>
                <a:t>push A</a:t>
              </a:r>
              <a:endParaRPr lang="en-US" sz="2000" b="0" strike="noStrike" spc="-1">
                <a:latin typeface="Arial"/>
              </a:endParaRPr>
            </a:p>
          </p:txBody>
        </p:sp>
      </p:grpSp>
      <p:grpSp>
        <p:nvGrpSpPr>
          <p:cNvPr id="156" name="Group 45"/>
          <p:cNvGrpSpPr/>
          <p:nvPr/>
        </p:nvGrpSpPr>
        <p:grpSpPr>
          <a:xfrm>
            <a:off x="6629400" y="4572000"/>
            <a:ext cx="2286000" cy="1981440"/>
            <a:chOff x="6629400" y="4572000"/>
            <a:chExt cx="2286000" cy="1981440"/>
          </a:xfrm>
        </p:grpSpPr>
        <p:grpSp>
          <p:nvGrpSpPr>
            <p:cNvPr id="157" name="Group 46"/>
            <p:cNvGrpSpPr/>
            <p:nvPr/>
          </p:nvGrpSpPr>
          <p:grpSpPr>
            <a:xfrm>
              <a:off x="6629400" y="5867280"/>
              <a:ext cx="609480" cy="394560"/>
              <a:chOff x="6629400" y="5867280"/>
              <a:chExt cx="609480" cy="394560"/>
            </a:xfrm>
          </p:grpSpPr>
          <p:sp>
            <p:nvSpPr>
              <p:cNvPr id="158" name="Line 47"/>
              <p:cNvSpPr/>
              <p:nvPr/>
            </p:nvSpPr>
            <p:spPr>
              <a:xfrm>
                <a:off x="6629400" y="6249960"/>
                <a:ext cx="609480" cy="360"/>
              </a:xfrm>
              <a:prstGeom prst="line">
                <a:avLst/>
              </a:prstGeom>
              <a:ln>
                <a:round/>
                <a:tailEnd type="triangle" w="med" len="med"/>
              </a:ln>
            </p:spPr>
            <p:style>
              <a:lnRef idx="1">
                <a:schemeClr val="dk1"/>
              </a:lnRef>
              <a:fillRef idx="0">
                <a:schemeClr val="dk1"/>
              </a:fillRef>
              <a:effectRef idx="0">
                <a:schemeClr val="dk1"/>
              </a:effectRef>
              <a:fontRef idx="minor"/>
            </p:style>
          </p:sp>
          <p:sp>
            <p:nvSpPr>
              <p:cNvPr id="159" name="CustomShape 48"/>
              <p:cNvSpPr/>
              <p:nvPr/>
            </p:nvSpPr>
            <p:spPr>
              <a:xfrm>
                <a:off x="6683040" y="5867280"/>
                <a:ext cx="531000" cy="39456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2000" b="0" strike="noStrike" spc="-1">
                    <a:solidFill>
                      <a:srgbClr val="FF0000"/>
                    </a:solidFill>
                    <a:latin typeface="Calibri"/>
                    <a:ea typeface="宋体"/>
                  </a:rPr>
                  <a:t>top</a:t>
                </a:r>
                <a:endParaRPr lang="en-US" sz="2000" b="0" strike="noStrike" spc="-1">
                  <a:latin typeface="Arial"/>
                </a:endParaRPr>
              </a:p>
            </p:txBody>
          </p:sp>
        </p:grpSp>
        <p:grpSp>
          <p:nvGrpSpPr>
            <p:cNvPr id="160" name="Group 49"/>
            <p:cNvGrpSpPr/>
            <p:nvPr/>
          </p:nvGrpSpPr>
          <p:grpSpPr>
            <a:xfrm>
              <a:off x="7010280" y="5105160"/>
              <a:ext cx="1905120" cy="1448280"/>
              <a:chOff x="7010280" y="5105160"/>
              <a:chExt cx="1905120" cy="1448280"/>
            </a:xfrm>
          </p:grpSpPr>
          <p:sp>
            <p:nvSpPr>
              <p:cNvPr id="161" name="Line 50"/>
              <p:cNvSpPr/>
              <p:nvPr/>
            </p:nvSpPr>
            <p:spPr>
              <a:xfrm>
                <a:off x="7010280" y="5105160"/>
                <a:ext cx="304920" cy="360"/>
              </a:xfrm>
              <a:prstGeom prst="line">
                <a:avLst/>
              </a:prstGeom>
              <a:ln w="31680">
                <a:solidFill>
                  <a:schemeClr val="accent1"/>
                </a:solidFill>
                <a:round/>
              </a:ln>
            </p:spPr>
            <p:style>
              <a:lnRef idx="0">
                <a:scrgbClr r="0" g="0" b="0"/>
              </a:lnRef>
              <a:fillRef idx="0">
                <a:scrgbClr r="0" g="0" b="0"/>
              </a:fillRef>
              <a:effectRef idx="0">
                <a:scrgbClr r="0" g="0" b="0"/>
              </a:effectRef>
              <a:fontRef idx="minor"/>
            </p:style>
          </p:sp>
          <p:sp>
            <p:nvSpPr>
              <p:cNvPr id="162" name="Line 51"/>
              <p:cNvSpPr/>
              <p:nvPr/>
            </p:nvSpPr>
            <p:spPr>
              <a:xfrm>
                <a:off x="7315200" y="5105160"/>
                <a:ext cx="360" cy="1447920"/>
              </a:xfrm>
              <a:prstGeom prst="line">
                <a:avLst/>
              </a:prstGeom>
              <a:ln w="31680">
                <a:solidFill>
                  <a:schemeClr val="accent1"/>
                </a:solidFill>
                <a:round/>
              </a:ln>
            </p:spPr>
            <p:style>
              <a:lnRef idx="0">
                <a:scrgbClr r="0" g="0" b="0"/>
              </a:lnRef>
              <a:fillRef idx="0">
                <a:scrgbClr r="0" g="0" b="0"/>
              </a:fillRef>
              <a:effectRef idx="0">
                <a:scrgbClr r="0" g="0" b="0"/>
              </a:effectRef>
              <a:fontRef idx="minor"/>
            </p:style>
          </p:sp>
          <p:sp>
            <p:nvSpPr>
              <p:cNvPr id="163" name="Line 52"/>
              <p:cNvSpPr/>
              <p:nvPr/>
            </p:nvSpPr>
            <p:spPr>
              <a:xfrm>
                <a:off x="7315200" y="6553080"/>
                <a:ext cx="1295280" cy="360"/>
              </a:xfrm>
              <a:prstGeom prst="line">
                <a:avLst/>
              </a:prstGeom>
              <a:ln w="31680">
                <a:solidFill>
                  <a:schemeClr val="accent1"/>
                </a:solidFill>
                <a:round/>
              </a:ln>
            </p:spPr>
            <p:style>
              <a:lnRef idx="0">
                <a:scrgbClr r="0" g="0" b="0"/>
              </a:lnRef>
              <a:fillRef idx="0">
                <a:scrgbClr r="0" g="0" b="0"/>
              </a:fillRef>
              <a:effectRef idx="0">
                <a:scrgbClr r="0" g="0" b="0"/>
              </a:effectRef>
              <a:fontRef idx="minor"/>
            </p:style>
          </p:sp>
          <p:sp>
            <p:nvSpPr>
              <p:cNvPr id="164" name="Line 53"/>
              <p:cNvSpPr/>
              <p:nvPr/>
            </p:nvSpPr>
            <p:spPr>
              <a:xfrm flipV="1">
                <a:off x="8610480" y="5105160"/>
                <a:ext cx="360" cy="1447920"/>
              </a:xfrm>
              <a:prstGeom prst="line">
                <a:avLst/>
              </a:prstGeom>
              <a:ln w="31680">
                <a:solidFill>
                  <a:schemeClr val="accent1"/>
                </a:solidFill>
                <a:round/>
              </a:ln>
            </p:spPr>
            <p:style>
              <a:lnRef idx="0">
                <a:scrgbClr r="0" g="0" b="0"/>
              </a:lnRef>
              <a:fillRef idx="0">
                <a:scrgbClr r="0" g="0" b="0"/>
              </a:fillRef>
              <a:effectRef idx="0">
                <a:scrgbClr r="0" g="0" b="0"/>
              </a:effectRef>
              <a:fontRef idx="minor"/>
            </p:style>
          </p:sp>
          <p:sp>
            <p:nvSpPr>
              <p:cNvPr id="165" name="Line 54"/>
              <p:cNvSpPr/>
              <p:nvPr/>
            </p:nvSpPr>
            <p:spPr>
              <a:xfrm>
                <a:off x="8610480" y="5105160"/>
                <a:ext cx="304920" cy="360"/>
              </a:xfrm>
              <a:prstGeom prst="line">
                <a:avLst/>
              </a:prstGeom>
              <a:ln w="31680">
                <a:solidFill>
                  <a:schemeClr val="accent1"/>
                </a:solidFill>
                <a:round/>
              </a:ln>
            </p:spPr>
            <p:style>
              <a:lnRef idx="0">
                <a:scrgbClr r="0" g="0" b="0"/>
              </a:lnRef>
              <a:fillRef idx="0">
                <a:scrgbClr r="0" g="0" b="0"/>
              </a:fillRef>
              <a:effectRef idx="0">
                <a:scrgbClr r="0" g="0" b="0"/>
              </a:effectRef>
              <a:fontRef idx="minor"/>
            </p:style>
          </p:sp>
        </p:grpSp>
        <p:sp>
          <p:nvSpPr>
            <p:cNvPr id="166" name="CustomShape 55"/>
            <p:cNvSpPr/>
            <p:nvPr/>
          </p:nvSpPr>
          <p:spPr>
            <a:xfrm>
              <a:off x="7639920" y="4572000"/>
              <a:ext cx="582840" cy="39456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2000" b="0" strike="noStrike" spc="-1">
                  <a:solidFill>
                    <a:srgbClr val="000000"/>
                  </a:solidFill>
                  <a:latin typeface="Calibri"/>
                  <a:ea typeface="宋体"/>
                </a:rPr>
                <a:t>pop</a:t>
              </a:r>
              <a:endParaRPr lang="en-US" sz="2000" b="0" strike="noStrike" spc="-1">
                <a:latin typeface="Arial"/>
              </a:endParaRPr>
            </a:p>
          </p:txBody>
        </p:sp>
        <p:grpSp>
          <p:nvGrpSpPr>
            <p:cNvPr id="167" name="Group 56"/>
            <p:cNvGrpSpPr/>
            <p:nvPr/>
          </p:nvGrpSpPr>
          <p:grpSpPr>
            <a:xfrm>
              <a:off x="7543800" y="6054840"/>
              <a:ext cx="913320" cy="333000"/>
              <a:chOff x="7543800" y="6054840"/>
              <a:chExt cx="913320" cy="333000"/>
            </a:xfrm>
          </p:grpSpPr>
          <p:sp>
            <p:nvSpPr>
              <p:cNvPr id="168" name="CustomShape 57"/>
              <p:cNvSpPr/>
              <p:nvPr/>
            </p:nvSpPr>
            <p:spPr>
              <a:xfrm>
                <a:off x="7543800" y="6076800"/>
                <a:ext cx="913320" cy="303840"/>
              </a:xfrm>
              <a:prstGeom prst="rect">
                <a:avLst/>
              </a:prstGeom>
              <a:solidFill>
                <a:schemeClr val="accent6">
                  <a:lumMod val="20000"/>
                  <a:lumOff val="80000"/>
                </a:schemeClr>
              </a:solidFill>
              <a:ln w="28440">
                <a:solidFill>
                  <a:schemeClr val="tx1"/>
                </a:solidFill>
                <a:miter/>
              </a:ln>
            </p:spPr>
            <p:style>
              <a:lnRef idx="0">
                <a:scrgbClr r="0" g="0" b="0"/>
              </a:lnRef>
              <a:fillRef idx="0">
                <a:scrgbClr r="0" g="0" b="0"/>
              </a:fillRef>
              <a:effectRef idx="0">
                <a:scrgbClr r="0" g="0" b="0"/>
              </a:effectRef>
              <a:fontRef idx="minor"/>
            </p:style>
          </p:sp>
          <p:sp>
            <p:nvSpPr>
              <p:cNvPr id="169" name="CustomShape 58"/>
              <p:cNvSpPr/>
              <p:nvPr/>
            </p:nvSpPr>
            <p:spPr>
              <a:xfrm>
                <a:off x="7819920" y="6054840"/>
                <a:ext cx="332280" cy="333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ctr">
                  <a:lnSpc>
                    <a:spcPct val="100000"/>
                  </a:lnSpc>
                </a:pPr>
                <a:r>
                  <a:rPr lang="en-US" sz="1600" b="0" strike="noStrike" spc="-1">
                    <a:solidFill>
                      <a:srgbClr val="000000"/>
                    </a:solidFill>
                    <a:latin typeface="Calibri"/>
                    <a:ea typeface="宋体"/>
                  </a:rPr>
                  <a:t>A</a:t>
                </a:r>
                <a:endParaRPr lang="en-US" sz="1600" b="0" strike="noStrike" spc="-1">
                  <a:latin typeface="Arial"/>
                </a:endParaRPr>
              </a:p>
            </p:txBody>
          </p:sp>
        </p:grpSp>
      </p:grpSp>
      <p:sp>
        <p:nvSpPr>
          <p:cNvPr id="170" name="CustomShape 59"/>
          <p:cNvSpPr/>
          <p:nvPr/>
        </p:nvSpPr>
        <p:spPr>
          <a:xfrm>
            <a:off x="3029040" y="6356520"/>
            <a:ext cx="3085200" cy="363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a:lnSpc>
                <a:spcPct val="100000"/>
              </a:lnSpc>
            </a:pPr>
            <a:r>
              <a:rPr lang="en-US" sz="900" b="0" strike="noStrike" spc="-1">
                <a:solidFill>
                  <a:srgbClr val="8B8B8B"/>
                </a:solidFill>
                <a:latin typeface="Calibri"/>
                <a:ea typeface="DejaVu Sans"/>
              </a:rPr>
              <a:t>Data Structures and Algorithms</a:t>
            </a:r>
            <a:endParaRPr lang="en-US" sz="900" b="0" strike="noStrike" spc="-1">
              <a:latin typeface="Arial"/>
            </a:endParaRPr>
          </a:p>
        </p:txBody>
      </p:sp>
    </p:spTree>
  </p:cSld>
  <p:clrMapOvr>
    <a:masterClrMapping/>
  </p:clrMapOvr>
  <p:timing>
    <p:tnLst>
      <p:par>
        <p:cTn id="1" dur="indefinite" restart="never" nodeType="tmRoot">
          <p:childTnLst>
            <p:seq>
              <p:cTn id="2" dur="indefinite" nodeType="mainSeq">
                <p:childTnLst>
                  <p:par>
                    <p:cTn id="3" fill="hold" nodeType="clickEffect">
                      <p:stCondLst>
                        <p:cond delay="indefinite"/>
                      </p:stCondLst>
                      <p:childTnLst>
                        <p:par>
                          <p:cTn id="4" fill="hold" nodeType="withEffect">
                            <p:stCondLst>
                              <p:cond delay="0"/>
                            </p:stCondLst>
                            <p:childTnLst>
                              <p:par>
                                <p:cTn id="5" presetID="1" presetClass="entr" fill="hold" nodeType="clickEffect">
                                  <p:stCondLst>
                                    <p:cond delay="0"/>
                                  </p:stCondLst>
                                  <p:childTnLst>
                                    <p:set>
                                      <p:cBhvr>
                                        <p:cTn id="6" dur="1" fill="hold">
                                          <p:stCondLst>
                                            <p:cond delay="0"/>
                                          </p:stCondLst>
                                        </p:cTn>
                                        <p:tgtEl>
                                          <p:spTgt spid="132"/>
                                        </p:tgtEl>
                                        <p:attrNameLst>
                                          <p:attrName>style.visibility</p:attrName>
                                        </p:attrNameLst>
                                      </p:cBhvr>
                                      <p:to>
                                        <p:strVal val="visible"/>
                                      </p:to>
                                    </p:set>
                                  </p:childTnLst>
                                </p:cTn>
                              </p:par>
                            </p:childTnLst>
                          </p:cTn>
                        </p:par>
                      </p:childTnLst>
                    </p:cTn>
                  </p:par>
                  <p:par>
                    <p:cTn id="7" fill="hold" nodeType="clickEffect">
                      <p:stCondLst>
                        <p:cond delay="indefinite"/>
                      </p:stCondLst>
                      <p:childTnLst>
                        <p:par>
                          <p:cTn id="8" fill="hold" nodeType="withEffect">
                            <p:stCondLst>
                              <p:cond delay="0"/>
                            </p:stCondLst>
                            <p:childTnLst>
                              <p:par>
                                <p:cTn id="9" presetID="1" presetClass="entr" fill="hold" nodeType="clickEffect">
                                  <p:stCondLst>
                                    <p:cond delay="0"/>
                                  </p:stCondLst>
                                  <p:childTnLst>
                                    <p:set>
                                      <p:cBhvr>
                                        <p:cTn id="10" dur="1" fill="hold">
                                          <p:stCondLst>
                                            <p:cond delay="0"/>
                                          </p:stCondLst>
                                        </p:cTn>
                                        <p:tgtEl>
                                          <p:spTgt spid="142"/>
                                        </p:tgtEl>
                                        <p:attrNameLst>
                                          <p:attrName>style.visibility</p:attrName>
                                        </p:attrNameLst>
                                      </p:cBhvr>
                                      <p:to>
                                        <p:strVal val="visible"/>
                                      </p:to>
                                    </p:set>
                                  </p:childTnLst>
                                </p:cTn>
                              </p:par>
                            </p:childTnLst>
                          </p:cTn>
                        </p:par>
                      </p:childTnLst>
                    </p:cTn>
                  </p:par>
                  <p:par>
                    <p:cTn id="11" fill="hold" nodeType="clickEffect">
                      <p:stCondLst>
                        <p:cond delay="indefinite"/>
                      </p:stCondLst>
                      <p:childTnLst>
                        <p:par>
                          <p:cTn id="12" fill="hold" nodeType="withEffect">
                            <p:stCondLst>
                              <p:cond delay="0"/>
                            </p:stCondLst>
                            <p:childTnLst>
                              <p:par>
                                <p:cTn id="13" presetID="1" presetClass="entr" fill="hold" nodeType="clickEffect">
                                  <p:stCondLst>
                                    <p:cond delay="0"/>
                                  </p:stCondLst>
                                  <p:childTnLst>
                                    <p:set>
                                      <p:cBhvr>
                                        <p:cTn id="14" dur="1" fill="hold">
                                          <p:stCondLst>
                                            <p:cond delay="0"/>
                                          </p:stCondLst>
                                        </p:cTn>
                                        <p:tgtEl>
                                          <p:spTgt spid="112"/>
                                        </p:tgtEl>
                                        <p:attrNameLst>
                                          <p:attrName>style.visibility</p:attrName>
                                        </p:attrNameLst>
                                      </p:cBhvr>
                                      <p:to>
                                        <p:strVal val="visible"/>
                                      </p:to>
                                    </p:set>
                                  </p:childTnLst>
                                </p:cTn>
                              </p:par>
                            </p:childTnLst>
                          </p:cTn>
                        </p:par>
                      </p:childTnLst>
                    </p:cTn>
                  </p:par>
                  <p:par>
                    <p:cTn id="15" fill="hold" nodeType="clickEffect">
                      <p:stCondLst>
                        <p:cond delay="indefinite"/>
                      </p:stCondLst>
                      <p:childTnLst>
                        <p:par>
                          <p:cTn id="16" fill="hold" nodeType="withEffect">
                            <p:stCondLst>
                              <p:cond delay="0"/>
                            </p:stCondLst>
                            <p:childTnLst>
                              <p:par>
                                <p:cTn id="17" presetID="1" presetClass="entr" fill="hold" nodeType="clickEffect">
                                  <p:stCondLst>
                                    <p:cond delay="0"/>
                                  </p:stCondLst>
                                  <p:childTnLst>
                                    <p:set>
                                      <p:cBhvr>
                                        <p:cTn id="18" dur="1" fill="hold">
                                          <p:stCondLst>
                                            <p:cond delay="0"/>
                                          </p:stCondLst>
                                        </p:cTn>
                                        <p:tgtEl>
                                          <p:spTgt spid="1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 name="CustomShape 1"/>
          <p:cNvSpPr/>
          <p:nvPr/>
        </p:nvSpPr>
        <p:spPr>
          <a:xfrm>
            <a:off x="628560" y="365040"/>
            <a:ext cx="7885800" cy="13244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4400" b="0" strike="noStrike" spc="-1">
                <a:solidFill>
                  <a:srgbClr val="C00000"/>
                </a:solidFill>
                <a:latin typeface="Calibri"/>
                <a:ea typeface="Calibri"/>
              </a:rPr>
              <a:t>Stack Applications</a:t>
            </a:r>
            <a:endParaRPr lang="en-US" sz="4400" b="0" strike="noStrike" spc="-1">
              <a:latin typeface="Arial"/>
            </a:endParaRPr>
          </a:p>
        </p:txBody>
      </p:sp>
      <p:sp>
        <p:nvSpPr>
          <p:cNvPr id="172" name="CustomShape 2"/>
          <p:cNvSpPr/>
          <p:nvPr/>
        </p:nvSpPr>
        <p:spPr>
          <a:xfrm>
            <a:off x="628560" y="1825560"/>
            <a:ext cx="7885800" cy="43502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marL="171360" indent="-170280">
              <a:lnSpc>
                <a:spcPct val="90000"/>
              </a:lnSpc>
              <a:spcBef>
                <a:spcPts val="751"/>
              </a:spcBef>
              <a:buClr>
                <a:srgbClr val="000000"/>
              </a:buClr>
              <a:buFont typeface="Arial"/>
              <a:buChar char="•"/>
            </a:pPr>
            <a:r>
              <a:rPr lang="en-US" sz="2800" b="0" strike="noStrike" spc="-1">
                <a:solidFill>
                  <a:srgbClr val="000000"/>
                </a:solidFill>
                <a:latin typeface="Calibri"/>
                <a:ea typeface="Calibri"/>
              </a:rPr>
              <a:t>Expression evaluation</a:t>
            </a:r>
            <a:endParaRPr lang="en-US" sz="2800" b="0" strike="noStrike" spc="-1">
              <a:latin typeface="Arial"/>
            </a:endParaRPr>
          </a:p>
          <a:p>
            <a:pPr marL="514440" lvl="1" indent="-170280">
              <a:lnSpc>
                <a:spcPct val="90000"/>
              </a:lnSpc>
              <a:spcBef>
                <a:spcPts val="374"/>
              </a:spcBef>
              <a:buClr>
                <a:srgbClr val="000000"/>
              </a:buClr>
              <a:buFont typeface="Arial"/>
              <a:buChar char="•"/>
            </a:pPr>
            <a:r>
              <a:rPr lang="en-US" sz="2400" b="0" strike="noStrike" spc="-1">
                <a:solidFill>
                  <a:srgbClr val="000000"/>
                </a:solidFill>
                <a:latin typeface="Calibri"/>
                <a:ea typeface="Calibri"/>
              </a:rPr>
              <a:t>Prefix, infix and postfix expression evaluation</a:t>
            </a:r>
            <a:endParaRPr lang="en-US" sz="2400" b="0" strike="noStrike" spc="-1">
              <a:latin typeface="Arial"/>
            </a:endParaRPr>
          </a:p>
          <a:p>
            <a:pPr marL="171360" indent="-170280">
              <a:lnSpc>
                <a:spcPct val="90000"/>
              </a:lnSpc>
              <a:spcBef>
                <a:spcPts val="751"/>
              </a:spcBef>
              <a:buClr>
                <a:srgbClr val="000000"/>
              </a:buClr>
              <a:buFont typeface="Arial"/>
              <a:buChar char="•"/>
            </a:pPr>
            <a:r>
              <a:rPr lang="en-US" sz="2800" b="0" strike="noStrike" spc="-1">
                <a:solidFill>
                  <a:srgbClr val="000000"/>
                </a:solidFill>
                <a:latin typeface="Calibri"/>
                <a:ea typeface="Calibri"/>
              </a:rPr>
              <a:t>Backtracking</a:t>
            </a:r>
            <a:endParaRPr lang="en-US" sz="2800" b="0" strike="noStrike" spc="-1">
              <a:latin typeface="Arial"/>
            </a:endParaRPr>
          </a:p>
          <a:p>
            <a:pPr marL="514440" lvl="1" indent="-170280">
              <a:lnSpc>
                <a:spcPct val="90000"/>
              </a:lnSpc>
              <a:spcBef>
                <a:spcPts val="374"/>
              </a:spcBef>
              <a:buClr>
                <a:srgbClr val="000000"/>
              </a:buClr>
              <a:buFont typeface="Arial"/>
              <a:buChar char="•"/>
            </a:pPr>
            <a:r>
              <a:rPr lang="en-US" sz="2400" b="0" strike="noStrike" spc="-1">
                <a:solidFill>
                  <a:srgbClr val="000000"/>
                </a:solidFill>
                <a:latin typeface="Calibri"/>
                <a:ea typeface="Calibri"/>
              </a:rPr>
              <a:t>Game playing, finding paths, exhaustive searching</a:t>
            </a:r>
            <a:endParaRPr lang="en-US" sz="2400" b="0" strike="noStrike" spc="-1">
              <a:latin typeface="Arial"/>
            </a:endParaRPr>
          </a:p>
          <a:p>
            <a:pPr marL="171360" indent="-170280">
              <a:lnSpc>
                <a:spcPct val="90000"/>
              </a:lnSpc>
              <a:spcBef>
                <a:spcPts val="751"/>
              </a:spcBef>
              <a:buClr>
                <a:srgbClr val="000000"/>
              </a:buClr>
              <a:buFont typeface="Arial"/>
              <a:buChar char="•"/>
            </a:pPr>
            <a:r>
              <a:rPr lang="en-US" sz="2800" b="0" strike="noStrike" spc="-1">
                <a:solidFill>
                  <a:srgbClr val="000000"/>
                </a:solidFill>
                <a:latin typeface="Calibri"/>
                <a:ea typeface="Calibri"/>
              </a:rPr>
              <a:t>Memory Management</a:t>
            </a:r>
            <a:endParaRPr lang="en-US" sz="2800" b="0" strike="noStrike" spc="-1">
              <a:latin typeface="Arial"/>
            </a:endParaRPr>
          </a:p>
          <a:p>
            <a:pPr marL="514440" lvl="1" indent="-170280">
              <a:lnSpc>
                <a:spcPct val="90000"/>
              </a:lnSpc>
              <a:spcBef>
                <a:spcPts val="374"/>
              </a:spcBef>
              <a:buClr>
                <a:srgbClr val="000000"/>
              </a:buClr>
              <a:buFont typeface="Arial"/>
              <a:buChar char="•"/>
            </a:pPr>
            <a:r>
              <a:rPr lang="en-US" sz="2400" b="0" strike="noStrike" spc="-1">
                <a:solidFill>
                  <a:srgbClr val="000000"/>
                </a:solidFill>
                <a:latin typeface="Calibri"/>
                <a:ea typeface="Calibri"/>
              </a:rPr>
              <a:t>Any modern computer environment uses a stack as the primary memory management model for a running program</a:t>
            </a:r>
            <a:br/>
            <a:r>
              <a:rPr lang="en-US" sz="2400" b="0" strike="noStrike" spc="-1">
                <a:solidFill>
                  <a:srgbClr val="000000"/>
                </a:solidFill>
                <a:latin typeface="Calibri"/>
                <a:ea typeface="Calibri"/>
              </a:rPr>
              <a:t> </a:t>
            </a:r>
            <a:endParaRPr lang="en-US" sz="2400" b="0" strike="noStrike" spc="-1">
              <a:latin typeface="Arial"/>
            </a:endParaRPr>
          </a:p>
        </p:txBody>
      </p:sp>
      <p:sp>
        <p:nvSpPr>
          <p:cNvPr id="173" name="CustomShape 3"/>
          <p:cNvSpPr/>
          <p:nvPr/>
        </p:nvSpPr>
        <p:spPr>
          <a:xfrm>
            <a:off x="6458040" y="6356520"/>
            <a:ext cx="2056320" cy="363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r">
              <a:lnSpc>
                <a:spcPct val="100000"/>
              </a:lnSpc>
            </a:pPr>
            <a:fld id="{5AD3B4EE-CBBD-468B-8AC7-CAB1508585DA}" type="slidenum">
              <a:rPr lang="en-US" sz="900" b="0" strike="noStrike" spc="-1">
                <a:solidFill>
                  <a:srgbClr val="8B8B8B"/>
                </a:solidFill>
                <a:latin typeface="Calibri"/>
                <a:ea typeface="DejaVu Sans"/>
              </a:rPr>
              <a:t>7</a:t>
            </a:fld>
            <a:endParaRPr lang="en-US" sz="900" b="0" strike="noStrike" spc="-1">
              <a:latin typeface="Arial"/>
            </a:endParaRPr>
          </a:p>
        </p:txBody>
      </p:sp>
      <p:sp>
        <p:nvSpPr>
          <p:cNvPr id="174" name="CustomShape 4"/>
          <p:cNvSpPr/>
          <p:nvPr/>
        </p:nvSpPr>
        <p:spPr>
          <a:xfrm>
            <a:off x="3029040" y="6356520"/>
            <a:ext cx="3085200" cy="363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a:lnSpc>
                <a:spcPct val="100000"/>
              </a:lnSpc>
            </a:pPr>
            <a:r>
              <a:rPr lang="en-US" sz="900" b="0" strike="noStrike" spc="-1">
                <a:solidFill>
                  <a:srgbClr val="8B8B8B"/>
                </a:solidFill>
                <a:latin typeface="Calibri"/>
                <a:ea typeface="DejaVu Sans"/>
              </a:rPr>
              <a:t>Data Structures and Algorithms</a:t>
            </a:r>
            <a:endParaRPr lang="en-US" sz="9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 name="CustomShape 1"/>
          <p:cNvSpPr/>
          <p:nvPr/>
        </p:nvSpPr>
        <p:spPr>
          <a:xfrm>
            <a:off x="628560" y="365040"/>
            <a:ext cx="7885800" cy="13244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4400" b="0" strike="noStrike" spc="-1">
                <a:solidFill>
                  <a:srgbClr val="C00000"/>
                </a:solidFill>
                <a:latin typeface="Calibri"/>
                <a:ea typeface="Calibri"/>
              </a:rPr>
              <a:t>Expression Evaluation</a:t>
            </a:r>
            <a:endParaRPr lang="en-US" sz="4400" b="0" strike="noStrike" spc="-1">
              <a:latin typeface="Arial"/>
            </a:endParaRPr>
          </a:p>
        </p:txBody>
      </p:sp>
      <p:sp>
        <p:nvSpPr>
          <p:cNvPr id="176" name="CustomShape 2"/>
          <p:cNvSpPr/>
          <p:nvPr/>
        </p:nvSpPr>
        <p:spPr>
          <a:xfrm>
            <a:off x="628560" y="1523880"/>
            <a:ext cx="7885800" cy="43502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marL="171360" indent="-170280">
              <a:lnSpc>
                <a:spcPct val="90000"/>
              </a:lnSpc>
              <a:spcBef>
                <a:spcPts val="751"/>
              </a:spcBef>
              <a:buClr>
                <a:srgbClr val="000000"/>
              </a:buClr>
              <a:buFont typeface="Arial"/>
              <a:buChar char="•"/>
            </a:pPr>
            <a:r>
              <a:rPr lang="en-US" sz="2400" b="0" strike="noStrike" spc="-1">
                <a:solidFill>
                  <a:srgbClr val="000000"/>
                </a:solidFill>
                <a:latin typeface="Calibri"/>
                <a:ea typeface="Calibri"/>
              </a:rPr>
              <a:t>In postfix or reverse polish notation, every operator (运算符) follows all of its operands (操作数)</a:t>
            </a:r>
            <a:endParaRPr lang="en-US" sz="2400" b="0" strike="noStrike" spc="-1">
              <a:latin typeface="Arial"/>
            </a:endParaRPr>
          </a:p>
          <a:p>
            <a:pPr marL="514440" lvl="1" indent="-170280">
              <a:lnSpc>
                <a:spcPct val="90000"/>
              </a:lnSpc>
              <a:spcBef>
                <a:spcPts val="374"/>
              </a:spcBef>
              <a:buClr>
                <a:srgbClr val="000000"/>
              </a:buClr>
              <a:buFont typeface="Arial"/>
              <a:buChar char="•"/>
            </a:pPr>
            <a:r>
              <a:rPr lang="en-US" sz="2000" b="0" strike="noStrike" spc="-1">
                <a:solidFill>
                  <a:srgbClr val="000000"/>
                </a:solidFill>
                <a:latin typeface="Calibri"/>
                <a:ea typeface="Calibri"/>
              </a:rPr>
              <a:t>E.g., 2 10 + 9 6 - /</a:t>
            </a:r>
            <a:endParaRPr lang="en-US" sz="2000" b="0" strike="noStrike" spc="-1">
              <a:latin typeface="Arial"/>
            </a:endParaRPr>
          </a:p>
          <a:p>
            <a:pPr marL="171360" indent="-170280">
              <a:lnSpc>
                <a:spcPct val="90000"/>
              </a:lnSpc>
              <a:spcBef>
                <a:spcPts val="751"/>
              </a:spcBef>
              <a:buClr>
                <a:srgbClr val="000000"/>
              </a:buClr>
              <a:buFont typeface="Arial"/>
              <a:buChar char="•"/>
            </a:pPr>
            <a:r>
              <a:rPr lang="en-US" sz="2400" b="0" strike="noStrike" spc="-1">
                <a:solidFill>
                  <a:srgbClr val="000000"/>
                </a:solidFill>
                <a:latin typeface="Calibri"/>
                <a:ea typeface="Calibri"/>
              </a:rPr>
              <a:t>Algorithm for evaluation of postfix expression</a:t>
            </a:r>
            <a:endParaRPr lang="en-US" sz="2400" b="0" strike="noStrike" spc="-1">
              <a:latin typeface="Arial"/>
            </a:endParaRPr>
          </a:p>
          <a:p>
            <a:pPr marL="514440" lvl="1" indent="-170280">
              <a:lnSpc>
                <a:spcPct val="90000"/>
              </a:lnSpc>
              <a:spcBef>
                <a:spcPts val="374"/>
              </a:spcBef>
              <a:buClr>
                <a:srgbClr val="000000"/>
              </a:buClr>
              <a:buFont typeface="Arial"/>
              <a:buChar char="•"/>
            </a:pPr>
            <a:r>
              <a:rPr lang="en-US" sz="2000" b="0" strike="noStrike" spc="-1">
                <a:solidFill>
                  <a:srgbClr val="000000"/>
                </a:solidFill>
                <a:latin typeface="Calibri"/>
                <a:ea typeface="Calibri"/>
              </a:rPr>
              <a:t>If the element is an operand, push it to stack</a:t>
            </a:r>
            <a:endParaRPr lang="en-US" sz="2000" b="0" strike="noStrike" spc="-1">
              <a:latin typeface="Arial"/>
            </a:endParaRPr>
          </a:p>
          <a:p>
            <a:pPr marL="514440" lvl="1" indent="-170280">
              <a:lnSpc>
                <a:spcPct val="90000"/>
              </a:lnSpc>
              <a:spcBef>
                <a:spcPts val="374"/>
              </a:spcBef>
              <a:buClr>
                <a:srgbClr val="000000"/>
              </a:buClr>
              <a:buFont typeface="Arial"/>
              <a:buChar char="•"/>
            </a:pPr>
            <a:r>
              <a:rPr lang="en-US" sz="2000" b="0" strike="noStrike" spc="-1">
                <a:solidFill>
                  <a:srgbClr val="000000"/>
                </a:solidFill>
                <a:latin typeface="Calibri"/>
                <a:ea typeface="Calibri"/>
              </a:rPr>
              <a:t>If the element is an operator </a:t>
            </a:r>
            <a:r>
              <a:rPr lang="en-US" sz="2000" b="0" strike="noStrike" spc="-1">
                <a:solidFill>
                  <a:srgbClr val="0070C0"/>
                </a:solidFill>
                <a:latin typeface="Calibri"/>
                <a:ea typeface="Calibri"/>
              </a:rPr>
              <a:t>O</a:t>
            </a:r>
            <a:r>
              <a:rPr lang="en-US" sz="2000" b="0" strike="noStrike" spc="-1">
                <a:solidFill>
                  <a:srgbClr val="000000"/>
                </a:solidFill>
                <a:latin typeface="Calibri"/>
                <a:ea typeface="Calibri"/>
              </a:rPr>
              <a:t>, pop twice and get </a:t>
            </a:r>
            <a:r>
              <a:rPr lang="en-US" sz="2000" b="0" strike="noStrike" spc="-1">
                <a:solidFill>
                  <a:srgbClr val="C00000"/>
                </a:solidFill>
                <a:latin typeface="Calibri"/>
                <a:ea typeface="Calibri"/>
              </a:rPr>
              <a:t>A </a:t>
            </a:r>
            <a:r>
              <a:rPr lang="en-US" sz="2000" b="0" strike="noStrike" spc="-1">
                <a:solidFill>
                  <a:srgbClr val="000000"/>
                </a:solidFill>
                <a:latin typeface="Calibri"/>
                <a:ea typeface="Calibri"/>
              </a:rPr>
              <a:t>and </a:t>
            </a:r>
            <a:r>
              <a:rPr lang="en-US" sz="2000" b="0" strike="noStrike" spc="-1">
                <a:solidFill>
                  <a:srgbClr val="C00000"/>
                </a:solidFill>
                <a:latin typeface="Calibri"/>
                <a:ea typeface="Calibri"/>
              </a:rPr>
              <a:t>B </a:t>
            </a:r>
            <a:r>
              <a:rPr lang="en-US" sz="2000" b="0" strike="noStrike" spc="-1">
                <a:solidFill>
                  <a:srgbClr val="000000"/>
                </a:solidFill>
                <a:latin typeface="Calibri"/>
                <a:ea typeface="Calibri"/>
              </a:rPr>
              <a:t>respectively. Calculate </a:t>
            </a:r>
            <a:r>
              <a:rPr lang="en-US" sz="2000" b="0" strike="noStrike" spc="-1">
                <a:solidFill>
                  <a:srgbClr val="C00000"/>
                </a:solidFill>
                <a:latin typeface="Calibri"/>
                <a:ea typeface="Calibri"/>
              </a:rPr>
              <a:t>B</a:t>
            </a:r>
            <a:r>
              <a:rPr lang="en-US" sz="2000" b="0" strike="noStrike" spc="-1">
                <a:solidFill>
                  <a:srgbClr val="0070C0"/>
                </a:solidFill>
                <a:latin typeface="Calibri"/>
                <a:ea typeface="Calibri"/>
              </a:rPr>
              <a:t>O</a:t>
            </a:r>
            <a:r>
              <a:rPr lang="en-US" sz="2000" b="0" strike="noStrike" spc="-1">
                <a:solidFill>
                  <a:srgbClr val="C00000"/>
                </a:solidFill>
                <a:latin typeface="Calibri"/>
                <a:ea typeface="Calibri"/>
              </a:rPr>
              <a:t>A </a:t>
            </a:r>
            <a:r>
              <a:rPr lang="en-US" sz="2000" b="0" strike="noStrike" spc="-1">
                <a:solidFill>
                  <a:srgbClr val="000000"/>
                </a:solidFill>
                <a:latin typeface="Calibri"/>
                <a:ea typeface="Calibri"/>
              </a:rPr>
              <a:t>and push it back to stack</a:t>
            </a:r>
            <a:endParaRPr lang="en-US" sz="2000" b="0" strike="noStrike" spc="-1">
              <a:latin typeface="Arial"/>
            </a:endParaRPr>
          </a:p>
          <a:p>
            <a:pPr marL="514440" lvl="1" indent="-170280">
              <a:lnSpc>
                <a:spcPct val="90000"/>
              </a:lnSpc>
              <a:spcBef>
                <a:spcPts val="374"/>
              </a:spcBef>
              <a:buClr>
                <a:srgbClr val="000000"/>
              </a:buClr>
              <a:buFont typeface="Arial"/>
              <a:buChar char="•"/>
            </a:pPr>
            <a:r>
              <a:rPr lang="en-US" sz="2000" b="0" strike="noStrike" spc="-1">
                <a:solidFill>
                  <a:srgbClr val="000000"/>
                </a:solidFill>
                <a:latin typeface="Calibri"/>
                <a:ea typeface="Calibri"/>
              </a:rPr>
              <a:t>When the expression is ended, the value in the stack is the final answer.</a:t>
            </a:r>
            <a:br/>
            <a:r>
              <a:rPr lang="en-US" sz="2000" b="0" strike="noStrike" spc="-1">
                <a:solidFill>
                  <a:srgbClr val="000000"/>
                </a:solidFill>
                <a:latin typeface="Calibri"/>
                <a:ea typeface="Calibri"/>
              </a:rPr>
              <a:t> </a:t>
            </a:r>
            <a:endParaRPr lang="en-US" sz="2000" b="0" strike="noStrike" spc="-1">
              <a:latin typeface="Arial"/>
            </a:endParaRPr>
          </a:p>
        </p:txBody>
      </p:sp>
      <p:sp>
        <p:nvSpPr>
          <p:cNvPr id="177" name="CustomShape 3"/>
          <p:cNvSpPr/>
          <p:nvPr/>
        </p:nvSpPr>
        <p:spPr>
          <a:xfrm>
            <a:off x="5969880" y="6356520"/>
            <a:ext cx="2056320" cy="363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r">
              <a:lnSpc>
                <a:spcPct val="100000"/>
              </a:lnSpc>
            </a:pPr>
            <a:fld id="{63EDECB4-BA85-4E1A-900D-6DC4D6EC1088}" type="slidenum">
              <a:rPr lang="en-US" sz="900" b="0" strike="noStrike" spc="-1">
                <a:solidFill>
                  <a:srgbClr val="8B8B8B"/>
                </a:solidFill>
                <a:latin typeface="Calibri"/>
                <a:ea typeface="DejaVu Sans"/>
              </a:rPr>
              <a:t>8</a:t>
            </a:fld>
            <a:endParaRPr lang="en-US" sz="900" b="0" strike="noStrike" spc="-1">
              <a:latin typeface="Arial"/>
            </a:endParaRPr>
          </a:p>
        </p:txBody>
      </p:sp>
      <p:sp>
        <p:nvSpPr>
          <p:cNvPr id="178" name="CustomShape 4"/>
          <p:cNvSpPr/>
          <p:nvPr/>
        </p:nvSpPr>
        <p:spPr>
          <a:xfrm>
            <a:off x="2540880" y="6356520"/>
            <a:ext cx="3085200" cy="363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a:lnSpc>
                <a:spcPct val="100000"/>
              </a:lnSpc>
            </a:pPr>
            <a:r>
              <a:rPr lang="en-US" sz="900" b="0" strike="noStrike" spc="-1">
                <a:solidFill>
                  <a:srgbClr val="8B8B8B"/>
                </a:solidFill>
                <a:latin typeface="Calibri"/>
                <a:ea typeface="DejaVu Sans"/>
              </a:rPr>
              <a:t>Data Structures and Algorithms</a:t>
            </a:r>
            <a:endParaRPr lang="en-US" sz="900" b="0" strike="noStrike" spc="-1">
              <a:latin typeface="Arial"/>
            </a:endParaRPr>
          </a:p>
        </p:txBody>
      </p:sp>
      <p:sp>
        <p:nvSpPr>
          <p:cNvPr id="179" name="CustomShape 5"/>
          <p:cNvSpPr/>
          <p:nvPr/>
        </p:nvSpPr>
        <p:spPr>
          <a:xfrm>
            <a:off x="6122160" y="6508800"/>
            <a:ext cx="2056320" cy="363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r">
              <a:lnSpc>
                <a:spcPct val="100000"/>
              </a:lnSpc>
            </a:pPr>
            <a:fld id="{2B4FE13D-60BD-471C-B43D-4FE752BB188D}" type="slidenum">
              <a:rPr lang="en-US" sz="1400" b="0" strike="noStrike" spc="-1">
                <a:solidFill>
                  <a:srgbClr val="AFABAB"/>
                </a:solidFill>
                <a:latin typeface="Calibri"/>
                <a:ea typeface="宋体"/>
              </a:rPr>
              <a:t>8</a:t>
            </a:fld>
            <a:endParaRPr lang="en-US" sz="1400" b="0" strike="noStrike" spc="-1">
              <a:latin typeface="Arial"/>
            </a:endParaRPr>
          </a:p>
        </p:txBody>
      </p:sp>
      <p:grpSp>
        <p:nvGrpSpPr>
          <p:cNvPr id="180" name="Group 6"/>
          <p:cNvGrpSpPr/>
          <p:nvPr/>
        </p:nvGrpSpPr>
        <p:grpSpPr>
          <a:xfrm>
            <a:off x="1950120" y="4724280"/>
            <a:ext cx="1667160" cy="1981080"/>
            <a:chOff x="1950120" y="4724280"/>
            <a:chExt cx="1667160" cy="1981080"/>
          </a:xfrm>
        </p:grpSpPr>
        <p:sp>
          <p:nvSpPr>
            <p:cNvPr id="181" name="CustomShape 7"/>
            <p:cNvSpPr/>
            <p:nvPr/>
          </p:nvSpPr>
          <p:spPr>
            <a:xfrm>
              <a:off x="2327040" y="6367320"/>
              <a:ext cx="799200" cy="303840"/>
            </a:xfrm>
            <a:prstGeom prst="rect">
              <a:avLst/>
            </a:prstGeom>
            <a:solidFill>
              <a:schemeClr val="accent6">
                <a:lumMod val="20000"/>
                <a:lumOff val="80000"/>
              </a:schemeClr>
            </a:solidFill>
            <a:ln w="28440">
              <a:solidFill>
                <a:schemeClr val="tx1"/>
              </a:solidFill>
              <a:miter/>
            </a:ln>
          </p:spPr>
          <p:style>
            <a:lnRef idx="0">
              <a:scrgbClr r="0" g="0" b="0"/>
            </a:lnRef>
            <a:fillRef idx="0">
              <a:scrgbClr r="0" g="0" b="0"/>
            </a:fillRef>
            <a:effectRef idx="0">
              <a:scrgbClr r="0" g="0" b="0"/>
            </a:effectRef>
            <a:fontRef idx="minor"/>
          </p:style>
          <p:txBody>
            <a:bodyPr wrap="none" lIns="90000" tIns="45000" rIns="90000" bIns="45000" anchor="ctr"/>
            <a:lstStyle/>
            <a:p>
              <a:pPr algn="ctr">
                <a:lnSpc>
                  <a:spcPct val="100000"/>
                </a:lnSpc>
              </a:pPr>
              <a:r>
                <a:rPr lang="en-US" sz="1800" b="0" strike="noStrike" spc="-1">
                  <a:solidFill>
                    <a:srgbClr val="000000"/>
                  </a:solidFill>
                  <a:latin typeface="Calibri"/>
                  <a:ea typeface="DejaVu Sans"/>
                </a:rPr>
                <a:t>12</a:t>
              </a:r>
              <a:endParaRPr lang="en-US" sz="1800" b="0" strike="noStrike" spc="-1">
                <a:latin typeface="Arial"/>
              </a:endParaRPr>
            </a:p>
          </p:txBody>
        </p:sp>
        <p:grpSp>
          <p:nvGrpSpPr>
            <p:cNvPr id="182" name="Group 8"/>
            <p:cNvGrpSpPr/>
            <p:nvPr/>
          </p:nvGrpSpPr>
          <p:grpSpPr>
            <a:xfrm>
              <a:off x="1950120" y="5257440"/>
              <a:ext cx="1667160" cy="1447920"/>
              <a:chOff x="1950120" y="5257440"/>
              <a:chExt cx="1667160" cy="1447920"/>
            </a:xfrm>
          </p:grpSpPr>
          <p:sp>
            <p:nvSpPr>
              <p:cNvPr id="183" name="Line 9"/>
              <p:cNvSpPr/>
              <p:nvPr/>
            </p:nvSpPr>
            <p:spPr>
              <a:xfrm>
                <a:off x="1950120" y="5257800"/>
                <a:ext cx="266760" cy="360"/>
              </a:xfrm>
              <a:prstGeom prst="line">
                <a:avLst/>
              </a:prstGeom>
              <a:ln w="31680">
                <a:solidFill>
                  <a:schemeClr val="accent1"/>
                </a:solidFill>
                <a:round/>
              </a:ln>
            </p:spPr>
            <p:style>
              <a:lnRef idx="0">
                <a:scrgbClr r="0" g="0" b="0"/>
              </a:lnRef>
              <a:fillRef idx="0">
                <a:scrgbClr r="0" g="0" b="0"/>
              </a:fillRef>
              <a:effectRef idx="0">
                <a:scrgbClr r="0" g="0" b="0"/>
              </a:effectRef>
              <a:fontRef idx="minor"/>
            </p:style>
          </p:sp>
          <p:sp>
            <p:nvSpPr>
              <p:cNvPr id="184" name="Line 10"/>
              <p:cNvSpPr/>
              <p:nvPr/>
            </p:nvSpPr>
            <p:spPr>
              <a:xfrm>
                <a:off x="2216880" y="5257800"/>
                <a:ext cx="360" cy="1447560"/>
              </a:xfrm>
              <a:prstGeom prst="line">
                <a:avLst/>
              </a:prstGeom>
              <a:ln w="31680">
                <a:solidFill>
                  <a:schemeClr val="accent1"/>
                </a:solidFill>
                <a:round/>
              </a:ln>
            </p:spPr>
            <p:style>
              <a:lnRef idx="0">
                <a:scrgbClr r="0" g="0" b="0"/>
              </a:lnRef>
              <a:fillRef idx="0">
                <a:scrgbClr r="0" g="0" b="0"/>
              </a:fillRef>
              <a:effectRef idx="0">
                <a:scrgbClr r="0" g="0" b="0"/>
              </a:effectRef>
              <a:fontRef idx="minor"/>
            </p:style>
          </p:sp>
          <p:sp>
            <p:nvSpPr>
              <p:cNvPr id="185" name="Line 11"/>
              <p:cNvSpPr/>
              <p:nvPr/>
            </p:nvSpPr>
            <p:spPr>
              <a:xfrm>
                <a:off x="2216880" y="6705000"/>
                <a:ext cx="1133640" cy="360"/>
              </a:xfrm>
              <a:prstGeom prst="line">
                <a:avLst/>
              </a:prstGeom>
              <a:ln w="31680">
                <a:solidFill>
                  <a:schemeClr val="accent1"/>
                </a:solidFill>
                <a:round/>
              </a:ln>
            </p:spPr>
            <p:style>
              <a:lnRef idx="0">
                <a:scrgbClr r="0" g="0" b="0"/>
              </a:lnRef>
              <a:fillRef idx="0">
                <a:scrgbClr r="0" g="0" b="0"/>
              </a:fillRef>
              <a:effectRef idx="0">
                <a:scrgbClr r="0" g="0" b="0"/>
              </a:effectRef>
              <a:fontRef idx="minor"/>
            </p:style>
          </p:sp>
          <p:sp>
            <p:nvSpPr>
              <p:cNvPr id="186" name="Line 12"/>
              <p:cNvSpPr/>
              <p:nvPr/>
            </p:nvSpPr>
            <p:spPr>
              <a:xfrm flipV="1">
                <a:off x="3350520" y="5257440"/>
                <a:ext cx="360" cy="1447560"/>
              </a:xfrm>
              <a:prstGeom prst="line">
                <a:avLst/>
              </a:prstGeom>
              <a:ln w="31680">
                <a:solidFill>
                  <a:schemeClr val="accent1"/>
                </a:solidFill>
                <a:round/>
              </a:ln>
            </p:spPr>
            <p:style>
              <a:lnRef idx="0">
                <a:scrgbClr r="0" g="0" b="0"/>
              </a:lnRef>
              <a:fillRef idx="0">
                <a:scrgbClr r="0" g="0" b="0"/>
              </a:fillRef>
              <a:effectRef idx="0">
                <a:scrgbClr r="0" g="0" b="0"/>
              </a:effectRef>
              <a:fontRef idx="minor"/>
            </p:style>
          </p:sp>
          <p:sp>
            <p:nvSpPr>
              <p:cNvPr id="187" name="Line 13"/>
              <p:cNvSpPr/>
              <p:nvPr/>
            </p:nvSpPr>
            <p:spPr>
              <a:xfrm>
                <a:off x="3350520" y="5257800"/>
                <a:ext cx="266760" cy="360"/>
              </a:xfrm>
              <a:prstGeom prst="line">
                <a:avLst/>
              </a:prstGeom>
              <a:ln w="31680">
                <a:solidFill>
                  <a:schemeClr val="accent1"/>
                </a:solidFill>
                <a:round/>
              </a:ln>
            </p:spPr>
            <p:style>
              <a:lnRef idx="0">
                <a:scrgbClr r="0" g="0" b="0"/>
              </a:lnRef>
              <a:fillRef idx="0">
                <a:scrgbClr r="0" g="0" b="0"/>
              </a:fillRef>
              <a:effectRef idx="0">
                <a:scrgbClr r="0" g="0" b="0"/>
              </a:effectRef>
              <a:fontRef idx="minor"/>
            </p:style>
          </p:sp>
        </p:grpSp>
        <p:sp>
          <p:nvSpPr>
            <p:cNvPr id="188" name="CustomShape 14"/>
            <p:cNvSpPr/>
            <p:nvPr/>
          </p:nvSpPr>
          <p:spPr>
            <a:xfrm>
              <a:off x="2178720" y="4724280"/>
              <a:ext cx="1140480" cy="912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800" b="0" strike="noStrike" spc="-1">
                  <a:solidFill>
                    <a:srgbClr val="C00000"/>
                  </a:solidFill>
                  <a:latin typeface="Calibri"/>
                  <a:ea typeface="宋体"/>
                </a:rPr>
                <a:t>Pop 10</a:t>
              </a:r>
              <a:endParaRPr lang="en-US" sz="1800" b="0" strike="noStrike" spc="-1">
                <a:latin typeface="Arial"/>
              </a:endParaRPr>
            </a:p>
            <a:p>
              <a:pPr>
                <a:lnSpc>
                  <a:spcPct val="100000"/>
                </a:lnSpc>
              </a:pPr>
              <a:r>
                <a:rPr lang="en-US" sz="1800" b="0" strike="noStrike" spc="-1">
                  <a:solidFill>
                    <a:srgbClr val="C00000"/>
                  </a:solidFill>
                  <a:latin typeface="Calibri"/>
                  <a:ea typeface="宋体"/>
                </a:rPr>
                <a:t>Pop 2</a:t>
              </a:r>
              <a:endParaRPr lang="en-US" sz="1800" b="0" strike="noStrike" spc="-1">
                <a:latin typeface="Arial"/>
              </a:endParaRPr>
            </a:p>
            <a:p>
              <a:pPr>
                <a:lnSpc>
                  <a:spcPct val="100000"/>
                </a:lnSpc>
              </a:pPr>
              <a:r>
                <a:rPr lang="en-US" sz="1800" b="0" strike="noStrike" spc="-1">
                  <a:solidFill>
                    <a:srgbClr val="C00000"/>
                  </a:solidFill>
                  <a:latin typeface="Calibri"/>
                  <a:ea typeface="宋体"/>
                </a:rPr>
                <a:t>Push 10+2</a:t>
              </a:r>
              <a:endParaRPr lang="en-US" sz="1800" b="0" strike="noStrike" spc="-1">
                <a:latin typeface="Arial"/>
              </a:endParaRPr>
            </a:p>
          </p:txBody>
        </p:sp>
      </p:grpSp>
      <p:sp>
        <p:nvSpPr>
          <p:cNvPr id="189" name="CustomShape 15"/>
          <p:cNvSpPr/>
          <p:nvPr/>
        </p:nvSpPr>
        <p:spPr>
          <a:xfrm>
            <a:off x="2693160" y="6508800"/>
            <a:ext cx="3085200" cy="363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a:lnSpc>
                <a:spcPct val="100000"/>
              </a:lnSpc>
            </a:pPr>
            <a:r>
              <a:rPr lang="en-US" sz="900" b="0" strike="noStrike" spc="-1">
                <a:solidFill>
                  <a:srgbClr val="8B8B8B"/>
                </a:solidFill>
                <a:latin typeface="Calibri"/>
                <a:ea typeface="DejaVu Sans"/>
              </a:rPr>
              <a:t>Data Structures and Algorithms</a:t>
            </a:r>
            <a:endParaRPr lang="en-US" sz="900" b="0" strike="noStrike" spc="-1">
              <a:latin typeface="Arial"/>
            </a:endParaRPr>
          </a:p>
        </p:txBody>
      </p:sp>
      <p:grpSp>
        <p:nvGrpSpPr>
          <p:cNvPr id="190" name="Group 16"/>
          <p:cNvGrpSpPr/>
          <p:nvPr/>
        </p:nvGrpSpPr>
        <p:grpSpPr>
          <a:xfrm>
            <a:off x="273600" y="4724280"/>
            <a:ext cx="1656720" cy="1981080"/>
            <a:chOff x="273600" y="4724280"/>
            <a:chExt cx="1656720" cy="1981080"/>
          </a:xfrm>
        </p:grpSpPr>
        <p:grpSp>
          <p:nvGrpSpPr>
            <p:cNvPr id="191" name="Group 17"/>
            <p:cNvGrpSpPr/>
            <p:nvPr/>
          </p:nvGrpSpPr>
          <p:grpSpPr>
            <a:xfrm>
              <a:off x="273600" y="4724280"/>
              <a:ext cx="1656720" cy="1981080"/>
              <a:chOff x="273600" y="4724280"/>
              <a:chExt cx="1656720" cy="1981080"/>
            </a:xfrm>
          </p:grpSpPr>
          <p:sp>
            <p:nvSpPr>
              <p:cNvPr id="192" name="CustomShape 18"/>
              <p:cNvSpPr/>
              <p:nvPr/>
            </p:nvSpPr>
            <p:spPr>
              <a:xfrm>
                <a:off x="676800" y="4724280"/>
                <a:ext cx="910440" cy="6382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800" b="0" strike="noStrike" spc="-1">
                    <a:solidFill>
                      <a:srgbClr val="C00000"/>
                    </a:solidFill>
                    <a:latin typeface="Calibri"/>
                    <a:ea typeface="宋体"/>
                  </a:rPr>
                  <a:t>Push 2</a:t>
                </a:r>
                <a:endParaRPr lang="en-US" sz="1800" b="0" strike="noStrike" spc="-1">
                  <a:latin typeface="Arial"/>
                </a:endParaRPr>
              </a:p>
              <a:p>
                <a:pPr>
                  <a:lnSpc>
                    <a:spcPct val="100000"/>
                  </a:lnSpc>
                </a:pPr>
                <a:r>
                  <a:rPr lang="en-US" sz="1800" b="0" strike="noStrike" spc="-1">
                    <a:solidFill>
                      <a:srgbClr val="C00000"/>
                    </a:solidFill>
                    <a:latin typeface="Calibri"/>
                    <a:ea typeface="宋体"/>
                  </a:rPr>
                  <a:t>Push 10</a:t>
                </a:r>
                <a:endParaRPr lang="en-US" sz="1800" b="0" strike="noStrike" spc="-1">
                  <a:latin typeface="Arial"/>
                </a:endParaRPr>
              </a:p>
            </p:txBody>
          </p:sp>
          <p:grpSp>
            <p:nvGrpSpPr>
              <p:cNvPr id="193" name="Group 19"/>
              <p:cNvGrpSpPr/>
              <p:nvPr/>
            </p:nvGrpSpPr>
            <p:grpSpPr>
              <a:xfrm>
                <a:off x="273600" y="5257080"/>
                <a:ext cx="1656720" cy="1448280"/>
                <a:chOff x="273600" y="5257080"/>
                <a:chExt cx="1656720" cy="1448280"/>
              </a:xfrm>
            </p:grpSpPr>
            <p:sp>
              <p:nvSpPr>
                <p:cNvPr id="194" name="Line 20"/>
                <p:cNvSpPr/>
                <p:nvPr/>
              </p:nvSpPr>
              <p:spPr>
                <a:xfrm>
                  <a:off x="273600" y="5257440"/>
                  <a:ext cx="265320" cy="360"/>
                </a:xfrm>
                <a:prstGeom prst="line">
                  <a:avLst/>
                </a:prstGeom>
                <a:ln w="31680">
                  <a:solidFill>
                    <a:schemeClr val="accent1"/>
                  </a:solidFill>
                  <a:round/>
                </a:ln>
              </p:spPr>
              <p:style>
                <a:lnRef idx="0">
                  <a:scrgbClr r="0" g="0" b="0"/>
                </a:lnRef>
                <a:fillRef idx="0">
                  <a:scrgbClr r="0" g="0" b="0"/>
                </a:fillRef>
                <a:effectRef idx="0">
                  <a:scrgbClr r="0" g="0" b="0"/>
                </a:effectRef>
                <a:fontRef idx="minor"/>
              </p:style>
            </p:sp>
            <p:sp>
              <p:nvSpPr>
                <p:cNvPr id="195" name="Line 21"/>
                <p:cNvSpPr/>
                <p:nvPr/>
              </p:nvSpPr>
              <p:spPr>
                <a:xfrm>
                  <a:off x="538920" y="5257440"/>
                  <a:ext cx="360" cy="1447920"/>
                </a:xfrm>
                <a:prstGeom prst="line">
                  <a:avLst/>
                </a:prstGeom>
                <a:ln w="31680">
                  <a:solidFill>
                    <a:schemeClr val="accent1"/>
                  </a:solidFill>
                  <a:round/>
                </a:ln>
              </p:spPr>
              <p:style>
                <a:lnRef idx="0">
                  <a:scrgbClr r="0" g="0" b="0"/>
                </a:lnRef>
                <a:fillRef idx="0">
                  <a:scrgbClr r="0" g="0" b="0"/>
                </a:fillRef>
                <a:effectRef idx="0">
                  <a:scrgbClr r="0" g="0" b="0"/>
                </a:effectRef>
                <a:fontRef idx="minor"/>
              </p:style>
            </p:sp>
            <p:sp>
              <p:nvSpPr>
                <p:cNvPr id="196" name="Line 22"/>
                <p:cNvSpPr/>
                <p:nvPr/>
              </p:nvSpPr>
              <p:spPr>
                <a:xfrm>
                  <a:off x="538920" y="6705000"/>
                  <a:ext cx="1126440" cy="360"/>
                </a:xfrm>
                <a:prstGeom prst="line">
                  <a:avLst/>
                </a:prstGeom>
                <a:ln w="31680">
                  <a:solidFill>
                    <a:schemeClr val="accent1"/>
                  </a:solidFill>
                  <a:round/>
                </a:ln>
              </p:spPr>
              <p:style>
                <a:lnRef idx="0">
                  <a:scrgbClr r="0" g="0" b="0"/>
                </a:lnRef>
                <a:fillRef idx="0">
                  <a:scrgbClr r="0" g="0" b="0"/>
                </a:fillRef>
                <a:effectRef idx="0">
                  <a:scrgbClr r="0" g="0" b="0"/>
                </a:effectRef>
                <a:fontRef idx="minor"/>
              </p:style>
            </p:sp>
            <p:sp>
              <p:nvSpPr>
                <p:cNvPr id="197" name="Line 23"/>
                <p:cNvSpPr/>
                <p:nvPr/>
              </p:nvSpPr>
              <p:spPr>
                <a:xfrm flipV="1">
                  <a:off x="1665360" y="5257080"/>
                  <a:ext cx="360" cy="1447920"/>
                </a:xfrm>
                <a:prstGeom prst="line">
                  <a:avLst/>
                </a:prstGeom>
                <a:ln w="31680">
                  <a:solidFill>
                    <a:schemeClr val="accent1"/>
                  </a:solidFill>
                  <a:round/>
                </a:ln>
              </p:spPr>
              <p:style>
                <a:lnRef idx="0">
                  <a:scrgbClr r="0" g="0" b="0"/>
                </a:lnRef>
                <a:fillRef idx="0">
                  <a:scrgbClr r="0" g="0" b="0"/>
                </a:fillRef>
                <a:effectRef idx="0">
                  <a:scrgbClr r="0" g="0" b="0"/>
                </a:effectRef>
                <a:fontRef idx="minor"/>
              </p:style>
            </p:sp>
            <p:sp>
              <p:nvSpPr>
                <p:cNvPr id="198" name="Line 24"/>
                <p:cNvSpPr/>
                <p:nvPr/>
              </p:nvSpPr>
              <p:spPr>
                <a:xfrm>
                  <a:off x="1665360" y="5257440"/>
                  <a:ext cx="264960" cy="360"/>
                </a:xfrm>
                <a:prstGeom prst="line">
                  <a:avLst/>
                </a:prstGeom>
                <a:ln w="31680">
                  <a:solidFill>
                    <a:schemeClr val="accent1"/>
                  </a:solidFill>
                  <a:round/>
                </a:ln>
              </p:spPr>
              <p:style>
                <a:lnRef idx="0">
                  <a:scrgbClr r="0" g="0" b="0"/>
                </a:lnRef>
                <a:fillRef idx="0">
                  <a:scrgbClr r="0" g="0" b="0"/>
                </a:fillRef>
                <a:effectRef idx="0">
                  <a:scrgbClr r="0" g="0" b="0"/>
                </a:effectRef>
                <a:fontRef idx="minor"/>
              </p:style>
            </p:sp>
          </p:grpSp>
        </p:grpSp>
        <p:sp>
          <p:nvSpPr>
            <p:cNvPr id="199" name="CustomShape 25"/>
            <p:cNvSpPr/>
            <p:nvPr/>
          </p:nvSpPr>
          <p:spPr>
            <a:xfrm>
              <a:off x="654840" y="6400800"/>
              <a:ext cx="913320" cy="303840"/>
            </a:xfrm>
            <a:prstGeom prst="rect">
              <a:avLst/>
            </a:prstGeom>
            <a:solidFill>
              <a:schemeClr val="accent6">
                <a:lumMod val="20000"/>
                <a:lumOff val="80000"/>
              </a:schemeClr>
            </a:solidFill>
            <a:ln w="28440">
              <a:solidFill>
                <a:schemeClr val="tx1"/>
              </a:solidFill>
              <a:miter/>
            </a:ln>
          </p:spPr>
          <p:style>
            <a:lnRef idx="0">
              <a:scrgbClr r="0" g="0" b="0"/>
            </a:lnRef>
            <a:fillRef idx="0">
              <a:scrgbClr r="0" g="0" b="0"/>
            </a:fillRef>
            <a:effectRef idx="0">
              <a:scrgbClr r="0" g="0" b="0"/>
            </a:effectRef>
            <a:fontRef idx="minor"/>
          </p:style>
          <p:txBody>
            <a:bodyPr wrap="none" lIns="90000" tIns="45000" rIns="90000" bIns="45000" anchor="ctr"/>
            <a:lstStyle/>
            <a:p>
              <a:pPr algn="ctr">
                <a:lnSpc>
                  <a:spcPct val="100000"/>
                </a:lnSpc>
              </a:pPr>
              <a:r>
                <a:rPr lang="en-US" sz="1800" b="0" strike="noStrike" spc="-1">
                  <a:solidFill>
                    <a:srgbClr val="000000"/>
                  </a:solidFill>
                  <a:latin typeface="Calibri"/>
                  <a:ea typeface="DejaVu Sans"/>
                </a:rPr>
                <a:t>2</a:t>
              </a:r>
              <a:endParaRPr lang="en-US" sz="1800" b="0" strike="noStrike" spc="-1">
                <a:latin typeface="Arial"/>
              </a:endParaRPr>
            </a:p>
          </p:txBody>
        </p:sp>
        <p:sp>
          <p:nvSpPr>
            <p:cNvPr id="200" name="CustomShape 26"/>
            <p:cNvSpPr/>
            <p:nvPr/>
          </p:nvSpPr>
          <p:spPr>
            <a:xfrm>
              <a:off x="654840" y="6091200"/>
              <a:ext cx="913320" cy="303840"/>
            </a:xfrm>
            <a:prstGeom prst="rect">
              <a:avLst/>
            </a:prstGeom>
            <a:solidFill>
              <a:schemeClr val="accent6">
                <a:lumMod val="20000"/>
                <a:lumOff val="80000"/>
              </a:schemeClr>
            </a:solidFill>
            <a:ln w="28440">
              <a:solidFill>
                <a:schemeClr val="tx1"/>
              </a:solidFill>
              <a:miter/>
            </a:ln>
          </p:spPr>
          <p:style>
            <a:lnRef idx="0">
              <a:scrgbClr r="0" g="0" b="0"/>
            </a:lnRef>
            <a:fillRef idx="0">
              <a:scrgbClr r="0" g="0" b="0"/>
            </a:fillRef>
            <a:effectRef idx="0">
              <a:scrgbClr r="0" g="0" b="0"/>
            </a:effectRef>
            <a:fontRef idx="minor"/>
          </p:style>
          <p:txBody>
            <a:bodyPr wrap="none" lIns="90000" tIns="45000" rIns="90000" bIns="45000" anchor="ctr"/>
            <a:lstStyle/>
            <a:p>
              <a:pPr algn="ctr">
                <a:lnSpc>
                  <a:spcPct val="100000"/>
                </a:lnSpc>
              </a:pPr>
              <a:r>
                <a:rPr lang="en-US" sz="1800" b="0" strike="noStrike" spc="-1">
                  <a:solidFill>
                    <a:srgbClr val="000000"/>
                  </a:solidFill>
                  <a:latin typeface="Calibri"/>
                  <a:ea typeface="DejaVu Sans"/>
                </a:rPr>
                <a:t>10</a:t>
              </a:r>
              <a:endParaRPr lang="en-US" sz="1800" b="0" strike="noStrike" spc="-1">
                <a:latin typeface="Arial"/>
              </a:endParaRPr>
            </a:p>
          </p:txBody>
        </p:sp>
      </p:grpSp>
      <p:grpSp>
        <p:nvGrpSpPr>
          <p:cNvPr id="201" name="Group 27"/>
          <p:cNvGrpSpPr/>
          <p:nvPr/>
        </p:nvGrpSpPr>
        <p:grpSpPr>
          <a:xfrm>
            <a:off x="3702240" y="4724280"/>
            <a:ext cx="1702440" cy="1981080"/>
            <a:chOff x="3702240" y="4724280"/>
            <a:chExt cx="1702440" cy="1981080"/>
          </a:xfrm>
        </p:grpSpPr>
        <p:grpSp>
          <p:nvGrpSpPr>
            <p:cNvPr id="202" name="Group 28"/>
            <p:cNvGrpSpPr/>
            <p:nvPr/>
          </p:nvGrpSpPr>
          <p:grpSpPr>
            <a:xfrm>
              <a:off x="3702240" y="4724280"/>
              <a:ext cx="1702440" cy="1981080"/>
              <a:chOff x="3702240" y="4724280"/>
              <a:chExt cx="1702440" cy="1981080"/>
            </a:xfrm>
          </p:grpSpPr>
          <p:grpSp>
            <p:nvGrpSpPr>
              <p:cNvPr id="203" name="Group 29"/>
              <p:cNvGrpSpPr/>
              <p:nvPr/>
            </p:nvGrpSpPr>
            <p:grpSpPr>
              <a:xfrm>
                <a:off x="3702240" y="5257080"/>
                <a:ext cx="1702440" cy="1448280"/>
                <a:chOff x="3702240" y="5257080"/>
                <a:chExt cx="1702440" cy="1448280"/>
              </a:xfrm>
            </p:grpSpPr>
            <p:sp>
              <p:nvSpPr>
                <p:cNvPr id="204" name="Line 30"/>
                <p:cNvSpPr/>
                <p:nvPr/>
              </p:nvSpPr>
              <p:spPr>
                <a:xfrm>
                  <a:off x="3702240" y="5257440"/>
                  <a:ext cx="272520" cy="360"/>
                </a:xfrm>
                <a:prstGeom prst="line">
                  <a:avLst/>
                </a:prstGeom>
                <a:ln w="31680">
                  <a:solidFill>
                    <a:schemeClr val="accent1"/>
                  </a:solidFill>
                  <a:round/>
                </a:ln>
              </p:spPr>
              <p:style>
                <a:lnRef idx="0">
                  <a:scrgbClr r="0" g="0" b="0"/>
                </a:lnRef>
                <a:fillRef idx="0">
                  <a:scrgbClr r="0" g="0" b="0"/>
                </a:fillRef>
                <a:effectRef idx="0">
                  <a:scrgbClr r="0" g="0" b="0"/>
                </a:effectRef>
                <a:fontRef idx="minor"/>
              </p:style>
            </p:sp>
            <p:sp>
              <p:nvSpPr>
                <p:cNvPr id="205" name="Line 31"/>
                <p:cNvSpPr/>
                <p:nvPr/>
              </p:nvSpPr>
              <p:spPr>
                <a:xfrm>
                  <a:off x="3974760" y="5257440"/>
                  <a:ext cx="360" cy="1447920"/>
                </a:xfrm>
                <a:prstGeom prst="line">
                  <a:avLst/>
                </a:prstGeom>
                <a:ln w="31680">
                  <a:solidFill>
                    <a:schemeClr val="accent1"/>
                  </a:solidFill>
                  <a:round/>
                </a:ln>
              </p:spPr>
              <p:style>
                <a:lnRef idx="0">
                  <a:scrgbClr r="0" g="0" b="0"/>
                </a:lnRef>
                <a:fillRef idx="0">
                  <a:scrgbClr r="0" g="0" b="0"/>
                </a:fillRef>
                <a:effectRef idx="0">
                  <a:scrgbClr r="0" g="0" b="0"/>
                </a:effectRef>
                <a:fontRef idx="minor"/>
              </p:style>
            </p:sp>
            <p:sp>
              <p:nvSpPr>
                <p:cNvPr id="206" name="Line 32"/>
                <p:cNvSpPr/>
                <p:nvPr/>
              </p:nvSpPr>
              <p:spPr>
                <a:xfrm>
                  <a:off x="3974760" y="6705000"/>
                  <a:ext cx="1157400" cy="360"/>
                </a:xfrm>
                <a:prstGeom prst="line">
                  <a:avLst/>
                </a:prstGeom>
                <a:ln w="31680">
                  <a:solidFill>
                    <a:schemeClr val="accent1"/>
                  </a:solidFill>
                  <a:round/>
                </a:ln>
              </p:spPr>
              <p:style>
                <a:lnRef idx="0">
                  <a:scrgbClr r="0" g="0" b="0"/>
                </a:lnRef>
                <a:fillRef idx="0">
                  <a:scrgbClr r="0" g="0" b="0"/>
                </a:fillRef>
                <a:effectRef idx="0">
                  <a:scrgbClr r="0" g="0" b="0"/>
                </a:effectRef>
                <a:fontRef idx="minor"/>
              </p:style>
            </p:sp>
            <p:sp>
              <p:nvSpPr>
                <p:cNvPr id="207" name="Line 33"/>
                <p:cNvSpPr/>
                <p:nvPr/>
              </p:nvSpPr>
              <p:spPr>
                <a:xfrm flipV="1">
                  <a:off x="5132160" y="5257080"/>
                  <a:ext cx="360" cy="1447920"/>
                </a:xfrm>
                <a:prstGeom prst="line">
                  <a:avLst/>
                </a:prstGeom>
                <a:ln w="31680">
                  <a:solidFill>
                    <a:schemeClr val="accent1"/>
                  </a:solidFill>
                  <a:round/>
                </a:ln>
              </p:spPr>
              <p:style>
                <a:lnRef idx="0">
                  <a:scrgbClr r="0" g="0" b="0"/>
                </a:lnRef>
                <a:fillRef idx="0">
                  <a:scrgbClr r="0" g="0" b="0"/>
                </a:fillRef>
                <a:effectRef idx="0">
                  <a:scrgbClr r="0" g="0" b="0"/>
                </a:effectRef>
                <a:fontRef idx="minor"/>
              </p:style>
            </p:sp>
            <p:sp>
              <p:nvSpPr>
                <p:cNvPr id="208" name="Line 34"/>
                <p:cNvSpPr/>
                <p:nvPr/>
              </p:nvSpPr>
              <p:spPr>
                <a:xfrm>
                  <a:off x="5132160" y="5257440"/>
                  <a:ext cx="272520" cy="360"/>
                </a:xfrm>
                <a:prstGeom prst="line">
                  <a:avLst/>
                </a:prstGeom>
                <a:ln w="31680">
                  <a:solidFill>
                    <a:schemeClr val="accent1"/>
                  </a:solidFill>
                  <a:round/>
                </a:ln>
              </p:spPr>
              <p:style>
                <a:lnRef idx="0">
                  <a:scrgbClr r="0" g="0" b="0"/>
                </a:lnRef>
                <a:fillRef idx="0">
                  <a:scrgbClr r="0" g="0" b="0"/>
                </a:fillRef>
                <a:effectRef idx="0">
                  <a:scrgbClr r="0" g="0" b="0"/>
                </a:effectRef>
                <a:fontRef idx="minor"/>
              </p:style>
            </p:sp>
          </p:grpSp>
          <p:sp>
            <p:nvSpPr>
              <p:cNvPr id="209" name="CustomShape 35"/>
              <p:cNvSpPr/>
              <p:nvPr/>
            </p:nvSpPr>
            <p:spPr>
              <a:xfrm>
                <a:off x="4191840" y="4724280"/>
                <a:ext cx="794520" cy="6382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800" b="0" strike="noStrike" spc="-1">
                    <a:solidFill>
                      <a:srgbClr val="C00000"/>
                    </a:solidFill>
                    <a:latin typeface="Calibri"/>
                    <a:ea typeface="宋体"/>
                  </a:rPr>
                  <a:t>Push 9</a:t>
                </a:r>
                <a:endParaRPr lang="en-US" sz="1800" b="0" strike="noStrike" spc="-1">
                  <a:latin typeface="Arial"/>
                </a:endParaRPr>
              </a:p>
              <a:p>
                <a:pPr>
                  <a:lnSpc>
                    <a:spcPct val="100000"/>
                  </a:lnSpc>
                </a:pPr>
                <a:r>
                  <a:rPr lang="en-US" sz="1800" b="0" strike="noStrike" spc="-1">
                    <a:solidFill>
                      <a:srgbClr val="C00000"/>
                    </a:solidFill>
                    <a:latin typeface="Calibri"/>
                    <a:ea typeface="宋体"/>
                  </a:rPr>
                  <a:t>Push 6</a:t>
                </a:r>
                <a:endParaRPr lang="en-US" sz="1800" b="0" strike="noStrike" spc="-1">
                  <a:latin typeface="Arial"/>
                </a:endParaRPr>
              </a:p>
            </p:txBody>
          </p:sp>
          <p:sp>
            <p:nvSpPr>
              <p:cNvPr id="210" name="CustomShape 36"/>
              <p:cNvSpPr/>
              <p:nvPr/>
            </p:nvSpPr>
            <p:spPr>
              <a:xfrm>
                <a:off x="4158360" y="6375240"/>
                <a:ext cx="816120" cy="303840"/>
              </a:xfrm>
              <a:prstGeom prst="rect">
                <a:avLst/>
              </a:prstGeom>
              <a:solidFill>
                <a:schemeClr val="accent6">
                  <a:lumMod val="20000"/>
                  <a:lumOff val="80000"/>
                </a:schemeClr>
              </a:solidFill>
              <a:ln w="28440">
                <a:solidFill>
                  <a:schemeClr val="tx1"/>
                </a:solidFill>
                <a:miter/>
              </a:ln>
            </p:spPr>
            <p:style>
              <a:lnRef idx="0">
                <a:scrgbClr r="0" g="0" b="0"/>
              </a:lnRef>
              <a:fillRef idx="0">
                <a:scrgbClr r="0" g="0" b="0"/>
              </a:fillRef>
              <a:effectRef idx="0">
                <a:scrgbClr r="0" g="0" b="0"/>
              </a:effectRef>
              <a:fontRef idx="minor"/>
            </p:style>
            <p:txBody>
              <a:bodyPr wrap="none" lIns="90000" tIns="45000" rIns="90000" bIns="45000" anchor="ctr"/>
              <a:lstStyle/>
              <a:p>
                <a:pPr algn="ctr">
                  <a:lnSpc>
                    <a:spcPct val="100000"/>
                  </a:lnSpc>
                </a:pPr>
                <a:r>
                  <a:rPr lang="en-US" sz="1800" b="0" strike="noStrike" spc="-1">
                    <a:solidFill>
                      <a:srgbClr val="000000"/>
                    </a:solidFill>
                    <a:latin typeface="Calibri"/>
                    <a:ea typeface="DejaVu Sans"/>
                  </a:rPr>
                  <a:t>12</a:t>
                </a:r>
                <a:endParaRPr lang="en-US" sz="1800" b="0" strike="noStrike" spc="-1">
                  <a:latin typeface="Arial"/>
                </a:endParaRPr>
              </a:p>
            </p:txBody>
          </p:sp>
          <p:sp>
            <p:nvSpPr>
              <p:cNvPr id="211" name="CustomShape 37"/>
              <p:cNvSpPr/>
              <p:nvPr/>
            </p:nvSpPr>
            <p:spPr>
              <a:xfrm>
                <a:off x="4156920" y="6067440"/>
                <a:ext cx="817560" cy="303840"/>
              </a:xfrm>
              <a:prstGeom prst="rect">
                <a:avLst/>
              </a:prstGeom>
              <a:solidFill>
                <a:schemeClr val="accent6">
                  <a:lumMod val="20000"/>
                  <a:lumOff val="80000"/>
                </a:schemeClr>
              </a:solidFill>
              <a:ln w="28440">
                <a:solidFill>
                  <a:schemeClr val="tx1"/>
                </a:solidFill>
                <a:miter/>
              </a:ln>
            </p:spPr>
            <p:style>
              <a:lnRef idx="0">
                <a:scrgbClr r="0" g="0" b="0"/>
              </a:lnRef>
              <a:fillRef idx="0">
                <a:scrgbClr r="0" g="0" b="0"/>
              </a:fillRef>
              <a:effectRef idx="0">
                <a:scrgbClr r="0" g="0" b="0"/>
              </a:effectRef>
              <a:fontRef idx="minor"/>
            </p:style>
            <p:txBody>
              <a:bodyPr wrap="none" lIns="90000" tIns="45000" rIns="90000" bIns="45000" anchor="ctr"/>
              <a:lstStyle/>
              <a:p>
                <a:pPr algn="ctr">
                  <a:lnSpc>
                    <a:spcPct val="100000"/>
                  </a:lnSpc>
                </a:pPr>
                <a:r>
                  <a:rPr lang="en-US" sz="1800" b="0" strike="noStrike" spc="-1">
                    <a:solidFill>
                      <a:srgbClr val="000000"/>
                    </a:solidFill>
                    <a:latin typeface="Calibri"/>
                    <a:ea typeface="DejaVu Sans"/>
                  </a:rPr>
                  <a:t>9</a:t>
                </a:r>
                <a:endParaRPr lang="en-US" sz="1800" b="0" strike="noStrike" spc="-1">
                  <a:latin typeface="Arial"/>
                </a:endParaRPr>
              </a:p>
            </p:txBody>
          </p:sp>
        </p:grpSp>
        <p:sp>
          <p:nvSpPr>
            <p:cNvPr id="212" name="CustomShape 38"/>
            <p:cNvSpPr/>
            <p:nvPr/>
          </p:nvSpPr>
          <p:spPr>
            <a:xfrm>
              <a:off x="4156920" y="5754600"/>
              <a:ext cx="821520" cy="303840"/>
            </a:xfrm>
            <a:prstGeom prst="rect">
              <a:avLst/>
            </a:prstGeom>
            <a:solidFill>
              <a:schemeClr val="accent6">
                <a:lumMod val="20000"/>
                <a:lumOff val="80000"/>
              </a:schemeClr>
            </a:solidFill>
            <a:ln w="28440">
              <a:solidFill>
                <a:schemeClr val="tx1"/>
              </a:solidFill>
              <a:miter/>
            </a:ln>
          </p:spPr>
          <p:style>
            <a:lnRef idx="0">
              <a:scrgbClr r="0" g="0" b="0"/>
            </a:lnRef>
            <a:fillRef idx="0">
              <a:scrgbClr r="0" g="0" b="0"/>
            </a:fillRef>
            <a:effectRef idx="0">
              <a:scrgbClr r="0" g="0" b="0"/>
            </a:effectRef>
            <a:fontRef idx="minor"/>
          </p:style>
          <p:txBody>
            <a:bodyPr wrap="none" lIns="90000" tIns="45000" rIns="90000" bIns="45000" anchor="ctr"/>
            <a:lstStyle/>
            <a:p>
              <a:pPr algn="ctr">
                <a:lnSpc>
                  <a:spcPct val="100000"/>
                </a:lnSpc>
              </a:pPr>
              <a:r>
                <a:rPr lang="en-US" sz="1800" b="0" strike="noStrike" spc="-1">
                  <a:solidFill>
                    <a:srgbClr val="000000"/>
                  </a:solidFill>
                  <a:latin typeface="Calibri"/>
                  <a:ea typeface="DejaVu Sans"/>
                </a:rPr>
                <a:t>6</a:t>
              </a:r>
              <a:endParaRPr lang="en-US" sz="1800" b="0" strike="noStrike" spc="-1">
                <a:latin typeface="Arial"/>
              </a:endParaRPr>
            </a:p>
          </p:txBody>
        </p:sp>
      </p:grpSp>
      <p:grpSp>
        <p:nvGrpSpPr>
          <p:cNvPr id="213" name="Group 39"/>
          <p:cNvGrpSpPr/>
          <p:nvPr/>
        </p:nvGrpSpPr>
        <p:grpSpPr>
          <a:xfrm>
            <a:off x="5455440" y="4724280"/>
            <a:ext cx="1681560" cy="1981080"/>
            <a:chOff x="5455440" y="4724280"/>
            <a:chExt cx="1681560" cy="1981080"/>
          </a:xfrm>
        </p:grpSpPr>
        <p:grpSp>
          <p:nvGrpSpPr>
            <p:cNvPr id="214" name="Group 40"/>
            <p:cNvGrpSpPr/>
            <p:nvPr/>
          </p:nvGrpSpPr>
          <p:grpSpPr>
            <a:xfrm>
              <a:off x="5455440" y="4724280"/>
              <a:ext cx="1681560" cy="1981080"/>
              <a:chOff x="5455440" y="4724280"/>
              <a:chExt cx="1681560" cy="1981080"/>
            </a:xfrm>
          </p:grpSpPr>
          <p:grpSp>
            <p:nvGrpSpPr>
              <p:cNvPr id="215" name="Group 41"/>
              <p:cNvGrpSpPr/>
              <p:nvPr/>
            </p:nvGrpSpPr>
            <p:grpSpPr>
              <a:xfrm>
                <a:off x="5455440" y="5257080"/>
                <a:ext cx="1681560" cy="1448280"/>
                <a:chOff x="5455440" y="5257080"/>
                <a:chExt cx="1681560" cy="1448280"/>
              </a:xfrm>
            </p:grpSpPr>
            <p:sp>
              <p:nvSpPr>
                <p:cNvPr id="216" name="Line 42"/>
                <p:cNvSpPr/>
                <p:nvPr/>
              </p:nvSpPr>
              <p:spPr>
                <a:xfrm>
                  <a:off x="5455440" y="5257440"/>
                  <a:ext cx="268920" cy="360"/>
                </a:xfrm>
                <a:prstGeom prst="line">
                  <a:avLst/>
                </a:prstGeom>
                <a:ln w="31680">
                  <a:solidFill>
                    <a:schemeClr val="accent1"/>
                  </a:solidFill>
                  <a:round/>
                </a:ln>
              </p:spPr>
              <p:style>
                <a:lnRef idx="0">
                  <a:scrgbClr r="0" g="0" b="0"/>
                </a:lnRef>
                <a:fillRef idx="0">
                  <a:scrgbClr r="0" g="0" b="0"/>
                </a:fillRef>
                <a:effectRef idx="0">
                  <a:scrgbClr r="0" g="0" b="0"/>
                </a:effectRef>
                <a:fontRef idx="minor"/>
              </p:style>
            </p:sp>
            <p:sp>
              <p:nvSpPr>
                <p:cNvPr id="217" name="Line 43"/>
                <p:cNvSpPr/>
                <p:nvPr/>
              </p:nvSpPr>
              <p:spPr>
                <a:xfrm>
                  <a:off x="5724360" y="5257440"/>
                  <a:ext cx="360" cy="1447920"/>
                </a:xfrm>
                <a:prstGeom prst="line">
                  <a:avLst/>
                </a:prstGeom>
                <a:ln w="31680">
                  <a:solidFill>
                    <a:schemeClr val="accent1"/>
                  </a:solidFill>
                  <a:round/>
                </a:ln>
              </p:spPr>
              <p:style>
                <a:lnRef idx="0">
                  <a:scrgbClr r="0" g="0" b="0"/>
                </a:lnRef>
                <a:fillRef idx="0">
                  <a:scrgbClr r="0" g="0" b="0"/>
                </a:fillRef>
                <a:effectRef idx="0">
                  <a:scrgbClr r="0" g="0" b="0"/>
                </a:effectRef>
                <a:fontRef idx="minor"/>
              </p:style>
            </p:sp>
            <p:sp>
              <p:nvSpPr>
                <p:cNvPr id="218" name="Line 44"/>
                <p:cNvSpPr/>
                <p:nvPr/>
              </p:nvSpPr>
              <p:spPr>
                <a:xfrm>
                  <a:off x="5724360" y="6705000"/>
                  <a:ext cx="1143360" cy="360"/>
                </a:xfrm>
                <a:prstGeom prst="line">
                  <a:avLst/>
                </a:prstGeom>
                <a:ln w="31680">
                  <a:solidFill>
                    <a:schemeClr val="accent1"/>
                  </a:solidFill>
                  <a:round/>
                </a:ln>
              </p:spPr>
              <p:style>
                <a:lnRef idx="0">
                  <a:scrgbClr r="0" g="0" b="0"/>
                </a:lnRef>
                <a:fillRef idx="0">
                  <a:scrgbClr r="0" g="0" b="0"/>
                </a:fillRef>
                <a:effectRef idx="0">
                  <a:scrgbClr r="0" g="0" b="0"/>
                </a:effectRef>
                <a:fontRef idx="minor"/>
              </p:style>
            </p:sp>
            <p:sp>
              <p:nvSpPr>
                <p:cNvPr id="219" name="Line 45"/>
                <p:cNvSpPr/>
                <p:nvPr/>
              </p:nvSpPr>
              <p:spPr>
                <a:xfrm flipV="1">
                  <a:off x="6867720" y="5257080"/>
                  <a:ext cx="360" cy="1447920"/>
                </a:xfrm>
                <a:prstGeom prst="line">
                  <a:avLst/>
                </a:prstGeom>
                <a:ln w="31680">
                  <a:solidFill>
                    <a:schemeClr val="accent1"/>
                  </a:solidFill>
                  <a:round/>
                </a:ln>
              </p:spPr>
              <p:style>
                <a:lnRef idx="0">
                  <a:scrgbClr r="0" g="0" b="0"/>
                </a:lnRef>
                <a:fillRef idx="0">
                  <a:scrgbClr r="0" g="0" b="0"/>
                </a:fillRef>
                <a:effectRef idx="0">
                  <a:scrgbClr r="0" g="0" b="0"/>
                </a:effectRef>
                <a:fontRef idx="minor"/>
              </p:style>
            </p:sp>
            <p:sp>
              <p:nvSpPr>
                <p:cNvPr id="220" name="Line 46"/>
                <p:cNvSpPr/>
                <p:nvPr/>
              </p:nvSpPr>
              <p:spPr>
                <a:xfrm>
                  <a:off x="6867720" y="5257440"/>
                  <a:ext cx="269280" cy="360"/>
                </a:xfrm>
                <a:prstGeom prst="line">
                  <a:avLst/>
                </a:prstGeom>
                <a:ln w="31680">
                  <a:solidFill>
                    <a:schemeClr val="accent1"/>
                  </a:solidFill>
                  <a:round/>
                </a:ln>
              </p:spPr>
              <p:style>
                <a:lnRef idx="0">
                  <a:scrgbClr r="0" g="0" b="0"/>
                </a:lnRef>
                <a:fillRef idx="0">
                  <a:scrgbClr r="0" g="0" b="0"/>
                </a:fillRef>
                <a:effectRef idx="0">
                  <a:scrgbClr r="0" g="0" b="0"/>
                </a:effectRef>
                <a:fontRef idx="minor"/>
              </p:style>
            </p:sp>
          </p:grpSp>
          <p:sp>
            <p:nvSpPr>
              <p:cNvPr id="221" name="CustomShape 47"/>
              <p:cNvSpPr/>
              <p:nvPr/>
            </p:nvSpPr>
            <p:spPr>
              <a:xfrm>
                <a:off x="5778720" y="4724280"/>
                <a:ext cx="980640" cy="912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800" b="0" strike="noStrike" spc="-1">
                    <a:solidFill>
                      <a:srgbClr val="C00000"/>
                    </a:solidFill>
                    <a:latin typeface="Calibri"/>
                    <a:ea typeface="宋体"/>
                  </a:rPr>
                  <a:t>Pop 9</a:t>
                </a:r>
                <a:endParaRPr lang="en-US" sz="1800" b="0" strike="noStrike" spc="-1">
                  <a:latin typeface="Arial"/>
                </a:endParaRPr>
              </a:p>
              <a:p>
                <a:pPr algn="ctr">
                  <a:lnSpc>
                    <a:spcPct val="100000"/>
                  </a:lnSpc>
                </a:pPr>
                <a:r>
                  <a:rPr lang="en-US" sz="1800" b="0" strike="noStrike" spc="-1">
                    <a:solidFill>
                      <a:srgbClr val="C00000"/>
                    </a:solidFill>
                    <a:latin typeface="Calibri"/>
                    <a:ea typeface="宋体"/>
                  </a:rPr>
                  <a:t>Pop 6</a:t>
                </a:r>
                <a:endParaRPr lang="en-US" sz="1800" b="0" strike="noStrike" spc="-1">
                  <a:latin typeface="Arial"/>
                </a:endParaRPr>
              </a:p>
              <a:p>
                <a:pPr algn="ctr">
                  <a:lnSpc>
                    <a:spcPct val="100000"/>
                  </a:lnSpc>
                </a:pPr>
                <a:r>
                  <a:rPr lang="en-US" sz="1800" b="0" strike="noStrike" spc="-1">
                    <a:solidFill>
                      <a:srgbClr val="C00000"/>
                    </a:solidFill>
                    <a:latin typeface="Calibri"/>
                    <a:ea typeface="宋体"/>
                  </a:rPr>
                  <a:t>Push 9-6</a:t>
                </a:r>
                <a:endParaRPr lang="en-US" sz="1800" b="0" strike="noStrike" spc="-1">
                  <a:latin typeface="Arial"/>
                </a:endParaRPr>
              </a:p>
            </p:txBody>
          </p:sp>
        </p:grpSp>
        <p:sp>
          <p:nvSpPr>
            <p:cNvPr id="222" name="CustomShape 48"/>
            <p:cNvSpPr/>
            <p:nvPr/>
          </p:nvSpPr>
          <p:spPr>
            <a:xfrm>
              <a:off x="5934600" y="6375240"/>
              <a:ext cx="806040" cy="303840"/>
            </a:xfrm>
            <a:prstGeom prst="rect">
              <a:avLst/>
            </a:prstGeom>
            <a:solidFill>
              <a:schemeClr val="accent6">
                <a:lumMod val="20000"/>
                <a:lumOff val="80000"/>
              </a:schemeClr>
            </a:solidFill>
            <a:ln w="28440">
              <a:solidFill>
                <a:schemeClr val="tx1"/>
              </a:solidFill>
              <a:miter/>
            </a:ln>
          </p:spPr>
          <p:style>
            <a:lnRef idx="0">
              <a:scrgbClr r="0" g="0" b="0"/>
            </a:lnRef>
            <a:fillRef idx="0">
              <a:scrgbClr r="0" g="0" b="0"/>
            </a:fillRef>
            <a:effectRef idx="0">
              <a:scrgbClr r="0" g="0" b="0"/>
            </a:effectRef>
            <a:fontRef idx="minor"/>
          </p:style>
          <p:txBody>
            <a:bodyPr wrap="none" lIns="90000" tIns="45000" rIns="90000" bIns="45000" anchor="ctr"/>
            <a:lstStyle/>
            <a:p>
              <a:pPr algn="ctr">
                <a:lnSpc>
                  <a:spcPct val="100000"/>
                </a:lnSpc>
              </a:pPr>
              <a:r>
                <a:rPr lang="en-US" sz="1800" b="0" strike="noStrike" spc="-1">
                  <a:solidFill>
                    <a:srgbClr val="000000"/>
                  </a:solidFill>
                  <a:latin typeface="Calibri"/>
                  <a:ea typeface="DejaVu Sans"/>
                </a:rPr>
                <a:t>12</a:t>
              </a:r>
              <a:endParaRPr lang="en-US" sz="1800" b="0" strike="noStrike" spc="-1">
                <a:latin typeface="Arial"/>
              </a:endParaRPr>
            </a:p>
          </p:txBody>
        </p:sp>
        <p:sp>
          <p:nvSpPr>
            <p:cNvPr id="223" name="CustomShape 49"/>
            <p:cNvSpPr/>
            <p:nvPr/>
          </p:nvSpPr>
          <p:spPr>
            <a:xfrm>
              <a:off x="5934600" y="6071400"/>
              <a:ext cx="806040" cy="303840"/>
            </a:xfrm>
            <a:prstGeom prst="rect">
              <a:avLst/>
            </a:prstGeom>
            <a:solidFill>
              <a:schemeClr val="accent6">
                <a:lumMod val="20000"/>
                <a:lumOff val="80000"/>
              </a:schemeClr>
            </a:solidFill>
            <a:ln w="28440">
              <a:solidFill>
                <a:schemeClr val="tx1"/>
              </a:solidFill>
              <a:miter/>
            </a:ln>
          </p:spPr>
          <p:style>
            <a:lnRef idx="0">
              <a:scrgbClr r="0" g="0" b="0"/>
            </a:lnRef>
            <a:fillRef idx="0">
              <a:scrgbClr r="0" g="0" b="0"/>
            </a:fillRef>
            <a:effectRef idx="0">
              <a:scrgbClr r="0" g="0" b="0"/>
            </a:effectRef>
            <a:fontRef idx="minor"/>
          </p:style>
          <p:txBody>
            <a:bodyPr wrap="none" lIns="90000" tIns="45000" rIns="90000" bIns="45000" anchor="ctr"/>
            <a:lstStyle/>
            <a:p>
              <a:pPr algn="ctr">
                <a:lnSpc>
                  <a:spcPct val="100000"/>
                </a:lnSpc>
              </a:pPr>
              <a:r>
                <a:rPr lang="en-US" sz="1800" b="0" strike="noStrike" spc="-1">
                  <a:solidFill>
                    <a:srgbClr val="000000"/>
                  </a:solidFill>
                  <a:latin typeface="Calibri"/>
                  <a:ea typeface="DejaVu Sans"/>
                </a:rPr>
                <a:t>3</a:t>
              </a:r>
              <a:endParaRPr lang="en-US" sz="1800" b="0" strike="noStrike" spc="-1">
                <a:latin typeface="Arial"/>
              </a:endParaRPr>
            </a:p>
          </p:txBody>
        </p:sp>
      </p:grpSp>
      <p:grpSp>
        <p:nvGrpSpPr>
          <p:cNvPr id="224" name="Group 50"/>
          <p:cNvGrpSpPr/>
          <p:nvPr/>
        </p:nvGrpSpPr>
        <p:grpSpPr>
          <a:xfrm>
            <a:off x="7207560" y="4724280"/>
            <a:ext cx="1707480" cy="1981080"/>
            <a:chOff x="7207560" y="4724280"/>
            <a:chExt cx="1707480" cy="1981080"/>
          </a:xfrm>
        </p:grpSpPr>
        <p:grpSp>
          <p:nvGrpSpPr>
            <p:cNvPr id="225" name="Group 51"/>
            <p:cNvGrpSpPr/>
            <p:nvPr/>
          </p:nvGrpSpPr>
          <p:grpSpPr>
            <a:xfrm>
              <a:off x="7207560" y="4724280"/>
              <a:ext cx="1707480" cy="1981080"/>
              <a:chOff x="7207560" y="4724280"/>
              <a:chExt cx="1707480" cy="1981080"/>
            </a:xfrm>
          </p:grpSpPr>
          <p:grpSp>
            <p:nvGrpSpPr>
              <p:cNvPr id="226" name="Group 52"/>
              <p:cNvGrpSpPr/>
              <p:nvPr/>
            </p:nvGrpSpPr>
            <p:grpSpPr>
              <a:xfrm>
                <a:off x="7207560" y="5257440"/>
                <a:ext cx="1707480" cy="1447920"/>
                <a:chOff x="7207560" y="5257440"/>
                <a:chExt cx="1707480" cy="1447920"/>
              </a:xfrm>
            </p:grpSpPr>
            <p:sp>
              <p:nvSpPr>
                <p:cNvPr id="227" name="Line 53"/>
                <p:cNvSpPr/>
                <p:nvPr/>
              </p:nvSpPr>
              <p:spPr>
                <a:xfrm>
                  <a:off x="7207560" y="5257800"/>
                  <a:ext cx="273240" cy="360"/>
                </a:xfrm>
                <a:prstGeom prst="line">
                  <a:avLst/>
                </a:prstGeom>
                <a:ln w="31680">
                  <a:solidFill>
                    <a:schemeClr val="accent1"/>
                  </a:solidFill>
                  <a:round/>
                </a:ln>
              </p:spPr>
              <p:style>
                <a:lnRef idx="0">
                  <a:scrgbClr r="0" g="0" b="0"/>
                </a:lnRef>
                <a:fillRef idx="0">
                  <a:scrgbClr r="0" g="0" b="0"/>
                </a:fillRef>
                <a:effectRef idx="0">
                  <a:scrgbClr r="0" g="0" b="0"/>
                </a:effectRef>
                <a:fontRef idx="minor"/>
              </p:style>
            </p:sp>
            <p:sp>
              <p:nvSpPr>
                <p:cNvPr id="228" name="Line 54"/>
                <p:cNvSpPr/>
                <p:nvPr/>
              </p:nvSpPr>
              <p:spPr>
                <a:xfrm>
                  <a:off x="7480800" y="5257800"/>
                  <a:ext cx="360" cy="1447560"/>
                </a:xfrm>
                <a:prstGeom prst="line">
                  <a:avLst/>
                </a:prstGeom>
                <a:ln w="31680">
                  <a:solidFill>
                    <a:schemeClr val="accent1"/>
                  </a:solidFill>
                  <a:round/>
                </a:ln>
              </p:spPr>
              <p:style>
                <a:lnRef idx="0">
                  <a:scrgbClr r="0" g="0" b="0"/>
                </a:lnRef>
                <a:fillRef idx="0">
                  <a:scrgbClr r="0" g="0" b="0"/>
                </a:fillRef>
                <a:effectRef idx="0">
                  <a:scrgbClr r="0" g="0" b="0"/>
                </a:effectRef>
                <a:fontRef idx="minor"/>
              </p:style>
            </p:sp>
            <p:sp>
              <p:nvSpPr>
                <p:cNvPr id="229" name="Line 55"/>
                <p:cNvSpPr/>
                <p:nvPr/>
              </p:nvSpPr>
              <p:spPr>
                <a:xfrm>
                  <a:off x="7480800" y="6705000"/>
                  <a:ext cx="1161000" cy="360"/>
                </a:xfrm>
                <a:prstGeom prst="line">
                  <a:avLst/>
                </a:prstGeom>
                <a:ln w="31680">
                  <a:solidFill>
                    <a:schemeClr val="accent1"/>
                  </a:solidFill>
                  <a:round/>
                </a:ln>
              </p:spPr>
              <p:style>
                <a:lnRef idx="0">
                  <a:scrgbClr r="0" g="0" b="0"/>
                </a:lnRef>
                <a:fillRef idx="0">
                  <a:scrgbClr r="0" g="0" b="0"/>
                </a:fillRef>
                <a:effectRef idx="0">
                  <a:scrgbClr r="0" g="0" b="0"/>
                </a:effectRef>
                <a:fontRef idx="minor"/>
              </p:style>
            </p:sp>
            <p:sp>
              <p:nvSpPr>
                <p:cNvPr id="230" name="Line 56"/>
                <p:cNvSpPr/>
                <p:nvPr/>
              </p:nvSpPr>
              <p:spPr>
                <a:xfrm flipV="1">
                  <a:off x="8641800" y="5257440"/>
                  <a:ext cx="360" cy="1447560"/>
                </a:xfrm>
                <a:prstGeom prst="line">
                  <a:avLst/>
                </a:prstGeom>
                <a:ln w="31680">
                  <a:solidFill>
                    <a:schemeClr val="accent1"/>
                  </a:solidFill>
                  <a:round/>
                </a:ln>
              </p:spPr>
              <p:style>
                <a:lnRef idx="0">
                  <a:scrgbClr r="0" g="0" b="0"/>
                </a:lnRef>
                <a:fillRef idx="0">
                  <a:scrgbClr r="0" g="0" b="0"/>
                </a:fillRef>
                <a:effectRef idx="0">
                  <a:scrgbClr r="0" g="0" b="0"/>
                </a:effectRef>
                <a:fontRef idx="minor"/>
              </p:style>
            </p:sp>
            <p:sp>
              <p:nvSpPr>
                <p:cNvPr id="231" name="Line 57"/>
                <p:cNvSpPr/>
                <p:nvPr/>
              </p:nvSpPr>
              <p:spPr>
                <a:xfrm>
                  <a:off x="8641800" y="5257800"/>
                  <a:ext cx="273240" cy="360"/>
                </a:xfrm>
                <a:prstGeom prst="line">
                  <a:avLst/>
                </a:prstGeom>
                <a:ln w="31680">
                  <a:solidFill>
                    <a:schemeClr val="accent1"/>
                  </a:solidFill>
                  <a:round/>
                </a:ln>
              </p:spPr>
              <p:style>
                <a:lnRef idx="0">
                  <a:scrgbClr r="0" g="0" b="0"/>
                </a:lnRef>
                <a:fillRef idx="0">
                  <a:scrgbClr r="0" g="0" b="0"/>
                </a:fillRef>
                <a:effectRef idx="0">
                  <a:scrgbClr r="0" g="0" b="0"/>
                </a:effectRef>
                <a:fontRef idx="minor"/>
              </p:style>
            </p:sp>
          </p:grpSp>
          <p:sp>
            <p:nvSpPr>
              <p:cNvPr id="232" name="CustomShape 58"/>
              <p:cNvSpPr/>
              <p:nvPr/>
            </p:nvSpPr>
            <p:spPr>
              <a:xfrm>
                <a:off x="7476840" y="4724280"/>
                <a:ext cx="1116000" cy="912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800" b="0" strike="noStrike" spc="-1">
                    <a:solidFill>
                      <a:srgbClr val="C00000"/>
                    </a:solidFill>
                    <a:latin typeface="Calibri"/>
                    <a:ea typeface="宋体"/>
                  </a:rPr>
                  <a:t>Pop 3</a:t>
                </a:r>
                <a:endParaRPr lang="en-US" sz="1800" b="0" strike="noStrike" spc="-1">
                  <a:latin typeface="Arial"/>
                </a:endParaRPr>
              </a:p>
              <a:p>
                <a:pPr algn="ctr">
                  <a:lnSpc>
                    <a:spcPct val="100000"/>
                  </a:lnSpc>
                </a:pPr>
                <a:r>
                  <a:rPr lang="en-US" sz="1800" b="0" strike="noStrike" spc="-1">
                    <a:solidFill>
                      <a:srgbClr val="C00000"/>
                    </a:solidFill>
                    <a:latin typeface="Calibri"/>
                    <a:ea typeface="宋体"/>
                  </a:rPr>
                  <a:t>Pop 12</a:t>
                </a:r>
                <a:endParaRPr lang="en-US" sz="1800" b="0" strike="noStrike" spc="-1">
                  <a:latin typeface="Arial"/>
                </a:endParaRPr>
              </a:p>
              <a:p>
                <a:pPr algn="ctr">
                  <a:lnSpc>
                    <a:spcPct val="100000"/>
                  </a:lnSpc>
                </a:pPr>
                <a:r>
                  <a:rPr lang="en-US" sz="1800" b="0" strike="noStrike" spc="-1">
                    <a:solidFill>
                      <a:srgbClr val="C00000"/>
                    </a:solidFill>
                    <a:latin typeface="Calibri"/>
                    <a:ea typeface="宋体"/>
                  </a:rPr>
                  <a:t>Push 12/3</a:t>
                </a:r>
                <a:endParaRPr lang="en-US" sz="1800" b="0" strike="noStrike" spc="-1">
                  <a:latin typeface="Arial"/>
                </a:endParaRPr>
              </a:p>
            </p:txBody>
          </p:sp>
        </p:grpSp>
        <p:sp>
          <p:nvSpPr>
            <p:cNvPr id="233" name="CustomShape 59"/>
            <p:cNvSpPr/>
            <p:nvPr/>
          </p:nvSpPr>
          <p:spPr>
            <a:xfrm>
              <a:off x="7670520" y="6388560"/>
              <a:ext cx="806040" cy="303840"/>
            </a:xfrm>
            <a:prstGeom prst="rect">
              <a:avLst/>
            </a:prstGeom>
            <a:solidFill>
              <a:schemeClr val="accent6">
                <a:lumMod val="20000"/>
                <a:lumOff val="80000"/>
              </a:schemeClr>
            </a:solidFill>
            <a:ln w="28440">
              <a:solidFill>
                <a:schemeClr val="tx1"/>
              </a:solidFill>
              <a:miter/>
            </a:ln>
          </p:spPr>
          <p:style>
            <a:lnRef idx="0">
              <a:scrgbClr r="0" g="0" b="0"/>
            </a:lnRef>
            <a:fillRef idx="0">
              <a:scrgbClr r="0" g="0" b="0"/>
            </a:fillRef>
            <a:effectRef idx="0">
              <a:scrgbClr r="0" g="0" b="0"/>
            </a:effectRef>
            <a:fontRef idx="minor"/>
          </p:style>
          <p:txBody>
            <a:bodyPr wrap="none" lIns="90000" tIns="45000" rIns="90000" bIns="45000" anchor="ctr"/>
            <a:lstStyle/>
            <a:p>
              <a:pPr algn="ctr">
                <a:lnSpc>
                  <a:spcPct val="100000"/>
                </a:lnSpc>
              </a:pPr>
              <a:r>
                <a:rPr lang="en-US" sz="1800" b="0" strike="noStrike" spc="-1">
                  <a:solidFill>
                    <a:srgbClr val="000000"/>
                  </a:solidFill>
                  <a:latin typeface="Calibri"/>
                  <a:ea typeface="DejaVu Sans"/>
                </a:rPr>
                <a:t>4</a:t>
              </a:r>
              <a:endParaRPr lang="en-US" sz="1800" b="0" strike="noStrike" spc="-1">
                <a:latin typeface="Arial"/>
              </a:endParaRPr>
            </a:p>
          </p:txBody>
        </p:sp>
      </p:gr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19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p:cTn id="10" dur="1" fill="hold">
                                          <p:stCondLst>
                                            <p:cond delay="0"/>
                                          </p:stCondLst>
                                        </p:cTn>
                                        <p:tgtEl>
                                          <p:spTgt spid="18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fill="hold" nodeType="clickEffect">
                                  <p:stCondLst>
                                    <p:cond delay="0"/>
                                  </p:stCondLst>
                                  <p:childTnLst>
                                    <p:set>
                                      <p:cBhvr>
                                        <p:cTn id="14" dur="1" fill="hold">
                                          <p:stCondLst>
                                            <p:cond delay="0"/>
                                          </p:stCondLst>
                                        </p:cTn>
                                        <p:tgtEl>
                                          <p:spTgt spid="20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fill="hold" nodeType="clickEffect">
                                  <p:stCondLst>
                                    <p:cond delay="0"/>
                                  </p:stCondLst>
                                  <p:childTnLst>
                                    <p:set>
                                      <p:cBhvr>
                                        <p:cTn id="18" dur="1" fill="hold">
                                          <p:stCondLst>
                                            <p:cond delay="0"/>
                                          </p:stCondLst>
                                        </p:cTn>
                                        <p:tgtEl>
                                          <p:spTgt spid="2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fill="hold" nodeType="clickEffect">
                                  <p:stCondLst>
                                    <p:cond delay="0"/>
                                  </p:stCondLst>
                                  <p:childTnLst>
                                    <p:set>
                                      <p:cBhvr>
                                        <p:cTn id="22" dur="1" fill="hold">
                                          <p:stCondLst>
                                            <p:cond delay="0"/>
                                          </p:stCondLst>
                                        </p:cTn>
                                        <p:tgtEl>
                                          <p:spTgt spid="2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 name="CustomShape 1"/>
          <p:cNvSpPr/>
          <p:nvPr/>
        </p:nvSpPr>
        <p:spPr>
          <a:xfrm>
            <a:off x="628560" y="365040"/>
            <a:ext cx="7885800" cy="13244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4400" b="0" strike="noStrike" spc="-1">
                <a:solidFill>
                  <a:srgbClr val="C00000"/>
                </a:solidFill>
                <a:latin typeface="Calibri"/>
                <a:ea typeface="Calibri"/>
              </a:rPr>
              <a:t>Back Tracking</a:t>
            </a:r>
            <a:endParaRPr lang="en-US" sz="4400" b="0" strike="noStrike" spc="-1">
              <a:latin typeface="Arial"/>
            </a:endParaRPr>
          </a:p>
        </p:txBody>
      </p:sp>
      <p:sp>
        <p:nvSpPr>
          <p:cNvPr id="235" name="CustomShape 2"/>
          <p:cNvSpPr/>
          <p:nvPr/>
        </p:nvSpPr>
        <p:spPr>
          <a:xfrm>
            <a:off x="628560" y="1523880"/>
            <a:ext cx="7885800" cy="43502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marL="171360" indent="-170280">
              <a:lnSpc>
                <a:spcPct val="90000"/>
              </a:lnSpc>
              <a:spcBef>
                <a:spcPts val="751"/>
              </a:spcBef>
              <a:buClr>
                <a:srgbClr val="000000"/>
              </a:buClr>
              <a:buFont typeface="Arial"/>
              <a:buChar char="•"/>
            </a:pPr>
            <a:r>
              <a:rPr lang="en-US" sz="2400" b="0" strike="noStrike" spc="-1">
                <a:solidFill>
                  <a:srgbClr val="000000"/>
                </a:solidFill>
                <a:latin typeface="Calibri"/>
                <a:ea typeface="Calibri"/>
              </a:rPr>
              <a:t>Backtracking is used in algorithms in which there are steps along some path (state) from some starting point to some goal</a:t>
            </a:r>
            <a:endParaRPr lang="en-US" sz="2400" b="0" strike="noStrike" spc="-1">
              <a:latin typeface="Arial"/>
            </a:endParaRPr>
          </a:p>
          <a:p>
            <a:pPr marL="514440" lvl="1" indent="-170280">
              <a:lnSpc>
                <a:spcPct val="90000"/>
              </a:lnSpc>
              <a:spcBef>
                <a:spcPts val="374"/>
              </a:spcBef>
              <a:buClr>
                <a:srgbClr val="000000"/>
              </a:buClr>
              <a:buFont typeface="Arial"/>
              <a:buChar char="•"/>
            </a:pPr>
            <a:r>
              <a:rPr lang="en-US" sz="2000" b="0" strike="noStrike" spc="-1">
                <a:solidFill>
                  <a:srgbClr val="000000"/>
                </a:solidFill>
                <a:latin typeface="Calibri"/>
                <a:ea typeface="Calibri"/>
              </a:rPr>
              <a:t>Find your way through a maze.</a:t>
            </a:r>
            <a:endParaRPr lang="en-US" sz="2000" b="0" strike="noStrike" spc="-1">
              <a:latin typeface="Arial"/>
            </a:endParaRPr>
          </a:p>
          <a:p>
            <a:pPr marL="514440" lvl="1" indent="-170280">
              <a:lnSpc>
                <a:spcPct val="90000"/>
              </a:lnSpc>
              <a:spcBef>
                <a:spcPts val="374"/>
              </a:spcBef>
              <a:buClr>
                <a:srgbClr val="000000"/>
              </a:buClr>
              <a:buFont typeface="Arial"/>
              <a:buChar char="•"/>
            </a:pPr>
            <a:r>
              <a:rPr lang="en-US" sz="2000" b="0" strike="noStrike" spc="-1">
                <a:solidFill>
                  <a:srgbClr val="000000"/>
                </a:solidFill>
                <a:latin typeface="Calibri"/>
                <a:ea typeface="Calibri"/>
              </a:rPr>
              <a:t>Find a path from one point to another point in a graph.</a:t>
            </a:r>
            <a:endParaRPr lang="en-US" sz="2000" b="0" strike="noStrike" spc="-1">
              <a:latin typeface="Arial"/>
            </a:endParaRPr>
          </a:p>
          <a:p>
            <a:pPr marL="514440" lvl="1" indent="-170280">
              <a:lnSpc>
                <a:spcPct val="90000"/>
              </a:lnSpc>
              <a:spcBef>
                <a:spcPts val="374"/>
              </a:spcBef>
              <a:buClr>
                <a:srgbClr val="000000"/>
              </a:buClr>
              <a:buFont typeface="Arial"/>
              <a:buChar char="•"/>
            </a:pPr>
            <a:r>
              <a:rPr lang="en-US" sz="2000" b="0" strike="noStrike" spc="-1">
                <a:solidFill>
                  <a:srgbClr val="000000"/>
                </a:solidFill>
                <a:latin typeface="Calibri"/>
                <a:ea typeface="Calibri"/>
              </a:rPr>
              <a:t>Play a game in which there are moves to be made.  </a:t>
            </a:r>
            <a:endParaRPr lang="en-US" sz="2000" b="0" strike="noStrike" spc="-1">
              <a:latin typeface="Arial"/>
            </a:endParaRPr>
          </a:p>
          <a:p>
            <a:pPr marL="171360" indent="-170280">
              <a:lnSpc>
                <a:spcPct val="90000"/>
              </a:lnSpc>
              <a:spcBef>
                <a:spcPts val="751"/>
              </a:spcBef>
              <a:buClr>
                <a:srgbClr val="000000"/>
              </a:buClr>
              <a:buFont typeface="Arial"/>
              <a:buChar char="•"/>
            </a:pPr>
            <a:r>
              <a:rPr lang="en-US" sz="2400" b="0" strike="noStrike" spc="-1">
                <a:solidFill>
                  <a:srgbClr val="000000"/>
                </a:solidFill>
                <a:latin typeface="Calibri"/>
                <a:ea typeface="Calibri"/>
              </a:rPr>
              <a:t>In all of these cases, there are choices to be made among a number of options.  We need some way to remember these decision points in case we want/need to come back and try the alternative</a:t>
            </a:r>
            <a:endParaRPr lang="en-US" sz="2400" b="0" strike="noStrike" spc="-1">
              <a:latin typeface="Arial"/>
            </a:endParaRPr>
          </a:p>
          <a:p>
            <a:pPr marL="514440" lvl="1" indent="-170280">
              <a:lnSpc>
                <a:spcPct val="90000"/>
              </a:lnSpc>
              <a:spcBef>
                <a:spcPts val="374"/>
              </a:spcBef>
              <a:buClr>
                <a:srgbClr val="000000"/>
              </a:buClr>
              <a:buFont typeface="Arial"/>
              <a:buChar char="•"/>
            </a:pPr>
            <a:r>
              <a:rPr lang="en-US" sz="2000" b="0" strike="noStrike" spc="-1">
                <a:solidFill>
                  <a:srgbClr val="000000"/>
                </a:solidFill>
                <a:latin typeface="Calibri"/>
                <a:ea typeface="Calibri"/>
              </a:rPr>
              <a:t>Consider the maze.  At a point where a choice is made, we may discover that the choice leads to a dead-end.  We want to retrace back to that decision point and then try the other (next) alternative.</a:t>
            </a:r>
            <a:endParaRPr lang="en-US" sz="2000" b="0" strike="noStrike" spc="-1">
              <a:latin typeface="Arial"/>
            </a:endParaRPr>
          </a:p>
          <a:p>
            <a:pPr>
              <a:lnSpc>
                <a:spcPct val="90000"/>
              </a:lnSpc>
              <a:spcBef>
                <a:spcPts val="751"/>
              </a:spcBef>
            </a:pPr>
            <a:endParaRPr lang="en-US" sz="2000" b="0" strike="noStrike" spc="-1">
              <a:latin typeface="Arial"/>
            </a:endParaRPr>
          </a:p>
        </p:txBody>
      </p:sp>
      <p:sp>
        <p:nvSpPr>
          <p:cNvPr id="236" name="CustomShape 3"/>
          <p:cNvSpPr/>
          <p:nvPr/>
        </p:nvSpPr>
        <p:spPr>
          <a:xfrm>
            <a:off x="2540880" y="6356520"/>
            <a:ext cx="3085200" cy="363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a:lnSpc>
                <a:spcPct val="100000"/>
              </a:lnSpc>
            </a:pPr>
            <a:r>
              <a:rPr lang="en-US" sz="900" b="0" strike="noStrike" spc="-1">
                <a:solidFill>
                  <a:srgbClr val="8B8B8B"/>
                </a:solidFill>
                <a:latin typeface="Calibri"/>
                <a:ea typeface="DejaVu Sans"/>
              </a:rPr>
              <a:t>Data Structures and Algorithms</a:t>
            </a:r>
            <a:endParaRPr lang="en-US" sz="900" b="0" strike="noStrike" spc="-1">
              <a:latin typeface="Arial"/>
            </a:endParaRPr>
          </a:p>
        </p:txBody>
      </p:sp>
      <p:sp>
        <p:nvSpPr>
          <p:cNvPr id="237" name="CustomShape 4"/>
          <p:cNvSpPr/>
          <p:nvPr/>
        </p:nvSpPr>
        <p:spPr>
          <a:xfrm>
            <a:off x="6122160" y="6508800"/>
            <a:ext cx="2056320" cy="363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r">
              <a:lnSpc>
                <a:spcPct val="100000"/>
              </a:lnSpc>
            </a:pPr>
            <a:fld id="{641E9C45-80ED-44B8-B115-6C0C91C8E3B9}" type="slidenum">
              <a:rPr lang="en-US" sz="1400" b="0" strike="noStrike" spc="-1">
                <a:solidFill>
                  <a:srgbClr val="AFABAB"/>
                </a:solidFill>
                <a:latin typeface="Calibri"/>
                <a:ea typeface="宋体"/>
              </a:rPr>
              <a:t>9</a:t>
            </a:fld>
            <a:endParaRPr lang="en-US" sz="1400" b="0" strike="noStrike" spc="-1">
              <a:latin typeface="Arial"/>
            </a:endParaRPr>
          </a:p>
        </p:txBody>
      </p:sp>
      <p:sp>
        <p:nvSpPr>
          <p:cNvPr id="238" name="CustomShape 5"/>
          <p:cNvSpPr/>
          <p:nvPr/>
        </p:nvSpPr>
        <p:spPr>
          <a:xfrm>
            <a:off x="2693160" y="6508800"/>
            <a:ext cx="3085200" cy="363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a:lnSpc>
                <a:spcPct val="100000"/>
              </a:lnSpc>
            </a:pPr>
            <a:r>
              <a:rPr lang="en-US" sz="900" b="0" strike="noStrike" spc="-1">
                <a:solidFill>
                  <a:srgbClr val="8B8B8B"/>
                </a:solidFill>
                <a:latin typeface="Calibri"/>
                <a:ea typeface="DejaVu Sans"/>
              </a:rPr>
              <a:t>Data Structures and Algorithms</a:t>
            </a:r>
            <a:endParaRPr lang="en-US" sz="9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 name="CustomShape 1"/>
          <p:cNvSpPr/>
          <p:nvPr/>
        </p:nvSpPr>
        <p:spPr>
          <a:xfrm>
            <a:off x="628560" y="365040"/>
            <a:ext cx="7885800" cy="13244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4400" b="0" strike="noStrike" spc="-1">
                <a:solidFill>
                  <a:srgbClr val="C00000"/>
                </a:solidFill>
                <a:latin typeface="Calibri"/>
                <a:ea typeface="宋体"/>
              </a:rPr>
              <a:t>Implementation of Stacks</a:t>
            </a:r>
            <a:endParaRPr lang="en-US" sz="4400" b="0" strike="noStrike" spc="-1">
              <a:latin typeface="Arial"/>
            </a:endParaRPr>
          </a:p>
        </p:txBody>
      </p:sp>
      <p:sp>
        <p:nvSpPr>
          <p:cNvPr id="240" name="CustomShape 2"/>
          <p:cNvSpPr/>
          <p:nvPr/>
        </p:nvSpPr>
        <p:spPr>
          <a:xfrm>
            <a:off x="628560" y="1825560"/>
            <a:ext cx="7885800" cy="43502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171360" indent="-170280">
              <a:lnSpc>
                <a:spcPct val="90000"/>
              </a:lnSpc>
              <a:spcBef>
                <a:spcPts val="751"/>
              </a:spcBef>
              <a:buClr>
                <a:srgbClr val="000000"/>
              </a:buClr>
              <a:buFont typeface="Arial"/>
              <a:buChar char="•"/>
            </a:pPr>
            <a:r>
              <a:rPr lang="en-US" sz="2800" b="0" strike="noStrike" spc="-1">
                <a:solidFill>
                  <a:srgbClr val="000000"/>
                </a:solidFill>
                <a:latin typeface="Calibri"/>
                <a:ea typeface="Calibri"/>
              </a:rPr>
              <a:t>Recall the reason why we usually don’t implement the list using array?</a:t>
            </a:r>
            <a:endParaRPr lang="en-US" sz="2800" b="0" strike="noStrike" spc="-1">
              <a:latin typeface="Arial"/>
            </a:endParaRPr>
          </a:p>
        </p:txBody>
      </p:sp>
      <p:sp>
        <p:nvSpPr>
          <p:cNvPr id="241" name="CustomShape 3"/>
          <p:cNvSpPr/>
          <p:nvPr/>
        </p:nvSpPr>
        <p:spPr>
          <a:xfrm>
            <a:off x="6458040" y="6356520"/>
            <a:ext cx="2056320" cy="363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r">
              <a:lnSpc>
                <a:spcPct val="100000"/>
              </a:lnSpc>
            </a:pPr>
            <a:fld id="{043285A6-B015-4A89-A5DA-71FFA74B8937}" type="slidenum">
              <a:rPr lang="en-US" sz="900" b="0" strike="noStrike" spc="-1">
                <a:solidFill>
                  <a:srgbClr val="8B8B8B"/>
                </a:solidFill>
                <a:latin typeface="Calibri"/>
                <a:ea typeface="DejaVu Sans"/>
              </a:rPr>
              <a:t>10</a:t>
            </a:fld>
            <a:endParaRPr lang="en-US" sz="900" b="0" strike="noStrike" spc="-1">
              <a:latin typeface="Arial"/>
            </a:endParaRPr>
          </a:p>
        </p:txBody>
      </p:sp>
      <p:graphicFrame>
        <p:nvGraphicFramePr>
          <p:cNvPr id="242" name="Table 4"/>
          <p:cNvGraphicFramePr/>
          <p:nvPr/>
        </p:nvGraphicFramePr>
        <p:xfrm>
          <a:off x="1295280" y="3048120"/>
          <a:ext cx="6629040" cy="1955760"/>
        </p:xfrm>
        <a:graphic>
          <a:graphicData uri="http://schemas.openxmlformats.org/drawingml/2006/table">
            <a:tbl>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981080">
                  <a:extLst>
                    <a:ext uri="{9D8B030D-6E8A-4147-A177-3AD203B41FA5}">
                      <a16:colId xmlns:a16="http://schemas.microsoft.com/office/drawing/2014/main" val="20002"/>
                    </a:ext>
                  </a:extLst>
                </a:gridCol>
                <a:gridCol w="1904760">
                  <a:extLst>
                    <a:ext uri="{9D8B030D-6E8A-4147-A177-3AD203B41FA5}">
                      <a16:colId xmlns:a16="http://schemas.microsoft.com/office/drawing/2014/main" val="20003"/>
                    </a:ext>
                  </a:extLst>
                </a:gridCol>
              </a:tblGrid>
              <a:tr h="370800">
                <a:tc gridSpan="2">
                  <a:txBody>
                    <a:bodyPr/>
                    <a:lstStyle/>
                    <a:p>
                      <a:pPr algn="ctr">
                        <a:lnSpc>
                          <a:spcPct val="100000"/>
                        </a:lnSpc>
                      </a:pPr>
                      <a:r>
                        <a:rPr lang="en-US" sz="1350" b="1" strike="noStrike" spc="-1">
                          <a:solidFill>
                            <a:srgbClr val="595959"/>
                          </a:solidFill>
                          <a:latin typeface="Calibri Light"/>
                        </a:rPr>
                        <a:t>Topic</a:t>
                      </a:r>
                      <a:endParaRPr lang="en-US" sz="1350" b="0" strike="noStrike" spc="-1">
                        <a:latin typeface="Arial"/>
                      </a:endParaRPr>
                    </a:p>
                  </a:txBody>
                  <a:tcPr>
                    <a:lnL w="12240">
                      <a:solidFill>
                        <a:srgbClr val="8497B0"/>
                      </a:solidFill>
                    </a:lnL>
                    <a:lnR w="12240">
                      <a:solidFill>
                        <a:srgbClr val="8497B0"/>
                      </a:solidFill>
                    </a:lnR>
                    <a:lnT w="12240">
                      <a:solidFill>
                        <a:srgbClr val="8497B0"/>
                      </a:solidFill>
                    </a:lnT>
                    <a:lnB w="12240">
                      <a:solidFill>
                        <a:srgbClr val="8497B0"/>
                      </a:solidFill>
                    </a:lnB>
                    <a:noFill/>
                  </a:tcPr>
                </a:tc>
                <a:tc hMerge="1">
                  <a:txBody>
                    <a:bodyPr/>
                    <a:lstStyle/>
                    <a:p>
                      <a:endParaRPr lang="zh-CN"/>
                    </a:p>
                  </a:txBody>
                  <a:tcPr>
                    <a:solidFill>
                      <a:srgbClr val="729FCF"/>
                    </a:solidFill>
                  </a:tcPr>
                </a:tc>
                <a:tc>
                  <a:txBody>
                    <a:bodyPr/>
                    <a:lstStyle/>
                    <a:p>
                      <a:pPr algn="ctr">
                        <a:lnSpc>
                          <a:spcPct val="100000"/>
                        </a:lnSpc>
                      </a:pPr>
                      <a:r>
                        <a:rPr lang="en-US" sz="1350" b="1" strike="noStrike" spc="-1">
                          <a:solidFill>
                            <a:srgbClr val="595959"/>
                          </a:solidFill>
                          <a:latin typeface="Calibri Light"/>
                        </a:rPr>
                        <a:t>Array</a:t>
                      </a:r>
                      <a:endParaRPr lang="en-US" sz="1350" b="0" strike="noStrike" spc="-1">
                        <a:latin typeface="Arial"/>
                      </a:endParaRPr>
                    </a:p>
                  </a:txBody>
                  <a:tcPr>
                    <a:lnL w="12240">
                      <a:solidFill>
                        <a:srgbClr val="8497B0"/>
                      </a:solidFill>
                    </a:lnL>
                    <a:lnR w="12240">
                      <a:solidFill>
                        <a:srgbClr val="8497B0"/>
                      </a:solidFill>
                    </a:lnR>
                    <a:lnT w="12240">
                      <a:solidFill>
                        <a:srgbClr val="8497B0"/>
                      </a:solidFill>
                    </a:lnT>
                    <a:lnB w="12240">
                      <a:solidFill>
                        <a:srgbClr val="8497B0"/>
                      </a:solidFill>
                    </a:lnB>
                    <a:noFill/>
                  </a:tcPr>
                </a:tc>
                <a:tc>
                  <a:txBody>
                    <a:bodyPr/>
                    <a:lstStyle/>
                    <a:p>
                      <a:pPr algn="ctr">
                        <a:lnSpc>
                          <a:spcPct val="100000"/>
                        </a:lnSpc>
                      </a:pPr>
                      <a:r>
                        <a:rPr lang="en-US" sz="1350" b="1" strike="noStrike" spc="-1">
                          <a:solidFill>
                            <a:srgbClr val="595959"/>
                          </a:solidFill>
                          <a:latin typeface="Calibri Light"/>
                        </a:rPr>
                        <a:t>Linked List</a:t>
                      </a:r>
                      <a:endParaRPr lang="en-US" sz="1350" b="0" strike="noStrike" spc="-1">
                        <a:latin typeface="Arial"/>
                      </a:endParaRPr>
                    </a:p>
                  </a:txBody>
                  <a:tcPr>
                    <a:lnL w="12240">
                      <a:solidFill>
                        <a:srgbClr val="8497B0"/>
                      </a:solidFill>
                    </a:lnL>
                    <a:lnR w="12240">
                      <a:solidFill>
                        <a:srgbClr val="8497B0"/>
                      </a:solidFill>
                    </a:lnR>
                    <a:lnT w="12240">
                      <a:solidFill>
                        <a:srgbClr val="8497B0"/>
                      </a:solidFill>
                    </a:lnT>
                    <a:lnB w="12240">
                      <a:solidFill>
                        <a:srgbClr val="8497B0"/>
                      </a:solidFill>
                    </a:lnB>
                    <a:noFill/>
                  </a:tcPr>
                </a:tc>
                <a:extLst>
                  <a:ext uri="{0D108BD9-81ED-4DB2-BD59-A6C34878D82A}">
                    <a16:rowId xmlns:a16="http://schemas.microsoft.com/office/drawing/2014/main" val="10000"/>
                  </a:ext>
                </a:extLst>
              </a:tr>
              <a:tr h="370800">
                <a:tc rowSpan="3">
                  <a:txBody>
                    <a:bodyPr/>
                    <a:lstStyle/>
                    <a:p>
                      <a:pPr algn="ctr">
                        <a:lnSpc>
                          <a:spcPct val="100000"/>
                        </a:lnSpc>
                      </a:pPr>
                      <a:r>
                        <a:rPr lang="en-US" sz="2000" b="0" strike="noStrike" spc="-1">
                          <a:solidFill>
                            <a:srgbClr val="000000"/>
                          </a:solidFill>
                          <a:latin typeface="Calibri"/>
                        </a:rPr>
                        <a:t>Efficiency</a:t>
                      </a:r>
                      <a:endParaRPr lang="en-US" sz="2000" b="0" strike="noStrike" spc="-1">
                        <a:latin typeface="Arial"/>
                      </a:endParaRPr>
                    </a:p>
                  </a:txBody>
                  <a:tcPr>
                    <a:lnL w="12240">
                      <a:solidFill>
                        <a:srgbClr val="8497B0"/>
                      </a:solidFill>
                    </a:lnL>
                    <a:lnR w="12240">
                      <a:solidFill>
                        <a:srgbClr val="8497B0"/>
                      </a:solidFill>
                    </a:lnR>
                    <a:lnT w="12240">
                      <a:solidFill>
                        <a:srgbClr val="8497B0"/>
                      </a:solidFill>
                    </a:lnT>
                    <a:lnB w="12240">
                      <a:solidFill>
                        <a:srgbClr val="8497B0"/>
                      </a:solidFill>
                    </a:lnB>
                    <a:solidFill>
                      <a:srgbClr val="5B9BD5">
                        <a:alpha val="20000"/>
                      </a:srgbClr>
                    </a:solidFill>
                  </a:tcPr>
                </a:tc>
                <a:tc>
                  <a:txBody>
                    <a:bodyPr/>
                    <a:lstStyle/>
                    <a:p>
                      <a:pPr algn="r">
                        <a:lnSpc>
                          <a:spcPct val="100000"/>
                        </a:lnSpc>
                      </a:pPr>
                      <a:r>
                        <a:rPr lang="en-US" sz="2000" b="0" strike="noStrike" spc="-1">
                          <a:solidFill>
                            <a:srgbClr val="000000"/>
                          </a:solidFill>
                          <a:latin typeface="Calibri"/>
                        </a:rPr>
                        <a:t>push</a:t>
                      </a:r>
                      <a:endParaRPr lang="en-US" sz="2000" b="0" strike="noStrike" spc="-1">
                        <a:latin typeface="Arial"/>
                      </a:endParaRPr>
                    </a:p>
                  </a:txBody>
                  <a:tcPr>
                    <a:lnL w="12240">
                      <a:solidFill>
                        <a:srgbClr val="8497B0"/>
                      </a:solidFill>
                    </a:lnL>
                    <a:lnR w="12240">
                      <a:solidFill>
                        <a:srgbClr val="8497B0"/>
                      </a:solidFill>
                    </a:lnR>
                    <a:lnT w="12240">
                      <a:solidFill>
                        <a:srgbClr val="8497B0"/>
                      </a:solidFill>
                    </a:lnT>
                    <a:lnB w="12240">
                      <a:solidFill>
                        <a:srgbClr val="8497B0"/>
                      </a:solidFill>
                    </a:lnB>
                    <a:solidFill>
                      <a:srgbClr val="5B9BD5">
                        <a:alpha val="20000"/>
                      </a:srgbClr>
                    </a:solidFill>
                  </a:tcPr>
                </a:tc>
                <a:tc>
                  <a:txBody>
                    <a:bodyPr/>
                    <a:lstStyle/>
                    <a:p>
                      <a:endParaRPr lang="zh-CN"/>
                    </a:p>
                  </a:txBody>
                  <a:tcPr>
                    <a:lnL w="12240">
                      <a:solidFill>
                        <a:srgbClr val="8497B0"/>
                      </a:solidFill>
                    </a:lnL>
                    <a:lnR w="12240">
                      <a:solidFill>
                        <a:srgbClr val="8497B0"/>
                      </a:solidFill>
                    </a:lnR>
                    <a:lnT w="12240">
                      <a:solidFill>
                        <a:srgbClr val="8497B0"/>
                      </a:solidFill>
                    </a:lnT>
                    <a:lnB w="12240">
                      <a:solidFill>
                        <a:srgbClr val="8497B0"/>
                      </a:solidFill>
                    </a:lnB>
                    <a:solidFill>
                      <a:srgbClr val="5B9BD5">
                        <a:alpha val="20000"/>
                      </a:srgbClr>
                    </a:solidFill>
                  </a:tcPr>
                </a:tc>
                <a:tc>
                  <a:txBody>
                    <a:bodyPr/>
                    <a:lstStyle/>
                    <a:p>
                      <a:endParaRPr lang="zh-CN"/>
                    </a:p>
                  </a:txBody>
                  <a:tcPr>
                    <a:lnL w="12240">
                      <a:solidFill>
                        <a:srgbClr val="8497B0"/>
                      </a:solidFill>
                    </a:lnL>
                    <a:lnR w="12240">
                      <a:solidFill>
                        <a:srgbClr val="8497B0"/>
                      </a:solidFill>
                    </a:lnR>
                    <a:lnT w="12240">
                      <a:solidFill>
                        <a:srgbClr val="8497B0"/>
                      </a:solidFill>
                    </a:lnT>
                    <a:lnB w="12240">
                      <a:solidFill>
                        <a:srgbClr val="8497B0"/>
                      </a:solidFill>
                    </a:lnB>
                    <a:solidFill>
                      <a:srgbClr val="5B9BD5">
                        <a:alpha val="20000"/>
                      </a:srgbClr>
                    </a:solidFill>
                  </a:tcPr>
                </a:tc>
                <a:extLst>
                  <a:ext uri="{0D108BD9-81ED-4DB2-BD59-A6C34878D82A}">
                    <a16:rowId xmlns:a16="http://schemas.microsoft.com/office/drawing/2014/main" val="10001"/>
                  </a:ext>
                </a:extLst>
              </a:tr>
              <a:tr h="370800">
                <a:tc vMerge="1">
                  <a:txBody>
                    <a:bodyPr/>
                    <a:lstStyle/>
                    <a:p>
                      <a:endParaRPr lang="zh-CN"/>
                    </a:p>
                  </a:txBody>
                  <a:tcPr>
                    <a:solidFill>
                      <a:srgbClr val="729FCF"/>
                    </a:solidFill>
                  </a:tcPr>
                </a:tc>
                <a:tc>
                  <a:txBody>
                    <a:bodyPr/>
                    <a:lstStyle/>
                    <a:p>
                      <a:pPr algn="r">
                        <a:lnSpc>
                          <a:spcPct val="100000"/>
                        </a:lnSpc>
                      </a:pPr>
                      <a:r>
                        <a:rPr lang="en-US" sz="2000" b="0" strike="noStrike" spc="-1">
                          <a:solidFill>
                            <a:srgbClr val="000000"/>
                          </a:solidFill>
                          <a:latin typeface="Calibri"/>
                        </a:rPr>
                        <a:t>pop</a:t>
                      </a:r>
                      <a:endParaRPr lang="en-US" sz="2000" b="0" strike="noStrike" spc="-1">
                        <a:latin typeface="Arial"/>
                      </a:endParaRPr>
                    </a:p>
                  </a:txBody>
                  <a:tcPr>
                    <a:lnL w="12240">
                      <a:solidFill>
                        <a:srgbClr val="8497B0"/>
                      </a:solidFill>
                    </a:lnL>
                    <a:lnR w="12240">
                      <a:solidFill>
                        <a:srgbClr val="8497B0"/>
                      </a:solidFill>
                    </a:lnR>
                    <a:lnT w="12240">
                      <a:solidFill>
                        <a:srgbClr val="8497B0"/>
                      </a:solidFill>
                    </a:lnT>
                    <a:lnB w="12240">
                      <a:solidFill>
                        <a:srgbClr val="8497B0"/>
                      </a:solidFill>
                    </a:lnB>
                    <a:noFill/>
                  </a:tcPr>
                </a:tc>
                <a:tc>
                  <a:txBody>
                    <a:bodyPr/>
                    <a:lstStyle/>
                    <a:p>
                      <a:endParaRPr lang="zh-CN"/>
                    </a:p>
                  </a:txBody>
                  <a:tcPr>
                    <a:lnL w="12240">
                      <a:solidFill>
                        <a:srgbClr val="8497B0"/>
                      </a:solidFill>
                    </a:lnL>
                    <a:lnR w="12240">
                      <a:solidFill>
                        <a:srgbClr val="8497B0"/>
                      </a:solidFill>
                    </a:lnR>
                    <a:lnT w="12240">
                      <a:solidFill>
                        <a:srgbClr val="8497B0"/>
                      </a:solidFill>
                    </a:lnT>
                    <a:lnB w="12240">
                      <a:solidFill>
                        <a:srgbClr val="8497B0"/>
                      </a:solidFill>
                    </a:lnB>
                    <a:noFill/>
                  </a:tcPr>
                </a:tc>
                <a:tc>
                  <a:txBody>
                    <a:bodyPr/>
                    <a:lstStyle/>
                    <a:p>
                      <a:endParaRPr lang="zh-CN"/>
                    </a:p>
                  </a:txBody>
                  <a:tcPr>
                    <a:lnL w="12240">
                      <a:solidFill>
                        <a:srgbClr val="8497B0"/>
                      </a:solidFill>
                    </a:lnL>
                    <a:lnR w="12240">
                      <a:solidFill>
                        <a:srgbClr val="8497B0"/>
                      </a:solidFill>
                    </a:lnR>
                    <a:lnT w="12240">
                      <a:solidFill>
                        <a:srgbClr val="8497B0"/>
                      </a:solidFill>
                    </a:lnT>
                    <a:lnB w="12240">
                      <a:solidFill>
                        <a:srgbClr val="8497B0"/>
                      </a:solidFill>
                    </a:lnB>
                    <a:noFill/>
                  </a:tcPr>
                </a:tc>
                <a:extLst>
                  <a:ext uri="{0D108BD9-81ED-4DB2-BD59-A6C34878D82A}">
                    <a16:rowId xmlns:a16="http://schemas.microsoft.com/office/drawing/2014/main" val="10002"/>
                  </a:ext>
                </a:extLst>
              </a:tr>
              <a:tr h="370800">
                <a:tc vMerge="1">
                  <a:txBody>
                    <a:bodyPr/>
                    <a:lstStyle/>
                    <a:p>
                      <a:endParaRPr lang="zh-CN"/>
                    </a:p>
                  </a:txBody>
                  <a:tcPr>
                    <a:solidFill>
                      <a:srgbClr val="729FCF"/>
                    </a:solidFill>
                  </a:tcPr>
                </a:tc>
                <a:tc>
                  <a:txBody>
                    <a:bodyPr/>
                    <a:lstStyle/>
                    <a:p>
                      <a:pPr algn="r">
                        <a:lnSpc>
                          <a:spcPct val="100000"/>
                        </a:lnSpc>
                      </a:pPr>
                      <a:r>
                        <a:rPr lang="en-US" sz="2000" b="0" strike="noStrike" spc="-1">
                          <a:solidFill>
                            <a:srgbClr val="000000"/>
                          </a:solidFill>
                          <a:latin typeface="Calibri"/>
                        </a:rPr>
                        <a:t>Top</a:t>
                      </a:r>
                      <a:endParaRPr lang="en-US" sz="2000" b="0" strike="noStrike" spc="-1">
                        <a:latin typeface="Arial"/>
                      </a:endParaRPr>
                    </a:p>
                  </a:txBody>
                  <a:tcPr>
                    <a:lnL w="12240">
                      <a:solidFill>
                        <a:srgbClr val="8497B0"/>
                      </a:solidFill>
                    </a:lnL>
                    <a:lnR w="12240">
                      <a:solidFill>
                        <a:srgbClr val="8497B0"/>
                      </a:solidFill>
                    </a:lnR>
                    <a:lnT w="12240">
                      <a:solidFill>
                        <a:srgbClr val="8497B0"/>
                      </a:solidFill>
                    </a:lnT>
                    <a:lnB w="12240">
                      <a:solidFill>
                        <a:srgbClr val="8497B0"/>
                      </a:solidFill>
                    </a:lnB>
                    <a:solidFill>
                      <a:srgbClr val="5B9BD5">
                        <a:alpha val="20000"/>
                      </a:srgbClr>
                    </a:solidFill>
                  </a:tcPr>
                </a:tc>
                <a:tc>
                  <a:txBody>
                    <a:bodyPr/>
                    <a:lstStyle/>
                    <a:p>
                      <a:endParaRPr lang="zh-CN"/>
                    </a:p>
                  </a:txBody>
                  <a:tcPr>
                    <a:lnL w="12240">
                      <a:solidFill>
                        <a:srgbClr val="8497B0"/>
                      </a:solidFill>
                    </a:lnL>
                    <a:lnR w="12240">
                      <a:solidFill>
                        <a:srgbClr val="8497B0"/>
                      </a:solidFill>
                    </a:lnR>
                    <a:lnT w="12240">
                      <a:solidFill>
                        <a:srgbClr val="8497B0"/>
                      </a:solidFill>
                    </a:lnT>
                    <a:lnB w="12240">
                      <a:solidFill>
                        <a:srgbClr val="8497B0"/>
                      </a:solidFill>
                    </a:lnB>
                    <a:solidFill>
                      <a:srgbClr val="5B9BD5">
                        <a:alpha val="20000"/>
                      </a:srgbClr>
                    </a:solidFill>
                  </a:tcPr>
                </a:tc>
                <a:tc>
                  <a:txBody>
                    <a:bodyPr/>
                    <a:lstStyle/>
                    <a:p>
                      <a:endParaRPr lang="zh-CN"/>
                    </a:p>
                  </a:txBody>
                  <a:tcPr>
                    <a:lnL w="12240">
                      <a:solidFill>
                        <a:srgbClr val="8497B0"/>
                      </a:solidFill>
                    </a:lnL>
                    <a:lnR w="12240">
                      <a:solidFill>
                        <a:srgbClr val="8497B0"/>
                      </a:solidFill>
                    </a:lnR>
                    <a:lnT w="12240">
                      <a:solidFill>
                        <a:srgbClr val="8497B0"/>
                      </a:solidFill>
                    </a:lnT>
                    <a:lnB w="12240">
                      <a:solidFill>
                        <a:srgbClr val="8497B0"/>
                      </a:solidFill>
                    </a:lnB>
                    <a:solidFill>
                      <a:srgbClr val="5B9BD5">
                        <a:alpha val="20000"/>
                      </a:srgbClr>
                    </a:solidFill>
                  </a:tcPr>
                </a:tc>
                <a:extLst>
                  <a:ext uri="{0D108BD9-81ED-4DB2-BD59-A6C34878D82A}">
                    <a16:rowId xmlns:a16="http://schemas.microsoft.com/office/drawing/2014/main" val="10003"/>
                  </a:ext>
                </a:extLst>
              </a:tr>
              <a:tr h="370080">
                <a:tc gridSpan="2">
                  <a:txBody>
                    <a:bodyPr/>
                    <a:lstStyle/>
                    <a:p>
                      <a:pPr algn="r">
                        <a:lnSpc>
                          <a:spcPct val="100000"/>
                        </a:lnSpc>
                      </a:pPr>
                      <a:r>
                        <a:rPr lang="en-US" sz="2000" b="0" strike="noStrike" spc="-1">
                          <a:solidFill>
                            <a:srgbClr val="000000"/>
                          </a:solidFill>
                          <a:latin typeface="Calibri"/>
                        </a:rPr>
                        <a:t>space</a:t>
                      </a:r>
                      <a:endParaRPr lang="en-US" sz="2000" b="0" strike="noStrike" spc="-1">
                        <a:latin typeface="Arial"/>
                      </a:endParaRPr>
                    </a:p>
                  </a:txBody>
                  <a:tcPr>
                    <a:lnL w="12240">
                      <a:solidFill>
                        <a:srgbClr val="8497B0"/>
                      </a:solidFill>
                    </a:lnL>
                    <a:lnR w="12240">
                      <a:solidFill>
                        <a:srgbClr val="8497B0"/>
                      </a:solidFill>
                    </a:lnR>
                    <a:lnT w="12240">
                      <a:solidFill>
                        <a:srgbClr val="8497B0"/>
                      </a:solidFill>
                    </a:lnT>
                    <a:lnB w="12240">
                      <a:solidFill>
                        <a:srgbClr val="8497B0"/>
                      </a:solidFill>
                    </a:lnB>
                    <a:noFill/>
                  </a:tcPr>
                </a:tc>
                <a:tc hMerge="1">
                  <a:txBody>
                    <a:bodyPr/>
                    <a:lstStyle/>
                    <a:p>
                      <a:endParaRPr lang="zh-CN"/>
                    </a:p>
                  </a:txBody>
                  <a:tcPr>
                    <a:solidFill>
                      <a:srgbClr val="729FCF"/>
                    </a:solidFill>
                  </a:tcPr>
                </a:tc>
                <a:tc>
                  <a:txBody>
                    <a:bodyPr/>
                    <a:lstStyle/>
                    <a:p>
                      <a:endParaRPr lang="zh-CN"/>
                    </a:p>
                  </a:txBody>
                  <a:tcPr>
                    <a:lnL w="12240">
                      <a:solidFill>
                        <a:srgbClr val="8497B0"/>
                      </a:solidFill>
                    </a:lnL>
                    <a:lnR w="12240">
                      <a:solidFill>
                        <a:srgbClr val="8497B0"/>
                      </a:solidFill>
                    </a:lnR>
                    <a:lnT w="12240">
                      <a:solidFill>
                        <a:srgbClr val="8497B0"/>
                      </a:solidFill>
                    </a:lnT>
                    <a:lnB w="12240">
                      <a:solidFill>
                        <a:srgbClr val="8497B0"/>
                      </a:solidFill>
                    </a:lnB>
                    <a:noFill/>
                  </a:tcPr>
                </a:tc>
                <a:tc>
                  <a:txBody>
                    <a:bodyPr/>
                    <a:lstStyle/>
                    <a:p>
                      <a:endParaRPr lang="zh-CN"/>
                    </a:p>
                  </a:txBody>
                  <a:tcPr>
                    <a:lnL w="12240">
                      <a:solidFill>
                        <a:srgbClr val="8497B0"/>
                      </a:solidFill>
                    </a:lnL>
                    <a:lnR w="12240">
                      <a:solidFill>
                        <a:srgbClr val="8497B0"/>
                      </a:solidFill>
                    </a:lnR>
                    <a:lnT w="12240">
                      <a:solidFill>
                        <a:srgbClr val="8497B0"/>
                      </a:solidFill>
                    </a:lnT>
                    <a:lnB w="12240">
                      <a:solidFill>
                        <a:srgbClr val="8497B0"/>
                      </a:solidFill>
                    </a:lnB>
                    <a:noFill/>
                  </a:tcPr>
                </a:tc>
                <a:extLst>
                  <a:ext uri="{0D108BD9-81ED-4DB2-BD59-A6C34878D82A}">
                    <a16:rowId xmlns:a16="http://schemas.microsoft.com/office/drawing/2014/main" val="10004"/>
                  </a:ext>
                </a:extLst>
              </a:tr>
            </a:tbl>
          </a:graphicData>
        </a:graphic>
      </p:graphicFrame>
      <p:sp>
        <p:nvSpPr>
          <p:cNvPr id="243" name="CustomShape 5"/>
          <p:cNvSpPr/>
          <p:nvPr/>
        </p:nvSpPr>
        <p:spPr>
          <a:xfrm>
            <a:off x="3029040" y="6356520"/>
            <a:ext cx="3085200" cy="363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a:lnSpc>
                <a:spcPct val="100000"/>
              </a:lnSpc>
            </a:pPr>
            <a:r>
              <a:rPr lang="en-US" sz="900" b="0" strike="noStrike" spc="-1">
                <a:solidFill>
                  <a:srgbClr val="8B8B8B"/>
                </a:solidFill>
                <a:latin typeface="Calibri"/>
                <a:ea typeface="DejaVu Sans"/>
              </a:rPr>
              <a:t>Data Structures and Algorithms</a:t>
            </a:r>
            <a:endParaRPr lang="en-US" sz="9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 name="CustomShape 1"/>
          <p:cNvSpPr/>
          <p:nvPr/>
        </p:nvSpPr>
        <p:spPr>
          <a:xfrm>
            <a:off x="628560" y="365040"/>
            <a:ext cx="7885800" cy="13244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4400" b="0" strike="noStrike" spc="-1">
                <a:solidFill>
                  <a:srgbClr val="C00000"/>
                </a:solidFill>
                <a:latin typeface="Calibri"/>
                <a:ea typeface="Calibri"/>
              </a:rPr>
              <a:t>Stack Implementation</a:t>
            </a:r>
            <a:endParaRPr lang="en-US" sz="4400" b="0" strike="noStrike" spc="-1">
              <a:latin typeface="Arial"/>
            </a:endParaRPr>
          </a:p>
        </p:txBody>
      </p:sp>
      <p:sp>
        <p:nvSpPr>
          <p:cNvPr id="245" name="CustomShape 2"/>
          <p:cNvSpPr/>
          <p:nvPr/>
        </p:nvSpPr>
        <p:spPr>
          <a:xfrm>
            <a:off x="457200" y="1600200"/>
            <a:ext cx="8228520" cy="23612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marL="171360" indent="-170280">
              <a:lnSpc>
                <a:spcPct val="90000"/>
              </a:lnSpc>
              <a:spcBef>
                <a:spcPts val="751"/>
              </a:spcBef>
              <a:buClr>
                <a:srgbClr val="000000"/>
              </a:buClr>
              <a:buFont typeface="Arial"/>
              <a:buChar char="•"/>
            </a:pPr>
            <a:r>
              <a:rPr lang="en-US" sz="2800" b="0" strike="noStrike" spc="-1">
                <a:solidFill>
                  <a:srgbClr val="000000"/>
                </a:solidFill>
                <a:latin typeface="Calibri"/>
                <a:ea typeface="Calibri"/>
              </a:rPr>
              <a:t>Data</a:t>
            </a:r>
            <a:endParaRPr lang="en-US" sz="2800" b="0" strike="noStrike" spc="-1">
              <a:latin typeface="Arial"/>
            </a:endParaRPr>
          </a:p>
          <a:p>
            <a:pPr marL="514440" lvl="1" indent="-170280">
              <a:lnSpc>
                <a:spcPct val="90000"/>
              </a:lnSpc>
              <a:spcBef>
                <a:spcPts val="374"/>
              </a:spcBef>
              <a:buClr>
                <a:srgbClr val="0070C0"/>
              </a:buClr>
              <a:buFont typeface="Arial"/>
              <a:buChar char="•"/>
            </a:pPr>
            <a:r>
              <a:rPr lang="en-US" sz="2400" b="0" strike="noStrike" spc="-1">
                <a:solidFill>
                  <a:srgbClr val="0070C0"/>
                </a:solidFill>
                <a:latin typeface="Calibri"/>
                <a:ea typeface="宋体"/>
              </a:rPr>
              <a:t>maxTop</a:t>
            </a:r>
            <a:r>
              <a:rPr lang="en-US" sz="2400" b="0" strike="noStrike" spc="-1">
                <a:solidFill>
                  <a:srgbClr val="000000"/>
                </a:solidFill>
                <a:latin typeface="Calibri"/>
                <a:ea typeface="宋体"/>
              </a:rPr>
              <a:t>: the max size of stack</a:t>
            </a:r>
            <a:endParaRPr lang="en-US" sz="2400" b="0" strike="noStrike" spc="-1">
              <a:latin typeface="Arial"/>
            </a:endParaRPr>
          </a:p>
          <a:p>
            <a:pPr marL="514440" lvl="1" indent="-170280">
              <a:lnSpc>
                <a:spcPct val="90000"/>
              </a:lnSpc>
              <a:spcBef>
                <a:spcPts val="374"/>
              </a:spcBef>
              <a:buClr>
                <a:srgbClr val="0070C0"/>
              </a:buClr>
              <a:buFont typeface="Arial"/>
              <a:buChar char="•"/>
            </a:pPr>
            <a:r>
              <a:rPr lang="en-US" sz="2400" b="0" strike="noStrike" spc="-1">
                <a:solidFill>
                  <a:srgbClr val="0070C0"/>
                </a:solidFill>
                <a:latin typeface="Calibri"/>
                <a:ea typeface="宋体"/>
              </a:rPr>
              <a:t>top</a:t>
            </a:r>
            <a:r>
              <a:rPr lang="en-US" sz="2400" b="0" strike="noStrike" spc="-1">
                <a:solidFill>
                  <a:srgbClr val="000000"/>
                </a:solidFill>
                <a:latin typeface="Calibri"/>
                <a:ea typeface="宋体"/>
              </a:rPr>
              <a:t>: the </a:t>
            </a:r>
            <a:r>
              <a:rPr lang="en-US" sz="2400" b="0" strike="noStrike" spc="-1">
                <a:solidFill>
                  <a:srgbClr val="ED1C24"/>
                </a:solidFill>
                <a:latin typeface="Calibri"/>
                <a:ea typeface="宋体"/>
              </a:rPr>
              <a:t>index</a:t>
            </a:r>
            <a:r>
              <a:rPr lang="en-US" sz="2400" b="0" strike="noStrike" spc="-1">
                <a:solidFill>
                  <a:srgbClr val="000000"/>
                </a:solidFill>
                <a:latin typeface="Calibri"/>
                <a:ea typeface="宋体"/>
              </a:rPr>
              <a:t> of the top element of stack</a:t>
            </a:r>
            <a:endParaRPr lang="en-US" sz="2400" b="0" strike="noStrike" spc="-1">
              <a:latin typeface="Arial"/>
            </a:endParaRPr>
          </a:p>
          <a:p>
            <a:pPr marL="514440" lvl="1" indent="-170280">
              <a:lnSpc>
                <a:spcPct val="90000"/>
              </a:lnSpc>
              <a:spcBef>
                <a:spcPts val="374"/>
              </a:spcBef>
              <a:buClr>
                <a:srgbClr val="0070C0"/>
              </a:buClr>
              <a:buFont typeface="Arial"/>
              <a:buChar char="•"/>
            </a:pPr>
            <a:r>
              <a:rPr lang="en-US" sz="2400" b="0" strike="noStrike" spc="-1">
                <a:solidFill>
                  <a:srgbClr val="0070C0"/>
                </a:solidFill>
                <a:latin typeface="Calibri"/>
                <a:ea typeface="宋体"/>
              </a:rPr>
              <a:t>values</a:t>
            </a:r>
            <a:r>
              <a:rPr lang="en-US" sz="2400" b="0" strike="noStrike" spc="-1">
                <a:solidFill>
                  <a:srgbClr val="000000"/>
                </a:solidFill>
                <a:latin typeface="Calibri"/>
                <a:ea typeface="宋体"/>
              </a:rPr>
              <a:t>: pointer to an array which stores elements of stack</a:t>
            </a:r>
            <a:endParaRPr lang="en-US" sz="2400" b="0" strike="noStrike" spc="-1">
              <a:latin typeface="Arial"/>
            </a:endParaRPr>
          </a:p>
          <a:p>
            <a:pPr marL="514440" lvl="1" indent="-170280">
              <a:lnSpc>
                <a:spcPct val="90000"/>
              </a:lnSpc>
              <a:spcBef>
                <a:spcPts val="374"/>
              </a:spcBef>
              <a:buClr>
                <a:srgbClr val="0070C0"/>
              </a:buClr>
              <a:buFont typeface="Arial"/>
              <a:buChar char="•"/>
            </a:pPr>
            <a:r>
              <a:rPr lang="en-US" sz="2400" b="0" strike="noStrike" spc="-1">
                <a:solidFill>
                  <a:srgbClr val="0070C0"/>
                </a:solidFill>
                <a:latin typeface="Calibri"/>
                <a:ea typeface="Calibri"/>
              </a:rPr>
              <a:t>values </a:t>
            </a:r>
            <a:r>
              <a:rPr lang="en-US" sz="2400" b="0" strike="noStrike" spc="-1">
                <a:solidFill>
                  <a:srgbClr val="000000"/>
                </a:solidFill>
                <a:latin typeface="Calibri"/>
                <a:ea typeface="Calibri"/>
              </a:rPr>
              <a:t>can be of any data type but we use </a:t>
            </a:r>
            <a:r>
              <a:rPr lang="en-US" sz="2400" b="0" strike="noStrike" spc="-1">
                <a:solidFill>
                  <a:srgbClr val="0070C0"/>
                </a:solidFill>
                <a:latin typeface="Calibri"/>
                <a:ea typeface="Calibri"/>
              </a:rPr>
              <a:t>double </a:t>
            </a:r>
            <a:r>
              <a:rPr lang="en-US" sz="2400" b="0" strike="noStrike" spc="-1">
                <a:solidFill>
                  <a:srgbClr val="000000"/>
                </a:solidFill>
                <a:latin typeface="Calibri"/>
                <a:ea typeface="Calibri"/>
              </a:rPr>
              <a:t>for demonstration</a:t>
            </a:r>
            <a:endParaRPr lang="en-US" sz="2400" b="0" strike="noStrike" spc="-1">
              <a:latin typeface="Arial"/>
            </a:endParaRPr>
          </a:p>
        </p:txBody>
      </p:sp>
      <p:sp>
        <p:nvSpPr>
          <p:cNvPr id="246" name="CustomShape 3"/>
          <p:cNvSpPr/>
          <p:nvPr/>
        </p:nvSpPr>
        <p:spPr>
          <a:xfrm>
            <a:off x="6458040" y="6356520"/>
            <a:ext cx="2056320" cy="363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r">
              <a:lnSpc>
                <a:spcPct val="100000"/>
              </a:lnSpc>
            </a:pPr>
            <a:fld id="{EFAAA7BC-07FC-4AE4-9313-8FEEE3A901A9}" type="slidenum">
              <a:rPr lang="en-US" sz="900" b="0" strike="noStrike" spc="-1">
                <a:solidFill>
                  <a:srgbClr val="8B8B8B"/>
                </a:solidFill>
                <a:latin typeface="Calibri"/>
                <a:ea typeface="DejaVu Sans"/>
              </a:rPr>
              <a:t>11</a:t>
            </a:fld>
            <a:endParaRPr lang="en-US" sz="900" b="0" strike="noStrike" spc="-1">
              <a:latin typeface="Arial"/>
            </a:endParaRPr>
          </a:p>
        </p:txBody>
      </p:sp>
      <p:sp>
        <p:nvSpPr>
          <p:cNvPr id="247" name="CustomShape 4"/>
          <p:cNvSpPr/>
          <p:nvPr/>
        </p:nvSpPr>
        <p:spPr>
          <a:xfrm>
            <a:off x="2666880" y="4038480"/>
            <a:ext cx="4037400" cy="2375640"/>
          </a:xfrm>
          <a:prstGeom prst="rect">
            <a:avLst/>
          </a:prstGeom>
          <a:noFill/>
          <a:ln>
            <a:solidFill>
              <a:schemeClr val="tx1"/>
            </a:solidFill>
          </a:ln>
        </p:spPr>
        <p:style>
          <a:lnRef idx="0">
            <a:scrgbClr r="0" g="0" b="0"/>
          </a:lnRef>
          <a:fillRef idx="0">
            <a:scrgbClr r="0" g="0" b="0"/>
          </a:fillRef>
          <a:effectRef idx="0">
            <a:scrgbClr r="0" g="0" b="0"/>
          </a:effectRef>
          <a:fontRef idx="minor"/>
        </p:style>
        <p:txBody>
          <a:bodyPr lIns="252000" tIns="45000" rIns="90000" bIns="45000"/>
          <a:lstStyle/>
          <a:p>
            <a:pPr>
              <a:lnSpc>
                <a:spcPct val="150000"/>
              </a:lnSpc>
            </a:pPr>
            <a:r>
              <a:rPr lang="en-US" sz="2000" b="0" strike="noStrike" spc="-1">
                <a:solidFill>
                  <a:srgbClr val="70AD47"/>
                </a:solidFill>
                <a:latin typeface="Courier New"/>
                <a:ea typeface="Courier New"/>
              </a:rPr>
              <a:t>typedef struct</a:t>
            </a:r>
            <a:r>
              <a:rPr lang="en-US" sz="2000" b="0" strike="noStrike" spc="-1">
                <a:solidFill>
                  <a:srgbClr val="404040"/>
                </a:solidFill>
                <a:latin typeface="Courier New"/>
                <a:ea typeface="Courier New"/>
              </a:rPr>
              <a:t>{</a:t>
            </a:r>
            <a:endParaRPr lang="en-US" sz="2000" b="0" strike="noStrike" spc="-1">
              <a:latin typeface="Arial"/>
            </a:endParaRPr>
          </a:p>
          <a:p>
            <a:pPr>
              <a:lnSpc>
                <a:spcPct val="150000"/>
              </a:lnSpc>
            </a:pPr>
            <a:r>
              <a:rPr lang="en-US" sz="2000" b="0" strike="noStrike" spc="-1">
                <a:solidFill>
                  <a:srgbClr val="404040"/>
                </a:solidFill>
                <a:latin typeface="Courier New"/>
                <a:ea typeface="Courier New"/>
              </a:rPr>
              <a:t>	</a:t>
            </a:r>
            <a:r>
              <a:rPr lang="en-US" sz="2000" b="0" strike="noStrike" spc="-1">
                <a:solidFill>
                  <a:srgbClr val="70AD47"/>
                </a:solidFill>
                <a:latin typeface="Courier New"/>
                <a:ea typeface="Courier New"/>
              </a:rPr>
              <a:t>double*</a:t>
            </a:r>
            <a:r>
              <a:rPr lang="en-US" sz="2000" b="0" strike="noStrike" spc="-1">
                <a:solidFill>
                  <a:srgbClr val="404040"/>
                </a:solidFill>
                <a:latin typeface="Courier New"/>
                <a:ea typeface="Courier New"/>
              </a:rPr>
              <a:t> values;</a:t>
            </a:r>
            <a:endParaRPr lang="en-US" sz="2000" b="0" strike="noStrike" spc="-1">
              <a:latin typeface="Arial"/>
            </a:endParaRPr>
          </a:p>
          <a:p>
            <a:pPr>
              <a:lnSpc>
                <a:spcPct val="150000"/>
              </a:lnSpc>
            </a:pPr>
            <a:r>
              <a:rPr lang="en-US" sz="2000" b="0" strike="noStrike" spc="-1">
                <a:solidFill>
                  <a:srgbClr val="404040"/>
                </a:solidFill>
                <a:latin typeface="Courier New"/>
                <a:ea typeface="Courier New"/>
              </a:rPr>
              <a:t>	</a:t>
            </a:r>
            <a:r>
              <a:rPr lang="en-US" sz="2000" b="0" strike="noStrike" spc="-1">
                <a:solidFill>
                  <a:srgbClr val="70AD47"/>
                </a:solidFill>
                <a:latin typeface="Courier New"/>
                <a:ea typeface="Courier New"/>
              </a:rPr>
              <a:t>int </a:t>
            </a:r>
            <a:r>
              <a:rPr lang="en-US" sz="2000" b="0" strike="noStrike" spc="-1">
                <a:solidFill>
                  <a:srgbClr val="404040"/>
                </a:solidFill>
                <a:latin typeface="Courier New"/>
                <a:ea typeface="Courier New"/>
              </a:rPr>
              <a:t>top; </a:t>
            </a:r>
            <a:endParaRPr lang="en-US" sz="2000" b="0" strike="noStrike" spc="-1">
              <a:latin typeface="Arial"/>
            </a:endParaRPr>
          </a:p>
          <a:p>
            <a:pPr>
              <a:lnSpc>
                <a:spcPct val="150000"/>
              </a:lnSpc>
            </a:pPr>
            <a:r>
              <a:rPr lang="en-US" sz="2000" b="0" strike="noStrike" spc="-1">
                <a:solidFill>
                  <a:srgbClr val="404040"/>
                </a:solidFill>
                <a:latin typeface="Courier New"/>
                <a:ea typeface="Courier New"/>
              </a:rPr>
              <a:t>	</a:t>
            </a:r>
            <a:r>
              <a:rPr lang="en-US" sz="2000" b="0" strike="noStrike" spc="-1">
                <a:solidFill>
                  <a:srgbClr val="70AD47"/>
                </a:solidFill>
                <a:latin typeface="Courier New"/>
                <a:ea typeface="Courier New"/>
              </a:rPr>
              <a:t>int </a:t>
            </a:r>
            <a:r>
              <a:rPr lang="en-US" sz="2000" b="0" strike="noStrike" spc="-1">
                <a:solidFill>
                  <a:srgbClr val="404040"/>
                </a:solidFill>
                <a:latin typeface="Courier New"/>
                <a:ea typeface="Courier New"/>
              </a:rPr>
              <a:t>maxTop; </a:t>
            </a:r>
            <a:endParaRPr lang="en-US" sz="2000" b="0" strike="noStrike" spc="-1">
              <a:latin typeface="Arial"/>
            </a:endParaRPr>
          </a:p>
          <a:p>
            <a:pPr>
              <a:lnSpc>
                <a:spcPct val="150000"/>
              </a:lnSpc>
            </a:pPr>
            <a:r>
              <a:rPr lang="en-US" sz="2000" b="0" strike="noStrike" spc="-1">
                <a:solidFill>
                  <a:srgbClr val="404040"/>
                </a:solidFill>
                <a:latin typeface="Courier New"/>
                <a:ea typeface="Courier New"/>
              </a:rPr>
              <a:t>} Stack;</a:t>
            </a:r>
            <a:endParaRPr lang="en-US" sz="2000" b="0" strike="noStrike" spc="-1">
              <a:latin typeface="Arial"/>
            </a:endParaRPr>
          </a:p>
        </p:txBody>
      </p:sp>
      <p:sp>
        <p:nvSpPr>
          <p:cNvPr id="248" name="CustomShape 5"/>
          <p:cNvSpPr/>
          <p:nvPr/>
        </p:nvSpPr>
        <p:spPr>
          <a:xfrm>
            <a:off x="3029040" y="6356520"/>
            <a:ext cx="3085200" cy="363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a:lnSpc>
                <a:spcPct val="100000"/>
              </a:lnSpc>
            </a:pPr>
            <a:r>
              <a:rPr lang="en-US" sz="900" b="0" strike="noStrike" spc="-1">
                <a:solidFill>
                  <a:srgbClr val="8B8B8B"/>
                </a:solidFill>
                <a:latin typeface="Calibri"/>
                <a:ea typeface="DejaVu Sans"/>
              </a:rPr>
              <a:t>Data Structures and Algorithms</a:t>
            </a:r>
            <a:endParaRPr lang="en-US" sz="9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 name="CustomShape 1"/>
          <p:cNvSpPr/>
          <p:nvPr/>
        </p:nvSpPr>
        <p:spPr>
          <a:xfrm>
            <a:off x="628560" y="365040"/>
            <a:ext cx="7885800" cy="13244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4400" b="0" strike="noStrike" spc="-1">
                <a:solidFill>
                  <a:srgbClr val="C00000"/>
                </a:solidFill>
                <a:latin typeface="Calibri"/>
                <a:ea typeface="Calibri"/>
              </a:rPr>
              <a:t>Stack Implementation</a:t>
            </a:r>
            <a:endParaRPr lang="en-US" sz="4400" b="0" strike="noStrike" spc="-1">
              <a:latin typeface="Arial"/>
            </a:endParaRPr>
          </a:p>
        </p:txBody>
      </p:sp>
      <p:sp>
        <p:nvSpPr>
          <p:cNvPr id="250" name="CustomShape 2"/>
          <p:cNvSpPr/>
          <p:nvPr/>
        </p:nvSpPr>
        <p:spPr>
          <a:xfrm>
            <a:off x="628560" y="1825560"/>
            <a:ext cx="7885800" cy="43502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171360" indent="-170280">
              <a:lnSpc>
                <a:spcPct val="90000"/>
              </a:lnSpc>
              <a:spcBef>
                <a:spcPts val="751"/>
              </a:spcBef>
              <a:buClr>
                <a:srgbClr val="000000"/>
              </a:buClr>
              <a:buFont typeface="Arial"/>
              <a:buChar char="•"/>
            </a:pPr>
            <a:r>
              <a:rPr lang="en-US" sz="2800" b="0" strike="noStrike" spc="-1">
                <a:solidFill>
                  <a:srgbClr val="000000"/>
                </a:solidFill>
                <a:latin typeface="Calibri"/>
                <a:ea typeface="Calibri"/>
              </a:rPr>
              <a:t>Methods</a:t>
            </a:r>
            <a:endParaRPr lang="en-US" sz="2800" b="0" strike="noStrike" spc="-1">
              <a:latin typeface="Arial"/>
            </a:endParaRPr>
          </a:p>
        </p:txBody>
      </p:sp>
      <p:sp>
        <p:nvSpPr>
          <p:cNvPr id="251" name="CustomShape 3"/>
          <p:cNvSpPr/>
          <p:nvPr/>
        </p:nvSpPr>
        <p:spPr>
          <a:xfrm>
            <a:off x="6458040" y="6356520"/>
            <a:ext cx="2056320" cy="363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r">
              <a:lnSpc>
                <a:spcPct val="100000"/>
              </a:lnSpc>
            </a:pPr>
            <a:fld id="{1ED2256E-15AB-4F79-94F7-35CD35EACE78}" type="slidenum">
              <a:rPr lang="en-US" sz="900" b="0" strike="noStrike" spc="-1">
                <a:solidFill>
                  <a:srgbClr val="8B8B8B"/>
                </a:solidFill>
                <a:latin typeface="Calibri"/>
                <a:ea typeface="DejaVu Sans"/>
              </a:rPr>
              <a:t>12</a:t>
            </a:fld>
            <a:endParaRPr lang="en-US" sz="900" b="0" strike="noStrike" spc="-1">
              <a:latin typeface="Arial"/>
            </a:endParaRPr>
          </a:p>
        </p:txBody>
      </p:sp>
      <p:sp>
        <p:nvSpPr>
          <p:cNvPr id="252" name="CustomShape 4"/>
          <p:cNvSpPr/>
          <p:nvPr/>
        </p:nvSpPr>
        <p:spPr>
          <a:xfrm>
            <a:off x="609480" y="2362320"/>
            <a:ext cx="8304840" cy="3594960"/>
          </a:xfrm>
          <a:prstGeom prst="rect">
            <a:avLst/>
          </a:prstGeom>
          <a:noFill/>
          <a:ln>
            <a:solidFill>
              <a:schemeClr val="tx1"/>
            </a:solidFill>
          </a:ln>
        </p:spPr>
        <p:style>
          <a:lnRef idx="0">
            <a:scrgbClr r="0" g="0" b="0"/>
          </a:lnRef>
          <a:fillRef idx="0">
            <a:scrgbClr r="0" g="0" b="0"/>
          </a:fillRef>
          <a:effectRef idx="0">
            <a:scrgbClr r="0" g="0" b="0"/>
          </a:effectRef>
          <a:fontRef idx="minor"/>
        </p:style>
        <p:txBody>
          <a:bodyPr lIns="252000" tIns="45000" rIns="90000" bIns="45000"/>
          <a:lstStyle/>
          <a:p>
            <a:pPr>
              <a:lnSpc>
                <a:spcPct val="100000"/>
              </a:lnSpc>
            </a:pPr>
            <a:r>
              <a:rPr lang="en-US" sz="2000" b="0" strike="noStrike" spc="-1">
                <a:solidFill>
                  <a:srgbClr val="70AD47"/>
                </a:solidFill>
                <a:latin typeface="Courier New"/>
                <a:ea typeface="Courier New"/>
              </a:rPr>
              <a:t>bool </a:t>
            </a:r>
            <a:r>
              <a:rPr lang="en-US" sz="2000" b="0" strike="noStrike" spc="-1">
                <a:solidFill>
                  <a:srgbClr val="000000"/>
                </a:solidFill>
                <a:latin typeface="Courier New"/>
                <a:ea typeface="Courier New"/>
              </a:rPr>
              <a:t>CreateStack(Stack *stack, </a:t>
            </a:r>
            <a:r>
              <a:rPr lang="en-US" sz="2000" b="0" strike="noStrike" spc="-1">
                <a:solidFill>
                  <a:srgbClr val="70AD47"/>
                </a:solidFill>
                <a:latin typeface="Courier New"/>
                <a:ea typeface="Courier New"/>
              </a:rPr>
              <a:t>int </a:t>
            </a:r>
            <a:r>
              <a:rPr lang="en-US" sz="2000" b="0" strike="noStrike" spc="-1">
                <a:solidFill>
                  <a:srgbClr val="000000"/>
                </a:solidFill>
                <a:latin typeface="Courier New"/>
                <a:ea typeface="Courier New"/>
              </a:rPr>
              <a:t>size);</a:t>
            </a:r>
            <a:endParaRPr lang="en-US" sz="2000" b="0" strike="noStrike" spc="-1">
              <a:latin typeface="Arial"/>
            </a:endParaRPr>
          </a:p>
          <a:p>
            <a:pPr>
              <a:lnSpc>
                <a:spcPct val="150000"/>
              </a:lnSpc>
            </a:pPr>
            <a:r>
              <a:rPr lang="en-US" sz="2000" b="0" strike="noStrike" spc="-1">
                <a:solidFill>
                  <a:srgbClr val="70AD47"/>
                </a:solidFill>
                <a:latin typeface="Courier New"/>
                <a:ea typeface="Courier New"/>
              </a:rPr>
              <a:t>bool</a:t>
            </a:r>
            <a:r>
              <a:rPr lang="en-US" sz="2000" b="0" strike="noStrike" spc="-1">
                <a:solidFill>
                  <a:srgbClr val="000000"/>
                </a:solidFill>
                <a:latin typeface="Courier New"/>
                <a:ea typeface="Courier New"/>
              </a:rPr>
              <a:t> IsEmpty(Stack* stack);</a:t>
            </a:r>
            <a:endParaRPr lang="en-US" sz="2000" b="0" strike="noStrike" spc="-1">
              <a:latin typeface="Arial"/>
            </a:endParaRPr>
          </a:p>
          <a:p>
            <a:pPr>
              <a:lnSpc>
                <a:spcPct val="150000"/>
              </a:lnSpc>
            </a:pPr>
            <a:r>
              <a:rPr lang="en-US" sz="2000" b="0" strike="noStrike" spc="-1">
                <a:solidFill>
                  <a:srgbClr val="70AD47"/>
                </a:solidFill>
                <a:latin typeface="Courier New"/>
                <a:ea typeface="Courier New"/>
              </a:rPr>
              <a:t>bool</a:t>
            </a:r>
            <a:r>
              <a:rPr lang="en-US" sz="2000" b="0" strike="noStrike" spc="-1">
                <a:solidFill>
                  <a:srgbClr val="000000"/>
                </a:solidFill>
                <a:latin typeface="Courier New"/>
                <a:ea typeface="Courier New"/>
              </a:rPr>
              <a:t> IsFull(Stack* stack);</a:t>
            </a:r>
            <a:endParaRPr lang="en-US" sz="2000" b="0" strike="noStrike" spc="-1">
              <a:latin typeface="Arial"/>
            </a:endParaRPr>
          </a:p>
          <a:p>
            <a:pPr>
              <a:lnSpc>
                <a:spcPct val="150000"/>
              </a:lnSpc>
            </a:pPr>
            <a:r>
              <a:rPr lang="en-US" sz="2000" b="0" strike="noStrike" spc="-1">
                <a:solidFill>
                  <a:srgbClr val="70AD47"/>
                </a:solidFill>
                <a:latin typeface="Courier New"/>
                <a:ea typeface="Courier New"/>
              </a:rPr>
              <a:t>bool </a:t>
            </a:r>
            <a:r>
              <a:rPr lang="en-US" sz="2000" b="0" strike="noStrike" spc="-1">
                <a:solidFill>
                  <a:srgbClr val="000000"/>
                </a:solidFill>
                <a:latin typeface="Courier New"/>
                <a:ea typeface="Courier New"/>
              </a:rPr>
              <a:t>Top(Stack* stack, </a:t>
            </a:r>
            <a:r>
              <a:rPr lang="en-US" sz="2000" b="0" strike="noStrike" spc="-1">
                <a:solidFill>
                  <a:srgbClr val="70AD47"/>
                </a:solidFill>
                <a:latin typeface="Courier New"/>
                <a:ea typeface="Courier New"/>
              </a:rPr>
              <a:t>double</a:t>
            </a:r>
            <a:r>
              <a:rPr lang="en-US" sz="2000" b="0" strike="noStrike" spc="-1">
                <a:solidFill>
                  <a:srgbClr val="000000"/>
                </a:solidFill>
                <a:latin typeface="Courier New"/>
                <a:ea typeface="Courier New"/>
              </a:rPr>
              <a:t>* x);</a:t>
            </a:r>
            <a:endParaRPr lang="en-US" sz="2000" b="0" strike="noStrike" spc="-1">
              <a:latin typeface="Arial"/>
            </a:endParaRPr>
          </a:p>
          <a:p>
            <a:pPr>
              <a:lnSpc>
                <a:spcPct val="150000"/>
              </a:lnSpc>
            </a:pPr>
            <a:r>
              <a:rPr lang="en-US" sz="2000" b="0" strike="noStrike" spc="-1">
                <a:solidFill>
                  <a:srgbClr val="70AD47"/>
                </a:solidFill>
                <a:latin typeface="Courier New"/>
                <a:ea typeface="Courier New"/>
              </a:rPr>
              <a:t>bool </a:t>
            </a:r>
            <a:r>
              <a:rPr lang="en-US" sz="2000" b="0" strike="noStrike" spc="-1">
                <a:solidFill>
                  <a:srgbClr val="000000"/>
                </a:solidFill>
                <a:latin typeface="Courier New"/>
                <a:ea typeface="Courier New"/>
              </a:rPr>
              <a:t>Push(Stack* stack, </a:t>
            </a:r>
            <a:r>
              <a:rPr lang="en-US" sz="2000" b="0" strike="noStrike" spc="-1">
                <a:solidFill>
                  <a:srgbClr val="70AD47"/>
                </a:solidFill>
                <a:latin typeface="Courier New"/>
                <a:ea typeface="Courier New"/>
              </a:rPr>
              <a:t>double</a:t>
            </a:r>
            <a:r>
              <a:rPr lang="en-US" sz="2000" b="0" strike="noStrike" spc="-1">
                <a:solidFill>
                  <a:srgbClr val="000000"/>
                </a:solidFill>
                <a:latin typeface="Courier New"/>
                <a:ea typeface="Courier New"/>
              </a:rPr>
              <a:t> x);</a:t>
            </a:r>
            <a:endParaRPr lang="en-US" sz="2000" b="0" strike="noStrike" spc="-1">
              <a:latin typeface="Arial"/>
            </a:endParaRPr>
          </a:p>
          <a:p>
            <a:pPr>
              <a:lnSpc>
                <a:spcPct val="150000"/>
              </a:lnSpc>
            </a:pPr>
            <a:r>
              <a:rPr lang="en-US" sz="2000" b="0" strike="noStrike" spc="-1">
                <a:solidFill>
                  <a:srgbClr val="70AD47"/>
                </a:solidFill>
                <a:latin typeface="Courier New"/>
                <a:ea typeface="Courier New"/>
              </a:rPr>
              <a:t>bool </a:t>
            </a:r>
            <a:r>
              <a:rPr lang="en-US" sz="2000" b="0" strike="noStrike" spc="-1">
                <a:solidFill>
                  <a:srgbClr val="404040"/>
                </a:solidFill>
                <a:latin typeface="Courier New"/>
                <a:ea typeface="Courier New"/>
              </a:rPr>
              <a:t>P</a:t>
            </a:r>
            <a:r>
              <a:rPr lang="en-US" sz="2000" b="0" strike="noStrike" spc="-1">
                <a:solidFill>
                  <a:srgbClr val="000000"/>
                </a:solidFill>
                <a:latin typeface="Courier New"/>
                <a:ea typeface="Courier New"/>
              </a:rPr>
              <a:t>op(Stack* stack, </a:t>
            </a:r>
            <a:r>
              <a:rPr lang="en-US" sz="2000" b="0" strike="noStrike" spc="-1">
                <a:solidFill>
                  <a:srgbClr val="70AD47"/>
                </a:solidFill>
                <a:latin typeface="Courier New"/>
                <a:ea typeface="Courier New"/>
              </a:rPr>
              <a:t>double</a:t>
            </a:r>
            <a:r>
              <a:rPr lang="en-US" sz="2000" b="0" strike="noStrike" spc="-1">
                <a:solidFill>
                  <a:srgbClr val="000000"/>
                </a:solidFill>
                <a:latin typeface="Courier New"/>
                <a:ea typeface="Courier New"/>
              </a:rPr>
              <a:t>* x);</a:t>
            </a:r>
            <a:endParaRPr lang="en-US" sz="2000" b="0" strike="noStrike" spc="-1">
              <a:latin typeface="Arial"/>
            </a:endParaRPr>
          </a:p>
          <a:p>
            <a:pPr>
              <a:lnSpc>
                <a:spcPct val="150000"/>
              </a:lnSpc>
            </a:pPr>
            <a:r>
              <a:rPr lang="en-US" sz="2000" b="0" strike="noStrike" spc="-1">
                <a:solidFill>
                  <a:srgbClr val="70AD47"/>
                </a:solidFill>
                <a:latin typeface="Courier New"/>
                <a:ea typeface="Courier New"/>
              </a:rPr>
              <a:t>void</a:t>
            </a:r>
            <a:r>
              <a:rPr lang="en-US" sz="2000" b="0" strike="noStrike" spc="-1">
                <a:solidFill>
                  <a:srgbClr val="000000"/>
                </a:solidFill>
                <a:latin typeface="Courier New"/>
                <a:ea typeface="Courier New"/>
              </a:rPr>
              <a:t> DisplayStack(Stack* stack);</a:t>
            </a:r>
            <a:endParaRPr lang="en-US" sz="2000" b="0" strike="noStrike" spc="-1">
              <a:latin typeface="Arial"/>
            </a:endParaRPr>
          </a:p>
          <a:p>
            <a:pPr>
              <a:lnSpc>
                <a:spcPct val="150000"/>
              </a:lnSpc>
            </a:pPr>
            <a:r>
              <a:rPr lang="en-US" sz="2000" b="0" strike="noStrike" spc="-1">
                <a:solidFill>
                  <a:srgbClr val="70AD47"/>
                </a:solidFill>
                <a:latin typeface="Courier New"/>
                <a:ea typeface="Courier New"/>
              </a:rPr>
              <a:t>void </a:t>
            </a:r>
            <a:r>
              <a:rPr lang="en-US" sz="2000" b="0" strike="noStrike" spc="-1">
                <a:solidFill>
                  <a:srgbClr val="000000"/>
                </a:solidFill>
                <a:latin typeface="Courier New"/>
                <a:ea typeface="Courier New"/>
              </a:rPr>
              <a:t>DestroyStack(Stack* stack);</a:t>
            </a:r>
            <a:endParaRPr lang="en-US" sz="2000" b="0" strike="noStrike" spc="-1">
              <a:latin typeface="Arial"/>
            </a:endParaRPr>
          </a:p>
        </p:txBody>
      </p:sp>
      <p:sp>
        <p:nvSpPr>
          <p:cNvPr id="253" name="CustomShape 5"/>
          <p:cNvSpPr/>
          <p:nvPr/>
        </p:nvSpPr>
        <p:spPr>
          <a:xfrm>
            <a:off x="3029040" y="6356520"/>
            <a:ext cx="3085200" cy="363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a:lnSpc>
                <a:spcPct val="100000"/>
              </a:lnSpc>
            </a:pPr>
            <a:r>
              <a:rPr lang="en-US" sz="900" b="0" strike="noStrike" spc="-1">
                <a:solidFill>
                  <a:srgbClr val="8B8B8B"/>
                </a:solidFill>
                <a:latin typeface="Calibri"/>
                <a:ea typeface="DejaVu Sans"/>
              </a:rPr>
              <a:t>Data Structures and Algorithms</a:t>
            </a:r>
            <a:endParaRPr lang="en-US" sz="9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 name="CustomShape 1"/>
          <p:cNvSpPr/>
          <p:nvPr/>
        </p:nvSpPr>
        <p:spPr>
          <a:xfrm>
            <a:off x="628560" y="365040"/>
            <a:ext cx="7885800" cy="13244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4400" b="0" strike="noStrike" spc="-1">
                <a:solidFill>
                  <a:srgbClr val="C00000"/>
                </a:solidFill>
                <a:latin typeface="Calibri"/>
                <a:ea typeface="Calibri"/>
              </a:rPr>
              <a:t>Methods</a:t>
            </a:r>
            <a:endParaRPr lang="en-US" sz="4400" b="0" strike="noStrike" spc="-1">
              <a:latin typeface="Arial"/>
            </a:endParaRPr>
          </a:p>
        </p:txBody>
      </p:sp>
      <p:sp>
        <p:nvSpPr>
          <p:cNvPr id="255" name="CustomShape 2"/>
          <p:cNvSpPr/>
          <p:nvPr/>
        </p:nvSpPr>
        <p:spPr>
          <a:xfrm>
            <a:off x="628560" y="1825560"/>
            <a:ext cx="7885800" cy="43502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fontScale="70000" lnSpcReduction="20000"/>
          </a:bodyPr>
          <a:lstStyle/>
          <a:p>
            <a:pPr marL="171360" indent="-170280">
              <a:lnSpc>
                <a:spcPct val="90000"/>
              </a:lnSpc>
              <a:spcBef>
                <a:spcPts val="751"/>
              </a:spcBef>
              <a:buClr>
                <a:srgbClr val="0070C0"/>
              </a:buClr>
              <a:buFont typeface="Arial"/>
              <a:buChar char="•"/>
            </a:pPr>
            <a:r>
              <a:rPr lang="en-US" sz="2800" b="0" strike="noStrike" spc="-1" dirty="0">
                <a:solidFill>
                  <a:srgbClr val="0070C0"/>
                </a:solidFill>
                <a:latin typeface="Calibri"/>
                <a:ea typeface="Calibri"/>
              </a:rPr>
              <a:t>bool </a:t>
            </a:r>
            <a:r>
              <a:rPr lang="en-US" sz="2800" b="0" strike="noStrike" spc="-1" dirty="0" err="1">
                <a:solidFill>
                  <a:srgbClr val="0070C0"/>
                </a:solidFill>
                <a:latin typeface="Calibri"/>
                <a:ea typeface="Calibri"/>
              </a:rPr>
              <a:t>CreateStack</a:t>
            </a:r>
            <a:r>
              <a:rPr lang="en-US" sz="2800" b="0" strike="noStrike" spc="-1" dirty="0">
                <a:solidFill>
                  <a:srgbClr val="0070C0"/>
                </a:solidFill>
                <a:latin typeface="Calibri"/>
                <a:ea typeface="Calibri"/>
              </a:rPr>
              <a:t>(Stack *stack, int size);</a:t>
            </a:r>
            <a:endParaRPr lang="en-US" sz="2800" b="0" strike="noStrike" spc="-1" dirty="0">
              <a:latin typeface="Arial"/>
            </a:endParaRPr>
          </a:p>
          <a:p>
            <a:pPr marL="514440" lvl="1" indent="-170280">
              <a:lnSpc>
                <a:spcPct val="150000"/>
              </a:lnSpc>
              <a:spcBef>
                <a:spcPts val="374"/>
              </a:spcBef>
              <a:buClr>
                <a:srgbClr val="000000"/>
              </a:buClr>
              <a:buFont typeface="Arial"/>
              <a:buChar char="•"/>
            </a:pPr>
            <a:r>
              <a:rPr lang="en-US" sz="2400" b="0" strike="noStrike" spc="-1" dirty="0">
                <a:solidFill>
                  <a:srgbClr val="000000"/>
                </a:solidFill>
                <a:latin typeface="Calibri"/>
                <a:ea typeface="Calibri"/>
              </a:rPr>
              <a:t>Creates an empty stack whose capacity is </a:t>
            </a:r>
            <a:r>
              <a:rPr lang="en-US" sz="2400" b="0" i="1" strike="noStrike" spc="-1" dirty="0">
                <a:solidFill>
                  <a:srgbClr val="0070C0"/>
                </a:solidFill>
                <a:latin typeface="Calibri"/>
                <a:ea typeface="Calibri"/>
              </a:rPr>
              <a:t>size. (in this case, top = -1)</a:t>
            </a:r>
            <a:endParaRPr lang="en-US" sz="2400" b="0" strike="noStrike" spc="-1" dirty="0">
              <a:latin typeface="Arial"/>
            </a:endParaRPr>
          </a:p>
          <a:p>
            <a:pPr marL="171360" indent="-170280">
              <a:lnSpc>
                <a:spcPct val="150000"/>
              </a:lnSpc>
              <a:spcBef>
                <a:spcPts val="751"/>
              </a:spcBef>
              <a:buClr>
                <a:srgbClr val="0070C0"/>
              </a:buClr>
              <a:buFont typeface="Arial"/>
              <a:buChar char="•"/>
            </a:pPr>
            <a:r>
              <a:rPr lang="en-US" sz="2800" b="0" strike="noStrike" spc="-1" dirty="0">
                <a:solidFill>
                  <a:srgbClr val="0070C0"/>
                </a:solidFill>
                <a:latin typeface="Calibri"/>
                <a:ea typeface="Calibri"/>
              </a:rPr>
              <a:t>bool </a:t>
            </a:r>
            <a:r>
              <a:rPr lang="en-US" sz="2800" b="0" strike="noStrike" spc="-1" dirty="0" err="1">
                <a:solidFill>
                  <a:srgbClr val="0070C0"/>
                </a:solidFill>
                <a:latin typeface="Calibri"/>
                <a:ea typeface="Calibri"/>
              </a:rPr>
              <a:t>IsEmpty</a:t>
            </a:r>
            <a:r>
              <a:rPr lang="en-US" sz="2800" b="0" strike="noStrike" spc="-1" dirty="0">
                <a:solidFill>
                  <a:srgbClr val="0070C0"/>
                </a:solidFill>
                <a:latin typeface="Calibri"/>
                <a:ea typeface="Calibri"/>
              </a:rPr>
              <a:t>(Stack* stack);</a:t>
            </a:r>
            <a:endParaRPr lang="en-US" sz="2800" b="0" strike="noStrike" spc="-1" dirty="0">
              <a:latin typeface="Arial"/>
            </a:endParaRPr>
          </a:p>
          <a:p>
            <a:pPr marL="514440" lvl="1" indent="-170280">
              <a:lnSpc>
                <a:spcPct val="150000"/>
              </a:lnSpc>
              <a:spcBef>
                <a:spcPts val="374"/>
              </a:spcBef>
              <a:buClr>
                <a:srgbClr val="000000"/>
              </a:buClr>
              <a:buFont typeface="Arial"/>
              <a:buChar char="•"/>
            </a:pPr>
            <a:r>
              <a:rPr lang="en-US" sz="2400" b="0" strike="noStrike" spc="-1" dirty="0">
                <a:solidFill>
                  <a:srgbClr val="000000"/>
                </a:solidFill>
                <a:latin typeface="Calibri"/>
                <a:ea typeface="Calibri"/>
              </a:rPr>
              <a:t>Returns true if the stack is empty and false otherwise</a:t>
            </a:r>
            <a:endParaRPr lang="en-US" sz="2400" b="0" strike="noStrike" spc="-1" dirty="0">
              <a:latin typeface="Arial"/>
            </a:endParaRPr>
          </a:p>
          <a:p>
            <a:pPr marL="171360" indent="-170280">
              <a:lnSpc>
                <a:spcPct val="150000"/>
              </a:lnSpc>
              <a:spcBef>
                <a:spcPts val="751"/>
              </a:spcBef>
              <a:buClr>
                <a:srgbClr val="0070C0"/>
              </a:buClr>
              <a:buFont typeface="Arial"/>
              <a:buChar char="•"/>
            </a:pPr>
            <a:r>
              <a:rPr lang="en-US" sz="2800" b="0" strike="noStrike" spc="-1" dirty="0">
                <a:solidFill>
                  <a:srgbClr val="0070C0"/>
                </a:solidFill>
                <a:latin typeface="Calibri"/>
                <a:ea typeface="Calibri"/>
              </a:rPr>
              <a:t>bool </a:t>
            </a:r>
            <a:r>
              <a:rPr lang="en-US" sz="2800" b="0" strike="noStrike" spc="-1" dirty="0" err="1">
                <a:solidFill>
                  <a:srgbClr val="0070C0"/>
                </a:solidFill>
                <a:latin typeface="Calibri"/>
                <a:ea typeface="Calibri"/>
              </a:rPr>
              <a:t>IsFull</a:t>
            </a:r>
            <a:r>
              <a:rPr lang="en-US" sz="2800" b="0" strike="noStrike" spc="-1" dirty="0">
                <a:solidFill>
                  <a:srgbClr val="0070C0"/>
                </a:solidFill>
                <a:latin typeface="Calibri"/>
                <a:ea typeface="Calibri"/>
              </a:rPr>
              <a:t>(Stack* stack);</a:t>
            </a:r>
            <a:endParaRPr lang="en-US" sz="2800" b="0" strike="noStrike" spc="-1" dirty="0">
              <a:latin typeface="Arial"/>
            </a:endParaRPr>
          </a:p>
          <a:p>
            <a:pPr marL="514440" lvl="1" indent="-170280">
              <a:lnSpc>
                <a:spcPct val="150000"/>
              </a:lnSpc>
              <a:spcBef>
                <a:spcPts val="374"/>
              </a:spcBef>
              <a:buClr>
                <a:srgbClr val="000000"/>
              </a:buClr>
              <a:buFont typeface="Arial"/>
              <a:buChar char="•"/>
            </a:pPr>
            <a:r>
              <a:rPr lang="en-US" sz="2400" b="0" strike="noStrike" spc="-1" dirty="0">
                <a:solidFill>
                  <a:srgbClr val="000000"/>
                </a:solidFill>
                <a:latin typeface="Calibri"/>
                <a:ea typeface="Calibri"/>
              </a:rPr>
              <a:t>Returns true if the stack is full and false otherwise. (</a:t>
            </a:r>
            <a:r>
              <a:rPr lang="en-US" sz="2400" b="0" strike="noStrike" spc="-1" dirty="0">
                <a:solidFill>
                  <a:srgbClr val="FF0000"/>
                </a:solidFill>
                <a:latin typeface="Calibri"/>
                <a:ea typeface="Calibri"/>
              </a:rPr>
              <a:t>Full means top = </a:t>
            </a:r>
            <a:r>
              <a:rPr lang="en-US" sz="2400" b="0" strike="noStrike" spc="-1" dirty="0" err="1">
                <a:solidFill>
                  <a:srgbClr val="FF0000"/>
                </a:solidFill>
                <a:latin typeface="Calibri"/>
                <a:ea typeface="Calibri"/>
              </a:rPr>
              <a:t>maxTop</a:t>
            </a:r>
            <a:r>
              <a:rPr lang="en-US" sz="2400" b="0" strike="noStrike" spc="-1" dirty="0">
                <a:solidFill>
                  <a:srgbClr val="000000"/>
                </a:solidFill>
                <a:latin typeface="Calibri"/>
                <a:ea typeface="Calibri"/>
              </a:rPr>
              <a:t>)</a:t>
            </a:r>
            <a:endParaRPr lang="en-US" sz="2400" b="0" strike="noStrike" spc="-1" dirty="0">
              <a:latin typeface="Arial"/>
            </a:endParaRPr>
          </a:p>
          <a:p>
            <a:pPr marL="171360" indent="-170280">
              <a:lnSpc>
                <a:spcPct val="150000"/>
              </a:lnSpc>
              <a:spcBef>
                <a:spcPts val="751"/>
              </a:spcBef>
              <a:buClr>
                <a:srgbClr val="0070C0"/>
              </a:buClr>
              <a:buFont typeface="Arial"/>
              <a:buChar char="•"/>
            </a:pPr>
            <a:r>
              <a:rPr lang="en-US" sz="2800" b="0" strike="noStrike" spc="-1" dirty="0">
                <a:solidFill>
                  <a:srgbClr val="0070C0"/>
                </a:solidFill>
                <a:latin typeface="Calibri"/>
                <a:ea typeface="Calibri"/>
              </a:rPr>
              <a:t>bool Top(Stack* stack, double* x);</a:t>
            </a:r>
            <a:endParaRPr lang="en-US" sz="2800" b="0" strike="noStrike" spc="-1" dirty="0">
              <a:latin typeface="Arial"/>
            </a:endParaRPr>
          </a:p>
          <a:p>
            <a:pPr marL="514440" lvl="1" indent="-170280">
              <a:lnSpc>
                <a:spcPct val="150000"/>
              </a:lnSpc>
              <a:spcBef>
                <a:spcPts val="374"/>
              </a:spcBef>
              <a:buClr>
                <a:srgbClr val="000000"/>
              </a:buClr>
              <a:buFont typeface="Arial"/>
              <a:buChar char="•"/>
            </a:pPr>
            <a:r>
              <a:rPr lang="en-US" sz="2400" b="0" strike="noStrike" spc="-1" dirty="0">
                <a:solidFill>
                  <a:srgbClr val="000000"/>
                </a:solidFill>
                <a:latin typeface="Calibri"/>
                <a:ea typeface="Calibri"/>
              </a:rPr>
              <a:t>Returns true if the operation is successful and false otherwise</a:t>
            </a:r>
            <a:endParaRPr lang="en-US" sz="2400" b="0" strike="noStrike" spc="-1" dirty="0">
              <a:latin typeface="Arial"/>
            </a:endParaRPr>
          </a:p>
          <a:p>
            <a:pPr marL="514440" lvl="1" indent="-170280">
              <a:lnSpc>
                <a:spcPct val="150000"/>
              </a:lnSpc>
              <a:spcBef>
                <a:spcPts val="374"/>
              </a:spcBef>
              <a:buClr>
                <a:srgbClr val="000000"/>
              </a:buClr>
              <a:buFont typeface="Arial"/>
              <a:buChar char="•"/>
            </a:pPr>
            <a:r>
              <a:rPr lang="en-US" sz="2400" b="0" strike="noStrike" spc="-1" dirty="0">
                <a:solidFill>
                  <a:srgbClr val="000000"/>
                </a:solidFill>
                <a:latin typeface="Calibri"/>
                <a:ea typeface="Calibri"/>
              </a:rPr>
              <a:t>Passes the value of the top element to</a:t>
            </a:r>
            <a:r>
              <a:rPr lang="en-US" sz="2400" b="0" i="1" strike="noStrike" spc="-1" dirty="0">
                <a:solidFill>
                  <a:srgbClr val="5B9BD5"/>
                </a:solidFill>
                <a:latin typeface="Calibri"/>
                <a:ea typeface="Calibri"/>
              </a:rPr>
              <a:t> </a:t>
            </a:r>
            <a:r>
              <a:rPr lang="en-US" sz="2400" b="0" i="1" strike="noStrike" spc="-1" dirty="0">
                <a:solidFill>
                  <a:srgbClr val="0070C0"/>
                </a:solidFill>
                <a:latin typeface="Calibri"/>
                <a:ea typeface="Calibri"/>
              </a:rPr>
              <a:t>x</a:t>
            </a:r>
            <a:endParaRPr lang="en-US" sz="2400" b="0" strike="noStrike" spc="-1" dirty="0">
              <a:latin typeface="Arial"/>
            </a:endParaRPr>
          </a:p>
        </p:txBody>
      </p:sp>
      <p:sp>
        <p:nvSpPr>
          <p:cNvPr id="256" name="CustomShape 3"/>
          <p:cNvSpPr/>
          <p:nvPr/>
        </p:nvSpPr>
        <p:spPr>
          <a:xfrm>
            <a:off x="6458040" y="6356520"/>
            <a:ext cx="2056320" cy="363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r">
              <a:lnSpc>
                <a:spcPct val="100000"/>
              </a:lnSpc>
            </a:pPr>
            <a:fld id="{2109EFC2-2A6F-44B0-85BC-152EEAAC44DA}" type="slidenum">
              <a:rPr lang="en-US" sz="900" b="0" strike="noStrike" spc="-1">
                <a:solidFill>
                  <a:srgbClr val="8B8B8B"/>
                </a:solidFill>
                <a:latin typeface="Calibri"/>
                <a:ea typeface="DejaVu Sans"/>
              </a:rPr>
              <a:t>13</a:t>
            </a:fld>
            <a:endParaRPr lang="en-US" sz="900" b="0" strike="noStrike" spc="-1">
              <a:latin typeface="Arial"/>
            </a:endParaRPr>
          </a:p>
        </p:txBody>
      </p:sp>
      <p:sp>
        <p:nvSpPr>
          <p:cNvPr id="257" name="CustomShape 4"/>
          <p:cNvSpPr/>
          <p:nvPr/>
        </p:nvSpPr>
        <p:spPr>
          <a:xfrm>
            <a:off x="3029040" y="6356520"/>
            <a:ext cx="3085200" cy="363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a:lnSpc>
                <a:spcPct val="100000"/>
              </a:lnSpc>
            </a:pPr>
            <a:r>
              <a:rPr lang="en-US" sz="900" b="0" strike="noStrike" spc="-1">
                <a:solidFill>
                  <a:srgbClr val="8B8B8B"/>
                </a:solidFill>
                <a:latin typeface="Calibri"/>
                <a:ea typeface="DejaVu Sans"/>
              </a:rPr>
              <a:t>Data Structures and Algorithms</a:t>
            </a:r>
            <a:endParaRPr lang="en-US" sz="9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 name="CustomShape 1"/>
          <p:cNvSpPr/>
          <p:nvPr/>
        </p:nvSpPr>
        <p:spPr>
          <a:xfrm>
            <a:off x="628560" y="365040"/>
            <a:ext cx="7885800" cy="13244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4400" b="0" strike="noStrike" spc="-1">
                <a:solidFill>
                  <a:srgbClr val="C00000"/>
                </a:solidFill>
                <a:latin typeface="Calibri"/>
                <a:ea typeface="Calibri"/>
              </a:rPr>
              <a:t>Methods</a:t>
            </a:r>
            <a:endParaRPr lang="en-US" sz="4400" b="0" strike="noStrike" spc="-1">
              <a:latin typeface="Arial"/>
            </a:endParaRPr>
          </a:p>
        </p:txBody>
      </p:sp>
      <p:sp>
        <p:nvSpPr>
          <p:cNvPr id="259" name="CustomShape 2"/>
          <p:cNvSpPr/>
          <p:nvPr/>
        </p:nvSpPr>
        <p:spPr>
          <a:xfrm>
            <a:off x="628560" y="1311120"/>
            <a:ext cx="8285760" cy="5409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fontScale="62500" lnSpcReduction="20000"/>
          </a:bodyPr>
          <a:lstStyle/>
          <a:p>
            <a:pPr marL="171360" indent="-170280">
              <a:lnSpc>
                <a:spcPct val="150000"/>
              </a:lnSpc>
              <a:spcBef>
                <a:spcPts val="751"/>
              </a:spcBef>
              <a:buClr>
                <a:srgbClr val="0070C0"/>
              </a:buClr>
              <a:buFont typeface="Arial"/>
              <a:buChar char="•"/>
            </a:pPr>
            <a:r>
              <a:rPr lang="en-US" sz="3400" b="0" strike="noStrike" spc="-1" dirty="0">
                <a:solidFill>
                  <a:srgbClr val="0070C0"/>
                </a:solidFill>
                <a:latin typeface="Calibri"/>
                <a:ea typeface="Calibri"/>
              </a:rPr>
              <a:t>bool Push(Stack* stack, double x);</a:t>
            </a:r>
            <a:endParaRPr lang="en-US" sz="3400" b="0" strike="noStrike" spc="-1" dirty="0">
              <a:latin typeface="Arial"/>
            </a:endParaRPr>
          </a:p>
          <a:p>
            <a:pPr marL="514440" lvl="1" indent="-170280">
              <a:lnSpc>
                <a:spcPct val="150000"/>
              </a:lnSpc>
              <a:spcBef>
                <a:spcPts val="374"/>
              </a:spcBef>
              <a:buClr>
                <a:srgbClr val="000000"/>
              </a:buClr>
              <a:buFont typeface="Arial"/>
              <a:buChar char="•"/>
            </a:pPr>
            <a:r>
              <a:rPr lang="en-US" sz="2900" b="0" strike="noStrike" spc="-1" dirty="0">
                <a:solidFill>
                  <a:srgbClr val="000000"/>
                </a:solidFill>
                <a:latin typeface="Calibri"/>
                <a:ea typeface="Calibri"/>
              </a:rPr>
              <a:t>Add a new element with value </a:t>
            </a:r>
            <a:r>
              <a:rPr lang="en-US" sz="2900" b="0" i="1" strike="noStrike" spc="-1" dirty="0">
                <a:solidFill>
                  <a:srgbClr val="5B9BD5"/>
                </a:solidFill>
                <a:latin typeface="Calibri"/>
                <a:ea typeface="Calibri"/>
              </a:rPr>
              <a:t>x</a:t>
            </a:r>
            <a:r>
              <a:rPr lang="en-US" sz="2900" b="0" strike="noStrike" spc="-1" dirty="0">
                <a:solidFill>
                  <a:srgbClr val="000000"/>
                </a:solidFill>
                <a:latin typeface="Calibri"/>
                <a:ea typeface="Calibri"/>
              </a:rPr>
              <a:t> to the top of the stack</a:t>
            </a:r>
            <a:endParaRPr lang="en-US" sz="2900" b="0" strike="noStrike" spc="-1" dirty="0">
              <a:latin typeface="Arial"/>
            </a:endParaRPr>
          </a:p>
          <a:p>
            <a:pPr marL="514440" lvl="1" indent="-170280">
              <a:lnSpc>
                <a:spcPct val="150000"/>
              </a:lnSpc>
              <a:spcBef>
                <a:spcPts val="374"/>
              </a:spcBef>
              <a:buClr>
                <a:srgbClr val="000000"/>
              </a:buClr>
              <a:buFont typeface="Arial"/>
              <a:buChar char="•"/>
            </a:pPr>
            <a:r>
              <a:rPr lang="en-US" sz="2900" b="0" strike="noStrike" spc="-1" dirty="0">
                <a:solidFill>
                  <a:srgbClr val="000000"/>
                </a:solidFill>
                <a:latin typeface="Calibri"/>
                <a:ea typeface="Calibri"/>
              </a:rPr>
              <a:t>Returns true if the operation is successful and false otherwise. (</a:t>
            </a:r>
            <a:r>
              <a:rPr lang="en-US" sz="2900" b="0" strike="noStrike" spc="-1" dirty="0">
                <a:solidFill>
                  <a:srgbClr val="FF0000"/>
                </a:solidFill>
                <a:latin typeface="Calibri"/>
                <a:ea typeface="Calibri"/>
              </a:rPr>
              <a:t>The push operation is possible when the stack is not full!</a:t>
            </a:r>
            <a:r>
              <a:rPr lang="en-US" sz="2900" b="0" strike="noStrike" spc="-1" dirty="0">
                <a:solidFill>
                  <a:srgbClr val="000000"/>
                </a:solidFill>
                <a:latin typeface="Calibri"/>
                <a:ea typeface="Calibri"/>
              </a:rPr>
              <a:t>)</a:t>
            </a:r>
            <a:endParaRPr lang="en-US" sz="2900" b="0" strike="noStrike" spc="-1" dirty="0">
              <a:latin typeface="Arial"/>
            </a:endParaRPr>
          </a:p>
          <a:p>
            <a:pPr marL="171360" indent="-170280">
              <a:lnSpc>
                <a:spcPct val="150000"/>
              </a:lnSpc>
              <a:spcBef>
                <a:spcPts val="751"/>
              </a:spcBef>
              <a:buClr>
                <a:srgbClr val="0070C0"/>
              </a:buClr>
              <a:buFont typeface="Arial"/>
              <a:buChar char="•"/>
            </a:pPr>
            <a:r>
              <a:rPr lang="en-US" sz="3200" b="0" strike="noStrike" spc="-1" dirty="0">
                <a:solidFill>
                  <a:srgbClr val="0070C0"/>
                </a:solidFill>
                <a:latin typeface="Calibri"/>
                <a:ea typeface="Calibri"/>
              </a:rPr>
              <a:t>bool Pop(Stack* stack, double* x);</a:t>
            </a:r>
            <a:endParaRPr lang="en-US" sz="3200" b="0" strike="noStrike" spc="-1" dirty="0">
              <a:latin typeface="Arial"/>
            </a:endParaRPr>
          </a:p>
          <a:p>
            <a:pPr marL="514440" lvl="1" indent="-170280">
              <a:lnSpc>
                <a:spcPct val="150000"/>
              </a:lnSpc>
              <a:spcBef>
                <a:spcPts val="374"/>
              </a:spcBef>
              <a:buClr>
                <a:srgbClr val="000000"/>
              </a:buClr>
              <a:buFont typeface="Arial"/>
              <a:buChar char="•"/>
            </a:pPr>
            <a:r>
              <a:rPr lang="en-US" sz="2900" b="0" strike="noStrike" spc="-1" dirty="0">
                <a:solidFill>
                  <a:srgbClr val="000000"/>
                </a:solidFill>
                <a:latin typeface="Calibri"/>
                <a:ea typeface="Calibri"/>
              </a:rPr>
              <a:t>Remove an element from the top of the stack</a:t>
            </a:r>
            <a:endParaRPr lang="en-US" sz="2900" b="0" strike="noStrike" spc="-1" dirty="0">
              <a:latin typeface="Arial"/>
            </a:endParaRPr>
          </a:p>
          <a:p>
            <a:pPr marL="514440" lvl="1" indent="-170280">
              <a:lnSpc>
                <a:spcPct val="150000"/>
              </a:lnSpc>
              <a:spcBef>
                <a:spcPts val="374"/>
              </a:spcBef>
              <a:buClr>
                <a:srgbClr val="000000"/>
              </a:buClr>
              <a:buFont typeface="Arial"/>
              <a:buChar char="•"/>
            </a:pPr>
            <a:r>
              <a:rPr lang="en-US" sz="2900" b="0" strike="noStrike" spc="-1" dirty="0">
                <a:solidFill>
                  <a:srgbClr val="000000"/>
                </a:solidFill>
                <a:latin typeface="Calibri"/>
                <a:ea typeface="Calibri"/>
              </a:rPr>
              <a:t>Returns true if the operation is successful and false otherwise. </a:t>
            </a:r>
            <a:r>
              <a:rPr lang="en-US" altLang="zh-CN" sz="2900" spc="-1" dirty="0">
                <a:solidFill>
                  <a:srgbClr val="000000"/>
                </a:solidFill>
                <a:latin typeface="Calibri"/>
                <a:ea typeface="Calibri"/>
              </a:rPr>
              <a:t>(</a:t>
            </a:r>
            <a:r>
              <a:rPr lang="en-US" altLang="zh-CN" sz="2900" spc="-1" dirty="0">
                <a:solidFill>
                  <a:srgbClr val="FF0000"/>
                </a:solidFill>
                <a:latin typeface="Calibri"/>
                <a:ea typeface="Calibri"/>
              </a:rPr>
              <a:t>The pop operation is possible when the stack is not empty!</a:t>
            </a:r>
            <a:r>
              <a:rPr lang="en-US" altLang="zh-CN" sz="2900" spc="-1" dirty="0">
                <a:solidFill>
                  <a:srgbClr val="000000"/>
                </a:solidFill>
                <a:latin typeface="Calibri"/>
                <a:ea typeface="Calibri"/>
              </a:rPr>
              <a:t>)</a:t>
            </a:r>
            <a:endParaRPr lang="en-US" sz="2900" b="0" strike="noStrike" spc="-1" dirty="0">
              <a:latin typeface="Arial"/>
            </a:endParaRPr>
          </a:p>
          <a:p>
            <a:pPr marL="514440" lvl="1" indent="-170280">
              <a:lnSpc>
                <a:spcPct val="150000"/>
              </a:lnSpc>
              <a:spcBef>
                <a:spcPts val="374"/>
              </a:spcBef>
              <a:buClr>
                <a:srgbClr val="000000"/>
              </a:buClr>
              <a:buFont typeface="Arial"/>
              <a:buChar char="•"/>
            </a:pPr>
            <a:r>
              <a:rPr lang="en-US" sz="2900" b="0" strike="noStrike" spc="-1" dirty="0">
                <a:solidFill>
                  <a:srgbClr val="000000"/>
                </a:solidFill>
                <a:latin typeface="Calibri"/>
                <a:ea typeface="Calibri"/>
              </a:rPr>
              <a:t>Passes the value of the top element to</a:t>
            </a:r>
            <a:r>
              <a:rPr lang="en-US" sz="2900" b="0" i="1" strike="noStrike" spc="-1" dirty="0">
                <a:solidFill>
                  <a:srgbClr val="5B9BD5"/>
                </a:solidFill>
                <a:latin typeface="Calibri"/>
                <a:ea typeface="Calibri"/>
              </a:rPr>
              <a:t> </a:t>
            </a:r>
            <a:r>
              <a:rPr lang="en-US" sz="2900" b="0" i="1" strike="noStrike" spc="-1" dirty="0">
                <a:solidFill>
                  <a:srgbClr val="0070C0"/>
                </a:solidFill>
                <a:latin typeface="Calibri"/>
                <a:ea typeface="Calibri"/>
              </a:rPr>
              <a:t>x</a:t>
            </a:r>
            <a:endParaRPr lang="en-US" sz="2900" b="0" strike="noStrike" spc="-1" dirty="0">
              <a:latin typeface="Arial"/>
            </a:endParaRPr>
          </a:p>
          <a:p>
            <a:pPr marL="171360" indent="-170280">
              <a:lnSpc>
                <a:spcPct val="150000"/>
              </a:lnSpc>
              <a:spcBef>
                <a:spcPts val="751"/>
              </a:spcBef>
              <a:buClr>
                <a:srgbClr val="0070C0"/>
              </a:buClr>
              <a:buFont typeface="Arial"/>
              <a:buChar char="•"/>
            </a:pPr>
            <a:r>
              <a:rPr lang="en-US" sz="3200" b="0" strike="noStrike" spc="-1" dirty="0">
                <a:solidFill>
                  <a:srgbClr val="0070C0"/>
                </a:solidFill>
                <a:latin typeface="Calibri"/>
                <a:ea typeface="Calibri"/>
              </a:rPr>
              <a:t>void </a:t>
            </a:r>
            <a:r>
              <a:rPr lang="en-US" sz="3200" b="0" strike="noStrike" spc="-1" dirty="0" err="1">
                <a:solidFill>
                  <a:srgbClr val="0070C0"/>
                </a:solidFill>
                <a:latin typeface="Calibri"/>
                <a:ea typeface="Calibri"/>
              </a:rPr>
              <a:t>DisplayStack</a:t>
            </a:r>
            <a:r>
              <a:rPr lang="en-US" sz="3200" b="0" strike="noStrike" spc="-1" dirty="0">
                <a:solidFill>
                  <a:srgbClr val="0070C0"/>
                </a:solidFill>
                <a:latin typeface="Calibri"/>
                <a:ea typeface="Calibri"/>
              </a:rPr>
              <a:t>(Stack* stack);</a:t>
            </a:r>
            <a:endParaRPr lang="en-US" sz="3200" b="0" strike="noStrike" spc="-1" dirty="0">
              <a:latin typeface="Arial"/>
            </a:endParaRPr>
          </a:p>
          <a:p>
            <a:pPr marL="171360" indent="-170280">
              <a:lnSpc>
                <a:spcPct val="150000"/>
              </a:lnSpc>
              <a:spcBef>
                <a:spcPts val="751"/>
              </a:spcBef>
              <a:buClr>
                <a:srgbClr val="0070C0"/>
              </a:buClr>
              <a:buFont typeface="Arial"/>
              <a:buChar char="•"/>
            </a:pPr>
            <a:r>
              <a:rPr lang="en-US" sz="3200" b="0" strike="noStrike" spc="-1" dirty="0">
                <a:solidFill>
                  <a:srgbClr val="0070C0"/>
                </a:solidFill>
                <a:latin typeface="Calibri"/>
                <a:ea typeface="Calibri"/>
              </a:rPr>
              <a:t>void </a:t>
            </a:r>
            <a:r>
              <a:rPr lang="en-US" sz="3200" b="0" strike="noStrike" spc="-1" dirty="0" err="1">
                <a:solidFill>
                  <a:srgbClr val="0070C0"/>
                </a:solidFill>
                <a:latin typeface="Calibri"/>
                <a:ea typeface="Calibri"/>
              </a:rPr>
              <a:t>DestroyStack</a:t>
            </a:r>
            <a:r>
              <a:rPr lang="en-US" sz="3200" b="0" strike="noStrike" spc="-1" dirty="0">
                <a:solidFill>
                  <a:srgbClr val="0070C0"/>
                </a:solidFill>
                <a:latin typeface="Calibri"/>
                <a:ea typeface="Calibri"/>
              </a:rPr>
              <a:t>(Stack* stack);</a:t>
            </a:r>
            <a:endParaRPr lang="en-US" sz="3200" b="0" strike="noStrike" spc="-1" dirty="0">
              <a:latin typeface="Arial"/>
            </a:endParaRPr>
          </a:p>
          <a:p>
            <a:pPr marL="514440" lvl="1" indent="-170280">
              <a:lnSpc>
                <a:spcPct val="150000"/>
              </a:lnSpc>
              <a:spcBef>
                <a:spcPts val="374"/>
              </a:spcBef>
              <a:buClr>
                <a:srgbClr val="000000"/>
              </a:buClr>
              <a:buFont typeface="Arial"/>
              <a:buChar char="•"/>
            </a:pPr>
            <a:r>
              <a:rPr lang="en-US" sz="2900" b="0" strike="noStrike" spc="-1" dirty="0">
                <a:solidFill>
                  <a:srgbClr val="000000"/>
                </a:solidFill>
                <a:latin typeface="Calibri"/>
                <a:ea typeface="Calibri"/>
              </a:rPr>
              <a:t>Frees the memory occupied by the stack</a:t>
            </a:r>
            <a:endParaRPr lang="en-US" sz="2900" b="0" strike="noStrike" spc="-1" dirty="0">
              <a:latin typeface="Arial"/>
            </a:endParaRPr>
          </a:p>
          <a:p>
            <a:pPr>
              <a:lnSpc>
                <a:spcPct val="90000"/>
              </a:lnSpc>
              <a:spcBef>
                <a:spcPts val="751"/>
              </a:spcBef>
            </a:pPr>
            <a:endParaRPr lang="en-US" sz="2900" b="0" strike="noStrike" spc="-1" dirty="0">
              <a:latin typeface="Arial"/>
            </a:endParaRPr>
          </a:p>
        </p:txBody>
      </p:sp>
      <p:sp>
        <p:nvSpPr>
          <p:cNvPr id="260" name="CustomShape 3"/>
          <p:cNvSpPr/>
          <p:nvPr/>
        </p:nvSpPr>
        <p:spPr>
          <a:xfrm>
            <a:off x="6458040" y="6356520"/>
            <a:ext cx="2056320" cy="363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r">
              <a:lnSpc>
                <a:spcPct val="100000"/>
              </a:lnSpc>
            </a:pPr>
            <a:fld id="{9C893A64-F35A-4F05-9E29-02F3FF952EDD}" type="slidenum">
              <a:rPr lang="en-US" sz="900" b="0" strike="noStrike" spc="-1">
                <a:solidFill>
                  <a:srgbClr val="8B8B8B"/>
                </a:solidFill>
                <a:latin typeface="Calibri"/>
                <a:ea typeface="DejaVu Sans"/>
              </a:rPr>
              <a:t>14</a:t>
            </a:fld>
            <a:endParaRPr lang="en-US" sz="900" b="0" strike="noStrike" spc="-1">
              <a:latin typeface="Arial"/>
            </a:endParaRPr>
          </a:p>
        </p:txBody>
      </p:sp>
      <p:sp>
        <p:nvSpPr>
          <p:cNvPr id="261" name="CustomShape 4"/>
          <p:cNvSpPr/>
          <p:nvPr/>
        </p:nvSpPr>
        <p:spPr>
          <a:xfrm>
            <a:off x="3029040" y="6356520"/>
            <a:ext cx="3085200" cy="363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a:lnSpc>
                <a:spcPct val="100000"/>
              </a:lnSpc>
            </a:pPr>
            <a:r>
              <a:rPr lang="en-US" sz="900" b="0" strike="noStrike" spc="-1">
                <a:solidFill>
                  <a:srgbClr val="8B8B8B"/>
                </a:solidFill>
                <a:latin typeface="Calibri"/>
                <a:ea typeface="DejaVu Sans"/>
              </a:rPr>
              <a:t>Data Structures and Algorithms</a:t>
            </a:r>
            <a:endParaRPr lang="en-US" sz="9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 name="CustomShape 1"/>
          <p:cNvSpPr/>
          <p:nvPr/>
        </p:nvSpPr>
        <p:spPr>
          <a:xfrm>
            <a:off x="152280" y="1752480"/>
            <a:ext cx="8990640" cy="5028120"/>
          </a:xfrm>
          <a:prstGeom prst="rect">
            <a:avLst/>
          </a:prstGeom>
          <a:noFill/>
          <a:ln>
            <a:solidFill>
              <a:schemeClr val="tx1"/>
            </a:solidFill>
            <a:round/>
          </a:ln>
        </p:spPr>
        <p:style>
          <a:lnRef idx="2">
            <a:schemeClr val="accent1">
              <a:shade val="50000"/>
            </a:schemeClr>
          </a:lnRef>
          <a:fillRef idx="1">
            <a:schemeClr val="accent1"/>
          </a:fillRef>
          <a:effectRef idx="0">
            <a:schemeClr val="accent1"/>
          </a:effectRef>
          <a:fontRef idx="minor"/>
        </p:style>
      </p:sp>
      <p:sp>
        <p:nvSpPr>
          <p:cNvPr id="263" name="CustomShape 2"/>
          <p:cNvSpPr/>
          <p:nvPr/>
        </p:nvSpPr>
        <p:spPr>
          <a:xfrm>
            <a:off x="609480" y="4479840"/>
            <a:ext cx="6018840" cy="548280"/>
          </a:xfrm>
          <a:prstGeom prst="rect">
            <a:avLst/>
          </a:prstGeom>
          <a:solidFill>
            <a:schemeClr val="accent5">
              <a:lumMod val="20000"/>
              <a:lumOff val="80000"/>
            </a:schemeClr>
          </a:solidFill>
          <a:ln>
            <a:noFill/>
          </a:ln>
        </p:spPr>
        <p:style>
          <a:lnRef idx="2">
            <a:schemeClr val="accent2"/>
          </a:lnRef>
          <a:fillRef idx="1">
            <a:schemeClr val="lt1"/>
          </a:fillRef>
          <a:effectRef idx="0">
            <a:schemeClr val="accent2"/>
          </a:effectRef>
          <a:fontRef idx="minor"/>
        </p:style>
      </p:sp>
      <p:sp>
        <p:nvSpPr>
          <p:cNvPr id="264" name="CustomShape 3"/>
          <p:cNvSpPr/>
          <p:nvPr/>
        </p:nvSpPr>
        <p:spPr>
          <a:xfrm>
            <a:off x="628560" y="365040"/>
            <a:ext cx="7885800" cy="13244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4400" b="0" strike="noStrike" spc="-1">
                <a:solidFill>
                  <a:srgbClr val="C00000"/>
                </a:solidFill>
                <a:latin typeface="Calibri"/>
                <a:ea typeface="Calibri"/>
              </a:rPr>
              <a:t>CreateStack</a:t>
            </a:r>
            <a:endParaRPr lang="en-US" sz="4400" b="0" strike="noStrike" spc="-1">
              <a:latin typeface="Arial"/>
            </a:endParaRPr>
          </a:p>
        </p:txBody>
      </p:sp>
      <p:sp>
        <p:nvSpPr>
          <p:cNvPr id="265" name="CustomShape 4"/>
          <p:cNvSpPr/>
          <p:nvPr/>
        </p:nvSpPr>
        <p:spPr>
          <a:xfrm>
            <a:off x="6458040" y="6356520"/>
            <a:ext cx="2056320" cy="363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r">
              <a:lnSpc>
                <a:spcPct val="100000"/>
              </a:lnSpc>
            </a:pPr>
            <a:fld id="{0AFB2F3C-5D24-4D9D-A173-76752F568F82}" type="slidenum">
              <a:rPr lang="en-US" sz="900" b="0" strike="noStrike" spc="-1">
                <a:solidFill>
                  <a:srgbClr val="8B8B8B"/>
                </a:solidFill>
                <a:latin typeface="Calibri"/>
                <a:ea typeface="DejaVu Sans"/>
              </a:rPr>
              <a:t>15</a:t>
            </a:fld>
            <a:endParaRPr lang="en-US" sz="900" b="0" strike="noStrike" spc="-1">
              <a:latin typeface="Arial"/>
            </a:endParaRPr>
          </a:p>
        </p:txBody>
      </p:sp>
      <p:sp>
        <p:nvSpPr>
          <p:cNvPr id="266" name="CustomShape 5"/>
          <p:cNvSpPr/>
          <p:nvPr/>
        </p:nvSpPr>
        <p:spPr>
          <a:xfrm>
            <a:off x="0" y="2143440"/>
            <a:ext cx="9295200" cy="4204440"/>
          </a:xfrm>
          <a:prstGeom prst="rect">
            <a:avLst/>
          </a:prstGeom>
          <a:noFill/>
          <a:ln>
            <a:noFill/>
          </a:ln>
        </p:spPr>
        <p:style>
          <a:lnRef idx="0">
            <a:scrgbClr r="0" g="0" b="0"/>
          </a:lnRef>
          <a:fillRef idx="0">
            <a:scrgbClr r="0" g="0" b="0"/>
          </a:fillRef>
          <a:effectRef idx="0">
            <a:scrgbClr r="0" g="0" b="0"/>
          </a:effectRef>
          <a:fontRef idx="minor"/>
        </p:style>
        <p:txBody>
          <a:bodyPr lIns="252000" tIns="45000" rIns="90000" bIns="45000"/>
          <a:lstStyle/>
          <a:p>
            <a:pPr>
              <a:lnSpc>
                <a:spcPct val="150000"/>
              </a:lnSpc>
            </a:pPr>
            <a:r>
              <a:rPr lang="en-US" sz="2000" b="0" strike="noStrike" spc="-1" dirty="0">
                <a:solidFill>
                  <a:srgbClr val="0070C0"/>
                </a:solidFill>
                <a:latin typeface="Courier New"/>
                <a:ea typeface="Courier New"/>
              </a:rPr>
              <a:t>#include </a:t>
            </a:r>
            <a:r>
              <a:rPr lang="en-US" sz="2000" b="0" strike="noStrike" spc="-1" dirty="0">
                <a:solidFill>
                  <a:srgbClr val="000000"/>
                </a:solidFill>
                <a:latin typeface="Courier New"/>
                <a:ea typeface="Courier New"/>
              </a:rPr>
              <a:t>&lt;</a:t>
            </a:r>
            <a:r>
              <a:rPr lang="en-US" sz="2000" b="0" strike="noStrike" spc="-1" dirty="0" err="1">
                <a:solidFill>
                  <a:srgbClr val="000000"/>
                </a:solidFill>
                <a:latin typeface="Courier New"/>
                <a:ea typeface="Courier New"/>
              </a:rPr>
              <a:t>stdlib.h</a:t>
            </a:r>
            <a:r>
              <a:rPr lang="en-US" sz="2000" b="0" strike="noStrike" spc="-1" dirty="0">
                <a:solidFill>
                  <a:srgbClr val="000000"/>
                </a:solidFill>
                <a:latin typeface="Courier New"/>
                <a:ea typeface="Courier New"/>
              </a:rPr>
              <a:t>&gt;</a:t>
            </a:r>
            <a:endParaRPr lang="en-US" sz="2000" b="0" strike="noStrike" spc="-1" dirty="0">
              <a:latin typeface="Arial"/>
            </a:endParaRPr>
          </a:p>
          <a:p>
            <a:pPr>
              <a:lnSpc>
                <a:spcPct val="150000"/>
              </a:lnSpc>
            </a:pPr>
            <a:r>
              <a:rPr lang="en-US" sz="2000" b="0" strike="noStrike" spc="-1" dirty="0">
                <a:solidFill>
                  <a:srgbClr val="0070C0"/>
                </a:solidFill>
                <a:latin typeface="Courier New"/>
                <a:ea typeface="Courier New"/>
              </a:rPr>
              <a:t>bool </a:t>
            </a:r>
            <a:r>
              <a:rPr lang="en-US" sz="2000" b="0" strike="noStrike" spc="-1" dirty="0" err="1">
                <a:solidFill>
                  <a:srgbClr val="000000"/>
                </a:solidFill>
                <a:latin typeface="Courier New"/>
                <a:ea typeface="Courier New"/>
              </a:rPr>
              <a:t>CreateStack</a:t>
            </a:r>
            <a:r>
              <a:rPr lang="en-US" sz="2000" b="0" strike="noStrike" spc="-1" dirty="0">
                <a:solidFill>
                  <a:srgbClr val="000000"/>
                </a:solidFill>
                <a:latin typeface="Courier New"/>
                <a:ea typeface="Courier New"/>
              </a:rPr>
              <a:t>(Stack *stack, int size){</a:t>
            </a:r>
            <a:endParaRPr lang="en-US" sz="2000" b="0" strike="noStrike" spc="-1" dirty="0">
              <a:latin typeface="Arial"/>
            </a:endParaRPr>
          </a:p>
          <a:p>
            <a:pPr marL="457200">
              <a:lnSpc>
                <a:spcPct val="150000"/>
              </a:lnSpc>
            </a:pPr>
            <a:r>
              <a:rPr lang="en-US" sz="2000" b="0" strike="noStrike" spc="-1" dirty="0">
                <a:solidFill>
                  <a:srgbClr val="0070C0"/>
                </a:solidFill>
                <a:latin typeface="Courier New"/>
                <a:ea typeface="Courier New"/>
              </a:rPr>
              <a:t>if</a:t>
            </a:r>
            <a:r>
              <a:rPr lang="en-US" sz="2000" b="0" strike="noStrike" spc="-1" dirty="0">
                <a:solidFill>
                  <a:srgbClr val="5B9BD5"/>
                </a:solidFill>
                <a:latin typeface="Courier New"/>
                <a:ea typeface="Courier New"/>
              </a:rPr>
              <a:t> </a:t>
            </a:r>
            <a:r>
              <a:rPr lang="en-US" sz="2000" b="0" strike="noStrike" spc="-1" dirty="0">
                <a:solidFill>
                  <a:srgbClr val="000000"/>
                </a:solidFill>
                <a:latin typeface="Courier New"/>
                <a:ea typeface="Courier New"/>
              </a:rPr>
              <a:t>(size &lt;= 0)</a:t>
            </a:r>
            <a:endParaRPr lang="en-US" sz="2000" b="0" strike="noStrike" spc="-1" dirty="0">
              <a:latin typeface="Arial"/>
            </a:endParaRPr>
          </a:p>
          <a:p>
            <a:pPr marL="457200">
              <a:lnSpc>
                <a:spcPct val="150000"/>
              </a:lnSpc>
            </a:pPr>
            <a:r>
              <a:rPr lang="en-US" sz="2000" b="0" strike="noStrike" spc="-1" dirty="0">
                <a:solidFill>
                  <a:srgbClr val="404040"/>
                </a:solidFill>
                <a:latin typeface="Courier New"/>
                <a:ea typeface="Courier New"/>
              </a:rPr>
              <a:t>	</a:t>
            </a:r>
            <a:r>
              <a:rPr lang="en-US" sz="2000" b="0" strike="noStrike" spc="-1" dirty="0">
                <a:solidFill>
                  <a:srgbClr val="0070C0"/>
                </a:solidFill>
                <a:latin typeface="Courier New"/>
                <a:ea typeface="Courier New"/>
              </a:rPr>
              <a:t>return false</a:t>
            </a:r>
            <a:r>
              <a:rPr lang="en-US" sz="2000" b="0" strike="noStrike" spc="-1" dirty="0">
                <a:solidFill>
                  <a:srgbClr val="000000"/>
                </a:solidFill>
                <a:latin typeface="Courier New"/>
                <a:ea typeface="Courier New"/>
              </a:rPr>
              <a:t>;</a:t>
            </a:r>
            <a:endParaRPr lang="en-US" sz="2000" b="0" strike="noStrike" spc="-1" dirty="0">
              <a:latin typeface="Arial"/>
            </a:endParaRPr>
          </a:p>
          <a:p>
            <a:pPr marL="457200">
              <a:lnSpc>
                <a:spcPct val="150000"/>
              </a:lnSpc>
            </a:pPr>
            <a:r>
              <a:rPr lang="en-US" sz="2000" b="0" strike="noStrike" spc="-1" dirty="0">
                <a:solidFill>
                  <a:srgbClr val="000000"/>
                </a:solidFill>
                <a:latin typeface="Courier New"/>
                <a:ea typeface="Courier New"/>
              </a:rPr>
              <a:t>stack-&gt;values = </a:t>
            </a:r>
            <a:r>
              <a:rPr lang="en-US" sz="2000" b="0" strike="noStrike" spc="-1" dirty="0">
                <a:solidFill>
                  <a:srgbClr val="404040"/>
                </a:solidFill>
                <a:latin typeface="Courier New"/>
                <a:ea typeface="Courier New"/>
              </a:rPr>
              <a:t>(</a:t>
            </a:r>
            <a:r>
              <a:rPr lang="en-US" sz="2000" b="0" strike="noStrike" spc="-1" dirty="0">
                <a:solidFill>
                  <a:srgbClr val="0070C0"/>
                </a:solidFill>
                <a:latin typeface="Courier New"/>
                <a:ea typeface="Courier New"/>
              </a:rPr>
              <a:t>double</a:t>
            </a:r>
            <a:r>
              <a:rPr lang="en-US" sz="2000" b="0" strike="noStrike" spc="-1" dirty="0">
                <a:solidFill>
                  <a:srgbClr val="404040"/>
                </a:solidFill>
                <a:latin typeface="Courier New"/>
                <a:ea typeface="Courier New"/>
              </a:rPr>
              <a:t>*)</a:t>
            </a:r>
            <a:r>
              <a:rPr lang="en-US" sz="2000" b="0" strike="noStrike" spc="-1" dirty="0">
                <a:solidFill>
                  <a:srgbClr val="000000"/>
                </a:solidFill>
                <a:latin typeface="Courier New"/>
                <a:ea typeface="Courier New"/>
              </a:rPr>
              <a:t>malloc(</a:t>
            </a:r>
            <a:r>
              <a:rPr lang="en-US" sz="2000" b="0" strike="noStrike" spc="-1" dirty="0" err="1">
                <a:solidFill>
                  <a:srgbClr val="0070C0"/>
                </a:solidFill>
                <a:latin typeface="Courier New"/>
                <a:ea typeface="Courier New"/>
              </a:rPr>
              <a:t>sizeof</a:t>
            </a:r>
            <a:r>
              <a:rPr lang="en-US" sz="2000" b="0" strike="noStrike" spc="-1" dirty="0">
                <a:solidFill>
                  <a:srgbClr val="000000"/>
                </a:solidFill>
                <a:latin typeface="Courier New"/>
                <a:ea typeface="Courier New"/>
              </a:rPr>
              <a:t>(</a:t>
            </a:r>
            <a:r>
              <a:rPr lang="en-US" sz="2000" b="0" strike="noStrike" spc="-1" dirty="0">
                <a:solidFill>
                  <a:srgbClr val="0070C0"/>
                </a:solidFill>
                <a:latin typeface="Courier New"/>
                <a:ea typeface="Courier New"/>
              </a:rPr>
              <a:t>double</a:t>
            </a:r>
            <a:r>
              <a:rPr lang="en-US" sz="2000" b="0" strike="noStrike" spc="-1" dirty="0">
                <a:solidFill>
                  <a:srgbClr val="000000"/>
                </a:solidFill>
                <a:latin typeface="Courier New"/>
                <a:ea typeface="Courier New"/>
              </a:rPr>
              <a:t>)*size);</a:t>
            </a:r>
            <a:endParaRPr lang="en-US" sz="2000" b="0" strike="noStrike" spc="-1" dirty="0">
              <a:latin typeface="Arial"/>
            </a:endParaRPr>
          </a:p>
          <a:p>
            <a:pPr marL="457200">
              <a:lnSpc>
                <a:spcPct val="150000"/>
              </a:lnSpc>
            </a:pPr>
            <a:r>
              <a:rPr lang="en-US" sz="2000" b="0" strike="noStrike" spc="-1" dirty="0">
                <a:solidFill>
                  <a:srgbClr val="000000"/>
                </a:solidFill>
                <a:latin typeface="Courier New"/>
                <a:ea typeface="Courier New"/>
              </a:rPr>
              <a:t>stack-&gt;top = -1;</a:t>
            </a:r>
            <a:endParaRPr lang="en-US" sz="2000" b="0" strike="noStrike" spc="-1" dirty="0">
              <a:latin typeface="Arial"/>
            </a:endParaRPr>
          </a:p>
          <a:p>
            <a:pPr marL="457200">
              <a:lnSpc>
                <a:spcPct val="150000"/>
              </a:lnSpc>
            </a:pPr>
            <a:r>
              <a:rPr lang="en-US" sz="2000" b="0" strike="noStrike" spc="-1" dirty="0">
                <a:solidFill>
                  <a:srgbClr val="000000"/>
                </a:solidFill>
                <a:latin typeface="Courier New"/>
                <a:ea typeface="Courier New"/>
              </a:rPr>
              <a:t>stack-&gt;</a:t>
            </a:r>
            <a:r>
              <a:rPr lang="en-US" sz="2000" b="0" strike="noStrike" spc="-1" dirty="0" err="1">
                <a:solidFill>
                  <a:srgbClr val="000000"/>
                </a:solidFill>
                <a:latin typeface="Courier New"/>
                <a:ea typeface="Courier New"/>
              </a:rPr>
              <a:t>maxTop</a:t>
            </a:r>
            <a:r>
              <a:rPr lang="en-US" sz="2000" b="0" strike="noStrike" spc="-1" dirty="0">
                <a:solidFill>
                  <a:srgbClr val="000000"/>
                </a:solidFill>
                <a:latin typeface="Courier New"/>
                <a:ea typeface="Courier New"/>
              </a:rPr>
              <a:t> = size - 1;</a:t>
            </a:r>
            <a:endParaRPr lang="en-US" sz="2000" b="0" strike="noStrike" spc="-1" dirty="0">
              <a:latin typeface="Arial"/>
            </a:endParaRPr>
          </a:p>
          <a:p>
            <a:pPr marL="457200">
              <a:lnSpc>
                <a:spcPct val="150000"/>
              </a:lnSpc>
            </a:pPr>
            <a:r>
              <a:rPr lang="en-US" sz="2000" b="0" strike="noStrike" spc="-1" dirty="0">
                <a:solidFill>
                  <a:srgbClr val="0070C0"/>
                </a:solidFill>
                <a:latin typeface="Courier New"/>
                <a:ea typeface="Courier New"/>
              </a:rPr>
              <a:t>return true;</a:t>
            </a:r>
            <a:endParaRPr lang="en-US" sz="2000" b="0" strike="noStrike" spc="-1" dirty="0">
              <a:latin typeface="Arial"/>
            </a:endParaRPr>
          </a:p>
          <a:p>
            <a:pPr marL="457200">
              <a:lnSpc>
                <a:spcPct val="150000"/>
              </a:lnSpc>
            </a:pPr>
            <a:r>
              <a:rPr lang="en-US" sz="2000" b="0" strike="noStrike" spc="-1" dirty="0">
                <a:solidFill>
                  <a:srgbClr val="404040"/>
                </a:solidFill>
                <a:latin typeface="Courier New"/>
                <a:ea typeface="Courier New"/>
              </a:rPr>
              <a:t>}</a:t>
            </a:r>
            <a:endParaRPr lang="en-US" sz="2000" b="0" strike="noStrike" spc="-1" dirty="0">
              <a:latin typeface="Arial"/>
            </a:endParaRPr>
          </a:p>
        </p:txBody>
      </p:sp>
      <p:sp>
        <p:nvSpPr>
          <p:cNvPr id="267" name="CustomShape 6"/>
          <p:cNvSpPr/>
          <p:nvPr/>
        </p:nvSpPr>
        <p:spPr>
          <a:xfrm>
            <a:off x="6629400" y="4479840"/>
            <a:ext cx="1599120" cy="548280"/>
          </a:xfrm>
          <a:prstGeom prst="rect">
            <a:avLst/>
          </a:prstGeom>
          <a:solidFill>
            <a:schemeClr val="accent5">
              <a:lumMod val="40000"/>
              <a:lumOff val="60000"/>
            </a:schemeClr>
          </a:solidFill>
          <a:ln>
            <a:noFill/>
          </a:ln>
        </p:spPr>
        <p:style>
          <a:lnRef idx="0">
            <a:scrgbClr r="0" g="0" b="0"/>
          </a:lnRef>
          <a:fillRef idx="0">
            <a:scrgbClr r="0" g="0" b="0"/>
          </a:fillRef>
          <a:effectRef idx="0">
            <a:scrgbClr r="0" g="0" b="0"/>
          </a:effectRef>
          <a:fontRef idx="minor"/>
        </p:style>
        <p:txBody>
          <a:bodyPr lIns="90000" tIns="45000" rIns="90000" bIns="45000" anchor="ctr"/>
          <a:lstStyle/>
          <a:p>
            <a:pPr algn="ctr">
              <a:lnSpc>
                <a:spcPct val="100000"/>
              </a:lnSpc>
            </a:pPr>
            <a:r>
              <a:rPr lang="en-US" sz="1800" b="1" strike="noStrike" spc="-1">
                <a:solidFill>
                  <a:srgbClr val="FFFFFF"/>
                </a:solidFill>
                <a:latin typeface="Calibri"/>
                <a:ea typeface="Calibri"/>
              </a:rPr>
              <a:t>Why?</a:t>
            </a:r>
            <a:endParaRPr lang="en-US" sz="1800" b="0" strike="noStrike" spc="-1">
              <a:latin typeface="Arial"/>
            </a:endParaRPr>
          </a:p>
        </p:txBody>
      </p:sp>
      <p:sp>
        <p:nvSpPr>
          <p:cNvPr id="268" name="CustomShape 7"/>
          <p:cNvSpPr/>
          <p:nvPr/>
        </p:nvSpPr>
        <p:spPr>
          <a:xfrm>
            <a:off x="3029040" y="6356520"/>
            <a:ext cx="3085200" cy="363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a:lnSpc>
                <a:spcPct val="100000"/>
              </a:lnSpc>
            </a:pPr>
            <a:r>
              <a:rPr lang="en-US" sz="900" b="0" strike="noStrike" spc="-1">
                <a:solidFill>
                  <a:srgbClr val="8B8B8B"/>
                </a:solidFill>
                <a:latin typeface="Calibri"/>
                <a:ea typeface="DejaVu Sans"/>
              </a:rPr>
              <a:t>Data Structures and Algorithms</a:t>
            </a:r>
            <a:endParaRPr lang="en-US" sz="9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 name="CustomShape 1"/>
          <p:cNvSpPr/>
          <p:nvPr/>
        </p:nvSpPr>
        <p:spPr>
          <a:xfrm>
            <a:off x="152280" y="1828800"/>
            <a:ext cx="8762040" cy="4526640"/>
          </a:xfrm>
          <a:prstGeom prst="rect">
            <a:avLst/>
          </a:prstGeom>
          <a:noFill/>
          <a:ln>
            <a:solidFill>
              <a:schemeClr val="tx1"/>
            </a:solidFill>
            <a:round/>
          </a:ln>
        </p:spPr>
        <p:style>
          <a:lnRef idx="2">
            <a:schemeClr val="accent1">
              <a:shade val="50000"/>
            </a:schemeClr>
          </a:lnRef>
          <a:fillRef idx="1">
            <a:schemeClr val="accent1"/>
          </a:fillRef>
          <a:effectRef idx="0">
            <a:schemeClr val="accent1"/>
          </a:effectRef>
          <a:fontRef idx="minor"/>
        </p:style>
      </p:sp>
      <p:sp>
        <p:nvSpPr>
          <p:cNvPr id="270" name="CustomShape 2"/>
          <p:cNvSpPr/>
          <p:nvPr/>
        </p:nvSpPr>
        <p:spPr>
          <a:xfrm>
            <a:off x="609480" y="3581280"/>
            <a:ext cx="6018840" cy="548280"/>
          </a:xfrm>
          <a:prstGeom prst="rect">
            <a:avLst/>
          </a:prstGeom>
          <a:solidFill>
            <a:schemeClr val="accent5">
              <a:lumMod val="20000"/>
              <a:lumOff val="80000"/>
            </a:schemeClr>
          </a:solidFill>
          <a:ln>
            <a:noFill/>
          </a:ln>
        </p:spPr>
        <p:style>
          <a:lnRef idx="2">
            <a:schemeClr val="accent2"/>
          </a:lnRef>
          <a:fillRef idx="1">
            <a:schemeClr val="lt1"/>
          </a:fillRef>
          <a:effectRef idx="0">
            <a:schemeClr val="accent2"/>
          </a:effectRef>
          <a:fontRef idx="minor"/>
        </p:style>
      </p:sp>
      <p:sp>
        <p:nvSpPr>
          <p:cNvPr id="271" name="CustomShape 3"/>
          <p:cNvSpPr/>
          <p:nvPr/>
        </p:nvSpPr>
        <p:spPr>
          <a:xfrm>
            <a:off x="628560" y="365040"/>
            <a:ext cx="7885800" cy="13244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4400" b="0" strike="noStrike" spc="-1">
                <a:solidFill>
                  <a:srgbClr val="C00000"/>
                </a:solidFill>
                <a:latin typeface="Calibri"/>
                <a:ea typeface="Calibri"/>
              </a:rPr>
              <a:t>Push</a:t>
            </a:r>
            <a:endParaRPr lang="en-US" sz="4400" b="0" strike="noStrike" spc="-1">
              <a:latin typeface="Arial"/>
            </a:endParaRPr>
          </a:p>
        </p:txBody>
      </p:sp>
      <p:sp>
        <p:nvSpPr>
          <p:cNvPr id="272" name="CustomShape 4"/>
          <p:cNvSpPr/>
          <p:nvPr/>
        </p:nvSpPr>
        <p:spPr>
          <a:xfrm>
            <a:off x="6458040" y="6356520"/>
            <a:ext cx="2056320" cy="363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r">
              <a:lnSpc>
                <a:spcPct val="100000"/>
              </a:lnSpc>
            </a:pPr>
            <a:fld id="{65A40AF0-F92F-4886-8E22-21B10A575B46}" type="slidenum">
              <a:rPr lang="en-US" sz="900" b="0" strike="noStrike" spc="-1">
                <a:solidFill>
                  <a:srgbClr val="8B8B8B"/>
                </a:solidFill>
                <a:latin typeface="Calibri"/>
                <a:ea typeface="DejaVu Sans"/>
              </a:rPr>
              <a:t>16</a:t>
            </a:fld>
            <a:endParaRPr lang="en-US" sz="900" b="0" strike="noStrike" spc="-1">
              <a:latin typeface="Arial"/>
            </a:endParaRPr>
          </a:p>
        </p:txBody>
      </p:sp>
      <p:sp>
        <p:nvSpPr>
          <p:cNvPr id="273" name="CustomShape 5"/>
          <p:cNvSpPr/>
          <p:nvPr/>
        </p:nvSpPr>
        <p:spPr>
          <a:xfrm>
            <a:off x="0" y="2153520"/>
            <a:ext cx="9295200" cy="2832840"/>
          </a:xfrm>
          <a:prstGeom prst="rect">
            <a:avLst/>
          </a:prstGeom>
          <a:noFill/>
          <a:ln>
            <a:noFill/>
          </a:ln>
        </p:spPr>
        <p:style>
          <a:lnRef idx="0">
            <a:scrgbClr r="0" g="0" b="0"/>
          </a:lnRef>
          <a:fillRef idx="0">
            <a:scrgbClr r="0" g="0" b="0"/>
          </a:fillRef>
          <a:effectRef idx="0">
            <a:scrgbClr r="0" g="0" b="0"/>
          </a:effectRef>
          <a:fontRef idx="minor"/>
        </p:style>
        <p:txBody>
          <a:bodyPr lIns="252000" tIns="45000" rIns="90000" bIns="45000"/>
          <a:lstStyle/>
          <a:p>
            <a:pPr>
              <a:lnSpc>
                <a:spcPct val="150000"/>
              </a:lnSpc>
            </a:pPr>
            <a:r>
              <a:rPr lang="en-US" sz="2000" b="0" strike="noStrike" spc="-1">
                <a:solidFill>
                  <a:srgbClr val="0070C0"/>
                </a:solidFill>
                <a:latin typeface="Courier New"/>
                <a:ea typeface="Courier New"/>
              </a:rPr>
              <a:t>bool </a:t>
            </a:r>
            <a:r>
              <a:rPr lang="en-US" sz="2000" b="0" strike="noStrike" spc="-1">
                <a:solidFill>
                  <a:srgbClr val="000000"/>
                </a:solidFill>
                <a:latin typeface="Courier New"/>
                <a:ea typeface="Courier New"/>
              </a:rPr>
              <a:t>Push(Stack* stack, </a:t>
            </a:r>
            <a:r>
              <a:rPr lang="en-US" sz="2000" b="0" strike="noStrike" spc="-1">
                <a:solidFill>
                  <a:srgbClr val="0070C0"/>
                </a:solidFill>
                <a:latin typeface="Courier New"/>
                <a:ea typeface="Courier New"/>
              </a:rPr>
              <a:t>double</a:t>
            </a:r>
            <a:r>
              <a:rPr lang="en-US" sz="2000" b="0" strike="noStrike" spc="-1">
                <a:solidFill>
                  <a:srgbClr val="000000"/>
                </a:solidFill>
                <a:latin typeface="Courier New"/>
                <a:ea typeface="Courier New"/>
              </a:rPr>
              <a:t> x){</a:t>
            </a:r>
            <a:endParaRPr lang="en-US" sz="2000" b="0" strike="noStrike" spc="-1">
              <a:latin typeface="Arial"/>
            </a:endParaRPr>
          </a:p>
          <a:p>
            <a:pPr marL="457200">
              <a:lnSpc>
                <a:spcPct val="150000"/>
              </a:lnSpc>
            </a:pPr>
            <a:r>
              <a:rPr lang="en-US" sz="2000" b="0" strike="noStrike" spc="-1">
                <a:solidFill>
                  <a:srgbClr val="0070C0"/>
                </a:solidFill>
                <a:latin typeface="Courier New"/>
                <a:ea typeface="Courier New"/>
              </a:rPr>
              <a:t>if</a:t>
            </a:r>
            <a:r>
              <a:rPr lang="en-US" sz="2000" b="0" strike="noStrike" spc="-1">
                <a:solidFill>
                  <a:srgbClr val="000000"/>
                </a:solidFill>
                <a:latin typeface="Courier New"/>
                <a:ea typeface="Courier New"/>
              </a:rPr>
              <a:t>(IsFull(stack))</a:t>
            </a:r>
            <a:endParaRPr lang="en-US" sz="2000" b="0" strike="noStrike" spc="-1">
              <a:latin typeface="Arial"/>
            </a:endParaRPr>
          </a:p>
          <a:p>
            <a:pPr marL="457200">
              <a:lnSpc>
                <a:spcPct val="150000"/>
              </a:lnSpc>
            </a:pPr>
            <a:r>
              <a:rPr lang="en-US" sz="2000" b="0" strike="noStrike" spc="-1">
                <a:solidFill>
                  <a:srgbClr val="000000"/>
                </a:solidFill>
                <a:latin typeface="Courier New"/>
                <a:ea typeface="Courier New"/>
              </a:rPr>
              <a:t>	</a:t>
            </a:r>
            <a:r>
              <a:rPr lang="en-US" sz="2000" b="0" strike="noStrike" spc="-1">
                <a:solidFill>
                  <a:srgbClr val="0070C0"/>
                </a:solidFill>
                <a:latin typeface="Courier New"/>
                <a:ea typeface="Courier New"/>
              </a:rPr>
              <a:t>return</a:t>
            </a:r>
            <a:r>
              <a:rPr lang="en-US" sz="2000" b="0" strike="noStrike" spc="-1">
                <a:solidFill>
                  <a:srgbClr val="000000"/>
                </a:solidFill>
                <a:latin typeface="Courier New"/>
                <a:ea typeface="Courier New"/>
              </a:rPr>
              <a:t> false;</a:t>
            </a:r>
            <a:endParaRPr lang="en-US" sz="2000" b="0" strike="noStrike" spc="-1">
              <a:latin typeface="Arial"/>
            </a:endParaRPr>
          </a:p>
          <a:p>
            <a:pPr marL="457200">
              <a:lnSpc>
                <a:spcPct val="150000"/>
              </a:lnSpc>
            </a:pPr>
            <a:r>
              <a:rPr lang="en-US" sz="2000" b="0" strike="noStrike" spc="-1">
                <a:solidFill>
                  <a:srgbClr val="000000"/>
                </a:solidFill>
                <a:latin typeface="Courier New"/>
                <a:ea typeface="Courier New"/>
              </a:rPr>
              <a:t>stack-&gt;values[++stack-&gt;top] = x;</a:t>
            </a:r>
            <a:endParaRPr lang="en-US" sz="2000" b="0" strike="noStrike" spc="-1">
              <a:latin typeface="Arial"/>
            </a:endParaRPr>
          </a:p>
          <a:p>
            <a:pPr marL="457200">
              <a:lnSpc>
                <a:spcPct val="150000"/>
              </a:lnSpc>
            </a:pPr>
            <a:r>
              <a:rPr lang="en-US" sz="2000" b="0" strike="noStrike" spc="-1">
                <a:solidFill>
                  <a:srgbClr val="0070C0"/>
                </a:solidFill>
                <a:latin typeface="Courier New"/>
                <a:ea typeface="Courier New"/>
              </a:rPr>
              <a:t>return</a:t>
            </a:r>
            <a:r>
              <a:rPr lang="en-US" sz="2000" b="0" strike="noStrike" spc="-1">
                <a:solidFill>
                  <a:srgbClr val="000000"/>
                </a:solidFill>
                <a:latin typeface="Courier New"/>
                <a:ea typeface="Courier New"/>
              </a:rPr>
              <a:t> true;</a:t>
            </a:r>
            <a:endParaRPr lang="en-US" sz="2000" b="0" strike="noStrike" spc="-1">
              <a:latin typeface="Arial"/>
            </a:endParaRPr>
          </a:p>
          <a:p>
            <a:pPr marL="457200">
              <a:lnSpc>
                <a:spcPct val="150000"/>
              </a:lnSpc>
            </a:pPr>
            <a:r>
              <a:rPr lang="en-US" sz="2000" b="0" strike="noStrike" spc="-1">
                <a:solidFill>
                  <a:srgbClr val="000000"/>
                </a:solidFill>
                <a:latin typeface="Courier New"/>
                <a:ea typeface="Courier New"/>
              </a:rPr>
              <a:t>}</a:t>
            </a:r>
            <a:endParaRPr lang="en-US" sz="2000" b="0" strike="noStrike" spc="-1">
              <a:latin typeface="Arial"/>
            </a:endParaRPr>
          </a:p>
        </p:txBody>
      </p:sp>
      <p:sp>
        <p:nvSpPr>
          <p:cNvPr id="274" name="CustomShape 6"/>
          <p:cNvSpPr/>
          <p:nvPr/>
        </p:nvSpPr>
        <p:spPr>
          <a:xfrm>
            <a:off x="6629400" y="3581280"/>
            <a:ext cx="1599120" cy="548280"/>
          </a:xfrm>
          <a:prstGeom prst="rect">
            <a:avLst/>
          </a:prstGeom>
          <a:solidFill>
            <a:schemeClr val="accent5">
              <a:lumMod val="40000"/>
              <a:lumOff val="60000"/>
            </a:schemeClr>
          </a:solid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r>
              <a:rPr lang="en-US" sz="1800" b="1" strike="noStrike" spc="-1">
                <a:solidFill>
                  <a:srgbClr val="FFFFFF"/>
                </a:solidFill>
                <a:latin typeface="Calibri"/>
                <a:ea typeface="Calibri"/>
              </a:rPr>
              <a:t>This explains.</a:t>
            </a:r>
            <a:endParaRPr lang="en-US" sz="1800" b="0" strike="noStrike" spc="-1">
              <a:latin typeface="Arial"/>
            </a:endParaRPr>
          </a:p>
        </p:txBody>
      </p:sp>
      <p:sp>
        <p:nvSpPr>
          <p:cNvPr id="275" name="CustomShape 7"/>
          <p:cNvSpPr/>
          <p:nvPr/>
        </p:nvSpPr>
        <p:spPr>
          <a:xfrm>
            <a:off x="3029040" y="6356520"/>
            <a:ext cx="3085200" cy="363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a:lnSpc>
                <a:spcPct val="100000"/>
              </a:lnSpc>
            </a:pPr>
            <a:r>
              <a:rPr lang="en-US" sz="900" b="0" strike="noStrike" spc="-1">
                <a:solidFill>
                  <a:srgbClr val="8B8B8B"/>
                </a:solidFill>
                <a:latin typeface="Calibri"/>
                <a:ea typeface="DejaVu Sans"/>
              </a:rPr>
              <a:t>Data Structures and Algorithms</a:t>
            </a:r>
            <a:endParaRPr lang="en-US" sz="9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 name="CustomShape 1"/>
          <p:cNvSpPr/>
          <p:nvPr/>
        </p:nvSpPr>
        <p:spPr>
          <a:xfrm>
            <a:off x="628560" y="0"/>
            <a:ext cx="7885800" cy="13244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4400" b="0" strike="noStrike" spc="-1">
                <a:solidFill>
                  <a:srgbClr val="C00000"/>
                </a:solidFill>
                <a:latin typeface="Calibri"/>
                <a:ea typeface="Calibri"/>
              </a:rPr>
              <a:t>Using stack</a:t>
            </a:r>
            <a:endParaRPr lang="en-US" sz="4400" b="0" strike="noStrike" spc="-1">
              <a:latin typeface="Arial"/>
            </a:endParaRPr>
          </a:p>
        </p:txBody>
      </p:sp>
      <p:sp>
        <p:nvSpPr>
          <p:cNvPr id="277" name="CustomShape 2"/>
          <p:cNvSpPr/>
          <p:nvPr/>
        </p:nvSpPr>
        <p:spPr>
          <a:xfrm>
            <a:off x="6458040" y="6356520"/>
            <a:ext cx="2056320" cy="363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r">
              <a:lnSpc>
                <a:spcPct val="100000"/>
              </a:lnSpc>
            </a:pPr>
            <a:fld id="{44387EC5-2AFE-4857-9469-1ED8699F8A25}" type="slidenum">
              <a:rPr lang="en-US" sz="900" b="0" strike="noStrike" spc="-1">
                <a:solidFill>
                  <a:srgbClr val="8B8B8B"/>
                </a:solidFill>
                <a:latin typeface="Calibri"/>
                <a:ea typeface="DejaVu Sans"/>
              </a:rPr>
              <a:t>17</a:t>
            </a:fld>
            <a:endParaRPr lang="en-US" sz="900" b="0" strike="noStrike" spc="-1">
              <a:latin typeface="Arial"/>
            </a:endParaRPr>
          </a:p>
        </p:txBody>
      </p:sp>
      <p:sp>
        <p:nvSpPr>
          <p:cNvPr id="278" name="CustomShape 3"/>
          <p:cNvSpPr/>
          <p:nvPr/>
        </p:nvSpPr>
        <p:spPr>
          <a:xfrm>
            <a:off x="228600" y="1027800"/>
            <a:ext cx="8685720" cy="5301720"/>
          </a:xfrm>
          <a:prstGeom prst="rect">
            <a:avLst/>
          </a:prstGeom>
          <a:noFill/>
          <a:ln>
            <a:solidFill>
              <a:schemeClr val="tx1"/>
            </a:solidFill>
          </a:ln>
        </p:spPr>
        <p:style>
          <a:lnRef idx="0">
            <a:scrgbClr r="0" g="0" b="0"/>
          </a:lnRef>
          <a:fillRef idx="0">
            <a:scrgbClr r="0" g="0" b="0"/>
          </a:fillRef>
          <a:effectRef idx="0">
            <a:scrgbClr r="0" g="0" b="0"/>
          </a:effectRef>
          <a:fontRef idx="minor"/>
        </p:style>
        <p:txBody>
          <a:bodyPr lIns="252000" tIns="45000" rIns="90000" bIns="45000"/>
          <a:lstStyle/>
          <a:p>
            <a:pPr>
              <a:lnSpc>
                <a:spcPct val="100000"/>
              </a:lnSpc>
            </a:pPr>
            <a:r>
              <a:rPr lang="en-US" sz="1800" b="0" strike="noStrike" spc="-1">
                <a:solidFill>
                  <a:srgbClr val="0070C0"/>
                </a:solidFill>
                <a:latin typeface="Courier New"/>
                <a:ea typeface="Courier New"/>
              </a:rPr>
              <a:t>#include </a:t>
            </a:r>
            <a:r>
              <a:rPr lang="en-US" sz="1800" b="0" strike="noStrike" spc="-1">
                <a:solidFill>
                  <a:srgbClr val="000000"/>
                </a:solidFill>
                <a:latin typeface="Courier New"/>
                <a:ea typeface="Courier New"/>
              </a:rPr>
              <a:t>"stack.h"</a:t>
            </a:r>
            <a:endParaRPr lang="en-US" sz="1800" b="0" strike="noStrike" spc="-1">
              <a:latin typeface="Arial"/>
            </a:endParaRPr>
          </a:p>
          <a:p>
            <a:pPr>
              <a:lnSpc>
                <a:spcPct val="100000"/>
              </a:lnSpc>
            </a:pPr>
            <a:r>
              <a:rPr lang="en-US" sz="1800" b="0" strike="noStrike" spc="-1">
                <a:solidFill>
                  <a:srgbClr val="0070C0"/>
                </a:solidFill>
                <a:latin typeface="Courier New"/>
                <a:ea typeface="Courier New"/>
              </a:rPr>
              <a:t>int </a:t>
            </a:r>
            <a:r>
              <a:rPr lang="en-US" sz="1800" b="0" strike="noStrike" spc="-1">
                <a:solidFill>
                  <a:srgbClr val="000000"/>
                </a:solidFill>
                <a:latin typeface="Courier New"/>
                <a:ea typeface="Courier New"/>
              </a:rPr>
              <a:t>main() {</a:t>
            </a:r>
            <a:endParaRPr lang="en-US" sz="1800" b="0" strike="noStrike" spc="-1">
              <a:latin typeface="Arial"/>
            </a:endParaRPr>
          </a:p>
          <a:p>
            <a:pPr marL="457200">
              <a:lnSpc>
                <a:spcPct val="100000"/>
              </a:lnSpc>
            </a:pPr>
            <a:r>
              <a:rPr lang="en-US" sz="1800" b="0" strike="noStrike" spc="-1">
                <a:solidFill>
                  <a:srgbClr val="000000"/>
                </a:solidFill>
                <a:latin typeface="Courier New"/>
                <a:ea typeface="Courier New"/>
              </a:rPr>
              <a:t>Stack* stack = (Stack*)malloc(sizeof(Stack));</a:t>
            </a:r>
            <a:endParaRPr lang="en-US" sz="1800" b="0" strike="noStrike" spc="-1">
              <a:latin typeface="Arial"/>
            </a:endParaRPr>
          </a:p>
          <a:p>
            <a:pPr marL="457200">
              <a:lnSpc>
                <a:spcPct val="100000"/>
              </a:lnSpc>
            </a:pPr>
            <a:r>
              <a:rPr lang="en-US" sz="1800" b="0" strike="noStrike" spc="-1">
                <a:solidFill>
                  <a:srgbClr val="000000"/>
                </a:solidFill>
                <a:latin typeface="Courier New"/>
                <a:ea typeface="Courier New"/>
              </a:rPr>
              <a:t>double val;</a:t>
            </a:r>
            <a:endParaRPr lang="en-US" sz="1800" b="0" strike="noStrike" spc="-1">
              <a:latin typeface="Arial"/>
            </a:endParaRPr>
          </a:p>
          <a:p>
            <a:pPr marL="457200">
              <a:lnSpc>
                <a:spcPct val="100000"/>
              </a:lnSpc>
            </a:pPr>
            <a:r>
              <a:rPr lang="en-US" sz="1800" b="0" strike="noStrike" spc="-1">
                <a:solidFill>
                  <a:srgbClr val="000000"/>
                </a:solidFill>
                <a:latin typeface="Courier New"/>
                <a:ea typeface="Courier New"/>
              </a:rPr>
              <a:t>CreateStack(stack, 5);</a:t>
            </a:r>
            <a:endParaRPr lang="en-US" sz="1800" b="0" strike="noStrike" spc="-1">
              <a:latin typeface="Arial"/>
            </a:endParaRPr>
          </a:p>
          <a:p>
            <a:pPr marL="457200">
              <a:lnSpc>
                <a:spcPct val="100000"/>
              </a:lnSpc>
            </a:pPr>
            <a:r>
              <a:rPr lang="en-US" sz="1800" b="0" strike="noStrike" spc="-1">
                <a:solidFill>
                  <a:srgbClr val="000000"/>
                </a:solidFill>
                <a:latin typeface="Courier New"/>
                <a:ea typeface="Courier New"/>
              </a:rPr>
              <a:t>Push(stack, 5);</a:t>
            </a:r>
            <a:endParaRPr lang="en-US" sz="1800" b="0" strike="noStrike" spc="-1">
              <a:latin typeface="Arial"/>
            </a:endParaRPr>
          </a:p>
          <a:p>
            <a:pPr marL="457200">
              <a:lnSpc>
                <a:spcPct val="100000"/>
              </a:lnSpc>
            </a:pPr>
            <a:r>
              <a:rPr lang="en-US" sz="1800" b="0" strike="noStrike" spc="-1">
                <a:solidFill>
                  <a:srgbClr val="000000"/>
                </a:solidFill>
                <a:latin typeface="Courier New"/>
                <a:ea typeface="Courier New"/>
              </a:rPr>
              <a:t>Push(stack, 6.5);</a:t>
            </a:r>
            <a:endParaRPr lang="en-US" sz="1800" b="0" strike="noStrike" spc="-1">
              <a:latin typeface="Arial"/>
            </a:endParaRPr>
          </a:p>
          <a:p>
            <a:pPr marL="457200">
              <a:lnSpc>
                <a:spcPct val="100000"/>
              </a:lnSpc>
            </a:pPr>
            <a:r>
              <a:rPr lang="en-US" sz="1800" b="0" strike="noStrike" spc="-1">
                <a:solidFill>
                  <a:srgbClr val="000000"/>
                </a:solidFill>
                <a:latin typeface="Courier New"/>
                <a:ea typeface="Courier New"/>
              </a:rPr>
              <a:t>Push(stack, -3);</a:t>
            </a:r>
            <a:endParaRPr lang="en-US" sz="1800" b="0" strike="noStrike" spc="-1">
              <a:latin typeface="Arial"/>
            </a:endParaRPr>
          </a:p>
          <a:p>
            <a:pPr marL="457200">
              <a:lnSpc>
                <a:spcPct val="100000"/>
              </a:lnSpc>
            </a:pPr>
            <a:r>
              <a:rPr lang="en-US" sz="1800" b="0" strike="noStrike" spc="-1">
                <a:solidFill>
                  <a:srgbClr val="000000"/>
                </a:solidFill>
                <a:latin typeface="Courier New"/>
                <a:ea typeface="Courier New"/>
              </a:rPr>
              <a:t>Push(stack, -8);</a:t>
            </a:r>
            <a:endParaRPr lang="en-US" sz="1800" b="0" strike="noStrike" spc="-1">
              <a:latin typeface="Arial"/>
            </a:endParaRPr>
          </a:p>
          <a:p>
            <a:pPr marL="457200">
              <a:lnSpc>
                <a:spcPct val="100000"/>
              </a:lnSpc>
            </a:pPr>
            <a:r>
              <a:rPr lang="en-US" sz="1800" b="0" strike="noStrike" spc="-1">
                <a:solidFill>
                  <a:srgbClr val="000000"/>
                </a:solidFill>
                <a:latin typeface="Courier New"/>
                <a:ea typeface="Courier New"/>
              </a:rPr>
              <a:t>DisplayStack(stack);</a:t>
            </a:r>
            <a:endParaRPr lang="en-US" sz="1800" b="0" strike="noStrike" spc="-1">
              <a:latin typeface="Arial"/>
            </a:endParaRPr>
          </a:p>
          <a:p>
            <a:pPr marL="457200">
              <a:lnSpc>
                <a:spcPct val="100000"/>
              </a:lnSpc>
            </a:pPr>
            <a:r>
              <a:rPr lang="en-US" sz="1800" b="0" strike="noStrike" spc="-1">
                <a:solidFill>
                  <a:srgbClr val="0070C0"/>
                </a:solidFill>
                <a:latin typeface="Courier New"/>
                <a:ea typeface="Courier New"/>
              </a:rPr>
              <a:t>if</a:t>
            </a:r>
            <a:r>
              <a:rPr lang="en-US" sz="1800" b="0" strike="noStrike" spc="-1">
                <a:solidFill>
                  <a:srgbClr val="000000"/>
                </a:solidFill>
                <a:latin typeface="Courier New"/>
                <a:ea typeface="Courier New"/>
              </a:rPr>
              <a:t>(Top(stack, &amp;val))		</a:t>
            </a:r>
            <a:endParaRPr lang="en-US" sz="1800" b="0" strike="noStrike" spc="-1">
              <a:latin typeface="Arial"/>
            </a:endParaRPr>
          </a:p>
          <a:p>
            <a:pPr marL="457200">
              <a:lnSpc>
                <a:spcPct val="100000"/>
              </a:lnSpc>
            </a:pPr>
            <a:r>
              <a:rPr lang="en-US" sz="1800" b="0" strike="noStrike" spc="-1">
                <a:solidFill>
                  <a:srgbClr val="000000"/>
                </a:solidFill>
                <a:latin typeface="Courier New"/>
                <a:ea typeface="Courier New"/>
              </a:rPr>
              <a:t>	printf("Top: %f\n", val);</a:t>
            </a:r>
            <a:endParaRPr lang="en-US" sz="1800" b="0" strike="noStrike" spc="-1">
              <a:latin typeface="Arial"/>
            </a:endParaRPr>
          </a:p>
          <a:p>
            <a:pPr marL="457200">
              <a:lnSpc>
                <a:spcPct val="100000"/>
              </a:lnSpc>
            </a:pPr>
            <a:r>
              <a:rPr lang="en-US" sz="1800" b="0" strike="noStrike" spc="-1">
                <a:solidFill>
                  <a:srgbClr val="000000"/>
                </a:solidFill>
                <a:latin typeface="Courier New"/>
                <a:ea typeface="Courier New"/>
              </a:rPr>
              <a:t>Pop(stack, &amp;val);</a:t>
            </a:r>
            <a:endParaRPr lang="en-US" sz="1800" b="0" strike="noStrike" spc="-1">
              <a:latin typeface="Arial"/>
            </a:endParaRPr>
          </a:p>
          <a:p>
            <a:pPr marL="457200">
              <a:lnSpc>
                <a:spcPct val="100000"/>
              </a:lnSpc>
            </a:pPr>
            <a:r>
              <a:rPr lang="en-US" sz="1800" b="0" strike="noStrike" spc="-1">
                <a:solidFill>
                  <a:srgbClr val="0070C0"/>
                </a:solidFill>
                <a:latin typeface="Courier New"/>
                <a:ea typeface="Courier New"/>
              </a:rPr>
              <a:t>if</a:t>
            </a:r>
            <a:r>
              <a:rPr lang="en-US" sz="1800" b="0" strike="noStrike" spc="-1">
                <a:solidFill>
                  <a:srgbClr val="000000"/>
                </a:solidFill>
                <a:latin typeface="Courier New"/>
                <a:ea typeface="Courier New"/>
              </a:rPr>
              <a:t>(Top(stack, &amp;val))</a:t>
            </a:r>
            <a:endParaRPr lang="en-US" sz="1800" b="0" strike="noStrike" spc="-1">
              <a:latin typeface="Arial"/>
            </a:endParaRPr>
          </a:p>
          <a:p>
            <a:pPr marL="457200">
              <a:lnSpc>
                <a:spcPct val="100000"/>
              </a:lnSpc>
            </a:pPr>
            <a:r>
              <a:rPr lang="en-US" sz="1800" b="0" strike="noStrike" spc="-1">
                <a:solidFill>
                  <a:srgbClr val="000000"/>
                </a:solidFill>
                <a:latin typeface="Courier New"/>
                <a:ea typeface="Courier New"/>
              </a:rPr>
              <a:t>	printf("Top: %f\n", val);</a:t>
            </a:r>
            <a:endParaRPr lang="en-US" sz="1800" b="0" strike="noStrike" spc="-1">
              <a:latin typeface="Arial"/>
            </a:endParaRPr>
          </a:p>
          <a:p>
            <a:pPr marL="457200">
              <a:lnSpc>
                <a:spcPct val="100000"/>
              </a:lnSpc>
            </a:pPr>
            <a:r>
              <a:rPr lang="en-US" sz="1800" b="0" strike="noStrike" spc="-1">
                <a:solidFill>
                  <a:srgbClr val="0070C0"/>
                </a:solidFill>
                <a:latin typeface="Courier New"/>
                <a:ea typeface="Courier New"/>
              </a:rPr>
              <a:t>while</a:t>
            </a:r>
            <a:r>
              <a:rPr lang="en-US" sz="1800" b="0" strike="noStrike" spc="-1">
                <a:solidFill>
                  <a:srgbClr val="000000"/>
                </a:solidFill>
                <a:latin typeface="Courier New"/>
                <a:ea typeface="Courier New"/>
              </a:rPr>
              <a:t>(!IsEmpty(stack))</a:t>
            </a:r>
            <a:endParaRPr lang="en-US" sz="1800" b="0" strike="noStrike" spc="-1">
              <a:latin typeface="Arial"/>
            </a:endParaRPr>
          </a:p>
          <a:p>
            <a:pPr marL="457200">
              <a:lnSpc>
                <a:spcPct val="100000"/>
              </a:lnSpc>
            </a:pPr>
            <a:r>
              <a:rPr lang="en-US" sz="1800" b="0" strike="noStrike" spc="-1">
                <a:solidFill>
                  <a:srgbClr val="000000"/>
                </a:solidFill>
                <a:latin typeface="Courier New"/>
                <a:ea typeface="Courier New"/>
              </a:rPr>
              <a:t>	Pop(stack, &amp;val);</a:t>
            </a:r>
            <a:endParaRPr lang="en-US" sz="1800" b="0" strike="noStrike" spc="-1">
              <a:latin typeface="Arial"/>
            </a:endParaRPr>
          </a:p>
          <a:p>
            <a:pPr marL="457200">
              <a:lnSpc>
                <a:spcPct val="100000"/>
              </a:lnSpc>
            </a:pPr>
            <a:r>
              <a:rPr lang="en-US" sz="1800" b="0" strike="noStrike" spc="-1">
                <a:solidFill>
                  <a:srgbClr val="000000"/>
                </a:solidFill>
                <a:latin typeface="Courier New"/>
                <a:ea typeface="Courier New"/>
              </a:rPr>
              <a:t>DisplayStack(stack);</a:t>
            </a:r>
            <a:endParaRPr lang="en-US" sz="1800" b="0" strike="noStrike" spc="-1">
              <a:latin typeface="Arial"/>
            </a:endParaRPr>
          </a:p>
          <a:p>
            <a:pPr marL="457200">
              <a:lnSpc>
                <a:spcPct val="100000"/>
              </a:lnSpc>
            </a:pPr>
            <a:r>
              <a:rPr lang="en-US" sz="1800" b="0" strike="noStrike" spc="-1">
                <a:solidFill>
                  <a:srgbClr val="000000"/>
                </a:solidFill>
                <a:latin typeface="Courier New"/>
                <a:ea typeface="Courier New"/>
              </a:rPr>
              <a:t>DestroyStack(stack);}</a:t>
            </a:r>
            <a:endParaRPr lang="en-US" sz="1800" b="0" strike="noStrike" spc="-1">
              <a:latin typeface="Arial"/>
            </a:endParaRPr>
          </a:p>
        </p:txBody>
      </p:sp>
      <p:sp>
        <p:nvSpPr>
          <p:cNvPr id="279" name="CustomShape 4"/>
          <p:cNvSpPr/>
          <p:nvPr/>
        </p:nvSpPr>
        <p:spPr>
          <a:xfrm>
            <a:off x="3029040" y="6356520"/>
            <a:ext cx="3085200" cy="363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a:lnSpc>
                <a:spcPct val="100000"/>
              </a:lnSpc>
            </a:pPr>
            <a:r>
              <a:rPr lang="en-US" sz="900" b="0" strike="noStrike" spc="-1">
                <a:solidFill>
                  <a:srgbClr val="8B8B8B"/>
                </a:solidFill>
                <a:latin typeface="Calibri"/>
                <a:ea typeface="DejaVu Sans"/>
              </a:rPr>
              <a:t>Data Structures and Algorithms</a:t>
            </a:r>
            <a:endParaRPr lang="en-US" sz="9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 name="CustomShape 1"/>
          <p:cNvSpPr/>
          <p:nvPr/>
        </p:nvSpPr>
        <p:spPr>
          <a:xfrm>
            <a:off x="628560" y="365040"/>
            <a:ext cx="7885800" cy="13244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4400" b="0" strike="noStrike" spc="-1">
                <a:solidFill>
                  <a:srgbClr val="C00000"/>
                </a:solidFill>
                <a:latin typeface="Calibri"/>
                <a:ea typeface="Calibri"/>
              </a:rPr>
              <a:t>Side Notes</a:t>
            </a:r>
            <a:endParaRPr lang="en-US" sz="4400" b="0" strike="noStrike" spc="-1">
              <a:latin typeface="Arial"/>
            </a:endParaRPr>
          </a:p>
        </p:txBody>
      </p:sp>
      <p:sp>
        <p:nvSpPr>
          <p:cNvPr id="281" name="CustomShape 2"/>
          <p:cNvSpPr/>
          <p:nvPr/>
        </p:nvSpPr>
        <p:spPr>
          <a:xfrm>
            <a:off x="628560" y="1825560"/>
            <a:ext cx="7885800" cy="43502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171360" indent="-170280">
              <a:lnSpc>
                <a:spcPct val="90000"/>
              </a:lnSpc>
              <a:spcBef>
                <a:spcPts val="751"/>
              </a:spcBef>
              <a:buClr>
                <a:srgbClr val="000000"/>
              </a:buClr>
              <a:buFont typeface="Arial"/>
              <a:buChar char="•"/>
            </a:pPr>
            <a:r>
              <a:rPr lang="en-US" sz="2800" b="0" strike="noStrike" spc="-1">
                <a:solidFill>
                  <a:srgbClr val="000000"/>
                </a:solidFill>
                <a:latin typeface="Calibri"/>
                <a:ea typeface="Calibri"/>
              </a:rPr>
              <a:t>All these values evaluate to false in C:</a:t>
            </a:r>
            <a:endParaRPr lang="en-US" sz="2800" b="0" strike="noStrike" spc="-1">
              <a:latin typeface="Arial"/>
            </a:endParaRPr>
          </a:p>
          <a:p>
            <a:pPr algn="ctr">
              <a:lnSpc>
                <a:spcPct val="90000"/>
              </a:lnSpc>
              <a:spcBef>
                <a:spcPts val="751"/>
              </a:spcBef>
            </a:pPr>
            <a:r>
              <a:rPr lang="en-US" sz="6000" b="0" strike="noStrike" spc="-1">
                <a:solidFill>
                  <a:srgbClr val="C00000"/>
                </a:solidFill>
                <a:latin typeface="Calibri"/>
                <a:ea typeface="Calibri"/>
              </a:rPr>
              <a:t>0</a:t>
            </a:r>
            <a:endParaRPr lang="en-US" sz="6000" b="0" strike="noStrike" spc="-1">
              <a:latin typeface="Arial"/>
            </a:endParaRPr>
          </a:p>
          <a:p>
            <a:pPr algn="ctr">
              <a:lnSpc>
                <a:spcPct val="90000"/>
              </a:lnSpc>
              <a:spcBef>
                <a:spcPts val="751"/>
              </a:spcBef>
            </a:pPr>
            <a:r>
              <a:rPr lang="en-US" sz="6000" b="0" strike="noStrike" spc="-1">
                <a:solidFill>
                  <a:srgbClr val="C00000"/>
                </a:solidFill>
                <a:latin typeface="Calibri"/>
                <a:ea typeface="Calibri"/>
              </a:rPr>
              <a:t>NULL</a:t>
            </a:r>
            <a:endParaRPr lang="en-US" sz="6000" b="0" strike="noStrike" spc="-1">
              <a:latin typeface="Arial"/>
            </a:endParaRPr>
          </a:p>
          <a:p>
            <a:pPr algn="ctr">
              <a:lnSpc>
                <a:spcPct val="90000"/>
              </a:lnSpc>
              <a:spcBef>
                <a:spcPts val="751"/>
              </a:spcBef>
            </a:pPr>
            <a:r>
              <a:rPr lang="en-US" sz="6000" b="0" strike="noStrike" spc="-1">
                <a:solidFill>
                  <a:srgbClr val="C00000"/>
                </a:solidFill>
                <a:latin typeface="Calibri"/>
                <a:ea typeface="Calibri"/>
              </a:rPr>
              <a:t>false</a:t>
            </a:r>
            <a:endParaRPr lang="en-US" sz="6000" b="0" strike="noStrike" spc="-1">
              <a:latin typeface="Arial"/>
            </a:endParaRPr>
          </a:p>
        </p:txBody>
      </p:sp>
      <p:sp>
        <p:nvSpPr>
          <p:cNvPr id="282" name="CustomShape 3"/>
          <p:cNvSpPr/>
          <p:nvPr/>
        </p:nvSpPr>
        <p:spPr>
          <a:xfrm>
            <a:off x="6458040" y="6356520"/>
            <a:ext cx="2056320" cy="363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r">
              <a:lnSpc>
                <a:spcPct val="100000"/>
              </a:lnSpc>
            </a:pPr>
            <a:fld id="{D275E077-C5C4-48A0-A128-31C02B755EEE}" type="slidenum">
              <a:rPr lang="en-US" sz="900" b="0" strike="noStrike" spc="-1">
                <a:solidFill>
                  <a:srgbClr val="8B8B8B"/>
                </a:solidFill>
                <a:latin typeface="Calibri"/>
                <a:ea typeface="DejaVu Sans"/>
              </a:rPr>
              <a:t>18</a:t>
            </a:fld>
            <a:endParaRPr lang="en-US" sz="900" b="0" strike="noStrike" spc="-1">
              <a:latin typeface="Arial"/>
            </a:endParaRPr>
          </a:p>
        </p:txBody>
      </p:sp>
      <p:sp>
        <p:nvSpPr>
          <p:cNvPr id="283" name="CustomShape 4"/>
          <p:cNvSpPr/>
          <p:nvPr/>
        </p:nvSpPr>
        <p:spPr>
          <a:xfrm>
            <a:off x="3029040" y="6356520"/>
            <a:ext cx="3085200" cy="363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a:lnSpc>
                <a:spcPct val="100000"/>
              </a:lnSpc>
            </a:pPr>
            <a:r>
              <a:rPr lang="en-US" sz="900" b="0" strike="noStrike" spc="-1">
                <a:solidFill>
                  <a:srgbClr val="8B8B8B"/>
                </a:solidFill>
                <a:latin typeface="Calibri"/>
                <a:ea typeface="DejaVu Sans"/>
              </a:rPr>
              <a:t>Data Structures and Algorithms</a:t>
            </a:r>
            <a:endParaRPr lang="en-US" sz="9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 name="CustomShape 1"/>
          <p:cNvSpPr/>
          <p:nvPr/>
        </p:nvSpPr>
        <p:spPr>
          <a:xfrm>
            <a:off x="628560" y="365040"/>
            <a:ext cx="7885800" cy="13244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4400" b="0" strike="noStrike" spc="-1">
                <a:solidFill>
                  <a:srgbClr val="C00000"/>
                </a:solidFill>
                <a:latin typeface="Calibri"/>
                <a:ea typeface="Calibri"/>
              </a:rPr>
              <a:t>Side Notes II</a:t>
            </a:r>
            <a:endParaRPr lang="en-US" sz="4400" b="0" strike="noStrike" spc="-1">
              <a:latin typeface="Arial"/>
            </a:endParaRPr>
          </a:p>
        </p:txBody>
      </p:sp>
      <p:sp>
        <p:nvSpPr>
          <p:cNvPr id="285" name="CustomShape 2"/>
          <p:cNvSpPr/>
          <p:nvPr/>
        </p:nvSpPr>
        <p:spPr>
          <a:xfrm>
            <a:off x="628560" y="1825560"/>
            <a:ext cx="7885800" cy="43502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marL="171360" indent="-170280">
              <a:lnSpc>
                <a:spcPct val="90000"/>
              </a:lnSpc>
              <a:spcBef>
                <a:spcPts val="751"/>
              </a:spcBef>
              <a:buClr>
                <a:srgbClr val="000000"/>
              </a:buClr>
              <a:buFont typeface="Arial"/>
              <a:buChar char="•"/>
            </a:pPr>
            <a:r>
              <a:rPr lang="en-US" sz="2800" b="0" strike="noStrike" spc="-1">
                <a:solidFill>
                  <a:srgbClr val="000000"/>
                </a:solidFill>
                <a:latin typeface="Calibri"/>
                <a:ea typeface="Calibri"/>
              </a:rPr>
              <a:t>A typical file structure for a C program with user defined data structures</a:t>
            </a:r>
            <a:endParaRPr lang="en-US" sz="2800" b="0" strike="noStrike" spc="-1">
              <a:latin typeface="Arial"/>
            </a:endParaRPr>
          </a:p>
          <a:p>
            <a:pPr marL="514440" lvl="1" indent="-170280">
              <a:lnSpc>
                <a:spcPct val="90000"/>
              </a:lnSpc>
              <a:spcBef>
                <a:spcPts val="374"/>
              </a:spcBef>
              <a:buClr>
                <a:srgbClr val="000000"/>
              </a:buClr>
              <a:buFont typeface="Arial"/>
              <a:buChar char="•"/>
            </a:pPr>
            <a:r>
              <a:rPr lang="en-US" sz="2400" b="0" strike="noStrike" spc="-1">
                <a:solidFill>
                  <a:srgbClr val="000000"/>
                </a:solidFill>
                <a:latin typeface="Courier New"/>
                <a:ea typeface="Courier New"/>
              </a:rPr>
              <a:t>stack.h</a:t>
            </a:r>
            <a:endParaRPr lang="en-US" sz="2400" b="0" strike="noStrike" spc="-1">
              <a:latin typeface="Arial"/>
            </a:endParaRPr>
          </a:p>
          <a:p>
            <a:pPr marL="857160" lvl="2" indent="-170280">
              <a:lnSpc>
                <a:spcPct val="90000"/>
              </a:lnSpc>
              <a:spcBef>
                <a:spcPts val="374"/>
              </a:spcBef>
              <a:buClr>
                <a:srgbClr val="000000"/>
              </a:buClr>
              <a:buFont typeface="Arial"/>
              <a:buChar char="•"/>
            </a:pPr>
            <a:r>
              <a:rPr lang="en-US" sz="2000" b="0" strike="noStrike" spc="-1">
                <a:solidFill>
                  <a:srgbClr val="000000"/>
                </a:solidFill>
                <a:latin typeface="Calibri"/>
                <a:ea typeface="Calibri"/>
              </a:rPr>
              <a:t>Declares all the </a:t>
            </a:r>
            <a:r>
              <a:rPr lang="en-US" sz="2000" b="0" strike="noStrike" spc="-1">
                <a:solidFill>
                  <a:srgbClr val="0070C0"/>
                </a:solidFill>
                <a:latin typeface="Calibri"/>
                <a:ea typeface="Calibri"/>
              </a:rPr>
              <a:t>data types</a:t>
            </a:r>
            <a:r>
              <a:rPr lang="en-US" sz="2000" b="0" strike="noStrike" spc="-1">
                <a:solidFill>
                  <a:srgbClr val="000000"/>
                </a:solidFill>
                <a:latin typeface="Calibri"/>
                <a:ea typeface="Calibri"/>
              </a:rPr>
              <a:t> and </a:t>
            </a:r>
            <a:r>
              <a:rPr lang="en-US" sz="2000" b="0" strike="noStrike" spc="-1">
                <a:solidFill>
                  <a:srgbClr val="0070C0"/>
                </a:solidFill>
                <a:latin typeface="Calibri"/>
                <a:ea typeface="Calibri"/>
              </a:rPr>
              <a:t>functions</a:t>
            </a:r>
            <a:endParaRPr lang="en-US" sz="2000" b="0" strike="noStrike" spc="-1">
              <a:latin typeface="Arial"/>
            </a:endParaRPr>
          </a:p>
          <a:p>
            <a:pPr marL="857160" lvl="2" indent="-170280">
              <a:lnSpc>
                <a:spcPct val="90000"/>
              </a:lnSpc>
              <a:spcBef>
                <a:spcPts val="374"/>
              </a:spcBef>
              <a:buClr>
                <a:srgbClr val="000000"/>
              </a:buClr>
              <a:buFont typeface="Arial"/>
              <a:buChar char="•"/>
            </a:pPr>
            <a:r>
              <a:rPr lang="en-US" sz="2000" b="0" strike="noStrike" spc="-1">
                <a:solidFill>
                  <a:srgbClr val="000000"/>
                </a:solidFill>
                <a:latin typeface="Calibri"/>
                <a:ea typeface="Calibri"/>
              </a:rPr>
              <a:t>No implementation</a:t>
            </a:r>
            <a:endParaRPr lang="en-US" sz="2000" b="0" strike="noStrike" spc="-1">
              <a:latin typeface="Arial"/>
            </a:endParaRPr>
          </a:p>
          <a:p>
            <a:pPr marL="514440" lvl="1" indent="-170280">
              <a:lnSpc>
                <a:spcPct val="90000"/>
              </a:lnSpc>
              <a:spcBef>
                <a:spcPts val="374"/>
              </a:spcBef>
              <a:buClr>
                <a:srgbClr val="000000"/>
              </a:buClr>
              <a:buFont typeface="Arial"/>
              <a:buChar char="•"/>
            </a:pPr>
            <a:r>
              <a:rPr lang="en-US" sz="2400" b="0" strike="noStrike" spc="-1">
                <a:solidFill>
                  <a:srgbClr val="000000"/>
                </a:solidFill>
                <a:latin typeface="Courier New"/>
                <a:ea typeface="Courier New"/>
              </a:rPr>
              <a:t>stack.cpp</a:t>
            </a:r>
            <a:endParaRPr lang="en-US" sz="2400" b="0" strike="noStrike" spc="-1">
              <a:latin typeface="Arial"/>
            </a:endParaRPr>
          </a:p>
          <a:p>
            <a:pPr marL="857160" lvl="2" indent="-170280">
              <a:lnSpc>
                <a:spcPct val="90000"/>
              </a:lnSpc>
              <a:spcBef>
                <a:spcPts val="374"/>
              </a:spcBef>
              <a:buClr>
                <a:srgbClr val="000000"/>
              </a:buClr>
              <a:buFont typeface="Arial"/>
              <a:buChar char="•"/>
            </a:pPr>
            <a:r>
              <a:rPr lang="en-US" sz="2000" b="0" strike="noStrike" spc="-1">
                <a:solidFill>
                  <a:srgbClr val="000000"/>
                </a:solidFill>
                <a:latin typeface="Calibri"/>
                <a:ea typeface="Calibri"/>
              </a:rPr>
              <a:t>Includes </a:t>
            </a:r>
            <a:r>
              <a:rPr lang="en-US" sz="2000" b="0" strike="noStrike" spc="-1">
                <a:solidFill>
                  <a:srgbClr val="0070C0"/>
                </a:solidFill>
                <a:latin typeface="Calibri"/>
                <a:ea typeface="Calibri"/>
              </a:rPr>
              <a:t>stack.h</a:t>
            </a:r>
            <a:endParaRPr lang="en-US" sz="2000" b="0" strike="noStrike" spc="-1">
              <a:latin typeface="Arial"/>
            </a:endParaRPr>
          </a:p>
          <a:p>
            <a:pPr marL="857160" lvl="2" indent="-170280">
              <a:lnSpc>
                <a:spcPct val="90000"/>
              </a:lnSpc>
              <a:spcBef>
                <a:spcPts val="374"/>
              </a:spcBef>
              <a:buClr>
                <a:srgbClr val="000000"/>
              </a:buClr>
              <a:buFont typeface="Arial"/>
              <a:buChar char="•"/>
            </a:pPr>
            <a:r>
              <a:rPr lang="en-US" sz="2000" b="0" strike="noStrike" spc="-1">
                <a:solidFill>
                  <a:srgbClr val="000000"/>
                </a:solidFill>
                <a:latin typeface="Calibri"/>
                <a:ea typeface="Calibri"/>
              </a:rPr>
              <a:t>Implements all the functions in stack.h</a:t>
            </a:r>
            <a:endParaRPr lang="en-US" sz="2000" b="0" strike="noStrike" spc="-1">
              <a:latin typeface="Arial"/>
            </a:endParaRPr>
          </a:p>
          <a:p>
            <a:pPr marL="514440" lvl="1" indent="-170280">
              <a:lnSpc>
                <a:spcPct val="90000"/>
              </a:lnSpc>
              <a:spcBef>
                <a:spcPts val="374"/>
              </a:spcBef>
              <a:buClr>
                <a:srgbClr val="000000"/>
              </a:buClr>
              <a:buFont typeface="Arial"/>
              <a:buChar char="•"/>
            </a:pPr>
            <a:r>
              <a:rPr lang="en-US" sz="2400" b="0" strike="noStrike" spc="-1">
                <a:solidFill>
                  <a:srgbClr val="000000"/>
                </a:solidFill>
                <a:latin typeface="Courier New"/>
                <a:ea typeface="Courier New"/>
              </a:rPr>
              <a:t>main.cpp</a:t>
            </a:r>
            <a:endParaRPr lang="en-US" sz="2400" b="0" strike="noStrike" spc="-1">
              <a:latin typeface="Arial"/>
            </a:endParaRPr>
          </a:p>
          <a:p>
            <a:pPr marL="857160" lvl="2" indent="-170280">
              <a:lnSpc>
                <a:spcPct val="90000"/>
              </a:lnSpc>
              <a:spcBef>
                <a:spcPts val="374"/>
              </a:spcBef>
              <a:buClr>
                <a:srgbClr val="000000"/>
              </a:buClr>
              <a:buFont typeface="Arial"/>
              <a:buChar char="•"/>
            </a:pPr>
            <a:r>
              <a:rPr lang="en-US" sz="2000" b="0" strike="noStrike" spc="-1">
                <a:solidFill>
                  <a:srgbClr val="000000"/>
                </a:solidFill>
                <a:latin typeface="Calibri"/>
                <a:ea typeface="Calibri"/>
              </a:rPr>
              <a:t>Includes </a:t>
            </a:r>
            <a:r>
              <a:rPr lang="en-US" sz="2000" b="0" strike="noStrike" spc="-1">
                <a:solidFill>
                  <a:srgbClr val="0070C0"/>
                </a:solidFill>
                <a:latin typeface="Calibri"/>
                <a:ea typeface="Calibri"/>
              </a:rPr>
              <a:t>stack.h</a:t>
            </a:r>
            <a:endParaRPr lang="en-US" sz="2000" b="0" strike="noStrike" spc="-1">
              <a:latin typeface="Arial"/>
            </a:endParaRPr>
          </a:p>
          <a:p>
            <a:pPr marL="857160" lvl="2" indent="-170280">
              <a:lnSpc>
                <a:spcPct val="90000"/>
              </a:lnSpc>
              <a:spcBef>
                <a:spcPts val="374"/>
              </a:spcBef>
              <a:buClr>
                <a:srgbClr val="000000"/>
              </a:buClr>
              <a:buFont typeface="Arial"/>
              <a:buChar char="•"/>
            </a:pPr>
            <a:r>
              <a:rPr lang="en-US" sz="2000" b="0" strike="noStrike" spc="-1">
                <a:solidFill>
                  <a:srgbClr val="000000"/>
                </a:solidFill>
                <a:latin typeface="Calibri"/>
                <a:ea typeface="Calibri"/>
              </a:rPr>
              <a:t>Implements the main function</a:t>
            </a:r>
            <a:endParaRPr lang="en-US" sz="2000" b="0" strike="noStrike" spc="-1">
              <a:latin typeface="Arial"/>
            </a:endParaRPr>
          </a:p>
        </p:txBody>
      </p:sp>
      <p:sp>
        <p:nvSpPr>
          <p:cNvPr id="286" name="CustomShape 3"/>
          <p:cNvSpPr/>
          <p:nvPr/>
        </p:nvSpPr>
        <p:spPr>
          <a:xfrm>
            <a:off x="6458040" y="6356520"/>
            <a:ext cx="2056320" cy="363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r">
              <a:lnSpc>
                <a:spcPct val="100000"/>
              </a:lnSpc>
            </a:pPr>
            <a:fld id="{27CC95A5-024C-4B7D-99AD-A2684DB93E9C}" type="slidenum">
              <a:rPr lang="en-US" sz="900" b="0" strike="noStrike" spc="-1">
                <a:solidFill>
                  <a:srgbClr val="8B8B8B"/>
                </a:solidFill>
                <a:latin typeface="Calibri"/>
                <a:ea typeface="DejaVu Sans"/>
              </a:rPr>
              <a:t>19</a:t>
            </a:fld>
            <a:endParaRPr lang="en-US" sz="900" b="0" strike="noStrike" spc="-1">
              <a:latin typeface="Arial"/>
            </a:endParaRPr>
          </a:p>
        </p:txBody>
      </p:sp>
      <p:sp>
        <p:nvSpPr>
          <p:cNvPr id="287" name="CustomShape 4"/>
          <p:cNvSpPr/>
          <p:nvPr/>
        </p:nvSpPr>
        <p:spPr>
          <a:xfrm>
            <a:off x="3029040" y="6356520"/>
            <a:ext cx="3085200" cy="363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a:lnSpc>
                <a:spcPct val="100000"/>
              </a:lnSpc>
            </a:pPr>
            <a:r>
              <a:rPr lang="en-US" sz="900" b="0" strike="noStrike" spc="-1">
                <a:solidFill>
                  <a:srgbClr val="8B8B8B"/>
                </a:solidFill>
                <a:latin typeface="Calibri"/>
                <a:ea typeface="DejaVu Sans"/>
              </a:rPr>
              <a:t>Data Structures and Algorithms</a:t>
            </a:r>
            <a:endParaRPr lang="en-US" sz="9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 name="CustomShape 1"/>
          <p:cNvSpPr/>
          <p:nvPr/>
        </p:nvSpPr>
        <p:spPr>
          <a:xfrm>
            <a:off x="628560" y="365040"/>
            <a:ext cx="7885800" cy="13244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4400" b="0" strike="noStrike" spc="-1">
                <a:solidFill>
                  <a:srgbClr val="C00000"/>
                </a:solidFill>
                <a:latin typeface="Calibri"/>
                <a:ea typeface="Calibri"/>
              </a:rPr>
              <a:t>Task</a:t>
            </a:r>
            <a:endParaRPr lang="en-US" sz="4400" b="0" strike="noStrike" spc="-1">
              <a:latin typeface="Arial"/>
            </a:endParaRPr>
          </a:p>
        </p:txBody>
      </p:sp>
      <p:sp>
        <p:nvSpPr>
          <p:cNvPr id="289" name="CustomShape 2"/>
          <p:cNvSpPr/>
          <p:nvPr/>
        </p:nvSpPr>
        <p:spPr>
          <a:xfrm>
            <a:off x="628560" y="1825560"/>
            <a:ext cx="7885800" cy="43502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171360" indent="-170280">
              <a:lnSpc>
                <a:spcPct val="90000"/>
              </a:lnSpc>
              <a:spcBef>
                <a:spcPts val="751"/>
              </a:spcBef>
              <a:buClr>
                <a:srgbClr val="000000"/>
              </a:buClr>
              <a:buFont typeface="Arial"/>
              <a:buChar char="•"/>
            </a:pPr>
            <a:r>
              <a:rPr lang="en-US" sz="2800" b="0" strike="noStrike" spc="-1">
                <a:solidFill>
                  <a:srgbClr val="000000"/>
                </a:solidFill>
                <a:latin typeface="Calibri"/>
                <a:ea typeface="Calibri"/>
              </a:rPr>
              <a:t>Write </a:t>
            </a:r>
            <a:r>
              <a:rPr lang="en-US" sz="2800" b="0" i="1" strike="noStrike" spc="-1">
                <a:solidFill>
                  <a:srgbClr val="0070C0"/>
                </a:solidFill>
                <a:latin typeface="Calibri"/>
                <a:ea typeface="Calibri"/>
              </a:rPr>
              <a:t>stack.h</a:t>
            </a:r>
            <a:r>
              <a:rPr lang="en-US" sz="2800" b="0" strike="noStrike" spc="-1">
                <a:solidFill>
                  <a:srgbClr val="0070C0"/>
                </a:solidFill>
                <a:latin typeface="Calibri"/>
                <a:ea typeface="Calibri"/>
              </a:rPr>
              <a:t> </a:t>
            </a:r>
            <a:r>
              <a:rPr lang="en-US" sz="2800" b="0" strike="noStrike" spc="-1">
                <a:solidFill>
                  <a:srgbClr val="000000"/>
                </a:solidFill>
                <a:latin typeface="Calibri"/>
                <a:ea typeface="Calibri"/>
              </a:rPr>
              <a:t>and </a:t>
            </a:r>
            <a:r>
              <a:rPr lang="en-US" sz="2800" b="0" i="1" strike="noStrike" spc="-1">
                <a:solidFill>
                  <a:srgbClr val="0070C0"/>
                </a:solidFill>
                <a:latin typeface="Calibri"/>
                <a:ea typeface="Calibri"/>
              </a:rPr>
              <a:t>stack.cpp</a:t>
            </a:r>
            <a:r>
              <a:rPr lang="en-US" sz="2800" b="0" strike="noStrike" spc="-1">
                <a:solidFill>
                  <a:srgbClr val="0070C0"/>
                </a:solidFill>
                <a:latin typeface="Calibri"/>
                <a:ea typeface="Calibri"/>
              </a:rPr>
              <a:t> </a:t>
            </a:r>
            <a:r>
              <a:rPr lang="en-US" sz="2800" b="0" strike="noStrike" spc="-1">
                <a:solidFill>
                  <a:srgbClr val="000000"/>
                </a:solidFill>
                <a:latin typeface="Calibri"/>
                <a:ea typeface="Calibri"/>
              </a:rPr>
              <a:t>which implement the stack data structure.</a:t>
            </a:r>
            <a:endParaRPr lang="en-US" sz="2800" b="0" strike="noStrike" spc="-1">
              <a:latin typeface="Arial"/>
            </a:endParaRPr>
          </a:p>
          <a:p>
            <a:pPr marL="171360" indent="-170280">
              <a:lnSpc>
                <a:spcPct val="90000"/>
              </a:lnSpc>
              <a:spcBef>
                <a:spcPts val="751"/>
              </a:spcBef>
              <a:buClr>
                <a:srgbClr val="000000"/>
              </a:buClr>
              <a:buFont typeface="Arial"/>
              <a:buChar char="•"/>
            </a:pPr>
            <a:r>
              <a:rPr lang="en-US" sz="2800" b="0" strike="noStrike" spc="-1">
                <a:solidFill>
                  <a:srgbClr val="000000"/>
                </a:solidFill>
                <a:latin typeface="Calibri"/>
                <a:ea typeface="Calibri"/>
              </a:rPr>
              <a:t>Refer to </a:t>
            </a:r>
            <a:r>
              <a:rPr lang="en-US" sz="2800" b="0" i="1" strike="noStrike" spc="-1">
                <a:solidFill>
                  <a:srgbClr val="000000"/>
                </a:solidFill>
                <a:latin typeface="Calibri"/>
                <a:ea typeface="Calibri"/>
              </a:rPr>
              <a:t>list.h </a:t>
            </a:r>
            <a:r>
              <a:rPr lang="en-US" sz="2800" b="0" strike="noStrike" spc="-1">
                <a:solidFill>
                  <a:srgbClr val="000000"/>
                </a:solidFill>
                <a:latin typeface="Calibri"/>
                <a:ea typeface="Calibri"/>
              </a:rPr>
              <a:t>and write proper </a:t>
            </a:r>
            <a:r>
              <a:rPr lang="en-US" sz="2800" b="0" strike="noStrike" spc="-1">
                <a:solidFill>
                  <a:srgbClr val="0070C0"/>
                </a:solidFill>
                <a:latin typeface="Calibri"/>
                <a:ea typeface="Calibri"/>
              </a:rPr>
              <a:t>comments </a:t>
            </a:r>
            <a:r>
              <a:rPr lang="en-US" sz="2800" b="0" strike="noStrike" spc="-1">
                <a:solidFill>
                  <a:srgbClr val="000000"/>
                </a:solidFill>
                <a:latin typeface="Calibri"/>
                <a:ea typeface="Calibri"/>
              </a:rPr>
              <a:t>in </a:t>
            </a:r>
            <a:r>
              <a:rPr lang="en-US" sz="2800" b="0" i="1" strike="noStrike" spc="-1">
                <a:solidFill>
                  <a:srgbClr val="000000"/>
                </a:solidFill>
                <a:latin typeface="Calibri"/>
                <a:ea typeface="Calibri"/>
              </a:rPr>
              <a:t>stack.h</a:t>
            </a:r>
            <a:r>
              <a:rPr lang="en-US" sz="2800" b="0" strike="noStrike" spc="-1">
                <a:solidFill>
                  <a:srgbClr val="000000"/>
                </a:solidFill>
                <a:latin typeface="Calibri"/>
                <a:ea typeface="Calibri"/>
              </a:rPr>
              <a:t> to describe every function.</a:t>
            </a:r>
            <a:endParaRPr lang="en-US" sz="2800" b="0" strike="noStrike" spc="-1">
              <a:latin typeface="Arial"/>
            </a:endParaRPr>
          </a:p>
          <a:p>
            <a:pPr marL="171360" indent="-170280">
              <a:lnSpc>
                <a:spcPct val="90000"/>
              </a:lnSpc>
              <a:spcBef>
                <a:spcPts val="751"/>
              </a:spcBef>
              <a:buClr>
                <a:srgbClr val="000000"/>
              </a:buClr>
              <a:buFont typeface="Arial"/>
              <a:buChar char="•"/>
            </a:pPr>
            <a:r>
              <a:rPr lang="en-US" sz="2800" b="0" strike="noStrike" spc="-1">
                <a:solidFill>
                  <a:srgbClr val="000000"/>
                </a:solidFill>
                <a:latin typeface="Calibri"/>
                <a:ea typeface="Calibri"/>
              </a:rPr>
              <a:t>Submit a zip file including </a:t>
            </a:r>
            <a:r>
              <a:rPr lang="en-US" sz="2800" b="0" i="1" strike="noStrike" spc="-1">
                <a:solidFill>
                  <a:srgbClr val="0070C0"/>
                </a:solidFill>
                <a:latin typeface="Calibri"/>
                <a:ea typeface="Calibri"/>
              </a:rPr>
              <a:t>stack.h</a:t>
            </a:r>
            <a:r>
              <a:rPr lang="en-US" sz="2800" b="0" strike="noStrike" spc="-1">
                <a:solidFill>
                  <a:srgbClr val="0070C0"/>
                </a:solidFill>
                <a:latin typeface="Calibri"/>
                <a:ea typeface="Calibri"/>
              </a:rPr>
              <a:t> </a:t>
            </a:r>
            <a:r>
              <a:rPr lang="en-US" sz="2800" b="0" strike="noStrike" spc="-1">
                <a:solidFill>
                  <a:srgbClr val="000000"/>
                </a:solidFill>
                <a:latin typeface="Calibri"/>
                <a:ea typeface="Calibri"/>
              </a:rPr>
              <a:t>and </a:t>
            </a:r>
            <a:r>
              <a:rPr lang="en-US" sz="2800" b="0" i="1" strike="noStrike" spc="-1">
                <a:solidFill>
                  <a:srgbClr val="0070C0"/>
                </a:solidFill>
                <a:latin typeface="Calibri"/>
                <a:ea typeface="Calibri"/>
              </a:rPr>
              <a:t>stack.cpp</a:t>
            </a:r>
            <a:r>
              <a:rPr lang="en-US" sz="2800" b="0" i="1" strike="noStrike" spc="-1">
                <a:solidFill>
                  <a:srgbClr val="5B9BD5"/>
                </a:solidFill>
                <a:latin typeface="Calibri"/>
                <a:ea typeface="Calibri"/>
              </a:rPr>
              <a:t> </a:t>
            </a:r>
            <a:r>
              <a:rPr lang="en-US" sz="2800" b="0" strike="noStrike" spc="-1">
                <a:solidFill>
                  <a:srgbClr val="000000"/>
                </a:solidFill>
                <a:latin typeface="Calibri"/>
                <a:ea typeface="Calibri"/>
              </a:rPr>
              <a:t>to iSpace.</a:t>
            </a:r>
            <a:endParaRPr lang="en-US" sz="2800" b="0" strike="noStrike" spc="-1">
              <a:latin typeface="Arial"/>
            </a:endParaRPr>
          </a:p>
        </p:txBody>
      </p:sp>
      <p:sp>
        <p:nvSpPr>
          <p:cNvPr id="290" name="CustomShape 3"/>
          <p:cNvSpPr/>
          <p:nvPr/>
        </p:nvSpPr>
        <p:spPr>
          <a:xfrm>
            <a:off x="3029040" y="6356520"/>
            <a:ext cx="3085200" cy="363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a:lnSpc>
                <a:spcPct val="100000"/>
              </a:lnSpc>
            </a:pPr>
            <a:r>
              <a:rPr lang="en-US" sz="900" b="0" strike="noStrike" spc="-1">
                <a:solidFill>
                  <a:srgbClr val="8B8B8B"/>
                </a:solidFill>
                <a:latin typeface="Calibri"/>
                <a:ea typeface="DejaVu Sans"/>
              </a:rPr>
              <a:t>Data Structures and Algorithms</a:t>
            </a:r>
            <a:endParaRPr lang="en-US" sz="900" b="0" strike="noStrike" spc="-1">
              <a:latin typeface="Arial"/>
            </a:endParaRPr>
          </a:p>
        </p:txBody>
      </p:sp>
      <p:sp>
        <p:nvSpPr>
          <p:cNvPr id="291" name="CustomShape 4"/>
          <p:cNvSpPr/>
          <p:nvPr/>
        </p:nvSpPr>
        <p:spPr>
          <a:xfrm>
            <a:off x="6458040" y="6356520"/>
            <a:ext cx="2056320" cy="363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r">
              <a:lnSpc>
                <a:spcPct val="100000"/>
              </a:lnSpc>
            </a:pPr>
            <a:fld id="{9509B40A-0DC9-4573-B8F6-FA67FA74EB9F}" type="slidenum">
              <a:rPr lang="en-US" sz="900" b="0" strike="noStrike" spc="-1">
                <a:solidFill>
                  <a:srgbClr val="8B8B8B"/>
                </a:solidFill>
                <a:latin typeface="Calibri"/>
                <a:ea typeface="DejaVu Sans"/>
              </a:rPr>
              <a:t>20</a:t>
            </a:fld>
            <a:endParaRPr lang="en-US" sz="9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1437</TotalTime>
  <Words>1944</Words>
  <Application>Microsoft Office PowerPoint</Application>
  <PresentationFormat>全屏显示(4:3)</PresentationFormat>
  <Paragraphs>289</Paragraphs>
  <Slides>20</Slides>
  <Notes>9</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20</vt:i4>
      </vt:variant>
    </vt:vector>
  </HeadingPairs>
  <TitlesOfParts>
    <vt:vector size="31" baseType="lpstr">
      <vt:lpstr>DejaVu Sans</vt:lpstr>
      <vt:lpstr>宋体</vt:lpstr>
      <vt:lpstr>Arial</vt:lpstr>
      <vt:lpstr>Calibri</vt:lpstr>
      <vt:lpstr>Calibri Light</vt:lpstr>
      <vt:lpstr>Courier New</vt:lpstr>
      <vt:lpstr>Symbol</vt:lpstr>
      <vt:lpstr>Times New Roman</vt:lpstr>
      <vt:lpstr>Wingdings</vt:lpstr>
      <vt:lpstr>Office Theme</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Structures and Algorithms  Lecture 1: C</dc:title>
  <dc:subject/>
  <dc:creator>UIC</dc:creator>
  <dc:description/>
  <cp:lastModifiedBy>Windows User</cp:lastModifiedBy>
  <cp:revision>146</cp:revision>
  <dcterms:created xsi:type="dcterms:W3CDTF">2006-08-16T00:00:00Z</dcterms:created>
  <dcterms:modified xsi:type="dcterms:W3CDTF">2023-10-08T14:10:58Z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15.0026</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8</vt:i4>
  </property>
  <property fmtid="{D5CDD505-2E9C-101B-9397-08002B2CF9AE}" pid="8" name="PresentationFormat">
    <vt:lpwstr>On-screen Show (4:3)</vt:lpwstr>
  </property>
  <property fmtid="{D5CDD505-2E9C-101B-9397-08002B2CF9AE}" pid="9" name="ScaleCrop">
    <vt:bool>false</vt:bool>
  </property>
  <property fmtid="{D5CDD505-2E9C-101B-9397-08002B2CF9AE}" pid="10" name="ShareDoc">
    <vt:bool>false</vt:bool>
  </property>
  <property fmtid="{D5CDD505-2E9C-101B-9397-08002B2CF9AE}" pid="11" name="Slides">
    <vt:i4>20</vt:i4>
  </property>
</Properties>
</file>