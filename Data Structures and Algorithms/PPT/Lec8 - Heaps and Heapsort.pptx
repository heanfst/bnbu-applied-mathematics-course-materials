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2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3"/>
  </p:notesMasterIdLst>
  <p:sldIdLst>
    <p:sldId id="306" r:id="rId2"/>
    <p:sldId id="376" r:id="rId3"/>
    <p:sldId id="377" r:id="rId4"/>
    <p:sldId id="378" r:id="rId5"/>
    <p:sldId id="379" r:id="rId6"/>
    <p:sldId id="380" r:id="rId7"/>
    <p:sldId id="381" r:id="rId8"/>
    <p:sldId id="414" r:id="rId9"/>
    <p:sldId id="382" r:id="rId10"/>
    <p:sldId id="383" r:id="rId11"/>
    <p:sldId id="384" r:id="rId12"/>
    <p:sldId id="385" r:id="rId13"/>
    <p:sldId id="386" r:id="rId14"/>
    <p:sldId id="415" r:id="rId15"/>
    <p:sldId id="387" r:id="rId16"/>
    <p:sldId id="388" r:id="rId17"/>
    <p:sldId id="389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05" r:id="rId34"/>
    <p:sldId id="406" r:id="rId35"/>
    <p:sldId id="407" r:id="rId36"/>
    <p:sldId id="408" r:id="rId37"/>
    <p:sldId id="409" r:id="rId38"/>
    <p:sldId id="410" r:id="rId39"/>
    <p:sldId id="411" r:id="rId40"/>
    <p:sldId id="412" r:id="rId41"/>
    <p:sldId id="413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72"/>
    <p:restoredTop sz="87410" autoAdjust="0"/>
  </p:normalViewPr>
  <p:slideViewPr>
    <p:cSldViewPr>
      <p:cViewPr varScale="1">
        <p:scale>
          <a:sx n="58" d="100"/>
          <a:sy n="58" d="100"/>
        </p:scale>
        <p:origin x="11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AD7267-F41C-43B5-94B8-C096D3074245}" type="doc">
      <dgm:prSet loTypeId="urn:microsoft.com/office/officeart/2005/8/layout/arrow2" loCatId="process" qsTypeId="urn:microsoft.com/office/officeart/2005/8/quickstyle/simple4" qsCatId="simple" csTypeId="urn:microsoft.com/office/officeart/2005/8/colors/accent3_1" csCatId="accent3" phldr="1"/>
      <dgm:spPr/>
    </dgm:pt>
    <dgm:pt modelId="{D42CF1AC-E885-4B96-A668-B0AE45257A0D}">
      <dgm:prSet phldrT="[Text]"/>
      <dgm:spPr/>
      <dgm:t>
        <a:bodyPr/>
        <a:lstStyle/>
        <a:p>
          <a:r>
            <a:rPr lang="en-US" altLang="zh-CN" dirty="0"/>
            <a:t>Use an Array to …</a:t>
          </a:r>
          <a:endParaRPr lang="zh-CN" altLang="en-US" dirty="0"/>
        </a:p>
      </dgm:t>
    </dgm:pt>
    <dgm:pt modelId="{2E1AF418-780D-45C7-A6F7-797A882DC6B9}" type="parTrans" cxnId="{E533319A-C844-4614-9E7E-9FDD4971BA30}">
      <dgm:prSet/>
      <dgm:spPr/>
      <dgm:t>
        <a:bodyPr/>
        <a:lstStyle/>
        <a:p>
          <a:endParaRPr lang="zh-CN" altLang="en-US"/>
        </a:p>
      </dgm:t>
    </dgm:pt>
    <dgm:pt modelId="{4F5398D2-C7AE-4780-8A5E-A00F3EAA8049}" type="sibTrans" cxnId="{E533319A-C844-4614-9E7E-9FDD4971BA30}">
      <dgm:prSet/>
      <dgm:spPr/>
      <dgm:t>
        <a:bodyPr/>
        <a:lstStyle/>
        <a:p>
          <a:endParaRPr lang="zh-CN" altLang="en-US"/>
        </a:p>
      </dgm:t>
    </dgm:pt>
    <dgm:pt modelId="{770BFE8B-FA92-495F-9369-B4445918C9D9}">
      <dgm:prSet phldrT="[Text]"/>
      <dgm:spPr/>
      <dgm:t>
        <a:bodyPr/>
        <a:lstStyle/>
        <a:p>
          <a:r>
            <a:rPr lang="en-US" altLang="zh-CN" dirty="0"/>
            <a:t>Implement a Binary Heap to…</a:t>
          </a:r>
          <a:endParaRPr lang="zh-CN" altLang="en-US" dirty="0"/>
        </a:p>
      </dgm:t>
    </dgm:pt>
    <dgm:pt modelId="{5B28CA11-42CB-4463-AF8C-93195D9A7C66}" type="parTrans" cxnId="{B8C7B40E-3139-4603-8822-B6977FB00B41}">
      <dgm:prSet/>
      <dgm:spPr/>
      <dgm:t>
        <a:bodyPr/>
        <a:lstStyle/>
        <a:p>
          <a:endParaRPr lang="zh-CN" altLang="en-US"/>
        </a:p>
      </dgm:t>
    </dgm:pt>
    <dgm:pt modelId="{0DCDFA47-12FE-42D9-A2B4-D91DB43F6520}" type="sibTrans" cxnId="{B8C7B40E-3139-4603-8822-B6977FB00B41}">
      <dgm:prSet/>
      <dgm:spPr/>
      <dgm:t>
        <a:bodyPr/>
        <a:lstStyle/>
        <a:p>
          <a:endParaRPr lang="zh-CN" altLang="en-US"/>
        </a:p>
      </dgm:t>
    </dgm:pt>
    <dgm:pt modelId="{7975B3D8-B4B5-4E4F-8180-57701DF8C05F}">
      <dgm:prSet phldrT="[Text]"/>
      <dgm:spPr/>
      <dgm:t>
        <a:bodyPr/>
        <a:lstStyle/>
        <a:p>
          <a:r>
            <a:rPr lang="en-US" altLang="zh-CN" dirty="0"/>
            <a:t>Implement a Priority Queue</a:t>
          </a:r>
          <a:endParaRPr lang="zh-CN" altLang="en-US" dirty="0"/>
        </a:p>
      </dgm:t>
    </dgm:pt>
    <dgm:pt modelId="{DDB20211-D622-43C8-B2F8-8206F408E4E0}" type="parTrans" cxnId="{D251A83C-33A9-4E03-A542-D95AFA92771D}">
      <dgm:prSet/>
      <dgm:spPr/>
      <dgm:t>
        <a:bodyPr/>
        <a:lstStyle/>
        <a:p>
          <a:endParaRPr lang="zh-CN" altLang="en-US"/>
        </a:p>
      </dgm:t>
    </dgm:pt>
    <dgm:pt modelId="{2BDC4815-CFC2-4DE5-B48D-05A069ED2CCB}" type="sibTrans" cxnId="{D251A83C-33A9-4E03-A542-D95AFA92771D}">
      <dgm:prSet/>
      <dgm:spPr/>
      <dgm:t>
        <a:bodyPr/>
        <a:lstStyle/>
        <a:p>
          <a:endParaRPr lang="zh-CN" altLang="en-US"/>
        </a:p>
      </dgm:t>
    </dgm:pt>
    <dgm:pt modelId="{814807A7-6B93-48AD-94CE-4579A01136CF}" type="pres">
      <dgm:prSet presAssocID="{7DAD7267-F41C-43B5-94B8-C096D3074245}" presName="arrowDiagram" presStyleCnt="0">
        <dgm:presLayoutVars>
          <dgm:chMax val="5"/>
          <dgm:dir/>
          <dgm:resizeHandles val="exact"/>
        </dgm:presLayoutVars>
      </dgm:prSet>
      <dgm:spPr/>
    </dgm:pt>
    <dgm:pt modelId="{3A9B9CFC-912A-4C47-A5B7-D94EE0EBB8BA}" type="pres">
      <dgm:prSet presAssocID="{7DAD7267-F41C-43B5-94B8-C096D3074245}" presName="arrow" presStyleLbl="bgShp" presStyleIdx="0" presStyleCnt="1" custLinFactNeighborY="4000"/>
      <dgm:spPr/>
    </dgm:pt>
    <dgm:pt modelId="{B59F1F55-7AEF-491A-ACB5-D6F67938453C}" type="pres">
      <dgm:prSet presAssocID="{7DAD7267-F41C-43B5-94B8-C096D3074245}" presName="arrowDiagram3" presStyleCnt="0"/>
      <dgm:spPr/>
    </dgm:pt>
    <dgm:pt modelId="{0060C089-6322-4C63-BED2-D948549CB934}" type="pres">
      <dgm:prSet presAssocID="{D42CF1AC-E885-4B96-A668-B0AE45257A0D}" presName="bullet3a" presStyleLbl="node1" presStyleIdx="0" presStyleCnt="3"/>
      <dgm:spPr/>
    </dgm:pt>
    <dgm:pt modelId="{4EF0E2B8-5FC9-4C1A-B74A-7D33962D3412}" type="pres">
      <dgm:prSet presAssocID="{D42CF1AC-E885-4B96-A668-B0AE45257A0D}" presName="textBox3a" presStyleLbl="revTx" presStyleIdx="0" presStyleCnt="3">
        <dgm:presLayoutVars>
          <dgm:bulletEnabled val="1"/>
        </dgm:presLayoutVars>
      </dgm:prSet>
      <dgm:spPr/>
    </dgm:pt>
    <dgm:pt modelId="{F7215800-1200-4EDF-8CDB-E96BB6D84A2B}" type="pres">
      <dgm:prSet presAssocID="{770BFE8B-FA92-495F-9369-B4445918C9D9}" presName="bullet3b" presStyleLbl="node1" presStyleIdx="1" presStyleCnt="3"/>
      <dgm:spPr/>
    </dgm:pt>
    <dgm:pt modelId="{EA8B3BCE-C0A8-4C07-A1BC-8291FC32F9F0}" type="pres">
      <dgm:prSet presAssocID="{770BFE8B-FA92-495F-9369-B4445918C9D9}" presName="textBox3b" presStyleLbl="revTx" presStyleIdx="1" presStyleCnt="3">
        <dgm:presLayoutVars>
          <dgm:bulletEnabled val="1"/>
        </dgm:presLayoutVars>
      </dgm:prSet>
      <dgm:spPr/>
    </dgm:pt>
    <dgm:pt modelId="{B93048B4-A049-4337-8139-326420C0AA16}" type="pres">
      <dgm:prSet presAssocID="{7975B3D8-B4B5-4E4F-8180-57701DF8C05F}" presName="bullet3c" presStyleLbl="node1" presStyleIdx="2" presStyleCnt="3"/>
      <dgm:spPr/>
    </dgm:pt>
    <dgm:pt modelId="{765DF987-A4CA-4763-835F-9059D2CB4453}" type="pres">
      <dgm:prSet presAssocID="{7975B3D8-B4B5-4E4F-8180-57701DF8C05F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B8C7B40E-3139-4603-8822-B6977FB00B41}" srcId="{7DAD7267-F41C-43B5-94B8-C096D3074245}" destId="{770BFE8B-FA92-495F-9369-B4445918C9D9}" srcOrd="1" destOrd="0" parTransId="{5B28CA11-42CB-4463-AF8C-93195D9A7C66}" sibTransId="{0DCDFA47-12FE-42D9-A2B4-D91DB43F6520}"/>
    <dgm:cxn modelId="{68BF2518-2F29-4F0C-B580-D735251B5B20}" type="presOf" srcId="{770BFE8B-FA92-495F-9369-B4445918C9D9}" destId="{EA8B3BCE-C0A8-4C07-A1BC-8291FC32F9F0}" srcOrd="0" destOrd="0" presId="urn:microsoft.com/office/officeart/2005/8/layout/arrow2"/>
    <dgm:cxn modelId="{D251A83C-33A9-4E03-A542-D95AFA92771D}" srcId="{7DAD7267-F41C-43B5-94B8-C096D3074245}" destId="{7975B3D8-B4B5-4E4F-8180-57701DF8C05F}" srcOrd="2" destOrd="0" parTransId="{DDB20211-D622-43C8-B2F8-8206F408E4E0}" sibTransId="{2BDC4815-CFC2-4DE5-B48D-05A069ED2CCB}"/>
    <dgm:cxn modelId="{E533319A-C844-4614-9E7E-9FDD4971BA30}" srcId="{7DAD7267-F41C-43B5-94B8-C096D3074245}" destId="{D42CF1AC-E885-4B96-A668-B0AE45257A0D}" srcOrd="0" destOrd="0" parTransId="{2E1AF418-780D-45C7-A6F7-797A882DC6B9}" sibTransId="{4F5398D2-C7AE-4780-8A5E-A00F3EAA8049}"/>
    <dgm:cxn modelId="{D011AC9A-5F9B-4CC8-BB55-405D23661238}" type="presOf" srcId="{D42CF1AC-E885-4B96-A668-B0AE45257A0D}" destId="{4EF0E2B8-5FC9-4C1A-B74A-7D33962D3412}" srcOrd="0" destOrd="0" presId="urn:microsoft.com/office/officeart/2005/8/layout/arrow2"/>
    <dgm:cxn modelId="{0E2C2F9B-8982-4976-A0A3-9B0FE81ACD88}" type="presOf" srcId="{7975B3D8-B4B5-4E4F-8180-57701DF8C05F}" destId="{765DF987-A4CA-4763-835F-9059D2CB4453}" srcOrd="0" destOrd="0" presId="urn:microsoft.com/office/officeart/2005/8/layout/arrow2"/>
    <dgm:cxn modelId="{3E644FDC-A6BF-4B0B-B19E-27306CF1C44B}" type="presOf" srcId="{7DAD7267-F41C-43B5-94B8-C096D3074245}" destId="{814807A7-6B93-48AD-94CE-4579A01136CF}" srcOrd="0" destOrd="0" presId="urn:microsoft.com/office/officeart/2005/8/layout/arrow2"/>
    <dgm:cxn modelId="{08A1AAE2-C33D-4581-B3EE-CC498226A591}" type="presParOf" srcId="{814807A7-6B93-48AD-94CE-4579A01136CF}" destId="{3A9B9CFC-912A-4C47-A5B7-D94EE0EBB8BA}" srcOrd="0" destOrd="0" presId="urn:microsoft.com/office/officeart/2005/8/layout/arrow2"/>
    <dgm:cxn modelId="{EACEE945-A5AB-4F0D-8F3C-CC21DF9191AE}" type="presParOf" srcId="{814807A7-6B93-48AD-94CE-4579A01136CF}" destId="{B59F1F55-7AEF-491A-ACB5-D6F67938453C}" srcOrd="1" destOrd="0" presId="urn:microsoft.com/office/officeart/2005/8/layout/arrow2"/>
    <dgm:cxn modelId="{8A4460D0-D96A-42B1-A6D1-64DE4B9A74C5}" type="presParOf" srcId="{B59F1F55-7AEF-491A-ACB5-D6F67938453C}" destId="{0060C089-6322-4C63-BED2-D948549CB934}" srcOrd="0" destOrd="0" presId="urn:microsoft.com/office/officeart/2005/8/layout/arrow2"/>
    <dgm:cxn modelId="{992D1F63-3A0E-42E7-A805-6F0BBA15E70A}" type="presParOf" srcId="{B59F1F55-7AEF-491A-ACB5-D6F67938453C}" destId="{4EF0E2B8-5FC9-4C1A-B74A-7D33962D3412}" srcOrd="1" destOrd="0" presId="urn:microsoft.com/office/officeart/2005/8/layout/arrow2"/>
    <dgm:cxn modelId="{59FFAB7B-9209-4E4F-BACA-79FD22AC5D04}" type="presParOf" srcId="{B59F1F55-7AEF-491A-ACB5-D6F67938453C}" destId="{F7215800-1200-4EDF-8CDB-E96BB6D84A2B}" srcOrd="2" destOrd="0" presId="urn:microsoft.com/office/officeart/2005/8/layout/arrow2"/>
    <dgm:cxn modelId="{5B69B664-7AC9-4D0F-A166-370054DE15AD}" type="presParOf" srcId="{B59F1F55-7AEF-491A-ACB5-D6F67938453C}" destId="{EA8B3BCE-C0A8-4C07-A1BC-8291FC32F9F0}" srcOrd="3" destOrd="0" presId="urn:microsoft.com/office/officeart/2005/8/layout/arrow2"/>
    <dgm:cxn modelId="{355E597F-67ED-4738-B4E1-88E8922C9B8C}" type="presParOf" srcId="{B59F1F55-7AEF-491A-ACB5-D6F67938453C}" destId="{B93048B4-A049-4337-8139-326420C0AA16}" srcOrd="4" destOrd="0" presId="urn:microsoft.com/office/officeart/2005/8/layout/arrow2"/>
    <dgm:cxn modelId="{AE7E3AD4-2C82-454B-9D93-7DB550F6CF4E}" type="presParOf" srcId="{B59F1F55-7AEF-491A-ACB5-D6F67938453C}" destId="{765DF987-A4CA-4763-835F-9059D2CB4453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9B9CFC-912A-4C47-A5B7-D94EE0EBB8BA}">
      <dsp:nvSpPr>
        <dsp:cNvPr id="0" name=""/>
        <dsp:cNvSpPr/>
      </dsp:nvSpPr>
      <dsp:spPr>
        <a:xfrm>
          <a:off x="0" y="254000"/>
          <a:ext cx="6096000" cy="381000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060C089-6322-4C63-BED2-D948549CB934}">
      <dsp:nvSpPr>
        <dsp:cNvPr id="0" name=""/>
        <dsp:cNvSpPr/>
      </dsp:nvSpPr>
      <dsp:spPr>
        <a:xfrm>
          <a:off x="774192" y="2756661"/>
          <a:ext cx="158496" cy="15849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F0E2B8-5FC9-4C1A-B74A-7D33962D3412}">
      <dsp:nvSpPr>
        <dsp:cNvPr id="0" name=""/>
        <dsp:cNvSpPr/>
      </dsp:nvSpPr>
      <dsp:spPr>
        <a:xfrm>
          <a:off x="853440" y="2835910"/>
          <a:ext cx="1420368" cy="110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4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Use an Array to …</a:t>
          </a:r>
          <a:endParaRPr lang="zh-CN" altLang="en-US" sz="2200" kern="1200" dirty="0"/>
        </a:p>
      </dsp:txBody>
      <dsp:txXfrm>
        <a:off x="853440" y="2835910"/>
        <a:ext cx="1420368" cy="1101090"/>
      </dsp:txXfrm>
    </dsp:sp>
    <dsp:sp modelId="{F7215800-1200-4EDF-8CDB-E96BB6D84A2B}">
      <dsp:nvSpPr>
        <dsp:cNvPr id="0" name=""/>
        <dsp:cNvSpPr/>
      </dsp:nvSpPr>
      <dsp:spPr>
        <a:xfrm>
          <a:off x="2173224" y="1721103"/>
          <a:ext cx="286512" cy="28651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8B3BCE-C0A8-4C07-A1BC-8291FC32F9F0}">
      <dsp:nvSpPr>
        <dsp:cNvPr id="0" name=""/>
        <dsp:cNvSpPr/>
      </dsp:nvSpPr>
      <dsp:spPr>
        <a:xfrm>
          <a:off x="2316480" y="1864359"/>
          <a:ext cx="1463040" cy="2072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817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Implement a Binary Heap to…</a:t>
          </a:r>
          <a:endParaRPr lang="zh-CN" altLang="en-US" sz="2200" kern="1200" dirty="0"/>
        </a:p>
      </dsp:txBody>
      <dsp:txXfrm>
        <a:off x="2316480" y="1864359"/>
        <a:ext cx="1463040" cy="2072640"/>
      </dsp:txXfrm>
    </dsp:sp>
    <dsp:sp modelId="{B93048B4-A049-4337-8139-326420C0AA16}">
      <dsp:nvSpPr>
        <dsp:cNvPr id="0" name=""/>
        <dsp:cNvSpPr/>
      </dsp:nvSpPr>
      <dsp:spPr>
        <a:xfrm>
          <a:off x="3855720" y="1090929"/>
          <a:ext cx="396240" cy="39624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5DF987-A4CA-4763-835F-9059D2CB4453}">
      <dsp:nvSpPr>
        <dsp:cNvPr id="0" name=""/>
        <dsp:cNvSpPr/>
      </dsp:nvSpPr>
      <dsp:spPr>
        <a:xfrm>
          <a:off x="4053840" y="1289049"/>
          <a:ext cx="1463040" cy="2647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959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Implement a Priority Queue</a:t>
          </a:r>
          <a:endParaRPr lang="zh-CN" altLang="en-US" sz="2200" kern="1200" dirty="0"/>
        </a:p>
      </dsp:txBody>
      <dsp:txXfrm>
        <a:off x="4053840" y="1289049"/>
        <a:ext cx="1463040" cy="26479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11-20T13:57:16.4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21978 9102 0,'0'-36'0,"0"72"16,0-89-1,0 17 1,36-16 0,-19 34-1,19 18 126,-1 53-110,-17-36-31,-18 19 16,0-19-16,17 54 15,1 35 17,-1 0-32,-17-18 15,0-35 16,-52 70-31,34-88 32,0-17-17,1 0 1,-19-1 15,19-17 32,-19-35-48,19 0-15,-36-53 16,35-36 0,-17 36 15,17-53-31,-17 35 31,35 18-15,0 53-16,0-1 62,0 19-46,0-19-1,0 19 17,18-19-32,35 19 15,-1 17 1,1-35 0,-17-1-1,-1 36 32,-35 36 62,35 122-77,-35-17-32,0 89 15,0-54 1,0-141-16,0 54 16,0-19-1,0-35 1,0-17 15,-35 0 63,17-18-47,-17-53-32,17 0-15,-52-71 16,35 54 0,17 52-1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11-20T14:01:36.7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17463 13106 0</inkml:trace>
  <inkml:trace contextRef="#ctx0" brushRef="#br0" timeOffset="679.999">15646 12806 0</inkml:trace>
  <inkml:trace contextRef="#ctx0" brushRef="#br0" timeOffset="5842.55">13459 17057 0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43F9D-0BE7-4D95-AB29-6EF42525F0B1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DCDC2-C1D2-44CB-8970-27B4CFF25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fld id="{E6EC4856-D67C-4F1F-90E1-0F510B67FE9A}" type="slidenum">
              <a:rPr lang="en-US" altLang="zh-CN" sz="1000">
                <a:latin typeface="Times New Roman" pitchFamily="18" charset="0"/>
              </a:rPr>
              <a:pPr/>
              <a:t>1</a:t>
            </a:fld>
            <a:endParaRPr lang="en-US" altLang="zh-CN" sz="1000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1225" y="744538"/>
            <a:ext cx="4959350" cy="3719512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9533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 sorting is a class of sorting algorithms that can handle </a:t>
            </a:r>
            <a:r>
              <a:rPr lang="en-US" altLang="zh-CN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massive amounts of data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The sorting of relations which do not fit in the memory because their size is larger than the memory size. Such type of sorting is known as </a:t>
            </a:r>
            <a:r>
              <a:rPr lang="en-US" altLang="zh-CN" b="0" i="0" dirty="0">
                <a:solidFill>
                  <a:srgbClr val="EA4335"/>
                </a:solidFill>
                <a:effectLst/>
                <a:latin typeface="arial" panose="020B0604020202020204" pitchFamily="34" charset="0"/>
              </a:rPr>
              <a:t>External Sorting</a:t>
            </a:r>
            <a:r>
              <a:rPr lang="en-US" altLang="zh-CN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86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 of nodes is: (1+2^1+2^2+…+2^d) = 2^(d+1) -1 when the height of the tree is 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73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 the side notes: there are n-1 edges, and for each node (except the leaf) there is only one child.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70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05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 the binary tree, “full” means that a node should have its sibling.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33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 the binary heap, the number of nodes until height h-1 is: 1+2^1+…+2^(h-1) = 2^h -1.</a:t>
            </a:r>
          </a:p>
          <a:p>
            <a:r>
              <a:rPr lang="en-US" altLang="zh-CN" dirty="0"/>
              <a:t>As at least one node exists at height  h, so n is between [2^h, 2^(h+1) - 1]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06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90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47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16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6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62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Get the size of array using pointer: _</a:t>
            </a:r>
            <a:r>
              <a:rPr lang="en-US" altLang="zh-CN" sz="1800" dirty="0" err="1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msize</a:t>
            </a:r>
            <a:r>
              <a:rPr lang="en-US" altLang="zh-CN" sz="18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(A) / </a:t>
            </a:r>
            <a:r>
              <a:rPr lang="en-US" altLang="zh-CN" sz="1800" dirty="0" err="1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sizeof</a:t>
            </a:r>
            <a:r>
              <a:rPr lang="en-US" altLang="zh-CN" sz="18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(int))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77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How to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47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561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92BC535D-DEBE-4913-AE2F-2E144BA37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34FC62-0953-4C59-9015-656449678AA5}" type="slidenum">
              <a:rPr lang="zh-CN" altLang="en-US" sz="1200">
                <a:latin typeface="Arial" panose="020B0604020202020204" pitchFamily="34" charset="0"/>
              </a:rPr>
              <a:pPr eaLnBrk="1" hangingPunct="1"/>
              <a:t>35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5B44D7C5-C7DB-4EF6-9C3E-B134A6ED71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9ABAAD1D-34DA-42AA-ABF1-134DC2DFBC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2447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4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E034-B175-4621-88BD-520883BEC6C4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0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E5C2-9883-4348-B6FC-9BAC3BAA9F74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83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C295-63E0-4645-B834-A291C3EBD696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2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7D18-2540-4E1D-BF87-4A500F66B06D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82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A358-7C66-4F09-A020-CB736988734E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EEB8-9BB3-4F1B-84F3-930EA2330A8D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0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9DBC-6B1F-4DBB-BF50-11FD061A050D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6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0095-74F4-4AFC-A69F-723CE536EDDD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6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8E2B-70D1-478B-8A5A-DBA6568DD9DD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30409-7CC4-47E6-AC88-ED92FFF00864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A052-74AE-4C1E-BF9E-B42C4E0A0313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DF350-8CEE-4FE8-94EE-F50E7CD46875}" type="datetime1">
              <a:rPr lang="en-HK" altLang="zh-CN" smtClean="0"/>
              <a:t>30/11/2022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8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6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6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772400" cy="3200400"/>
          </a:xfrm>
          <a:noFill/>
        </p:spPr>
        <p:txBody>
          <a:bodyPr>
            <a:noAutofit/>
          </a:bodyPr>
          <a:lstStyle/>
          <a:p>
            <a:r>
              <a:rPr lang="en-US" altLang="zh-CN" sz="3600" b="0" dirty="0">
                <a:solidFill>
                  <a:srgbClr val="C00000"/>
                </a:solidFill>
              </a:rPr>
              <a:t>Data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Structures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and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Algorithms</a:t>
            </a:r>
            <a:br>
              <a:rPr lang="en-US" altLang="zh-TW" sz="4400" b="1" dirty="0">
                <a:solidFill>
                  <a:srgbClr val="C00000"/>
                </a:solidFill>
              </a:rPr>
            </a:br>
            <a:br>
              <a:rPr lang="en-US" altLang="zh-TW" sz="4400" b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4400" b="0" dirty="0"/>
              <a:t>Lecture</a:t>
            </a:r>
            <a:r>
              <a:rPr lang="en-US" altLang="zh-CN" sz="4400" b="0" dirty="0"/>
              <a:t> 8</a:t>
            </a:r>
            <a:r>
              <a:rPr lang="en-US" altLang="zh-TW" sz="4400" b="0" dirty="0"/>
              <a:t>: </a:t>
            </a:r>
            <a:r>
              <a:rPr lang="en-US" altLang="zh-CN" sz="4400" dirty="0"/>
              <a:t>Priority Queue</a:t>
            </a:r>
            <a:br>
              <a:rPr lang="en-US" altLang="zh-CN" sz="4400" dirty="0"/>
            </a:br>
            <a:r>
              <a:rPr lang="en-US" altLang="zh-CN" sz="4400" dirty="0"/>
              <a:t>and Heapsort</a:t>
            </a:r>
            <a:br>
              <a:rPr lang="en-US" altLang="zh-CN" sz="4400" dirty="0"/>
            </a:br>
            <a:br>
              <a:rPr lang="en-US" altLang="zh-CN" sz="4400" dirty="0"/>
            </a:br>
            <a:r>
              <a:rPr lang="zh-CN" altLang="en-US" sz="2400" dirty="0"/>
              <a:t>（优先队列，堆排序）</a:t>
            </a:r>
            <a:br>
              <a:rPr lang="en-US" altLang="zh-CN" sz="4400" dirty="0"/>
            </a:br>
            <a:endParaRPr lang="en-US" altLang="zh-CN" sz="4400" dirty="0"/>
          </a:p>
        </p:txBody>
      </p:sp>
      <p:sp>
        <p:nvSpPr>
          <p:cNvPr id="307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724400"/>
            <a:ext cx="7772400" cy="13716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Data</a:t>
            </a:r>
            <a:r>
              <a:rPr lang="zh-CN" altLang="en-US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Science</a:t>
            </a:r>
          </a:p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United International College</a:t>
            </a:r>
          </a:p>
        </p:txBody>
      </p:sp>
    </p:spTree>
    <p:extLst>
      <p:ext uri="{BB962C8B-B14F-4D97-AF65-F5344CB8AC3E}">
        <p14:creationId xmlns:p14="http://schemas.microsoft.com/office/powerpoint/2010/main" val="117840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Trees (</a:t>
            </a:r>
            <a:r>
              <a:rPr lang="zh-CN" altLang="en-US" dirty="0"/>
              <a:t>树</a:t>
            </a:r>
            <a:r>
              <a:rPr lang="en-US" altLang="zh-CN" dirty="0"/>
              <a:t>) and Binary Heaps (</a:t>
            </a:r>
            <a:r>
              <a:rPr lang="zh-CN" altLang="en-US" dirty="0"/>
              <a:t>二叉堆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Priority Queue (</a:t>
            </a:r>
            <a:r>
              <a:rPr lang="zh-CN" altLang="en-US" dirty="0"/>
              <a:t>优先队列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insert</a:t>
            </a:r>
          </a:p>
          <a:p>
            <a:pPr lvl="1"/>
            <a:r>
              <a:rPr lang="en-US" altLang="zh-CN" dirty="0" err="1"/>
              <a:t>deleteMin</a:t>
            </a:r>
            <a:endParaRPr lang="en-US" altLang="zh-CN" dirty="0"/>
          </a:p>
          <a:p>
            <a:r>
              <a:rPr lang="en-US" altLang="zh-CN" dirty="0"/>
              <a:t>Heap sort (</a:t>
            </a:r>
            <a:r>
              <a:rPr lang="zh-CN" altLang="en-US" dirty="0"/>
              <a:t>堆排序</a:t>
            </a:r>
            <a:r>
              <a:rPr lang="en-US" altLang="zh-CN" dirty="0"/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02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dirty="0">
                <a:ea typeface="宋体" charset="-122"/>
              </a:rPr>
              <a:t>3 jobs have been submitted to a printer in the order A, B, C.</a:t>
            </a:r>
          </a:p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endParaRPr lang="en-US" altLang="zh-CN" dirty="0">
              <a:ea typeface="宋体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endParaRPr lang="en-US" altLang="zh-CN" dirty="0">
              <a:ea typeface="宋体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endParaRPr lang="en-US" altLang="zh-CN" sz="1200" dirty="0">
              <a:ea typeface="宋体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endParaRPr lang="en-US" altLang="zh-CN" sz="1200" dirty="0">
              <a:ea typeface="宋体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endParaRPr lang="en-US" altLang="zh-CN" sz="1200" dirty="0">
              <a:ea typeface="宋体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endParaRPr lang="en-US" altLang="zh-CN" sz="1200" dirty="0">
              <a:ea typeface="宋体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endParaRPr lang="en-US" altLang="zh-CN" sz="1200" dirty="0">
              <a:ea typeface="宋体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dirty="0">
                <a:ea typeface="宋体" charset="-122"/>
              </a:rPr>
              <a:t>Average 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waiting time </a:t>
            </a:r>
            <a:r>
              <a:rPr lang="en-US" altLang="zh-CN" dirty="0">
                <a:ea typeface="宋体" charset="-122"/>
              </a:rPr>
              <a:t>with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FIFO (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en-US" altLang="zh-CN" dirty="0"/>
              <a:t>irst </a:t>
            </a:r>
            <a:r>
              <a:rPr lang="en-US" altLang="zh-CN" dirty="0">
                <a:solidFill>
                  <a:srgbClr val="FF0000"/>
                </a:solidFill>
              </a:rPr>
              <a:t>I</a:t>
            </a:r>
            <a:r>
              <a:rPr lang="en-US" altLang="zh-CN" dirty="0"/>
              <a:t>nput 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en-US" altLang="zh-CN" dirty="0"/>
              <a:t>irst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en-US" altLang="zh-CN" dirty="0"/>
              <a:t>utput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)</a:t>
            </a:r>
            <a:r>
              <a:rPr lang="en-US" altLang="zh-CN" dirty="0">
                <a:ea typeface="宋体" charset="-122"/>
              </a:rPr>
              <a:t>:</a:t>
            </a:r>
          </a:p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dirty="0">
                <a:ea typeface="宋体" charset="-122"/>
              </a:rPr>
              <a:t>            (100+110+111) / 3 = 107 time units</a:t>
            </a:r>
          </a:p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dirty="0">
                <a:ea typeface="宋体" charset="-122"/>
              </a:rPr>
              <a:t>Average waiting time with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shortest-job-first</a:t>
            </a:r>
            <a:r>
              <a:rPr lang="en-US" altLang="zh-CN" dirty="0">
                <a:ea typeface="宋体" charset="-122"/>
              </a:rPr>
              <a:t>:</a:t>
            </a:r>
          </a:p>
          <a:p>
            <a:pPr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dirty="0">
                <a:ea typeface="宋体" charset="-122"/>
              </a:rPr>
              <a:t>            (1+11+111) / 3 = 41 time units</a:t>
            </a:r>
            <a:endParaRPr lang="en-US" sz="4600" b="1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19400" y="2301240"/>
          <a:ext cx="32004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Job A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100 pages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Job B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10 pages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Job C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 page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Pentagon 5"/>
          <p:cNvSpPr/>
          <p:nvPr/>
        </p:nvSpPr>
        <p:spPr>
          <a:xfrm flipH="1">
            <a:off x="6781800" y="4001294"/>
            <a:ext cx="1938215" cy="680915"/>
          </a:xfrm>
          <a:prstGeom prst="homePlat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Queue</a:t>
            </a:r>
          </a:p>
        </p:txBody>
      </p:sp>
      <p:sp>
        <p:nvSpPr>
          <p:cNvPr id="7" name="Pentagon 6"/>
          <p:cNvSpPr/>
          <p:nvPr/>
        </p:nvSpPr>
        <p:spPr>
          <a:xfrm flipH="1">
            <a:off x="6291384" y="5181600"/>
            <a:ext cx="1938215" cy="680915"/>
          </a:xfrm>
          <a:prstGeom prst="homePlat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What Data</a:t>
            </a:r>
            <a:br>
              <a:rPr lang="en-US" sz="20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Structure?</a:t>
            </a:r>
          </a:p>
        </p:txBody>
      </p:sp>
    </p:spTree>
    <p:extLst>
      <p:ext uri="{BB962C8B-B14F-4D97-AF65-F5344CB8AC3E}">
        <p14:creationId xmlns:p14="http://schemas.microsoft.com/office/powerpoint/2010/main" val="109903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709987"/>
            <a:ext cx="7772400" cy="1362075"/>
          </a:xfrm>
        </p:spPr>
        <p:txBody>
          <a:bodyPr>
            <a:normAutofit/>
          </a:bodyPr>
          <a:lstStyle/>
          <a:p>
            <a:r>
              <a:rPr lang="en-US" altLang="zh-CN" sz="5400" dirty="0">
                <a:ea typeface="宋体" charset="-122"/>
              </a:rPr>
              <a:t>Priority Queue (</a:t>
            </a:r>
            <a:r>
              <a:rPr lang="zh-CN" altLang="en-US" sz="5400" dirty="0">
                <a:ea typeface="宋体" charset="-122"/>
              </a:rPr>
              <a:t>优先队列</a:t>
            </a:r>
            <a:r>
              <a:rPr lang="en-US" altLang="zh-CN" sz="5400" dirty="0">
                <a:ea typeface="宋体" charset="-122"/>
              </a:rPr>
              <a:t>)</a:t>
            </a:r>
            <a:endParaRPr lang="en-US" sz="5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209800"/>
            <a:ext cx="7772400" cy="1500187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solidFill>
                  <a:schemeClr val="accent1">
                    <a:lumMod val="75000"/>
                  </a:schemeClr>
                </a:solidFill>
                <a:ea typeface="宋体" charset="-122"/>
              </a:rPr>
              <a:t>A queue capable of </a:t>
            </a:r>
            <a:r>
              <a:rPr lang="en-US" altLang="zh-CN" sz="3600" dirty="0">
                <a:solidFill>
                  <a:srgbClr val="C00000"/>
                </a:solidFill>
                <a:ea typeface="宋体" charset="-122"/>
              </a:rPr>
              <a:t>insert</a:t>
            </a:r>
            <a:r>
              <a:rPr lang="en-US" altLang="zh-CN" sz="3600" dirty="0">
                <a:solidFill>
                  <a:schemeClr val="accent1">
                    <a:lumMod val="75000"/>
                  </a:schemeClr>
                </a:solidFill>
                <a:ea typeface="宋体" charset="-122"/>
              </a:rPr>
              <a:t> and </a:t>
            </a:r>
            <a:r>
              <a:rPr lang="en-US" altLang="zh-CN" sz="3600" dirty="0" err="1">
                <a:solidFill>
                  <a:srgbClr val="C00000"/>
                </a:solidFill>
                <a:ea typeface="宋体" charset="-122"/>
              </a:rPr>
              <a:t>deleteMin</a:t>
            </a:r>
            <a:r>
              <a:rPr lang="en-US" altLang="zh-CN" sz="3600" dirty="0">
                <a:solidFill>
                  <a:schemeClr val="accent1">
                    <a:lumMod val="75000"/>
                  </a:schemeClr>
                </a:solidFill>
                <a:ea typeface="宋体" charset="-122"/>
              </a:rPr>
              <a:t>: 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2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Priority queue </a:t>
            </a:r>
            <a:r>
              <a:rPr lang="en-US" altLang="zh-CN" dirty="0">
                <a:ea typeface="宋体" charset="-122"/>
              </a:rPr>
              <a:t>is a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data structure</a:t>
            </a:r>
            <a:r>
              <a:rPr lang="en-US" altLang="zh-CN" dirty="0">
                <a:solidFill>
                  <a:schemeClr val="accent3"/>
                </a:solidFill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which allows at least two operations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  <a:latin typeface="Courier New" pitchFamily="49" charset="0"/>
                <a:ea typeface="宋体" charset="-122"/>
              </a:rPr>
              <a:t>insert</a:t>
            </a:r>
          </a:p>
          <a:p>
            <a:pPr lvl="1"/>
            <a:r>
              <a:rPr lang="en-US" altLang="zh-CN" dirty="0" err="1">
                <a:solidFill>
                  <a:srgbClr val="0070C0"/>
                </a:solidFill>
                <a:latin typeface="Courier New" pitchFamily="49" charset="0"/>
                <a:ea typeface="宋体" charset="-122"/>
              </a:rPr>
              <a:t>deleteMin</a:t>
            </a:r>
            <a:r>
              <a:rPr lang="en-US" altLang="zh-CN" dirty="0">
                <a:solidFill>
                  <a:srgbClr val="0070C0"/>
                </a:solidFill>
                <a:latin typeface="Courier New" pitchFamily="49" charset="0"/>
                <a:ea typeface="宋体" charset="-122"/>
              </a:rPr>
              <a:t>: delete Minimum</a:t>
            </a:r>
            <a:endParaRPr lang="en-US" altLang="zh-CN" dirty="0">
              <a:solidFill>
                <a:srgbClr val="0070C0"/>
              </a:solidFill>
              <a:ea typeface="宋体" charset="-122"/>
            </a:endParaRPr>
          </a:p>
          <a:p>
            <a:pPr lvl="2"/>
            <a:r>
              <a:rPr lang="en-US" altLang="zh-CN" dirty="0">
                <a:ea typeface="宋体" charset="-122"/>
              </a:rPr>
              <a:t>finds, returns and removes the minimum elements in the priority queue</a:t>
            </a:r>
          </a:p>
          <a:p>
            <a:pPr lvl="1"/>
            <a:endParaRPr lang="en-US" altLang="zh-CN" dirty="0">
              <a:ea typeface="宋体" charset="-122"/>
            </a:endParaRPr>
          </a:p>
          <a:p>
            <a:pPr lvl="1"/>
            <a:endParaRPr lang="en-US" altLang="zh-CN" dirty="0">
              <a:ea typeface="宋体" charset="-122"/>
            </a:endParaRPr>
          </a:p>
          <a:p>
            <a:pPr lvl="1"/>
            <a:endParaRPr lang="en-US" altLang="zh-CN" dirty="0">
              <a:ea typeface="宋体" charset="-122"/>
            </a:endParaRPr>
          </a:p>
          <a:p>
            <a:pPr lvl="1"/>
            <a:endParaRPr lang="en-US" altLang="zh-CN" dirty="0">
              <a:ea typeface="宋体" charset="-122"/>
            </a:endParaRPr>
          </a:p>
          <a:p>
            <a:pPr marL="342900" lvl="1" indent="0">
              <a:buNone/>
            </a:pPr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ea typeface="宋体" charset="-122"/>
              </a:rPr>
              <a:t>Applications: external sorting, greedy algorithms</a:t>
            </a:r>
          </a:p>
          <a:p>
            <a:endParaRPr lang="en-US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043238" y="4114800"/>
            <a:ext cx="2970212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 w="31750">
            <a:solidFill>
              <a:schemeClr val="folHlink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Priority Queue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295400" y="42672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 err="1">
                <a:solidFill>
                  <a:schemeClr val="folHlink"/>
                </a:solidFill>
                <a:latin typeface="+mn-lt"/>
              </a:rPr>
              <a:t>deleteMin</a:t>
            </a:r>
            <a:endParaRPr lang="en-US" altLang="zh-CN" sz="2400" dirty="0">
              <a:solidFill>
                <a:schemeClr val="folHlink"/>
              </a:solidFill>
              <a:latin typeface="+mn-lt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6553200" y="42672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>
                <a:solidFill>
                  <a:schemeClr val="folHlink"/>
                </a:solidFill>
                <a:latin typeface="+mn-lt"/>
              </a:rPr>
              <a:t>insert</a:t>
            </a:r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 flipH="1">
            <a:off x="1066800" y="4724400"/>
            <a:ext cx="1828800" cy="0"/>
          </a:xfrm>
          <a:prstGeom prst="line">
            <a:avLst/>
          </a:prstGeom>
          <a:noFill/>
          <a:ln w="31750">
            <a:solidFill>
              <a:schemeClr val="folHlink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 flipH="1">
            <a:off x="6096000" y="4724400"/>
            <a:ext cx="1828800" cy="0"/>
          </a:xfrm>
          <a:prstGeom prst="line">
            <a:avLst/>
          </a:prstGeom>
          <a:noFill/>
          <a:ln w="31750">
            <a:solidFill>
              <a:schemeClr val="folHlink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9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Linked List or Array?</a:t>
            </a:r>
          </a:p>
          <a:p>
            <a:pPr lvl="1"/>
            <a:r>
              <a:rPr lang="en-US" altLang="zh-CN" dirty="0">
                <a:ea typeface="宋体" charset="-122"/>
              </a:rPr>
              <a:t>insert: O(1) or O(n)</a:t>
            </a:r>
          </a:p>
          <a:p>
            <a:pPr lvl="1"/>
            <a:r>
              <a:rPr lang="en-US" altLang="zh-CN" dirty="0" err="1">
                <a:solidFill>
                  <a:srgbClr val="C00000"/>
                </a:solidFill>
                <a:ea typeface="宋体" charset="-122"/>
              </a:rPr>
              <a:t>deleteMin</a:t>
            </a:r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: O(n)</a:t>
            </a:r>
          </a:p>
          <a:p>
            <a:endParaRPr lang="en-US" dirty="0"/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insert: </a:t>
            </a:r>
            <a:r>
              <a:rPr lang="en-US" dirty="0">
                <a:solidFill>
                  <a:srgbClr val="C00000"/>
                </a:solidFill>
              </a:rPr>
              <a:t>O(log(n))</a:t>
            </a:r>
          </a:p>
          <a:p>
            <a:pPr lvl="1"/>
            <a:r>
              <a:rPr lang="en-US" dirty="0" err="1"/>
              <a:t>deleteMin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O(log(n))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45842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AutoShape 8" descr="Image result for snai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0" descr="Image result for snail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Pentagon 12"/>
          <p:cNvSpPr/>
          <p:nvPr/>
        </p:nvSpPr>
        <p:spPr>
          <a:xfrm flipH="1">
            <a:off x="4114799" y="2667000"/>
            <a:ext cx="2057400" cy="680915"/>
          </a:xfrm>
          <a:prstGeom prst="homePlat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Too Slow</a:t>
            </a:r>
          </a:p>
        </p:txBody>
      </p:sp>
    </p:spTree>
    <p:extLst>
      <p:ext uri="{BB962C8B-B14F-4D97-AF65-F5344CB8AC3E}">
        <p14:creationId xmlns:p14="http://schemas.microsoft.com/office/powerpoint/2010/main" val="416743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 dirty="0"/>
              <a:t>Implementation:  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100" name="Picture 4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54129" y="-152400"/>
            <a:ext cx="5365671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415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FD1FDE-C8BA-4190-B9E7-7340D330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325913-EF56-4198-922C-6BF62104F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169"/>
            <a:ext cx="9144000" cy="563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11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Binary Trees </a:t>
            </a:r>
            <a:r>
              <a:rPr lang="en-US" sz="3200" dirty="0"/>
              <a:t>(</a:t>
            </a:r>
            <a:r>
              <a:rPr lang="zh-CN" altLang="en-US" sz="3200" dirty="0"/>
              <a:t>二叉树</a:t>
            </a:r>
            <a:r>
              <a:rPr lang="en-US" sz="3200" dirty="0"/>
              <a:t>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00200"/>
            <a:ext cx="35052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ea typeface="宋体" charset="-122"/>
              </a:rPr>
              <a:t>Has a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root</a:t>
            </a:r>
            <a:r>
              <a:rPr lang="en-US" altLang="zh-CN" dirty="0">
                <a:solidFill>
                  <a:schemeClr val="accent4"/>
                </a:solidFill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at the topmost level</a:t>
            </a:r>
          </a:p>
          <a:p>
            <a:r>
              <a:rPr lang="en-US" altLang="zh-CN" dirty="0">
                <a:ea typeface="宋体" charset="-122"/>
              </a:rPr>
              <a:t>Each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node</a:t>
            </a:r>
            <a:r>
              <a:rPr lang="en-US" altLang="zh-CN" dirty="0">
                <a:solidFill>
                  <a:schemeClr val="accent4"/>
                </a:solidFill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has </a:t>
            </a:r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zero, one or two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children</a:t>
            </a:r>
          </a:p>
          <a:p>
            <a:r>
              <a:rPr lang="en-US" altLang="zh-CN" dirty="0">
                <a:ea typeface="宋体" charset="-122"/>
              </a:rPr>
              <a:t>A node that has no child is called a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leaf</a:t>
            </a:r>
          </a:p>
          <a:p>
            <a:r>
              <a:rPr lang="en-US" altLang="zh-CN" dirty="0">
                <a:ea typeface="宋体" charset="-122"/>
              </a:rPr>
              <a:t>For a node x, we denote the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left child</a:t>
            </a:r>
            <a:r>
              <a:rPr lang="en-US" altLang="zh-CN" dirty="0">
                <a:ea typeface="宋体" charset="-122"/>
              </a:rPr>
              <a:t>,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right child </a:t>
            </a:r>
            <a:r>
              <a:rPr lang="en-US" altLang="zh-CN" dirty="0">
                <a:ea typeface="宋体" charset="-122"/>
              </a:rPr>
              <a:t>and the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parent</a:t>
            </a:r>
            <a:r>
              <a:rPr lang="en-US" altLang="zh-CN" dirty="0">
                <a:solidFill>
                  <a:schemeClr val="accent4"/>
                </a:solidFill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of x as </a:t>
            </a:r>
            <a:r>
              <a:rPr lang="en-US" altLang="zh-CN" i="1" dirty="0">
                <a:ea typeface="宋体" charset="-122"/>
              </a:rPr>
              <a:t>left(x)</a:t>
            </a:r>
            <a:r>
              <a:rPr lang="en-US" altLang="zh-CN" dirty="0">
                <a:ea typeface="宋体" charset="-122"/>
              </a:rPr>
              <a:t>, </a:t>
            </a:r>
            <a:r>
              <a:rPr lang="en-US" altLang="zh-CN" i="1" dirty="0">
                <a:ea typeface="宋体" charset="-122"/>
              </a:rPr>
              <a:t>right(x)</a:t>
            </a:r>
            <a:r>
              <a:rPr lang="en-US" altLang="zh-CN" dirty="0">
                <a:ea typeface="宋体" charset="-122"/>
              </a:rPr>
              <a:t> and </a:t>
            </a:r>
            <a:r>
              <a:rPr lang="en-US" altLang="zh-CN" i="1" dirty="0">
                <a:ea typeface="宋体" charset="-122"/>
              </a:rPr>
              <a:t>parent(x)</a:t>
            </a:r>
            <a:r>
              <a:rPr lang="en-US" altLang="zh-CN" dirty="0">
                <a:ea typeface="宋体" charset="-122"/>
              </a:rPr>
              <a:t>, respectively.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Oval 13"/>
          <p:cNvSpPr>
            <a:spLocks noChangeArrowheads="1"/>
          </p:cNvSpPr>
          <p:nvPr/>
        </p:nvSpPr>
        <p:spPr bwMode="auto">
          <a:xfrm>
            <a:off x="6535417" y="21144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8" name="Oval 14"/>
          <p:cNvSpPr>
            <a:spLocks noChangeArrowheads="1"/>
          </p:cNvSpPr>
          <p:nvPr/>
        </p:nvSpPr>
        <p:spPr bwMode="auto">
          <a:xfrm>
            <a:off x="7678417" y="26478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9" name="Oval 15"/>
          <p:cNvSpPr>
            <a:spLocks noChangeArrowheads="1"/>
          </p:cNvSpPr>
          <p:nvPr/>
        </p:nvSpPr>
        <p:spPr bwMode="auto">
          <a:xfrm>
            <a:off x="5392417" y="26478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0" name="Oval 16"/>
          <p:cNvSpPr>
            <a:spLocks noChangeArrowheads="1"/>
          </p:cNvSpPr>
          <p:nvPr/>
        </p:nvSpPr>
        <p:spPr bwMode="auto">
          <a:xfrm>
            <a:off x="4935217" y="3403570"/>
            <a:ext cx="381000" cy="381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x</a:t>
            </a:r>
          </a:p>
        </p:txBody>
      </p:sp>
      <p:sp>
        <p:nvSpPr>
          <p:cNvPr id="11" name="Oval 17"/>
          <p:cNvSpPr>
            <a:spLocks noChangeArrowheads="1"/>
          </p:cNvSpPr>
          <p:nvPr/>
        </p:nvSpPr>
        <p:spPr bwMode="auto">
          <a:xfrm>
            <a:off x="5925817" y="34098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2" name="Oval 18"/>
          <p:cNvSpPr>
            <a:spLocks noChangeArrowheads="1"/>
          </p:cNvSpPr>
          <p:nvPr/>
        </p:nvSpPr>
        <p:spPr bwMode="auto">
          <a:xfrm>
            <a:off x="4478017" y="40956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3" name="Oval 19"/>
          <p:cNvSpPr>
            <a:spLocks noChangeArrowheads="1"/>
          </p:cNvSpPr>
          <p:nvPr/>
        </p:nvSpPr>
        <p:spPr bwMode="auto">
          <a:xfrm>
            <a:off x="5392417" y="40956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4" name="Oval 20"/>
          <p:cNvSpPr>
            <a:spLocks noChangeArrowheads="1"/>
          </p:cNvSpPr>
          <p:nvPr/>
        </p:nvSpPr>
        <p:spPr bwMode="auto">
          <a:xfrm>
            <a:off x="6535417" y="40956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5" name="Oval 21"/>
          <p:cNvSpPr>
            <a:spLocks noChangeArrowheads="1"/>
          </p:cNvSpPr>
          <p:nvPr/>
        </p:nvSpPr>
        <p:spPr bwMode="auto">
          <a:xfrm>
            <a:off x="6078217" y="47814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6" name="Oval 22"/>
          <p:cNvSpPr>
            <a:spLocks noChangeArrowheads="1"/>
          </p:cNvSpPr>
          <p:nvPr/>
        </p:nvSpPr>
        <p:spPr bwMode="auto">
          <a:xfrm>
            <a:off x="7252967" y="34098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7" name="Oval 23"/>
          <p:cNvSpPr>
            <a:spLocks noChangeArrowheads="1"/>
          </p:cNvSpPr>
          <p:nvPr/>
        </p:nvSpPr>
        <p:spPr bwMode="auto">
          <a:xfrm>
            <a:off x="8211817" y="34098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28" name="Text Box 34"/>
          <p:cNvSpPr txBox="1">
            <a:spLocks noChangeArrowheads="1"/>
          </p:cNvSpPr>
          <p:nvPr/>
        </p:nvSpPr>
        <p:spPr bwMode="auto">
          <a:xfrm>
            <a:off x="6423342" y="1752600"/>
            <a:ext cx="6632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  <a:ea typeface="+mn-ea"/>
              </a:rPr>
              <a:t>root</a:t>
            </a:r>
          </a:p>
        </p:txBody>
      </p:sp>
      <p:sp>
        <p:nvSpPr>
          <p:cNvPr id="29" name="Text Box 35"/>
          <p:cNvSpPr txBox="1">
            <a:spLocks noChangeArrowheads="1"/>
          </p:cNvSpPr>
          <p:nvPr/>
        </p:nvSpPr>
        <p:spPr bwMode="auto">
          <a:xfrm>
            <a:off x="7159582" y="3775015"/>
            <a:ext cx="5950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  <a:ea typeface="+mn-ea"/>
              </a:rPr>
              <a:t>leaf</a:t>
            </a:r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8150182" y="3775015"/>
            <a:ext cx="5950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  <a:ea typeface="+mn-ea"/>
              </a:rPr>
              <a:t>leaf</a:t>
            </a:r>
          </a:p>
        </p:txBody>
      </p:sp>
      <p:sp>
        <p:nvSpPr>
          <p:cNvPr id="31" name="Text Box 37"/>
          <p:cNvSpPr txBox="1">
            <a:spLocks noChangeArrowheads="1"/>
          </p:cNvSpPr>
          <p:nvPr/>
        </p:nvSpPr>
        <p:spPr bwMode="auto">
          <a:xfrm>
            <a:off x="6002017" y="5162490"/>
            <a:ext cx="5950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  <a:ea typeface="+mn-ea"/>
              </a:rPr>
              <a:t>leaf</a:t>
            </a:r>
          </a:p>
        </p:txBody>
      </p:sp>
      <p:sp>
        <p:nvSpPr>
          <p:cNvPr id="32" name="Text Box 38"/>
          <p:cNvSpPr txBox="1">
            <a:spLocks noChangeArrowheads="1"/>
          </p:cNvSpPr>
          <p:nvPr/>
        </p:nvSpPr>
        <p:spPr bwMode="auto">
          <a:xfrm>
            <a:off x="4267200" y="4476690"/>
            <a:ext cx="8204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  <a:ea typeface="+mn-ea"/>
              </a:rPr>
              <a:t>left(x)</a:t>
            </a:r>
          </a:p>
        </p:txBody>
      </p:sp>
      <p:sp>
        <p:nvSpPr>
          <p:cNvPr id="33" name="Text Box 39"/>
          <p:cNvSpPr txBox="1">
            <a:spLocks noChangeArrowheads="1"/>
          </p:cNvSpPr>
          <p:nvPr/>
        </p:nvSpPr>
        <p:spPr bwMode="auto">
          <a:xfrm>
            <a:off x="5163817" y="4476690"/>
            <a:ext cx="10294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  <a:ea typeface="+mn-ea"/>
              </a:rPr>
              <a:t>right(x)</a:t>
            </a:r>
          </a:p>
        </p:txBody>
      </p:sp>
      <p:sp>
        <p:nvSpPr>
          <p:cNvPr id="35" name="Text Box 41"/>
          <p:cNvSpPr txBox="1">
            <a:spLocks noChangeArrowheads="1"/>
          </p:cNvSpPr>
          <p:nvPr/>
        </p:nvSpPr>
        <p:spPr bwMode="auto">
          <a:xfrm>
            <a:off x="4953000" y="2266890"/>
            <a:ext cx="12066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  <a:ea typeface="+mn-ea"/>
              </a:rPr>
              <a:t>parent(x)</a:t>
            </a:r>
          </a:p>
        </p:txBody>
      </p:sp>
      <p:cxnSp>
        <p:nvCxnSpPr>
          <p:cNvPr id="37" name="Straight Connector 36"/>
          <p:cNvCxnSpPr>
            <a:stCxn id="7" idx="3"/>
            <a:endCxn id="9" idx="7"/>
          </p:cNvCxnSpPr>
          <p:nvPr/>
        </p:nvCxnSpPr>
        <p:spPr>
          <a:xfrm flipH="1">
            <a:off x="5717621" y="2439694"/>
            <a:ext cx="873592" cy="26399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7" idx="5"/>
            <a:endCxn id="8" idx="1"/>
          </p:cNvCxnSpPr>
          <p:nvPr/>
        </p:nvCxnSpPr>
        <p:spPr>
          <a:xfrm>
            <a:off x="6860621" y="2439694"/>
            <a:ext cx="873592" cy="26399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9" idx="3"/>
            <a:endCxn id="10" idx="7"/>
          </p:cNvCxnSpPr>
          <p:nvPr/>
        </p:nvCxnSpPr>
        <p:spPr>
          <a:xfrm flipH="1">
            <a:off x="5260421" y="2973094"/>
            <a:ext cx="187792" cy="48627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9" idx="5"/>
            <a:endCxn id="11" idx="1"/>
          </p:cNvCxnSpPr>
          <p:nvPr/>
        </p:nvCxnSpPr>
        <p:spPr>
          <a:xfrm>
            <a:off x="5717621" y="2973094"/>
            <a:ext cx="263992" cy="49259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0" idx="3"/>
            <a:endCxn id="12" idx="7"/>
          </p:cNvCxnSpPr>
          <p:nvPr/>
        </p:nvCxnSpPr>
        <p:spPr>
          <a:xfrm flipH="1">
            <a:off x="4803221" y="3728774"/>
            <a:ext cx="187792" cy="42271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0" idx="5"/>
            <a:endCxn id="13" idx="1"/>
          </p:cNvCxnSpPr>
          <p:nvPr/>
        </p:nvCxnSpPr>
        <p:spPr>
          <a:xfrm>
            <a:off x="5260421" y="3728774"/>
            <a:ext cx="187792" cy="42271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11" idx="5"/>
            <a:endCxn id="14" idx="1"/>
          </p:cNvCxnSpPr>
          <p:nvPr/>
        </p:nvCxnSpPr>
        <p:spPr>
          <a:xfrm>
            <a:off x="6251021" y="3735094"/>
            <a:ext cx="340192" cy="41639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3"/>
            <a:endCxn id="15" idx="7"/>
          </p:cNvCxnSpPr>
          <p:nvPr/>
        </p:nvCxnSpPr>
        <p:spPr>
          <a:xfrm flipH="1">
            <a:off x="6403421" y="4420894"/>
            <a:ext cx="187792" cy="41639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8" idx="3"/>
            <a:endCxn id="16" idx="7"/>
          </p:cNvCxnSpPr>
          <p:nvPr/>
        </p:nvCxnSpPr>
        <p:spPr>
          <a:xfrm flipH="1">
            <a:off x="7578171" y="2973094"/>
            <a:ext cx="156042" cy="49259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8" idx="5"/>
            <a:endCxn id="17" idx="1"/>
          </p:cNvCxnSpPr>
          <p:nvPr/>
        </p:nvCxnSpPr>
        <p:spPr>
          <a:xfrm>
            <a:off x="8003621" y="2973094"/>
            <a:ext cx="263992" cy="49259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08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3DCB6-BE45-4C01-A62E-E88D3BC9D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Tree Height (Depth)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76D4F-9ED9-4946-965E-40EF69BE9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121580" cy="4525963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The number of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edges</a:t>
            </a:r>
            <a:r>
              <a:rPr lang="en-US" altLang="zh-CN" dirty="0">
                <a:ea typeface="宋体" panose="02010600030101010101" pitchFamily="2" charset="-122"/>
              </a:rPr>
              <a:t> on the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longest</a:t>
            </a:r>
            <a:r>
              <a:rPr lang="en-US" altLang="zh-CN" dirty="0">
                <a:ea typeface="宋体" panose="02010600030101010101" pitchFamily="2" charset="-122"/>
              </a:rPr>
              <a:t> path (</a:t>
            </a:r>
            <a:r>
              <a:rPr lang="zh-CN" altLang="en-US" dirty="0">
                <a:ea typeface="宋体" panose="02010600030101010101" pitchFamily="2" charset="-122"/>
              </a:rPr>
              <a:t>路径</a:t>
            </a:r>
            <a:r>
              <a:rPr lang="en-US" altLang="zh-CN" dirty="0">
                <a:ea typeface="宋体" panose="02010600030101010101" pitchFamily="2" charset="-122"/>
              </a:rPr>
              <a:t>) from the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root</a:t>
            </a:r>
            <a:r>
              <a:rPr lang="en-US" altLang="zh-CN" dirty="0">
                <a:ea typeface="宋体" panose="02010600030101010101" pitchFamily="2" charset="-122"/>
              </a:rPr>
              <a:t> to a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leaf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9E212-F65F-4CC9-9431-F4E89BCB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CF345DC1-132E-47F8-819E-985381CD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417" y="211449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9A3D3450-799F-4E02-9D5F-952E5FFA6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6478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F56C57E3-FAA2-4732-9799-FC6E19DFA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64789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8" name="Oval 16">
            <a:extLst>
              <a:ext uri="{FF2B5EF4-FFF2-40B4-BE49-F238E27FC236}">
                <a16:creationId xmlns:a16="http://schemas.microsoft.com/office/drawing/2014/main" id="{DA174497-DCA1-484A-87F3-8E01A798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217" y="340357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altLang="zh-CN" dirty="0">
              <a:solidFill>
                <a:schemeClr val="accent4"/>
              </a:solidFill>
            </a:endParaRPr>
          </a:p>
        </p:txBody>
      </p:sp>
      <p:sp>
        <p:nvSpPr>
          <p:cNvPr id="9" name="Oval 17">
            <a:extLst>
              <a:ext uri="{FF2B5EF4-FFF2-40B4-BE49-F238E27FC236}">
                <a16:creationId xmlns:a16="http://schemas.microsoft.com/office/drawing/2014/main" id="{61A9D843-3FEA-4C12-8BB6-BB4971676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0989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65281A69-1C40-4640-AD52-9A783780D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017" y="40956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4557F8E9-7735-4BC8-B1C9-C29ACFDE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417" y="40956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2" name="Oval 20">
            <a:extLst>
              <a:ext uri="{FF2B5EF4-FFF2-40B4-BE49-F238E27FC236}">
                <a16:creationId xmlns:a16="http://schemas.microsoft.com/office/drawing/2014/main" id="{8422663C-1B4D-457D-A357-97A7BD9A1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09569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3" name="Oval 21">
            <a:extLst>
              <a:ext uri="{FF2B5EF4-FFF2-40B4-BE49-F238E27FC236}">
                <a16:creationId xmlns:a16="http://schemas.microsoft.com/office/drawing/2014/main" id="{88D1B1CE-89A9-4A5B-B898-58957716D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217" y="478149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4" name="Oval 22">
            <a:extLst>
              <a:ext uri="{FF2B5EF4-FFF2-40B4-BE49-F238E27FC236}">
                <a16:creationId xmlns:a16="http://schemas.microsoft.com/office/drawing/2014/main" id="{BD0FB2DB-C80D-4687-ABEA-78BF88353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4098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5" name="Oval 23">
            <a:extLst>
              <a:ext uri="{FF2B5EF4-FFF2-40B4-BE49-F238E27FC236}">
                <a16:creationId xmlns:a16="http://schemas.microsoft.com/office/drawing/2014/main" id="{CE592404-FADA-4457-997B-BC332BCE3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409890"/>
            <a:ext cx="381000" cy="3810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64071A8-7DAD-42DE-9EAE-0061A1FF4254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5811604" y="2439694"/>
            <a:ext cx="779609" cy="263992"/>
          </a:xfrm>
          <a:prstGeom prst="line">
            <a:avLst/>
          </a:prstGeom>
          <a:ln w="31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B697DF-991B-4688-A111-1AFFF075D8FF}"/>
              </a:ext>
            </a:extLst>
          </p:cNvPr>
          <p:cNvCxnSpPr>
            <a:stCxn id="5" idx="5"/>
            <a:endCxn id="6" idx="1"/>
          </p:cNvCxnSpPr>
          <p:nvPr/>
        </p:nvCxnSpPr>
        <p:spPr>
          <a:xfrm>
            <a:off x="6860621" y="2439694"/>
            <a:ext cx="815175" cy="26399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CFDED5-831D-4F4A-BA7C-A46BD5BD42B5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5125717" y="2973094"/>
            <a:ext cx="416479" cy="43047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845336-1E31-4FD5-B6D3-DC335963382B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5811604" y="2973094"/>
            <a:ext cx="398696" cy="436796"/>
          </a:xfrm>
          <a:prstGeom prst="line">
            <a:avLst/>
          </a:prstGeom>
          <a:ln w="31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497516D-658F-4628-B42B-940B21C3F354}"/>
              </a:ext>
            </a:extLst>
          </p:cNvPr>
          <p:cNvCxnSpPr>
            <a:stCxn id="8" idx="3"/>
            <a:endCxn id="10" idx="0"/>
          </p:cNvCxnSpPr>
          <p:nvPr/>
        </p:nvCxnSpPr>
        <p:spPr>
          <a:xfrm flipH="1">
            <a:off x="4668517" y="3728774"/>
            <a:ext cx="322496" cy="36691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AC7CAE1-18F0-4AD6-9D42-3B2F80C6EC29}"/>
              </a:ext>
            </a:extLst>
          </p:cNvPr>
          <p:cNvCxnSpPr>
            <a:stCxn id="8" idx="5"/>
            <a:endCxn id="11" idx="0"/>
          </p:cNvCxnSpPr>
          <p:nvPr/>
        </p:nvCxnSpPr>
        <p:spPr>
          <a:xfrm>
            <a:off x="5260421" y="3728774"/>
            <a:ext cx="322496" cy="36691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068948-F817-43BB-BED1-206FEBD6BCEF}"/>
              </a:ext>
            </a:extLst>
          </p:cNvPr>
          <p:cNvCxnSpPr>
            <a:stCxn id="9" idx="5"/>
            <a:endCxn id="12" idx="0"/>
          </p:cNvCxnSpPr>
          <p:nvPr/>
        </p:nvCxnSpPr>
        <p:spPr>
          <a:xfrm>
            <a:off x="6345004" y="3735094"/>
            <a:ext cx="322496" cy="360596"/>
          </a:xfrm>
          <a:prstGeom prst="line">
            <a:avLst/>
          </a:prstGeom>
          <a:ln w="31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97BFA5-C8C5-48EC-B98F-2B70F6D1D5BF}"/>
              </a:ext>
            </a:extLst>
          </p:cNvPr>
          <p:cNvCxnSpPr>
            <a:cxnSpLocks/>
            <a:stCxn id="12" idx="3"/>
            <a:endCxn id="13" idx="0"/>
          </p:cNvCxnSpPr>
          <p:nvPr/>
        </p:nvCxnSpPr>
        <p:spPr>
          <a:xfrm flipH="1">
            <a:off x="6268717" y="4420894"/>
            <a:ext cx="264079" cy="360596"/>
          </a:xfrm>
          <a:prstGeom prst="line">
            <a:avLst/>
          </a:prstGeom>
          <a:ln w="31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5371E0-DA3B-4C58-B2FC-8992C3025A3C}"/>
              </a:ext>
            </a:extLst>
          </p:cNvPr>
          <p:cNvCxnSpPr>
            <a:stCxn id="6" idx="3"/>
            <a:endCxn id="14" idx="0"/>
          </p:cNvCxnSpPr>
          <p:nvPr/>
        </p:nvCxnSpPr>
        <p:spPr>
          <a:xfrm flipH="1">
            <a:off x="7353300" y="2973094"/>
            <a:ext cx="322496" cy="4367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EA16C8-4D5A-456E-99E9-615A72BE4648}"/>
              </a:ext>
            </a:extLst>
          </p:cNvPr>
          <p:cNvCxnSpPr>
            <a:stCxn id="6" idx="5"/>
            <a:endCxn id="15" idx="0"/>
          </p:cNvCxnSpPr>
          <p:nvPr/>
        </p:nvCxnSpPr>
        <p:spPr>
          <a:xfrm>
            <a:off x="7945204" y="2973094"/>
            <a:ext cx="398696" cy="4367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1">
            <a:extLst>
              <a:ext uri="{FF2B5EF4-FFF2-40B4-BE49-F238E27FC236}">
                <a16:creationId xmlns:a16="http://schemas.microsoft.com/office/drawing/2014/main" id="{6FC3D23C-27D5-4865-AA13-79F71690B419}"/>
              </a:ext>
            </a:extLst>
          </p:cNvPr>
          <p:cNvSpPr/>
          <p:nvPr/>
        </p:nvSpPr>
        <p:spPr>
          <a:xfrm>
            <a:off x="4572001" y="5467290"/>
            <a:ext cx="4020816" cy="55753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lvl="1"/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height = depth = 4</a:t>
            </a:r>
            <a:endParaRPr lang="en-US" altLang="zh-CN" sz="3600" b="1" dirty="0">
              <a:solidFill>
                <a:schemeClr val="bg2">
                  <a:lumMod val="75000"/>
                </a:schemeClr>
              </a:solidFill>
              <a:latin typeface="+mj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7146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5A5D-245C-4371-BBBE-67566EF38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Perfect</a:t>
            </a:r>
            <a:r>
              <a:rPr lang="en-US" altLang="zh-CN" dirty="0"/>
              <a:t> Binary Trees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646C4-43B5-405E-9057-BEBF95EE4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01379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A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perfect binary tree </a:t>
            </a:r>
            <a:r>
              <a:rPr lang="en-US" altLang="zh-CN" dirty="0">
                <a:ea typeface="宋体" panose="02010600030101010101" pitchFamily="2" charset="-122"/>
              </a:rPr>
              <a:t>is the tree</a:t>
            </a:r>
          </a:p>
          <a:p>
            <a:pPr lvl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where a node can have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0 or 2 children </a:t>
            </a:r>
            <a:r>
              <a:rPr lang="en-US" altLang="zh-CN" dirty="0">
                <a:ea typeface="宋体" panose="02010600030101010101" pitchFamily="2" charset="-122"/>
              </a:rPr>
              <a:t>and</a:t>
            </a:r>
          </a:p>
          <a:p>
            <a:pPr lvl="1">
              <a:lnSpc>
                <a:spcPct val="8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all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leaves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are at the same depth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952F0-632A-4CBD-83EB-6C3F4F0FB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4FB131F-FA68-42DD-A79A-60078FEA0A1F}"/>
              </a:ext>
            </a:extLst>
          </p:cNvPr>
          <p:cNvGrpSpPr/>
          <p:nvPr/>
        </p:nvGrpSpPr>
        <p:grpSpPr>
          <a:xfrm>
            <a:off x="457200" y="4083036"/>
            <a:ext cx="2642377" cy="1764101"/>
            <a:chOff x="457200" y="3962400"/>
            <a:chExt cx="2642377" cy="1764101"/>
          </a:xfrm>
        </p:grpSpPr>
        <p:sp>
          <p:nvSpPr>
            <p:cNvPr id="6" name="Oval 15">
              <a:extLst>
                <a:ext uri="{FF2B5EF4-FFF2-40B4-BE49-F238E27FC236}">
                  <a16:creationId xmlns:a16="http://schemas.microsoft.com/office/drawing/2014/main" id="{6A82A063-8077-4F4F-92CA-1FEDB6B2D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2100" y="3962400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zh-CN">
                <a:solidFill>
                  <a:schemeClr val="accent4"/>
                </a:solidFill>
              </a:endParaRPr>
            </a:p>
          </p:txBody>
        </p:sp>
        <p:sp>
          <p:nvSpPr>
            <p:cNvPr id="7" name="Oval 16">
              <a:extLst>
                <a:ext uri="{FF2B5EF4-FFF2-40B4-BE49-F238E27FC236}">
                  <a16:creationId xmlns:a16="http://schemas.microsoft.com/office/drawing/2014/main" id="{3714653E-BFA2-4D4B-AFE6-F9A807D75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4559889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altLang="zh-CN" dirty="0">
                <a:solidFill>
                  <a:schemeClr val="accent4"/>
                </a:solidFill>
              </a:endParaRPr>
            </a:p>
          </p:txBody>
        </p:sp>
        <p:sp>
          <p:nvSpPr>
            <p:cNvPr id="8" name="Oval 17">
              <a:extLst>
                <a:ext uri="{FF2B5EF4-FFF2-40B4-BE49-F238E27FC236}">
                  <a16:creationId xmlns:a16="http://schemas.microsoft.com/office/drawing/2014/main" id="{CAAC05B8-EA4E-4344-A86B-F0093B5A6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5779" y="4559889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zh-CN">
                <a:solidFill>
                  <a:schemeClr val="accent4"/>
                </a:solidFill>
              </a:endParaRPr>
            </a:p>
          </p:txBody>
        </p:sp>
        <p:sp>
          <p:nvSpPr>
            <p:cNvPr id="9" name="Oval 18">
              <a:extLst>
                <a:ext uri="{FF2B5EF4-FFF2-40B4-BE49-F238E27FC236}">
                  <a16:creationId xmlns:a16="http://schemas.microsoft.com/office/drawing/2014/main" id="{6664319D-03E8-4689-8FB6-E92504D82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5345501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>
                <a:solidFill>
                  <a:schemeClr val="accent4"/>
                </a:solidFill>
              </a:endParaRPr>
            </a:p>
          </p:txBody>
        </p:sp>
        <p:sp>
          <p:nvSpPr>
            <p:cNvPr id="10" name="Oval 19">
              <a:extLst>
                <a:ext uri="{FF2B5EF4-FFF2-40B4-BE49-F238E27FC236}">
                  <a16:creationId xmlns:a16="http://schemas.microsoft.com/office/drawing/2014/main" id="{DFB70110-B0F7-4B18-95F8-8AE9DC104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992" y="5345501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>
                <a:solidFill>
                  <a:schemeClr val="accent4"/>
                </a:solidFill>
              </a:endParaRPr>
            </a:p>
          </p:txBody>
        </p:sp>
        <p:sp>
          <p:nvSpPr>
            <p:cNvPr id="11" name="Oval 20">
              <a:extLst>
                <a:ext uri="{FF2B5EF4-FFF2-40B4-BE49-F238E27FC236}">
                  <a16:creationId xmlns:a16="http://schemas.microsoft.com/office/drawing/2014/main" id="{2794A886-FD6A-4016-B911-AB277A617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8577" y="5345501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zh-CN">
                <a:solidFill>
                  <a:schemeClr val="accent4"/>
                </a:solidFill>
              </a:endParaRPr>
            </a:p>
          </p:txBody>
        </p:sp>
        <p:sp>
          <p:nvSpPr>
            <p:cNvPr id="12" name="Oval 21">
              <a:extLst>
                <a:ext uri="{FF2B5EF4-FFF2-40B4-BE49-F238E27FC236}">
                  <a16:creationId xmlns:a16="http://schemas.microsoft.com/office/drawing/2014/main" id="{1C449A61-C47B-4BEA-91F4-CE02F5BC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4784" y="5345501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zh-CN">
                <a:solidFill>
                  <a:schemeClr val="accent4"/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485AE75-72DB-4A4C-ACD3-42CB1E6F3A1E}"/>
                </a:ext>
              </a:extLst>
            </p:cNvPr>
            <p:cNvCxnSpPr>
              <a:stCxn id="6" idx="3"/>
              <a:endCxn id="7" idx="7"/>
            </p:cNvCxnSpPr>
            <p:nvPr/>
          </p:nvCxnSpPr>
          <p:spPr>
            <a:xfrm flipH="1">
              <a:off x="1163404" y="4287604"/>
              <a:ext cx="454492" cy="328081"/>
            </a:xfrm>
            <a:prstGeom prst="lin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EB74891-792E-4376-BE88-951CCBCCB8BC}"/>
                </a:ext>
              </a:extLst>
            </p:cNvPr>
            <p:cNvCxnSpPr>
              <a:stCxn id="6" idx="5"/>
              <a:endCxn id="8" idx="1"/>
            </p:cNvCxnSpPr>
            <p:nvPr/>
          </p:nvCxnSpPr>
          <p:spPr>
            <a:xfrm>
              <a:off x="1887304" y="4287604"/>
              <a:ext cx="494271" cy="328081"/>
            </a:xfrm>
            <a:prstGeom prst="lin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5665BF0-E3A9-419A-998C-86E473C61500}"/>
                </a:ext>
              </a:extLst>
            </p:cNvPr>
            <p:cNvCxnSpPr>
              <a:cxnSpLocks/>
              <a:stCxn id="7" idx="3"/>
              <a:endCxn id="9" idx="0"/>
            </p:cNvCxnSpPr>
            <p:nvPr/>
          </p:nvCxnSpPr>
          <p:spPr>
            <a:xfrm flipH="1">
              <a:off x="647700" y="4885093"/>
              <a:ext cx="246296" cy="460408"/>
            </a:xfrm>
            <a:prstGeom prst="lin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C89791A-D640-4E46-9F80-6ACCEC024B59}"/>
                </a:ext>
              </a:extLst>
            </p:cNvPr>
            <p:cNvCxnSpPr>
              <a:cxnSpLocks/>
              <a:stCxn id="7" idx="5"/>
              <a:endCxn id="10" idx="0"/>
            </p:cNvCxnSpPr>
            <p:nvPr/>
          </p:nvCxnSpPr>
          <p:spPr>
            <a:xfrm>
              <a:off x="1163404" y="4885093"/>
              <a:ext cx="238088" cy="460408"/>
            </a:xfrm>
            <a:prstGeom prst="lin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29DE1B7-5208-43E0-9FA3-D04CAF64B8AF}"/>
                </a:ext>
              </a:extLst>
            </p:cNvPr>
            <p:cNvCxnSpPr>
              <a:cxnSpLocks/>
              <a:stCxn id="8" idx="5"/>
              <a:endCxn id="11" idx="0"/>
            </p:cNvCxnSpPr>
            <p:nvPr/>
          </p:nvCxnSpPr>
          <p:spPr>
            <a:xfrm>
              <a:off x="2650983" y="4885093"/>
              <a:ext cx="258094" cy="460408"/>
            </a:xfrm>
            <a:prstGeom prst="lin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F597A18-88D8-4D63-80BC-FB74AD187EBD}"/>
                </a:ext>
              </a:extLst>
            </p:cNvPr>
            <p:cNvCxnSpPr>
              <a:cxnSpLocks/>
              <a:stCxn id="8" idx="3"/>
              <a:endCxn id="12" idx="0"/>
            </p:cNvCxnSpPr>
            <p:nvPr/>
          </p:nvCxnSpPr>
          <p:spPr>
            <a:xfrm flipH="1">
              <a:off x="2155284" y="4885093"/>
              <a:ext cx="226291" cy="460408"/>
            </a:xfrm>
            <a:prstGeom prst="lin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Oval 15">
            <a:extLst>
              <a:ext uri="{FF2B5EF4-FFF2-40B4-BE49-F238E27FC236}">
                <a16:creationId xmlns:a16="http://schemas.microsoft.com/office/drawing/2014/main" id="{37DE81A3-23EA-4DD4-BE98-E48E89BC9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270" y="408303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43" name="Oval 17">
            <a:extLst>
              <a:ext uri="{FF2B5EF4-FFF2-40B4-BE49-F238E27FC236}">
                <a16:creationId xmlns:a16="http://schemas.microsoft.com/office/drawing/2014/main" id="{EABA2400-2104-4C9E-9621-53ABBEC10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949" y="4680525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46" name="Oval 20">
            <a:extLst>
              <a:ext uri="{FF2B5EF4-FFF2-40B4-BE49-F238E27FC236}">
                <a16:creationId xmlns:a16="http://schemas.microsoft.com/office/drawing/2014/main" id="{6225B534-F2A7-4455-AD96-830D71AFC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3747" y="5466137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47" name="Oval 21">
            <a:extLst>
              <a:ext uri="{FF2B5EF4-FFF2-40B4-BE49-F238E27FC236}">
                <a16:creationId xmlns:a16="http://schemas.microsoft.com/office/drawing/2014/main" id="{02A2C581-7515-4D79-881C-122BE897A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9954" y="5466137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 dirty="0">
              <a:solidFill>
                <a:schemeClr val="accent4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5227C43-8358-4D75-9534-74AF3A4D0961}"/>
              </a:ext>
            </a:extLst>
          </p:cNvPr>
          <p:cNvCxnSpPr>
            <a:stCxn id="41" idx="3"/>
            <a:endCxn id="42" idx="7"/>
          </p:cNvCxnSpPr>
          <p:nvPr/>
        </p:nvCxnSpPr>
        <p:spPr>
          <a:xfrm flipH="1">
            <a:off x="4178574" y="4408240"/>
            <a:ext cx="454492" cy="32808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CD13F35-8FB6-4993-A238-AB765F41CD2D}"/>
              </a:ext>
            </a:extLst>
          </p:cNvPr>
          <p:cNvCxnSpPr>
            <a:stCxn id="41" idx="5"/>
            <a:endCxn id="43" idx="1"/>
          </p:cNvCxnSpPr>
          <p:nvPr/>
        </p:nvCxnSpPr>
        <p:spPr>
          <a:xfrm>
            <a:off x="4902474" y="4408240"/>
            <a:ext cx="494271" cy="32808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5DA8AFC-8890-4D02-87BC-86DE36690CD3}"/>
              </a:ext>
            </a:extLst>
          </p:cNvPr>
          <p:cNvGrpSpPr/>
          <p:nvPr/>
        </p:nvGrpSpPr>
        <p:grpSpPr>
          <a:xfrm>
            <a:off x="3472370" y="4680525"/>
            <a:ext cx="1134792" cy="1166612"/>
            <a:chOff x="3472370" y="4559889"/>
            <a:chExt cx="1134792" cy="1166612"/>
          </a:xfrm>
          <a:solidFill>
            <a:schemeClr val="accent4"/>
          </a:solidFill>
        </p:grpSpPr>
        <p:sp>
          <p:nvSpPr>
            <p:cNvPr id="42" name="Oval 16">
              <a:extLst>
                <a:ext uri="{FF2B5EF4-FFF2-40B4-BE49-F238E27FC236}">
                  <a16:creationId xmlns:a16="http://schemas.microsoft.com/office/drawing/2014/main" id="{EA146603-5984-4468-9515-03BDC975B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370" y="4559889"/>
              <a:ext cx="381000" cy="381000"/>
            </a:xfrm>
            <a:prstGeom prst="ellipse">
              <a:avLst/>
            </a:prstGeom>
            <a:grpFill/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altLang="zh-CN" dirty="0">
                <a:solidFill>
                  <a:schemeClr val="accent4"/>
                </a:solidFill>
              </a:endParaRPr>
            </a:p>
          </p:txBody>
        </p:sp>
        <p:sp>
          <p:nvSpPr>
            <p:cNvPr id="44" name="Oval 18">
              <a:extLst>
                <a:ext uri="{FF2B5EF4-FFF2-40B4-BE49-F238E27FC236}">
                  <a16:creationId xmlns:a16="http://schemas.microsoft.com/office/drawing/2014/main" id="{670CB371-40C6-461F-A449-56CC20CCC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370" y="5345501"/>
              <a:ext cx="381000" cy="381000"/>
            </a:xfrm>
            <a:prstGeom prst="ellipse">
              <a:avLst/>
            </a:prstGeom>
            <a:grpFill/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>
                <a:solidFill>
                  <a:schemeClr val="accent4"/>
                </a:solidFill>
              </a:endParaRPr>
            </a:p>
          </p:txBody>
        </p:sp>
        <p:sp>
          <p:nvSpPr>
            <p:cNvPr id="45" name="Oval 19">
              <a:extLst>
                <a:ext uri="{FF2B5EF4-FFF2-40B4-BE49-F238E27FC236}">
                  <a16:creationId xmlns:a16="http://schemas.microsoft.com/office/drawing/2014/main" id="{F7533FF8-800F-4FDD-B55B-579E66549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162" y="5345501"/>
              <a:ext cx="381000" cy="381000"/>
            </a:xfrm>
            <a:prstGeom prst="ellipse">
              <a:avLst/>
            </a:prstGeom>
            <a:grpFill/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zh-CN">
                <a:solidFill>
                  <a:schemeClr val="accent4"/>
                </a:solidFill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A486733-BA4A-46C8-A689-489DB34CB6FC}"/>
                </a:ext>
              </a:extLst>
            </p:cNvPr>
            <p:cNvCxnSpPr>
              <a:cxnSpLocks/>
              <a:stCxn id="42" idx="3"/>
              <a:endCxn id="44" idx="0"/>
            </p:cNvCxnSpPr>
            <p:nvPr/>
          </p:nvCxnSpPr>
          <p:spPr>
            <a:xfrm flipH="1">
              <a:off x="3662870" y="4885093"/>
              <a:ext cx="246296" cy="460408"/>
            </a:xfrm>
            <a:prstGeom prst="line">
              <a:avLst/>
            </a:prstGeom>
            <a:grpFill/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5621D5B-F288-42E3-8DFF-5F60F9B20293}"/>
                </a:ext>
              </a:extLst>
            </p:cNvPr>
            <p:cNvCxnSpPr>
              <a:cxnSpLocks/>
              <a:stCxn id="42" idx="5"/>
              <a:endCxn id="45" idx="0"/>
            </p:cNvCxnSpPr>
            <p:nvPr/>
          </p:nvCxnSpPr>
          <p:spPr>
            <a:xfrm>
              <a:off x="4178574" y="4885093"/>
              <a:ext cx="238088" cy="460408"/>
            </a:xfrm>
            <a:prstGeom prst="line">
              <a:avLst/>
            </a:prstGeom>
            <a:grpFill/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A43A1E6-E2B0-4494-BFB8-3C240758E0CC}"/>
              </a:ext>
            </a:extLst>
          </p:cNvPr>
          <p:cNvCxnSpPr>
            <a:cxnSpLocks/>
            <a:stCxn id="43" idx="5"/>
            <a:endCxn id="46" idx="0"/>
          </p:cNvCxnSpPr>
          <p:nvPr/>
        </p:nvCxnSpPr>
        <p:spPr>
          <a:xfrm>
            <a:off x="5666153" y="5005729"/>
            <a:ext cx="258094" cy="46040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13CCA4A-86A8-41AB-A617-E9C7ADE7AA51}"/>
              </a:ext>
            </a:extLst>
          </p:cNvPr>
          <p:cNvCxnSpPr>
            <a:cxnSpLocks/>
            <a:stCxn id="43" idx="3"/>
            <a:endCxn id="47" idx="0"/>
          </p:cNvCxnSpPr>
          <p:nvPr/>
        </p:nvCxnSpPr>
        <p:spPr>
          <a:xfrm flipH="1">
            <a:off x="5170454" y="5005729"/>
            <a:ext cx="226291" cy="46040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15">
            <a:extLst>
              <a:ext uri="{FF2B5EF4-FFF2-40B4-BE49-F238E27FC236}">
                <a16:creationId xmlns:a16="http://schemas.microsoft.com/office/drawing/2014/main" id="{27E60937-D4AE-457A-A689-0ADD8E993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327319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586E509-75D6-43B6-ADA2-DE0C3293DD66}"/>
              </a:ext>
            </a:extLst>
          </p:cNvPr>
          <p:cNvCxnSpPr>
            <a:cxnSpLocks/>
            <a:stCxn id="54" idx="3"/>
            <a:endCxn id="6" idx="7"/>
          </p:cNvCxnSpPr>
          <p:nvPr/>
        </p:nvCxnSpPr>
        <p:spPr>
          <a:xfrm flipH="1">
            <a:off x="1887304" y="3598400"/>
            <a:ext cx="1178392" cy="54043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4A4E1BD-5C98-40E2-8583-DC95293AFF0D}"/>
              </a:ext>
            </a:extLst>
          </p:cNvPr>
          <p:cNvCxnSpPr>
            <a:cxnSpLocks/>
            <a:stCxn id="54" idx="5"/>
            <a:endCxn id="41" idx="1"/>
          </p:cNvCxnSpPr>
          <p:nvPr/>
        </p:nvCxnSpPr>
        <p:spPr>
          <a:xfrm>
            <a:off x="3335104" y="3598400"/>
            <a:ext cx="1297962" cy="54043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2FD1CD7B-E37C-41D7-840D-62A37635CFAA}"/>
              </a:ext>
            </a:extLst>
          </p:cNvPr>
          <p:cNvGraphicFramePr>
            <a:graphicFrameLocks noGrp="1"/>
          </p:cNvGraphicFramePr>
          <p:nvPr/>
        </p:nvGraphicFramePr>
        <p:xfrm>
          <a:off x="6400801" y="3244836"/>
          <a:ext cx="2362200" cy="2622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6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48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height</a:t>
                      </a:r>
                    </a:p>
                  </a:txBody>
                  <a:tcPr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# of nodes</a:t>
                      </a:r>
                    </a:p>
                  </a:txBody>
                  <a:tcPr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344948"/>
                  </a:ext>
                </a:extLst>
              </a:tr>
              <a:tr h="4160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064573"/>
                  </a:ext>
                </a:extLst>
              </a:tr>
              <a:tr h="4160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2000" baseline="30000" dirty="0">
                          <a:solidFill>
                            <a:schemeClr val="bg1"/>
                          </a:solidFill>
                        </a:rPr>
                        <a:t>d+1 </a:t>
                      </a:r>
                      <a:r>
                        <a:rPr lang="en-US" altLang="zh-CN" sz="2000" dirty="0">
                          <a:solidFill>
                            <a:schemeClr val="bg1"/>
                          </a:solidFill>
                        </a:rPr>
                        <a:t>- 1</a:t>
                      </a:r>
                      <a:endParaRPr lang="en-US" sz="2000" baseline="30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046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40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46" grpId="0" animBg="1"/>
      <p:bldP spid="47" grpId="0" animBg="1"/>
      <p:bldP spid="5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B3FEB-018C-4B2A-9019-BF4E769A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Property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A0FF9-A293-460D-ABE4-5F86318EE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A perfect binary tree with </a:t>
            </a:r>
            <a:r>
              <a:rPr lang="en-US" altLang="zh-CN" dirty="0">
                <a:solidFill>
                  <a:srgbClr val="0070C0"/>
                </a:solidFill>
                <a:latin typeface="+mn-lt"/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 nodes has height of </a:t>
            </a:r>
            <a:r>
              <a:rPr lang="en-US" altLang="zh-CN" dirty="0">
                <a:solidFill>
                  <a:srgbClr val="0070C0"/>
                </a:solidFill>
                <a:latin typeface="+mn-lt"/>
                <a:ea typeface="宋体" panose="02010600030101010101" pitchFamily="2" charset="-122"/>
              </a:rPr>
              <a:t>O(log(n))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Implication: If the number of node access within an algorithm is bounded by the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tree height</a:t>
            </a:r>
            <a:r>
              <a:rPr lang="en-US" altLang="zh-CN" dirty="0">
                <a:ea typeface="宋体" panose="02010600030101010101" pitchFamily="2" charset="-122"/>
              </a:rPr>
              <a:t>, then its complexity is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O(log(n))!</a:t>
            </a:r>
          </a:p>
          <a:p>
            <a:r>
              <a:rPr lang="en-US" altLang="zh-CN" dirty="0">
                <a:latin typeface="+mn-lt"/>
                <a:ea typeface="宋体" panose="02010600030101010101" pitchFamily="2" charset="-122"/>
              </a:rPr>
              <a:t>S</a:t>
            </a:r>
            <a:r>
              <a:rPr lang="en-US" altLang="zh-CN" dirty="0">
                <a:latin typeface="+mn-lt"/>
                <a:ea typeface="+mn-ea"/>
              </a:rPr>
              <a:t>ide notes</a:t>
            </a:r>
          </a:p>
          <a:p>
            <a:pPr lvl="1"/>
            <a:r>
              <a:rPr lang="en-US" altLang="zh-CN" dirty="0">
                <a:latin typeface="+mn-lt"/>
                <a:ea typeface="+mn-ea"/>
              </a:rPr>
              <a:t>The largest depth of a 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binary tree </a:t>
            </a:r>
            <a:r>
              <a:rPr lang="en-US" altLang="zh-CN" dirty="0">
                <a:latin typeface="+mn-lt"/>
                <a:ea typeface="+mn-ea"/>
              </a:rPr>
              <a:t>of </a:t>
            </a: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n</a:t>
            </a:r>
            <a:r>
              <a:rPr lang="en-US" altLang="zh-CN" dirty="0">
                <a:latin typeface="+mn-lt"/>
                <a:ea typeface="+mn-ea"/>
              </a:rPr>
              <a:t> nodes is </a:t>
            </a: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O(n)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What is the shape of the tree?</a:t>
            </a:r>
          </a:p>
          <a:p>
            <a:endParaRPr lang="zh-CN" altLang="en-US" dirty="0">
              <a:solidFill>
                <a:schemeClr val="accent4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813BE-F1F3-4F6F-ACB6-DFD7F4D6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54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CDA3-76C2-48B5-BB57-B1359A63D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192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altLang="zh-CN" sz="3200" dirty="0">
                <a:solidFill>
                  <a:srgbClr val="0070C0"/>
                </a:solidFill>
              </a:rPr>
              <a:t>Given the number of nodes (data size):</a:t>
            </a:r>
            <a:endParaRPr lang="zh-CN" altLang="en-US" sz="3200" dirty="0">
              <a:solidFill>
                <a:srgbClr val="0070C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15334" y="2620930"/>
            <a:ext cx="7617043" cy="2484937"/>
            <a:chOff x="715334" y="2620930"/>
            <a:chExt cx="7617043" cy="2484937"/>
          </a:xfrm>
        </p:grpSpPr>
        <p:sp>
          <p:nvSpPr>
            <p:cNvPr id="6" name="Oval 5"/>
            <p:cNvSpPr/>
            <p:nvPr/>
          </p:nvSpPr>
          <p:spPr>
            <a:xfrm>
              <a:off x="5847900" y="2620930"/>
              <a:ext cx="2484477" cy="2484937"/>
            </a:xfrm>
            <a:prstGeom prst="ellipse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Freeform 6"/>
            <p:cNvSpPr/>
            <p:nvPr/>
          </p:nvSpPr>
          <p:spPr>
            <a:xfrm>
              <a:off x="5930392" y="2703776"/>
              <a:ext cx="2319492" cy="2319245"/>
            </a:xfrm>
            <a:custGeom>
              <a:avLst/>
              <a:gdLst>
                <a:gd name="connsiteX0" fmla="*/ 0 w 2319492"/>
                <a:gd name="connsiteY0" fmla="*/ 1159623 h 2319245"/>
                <a:gd name="connsiteX1" fmla="*/ 1159746 w 2319492"/>
                <a:gd name="connsiteY1" fmla="*/ 0 h 2319245"/>
                <a:gd name="connsiteX2" fmla="*/ 2319492 w 2319492"/>
                <a:gd name="connsiteY2" fmla="*/ 1159623 h 2319245"/>
                <a:gd name="connsiteX3" fmla="*/ 1159746 w 2319492"/>
                <a:gd name="connsiteY3" fmla="*/ 2319246 h 2319245"/>
                <a:gd name="connsiteX4" fmla="*/ 0 w 2319492"/>
                <a:gd name="connsiteY4" fmla="*/ 1159623 h 231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492" h="2319245">
                  <a:moveTo>
                    <a:pt x="0" y="1159623"/>
                  </a:moveTo>
                  <a:cubicBezTo>
                    <a:pt x="0" y="519181"/>
                    <a:pt x="519236" y="0"/>
                    <a:pt x="1159746" y="0"/>
                  </a:cubicBezTo>
                  <a:cubicBezTo>
                    <a:pt x="1800256" y="0"/>
                    <a:pt x="2319492" y="519181"/>
                    <a:pt x="2319492" y="1159623"/>
                  </a:cubicBezTo>
                  <a:cubicBezTo>
                    <a:pt x="2319492" y="1800065"/>
                    <a:pt x="1800256" y="2319246"/>
                    <a:pt x="1159746" y="2319246"/>
                  </a:cubicBezTo>
                  <a:cubicBezTo>
                    <a:pt x="519236" y="2319246"/>
                    <a:pt x="0" y="1800065"/>
                    <a:pt x="0" y="1159623"/>
                  </a:cubicBez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69687" tIns="369483" rIns="369687" bIns="369483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3000" kern="1200" dirty="0"/>
                <a:t>Efficient Traversal Algorithm</a:t>
              </a:r>
              <a:endParaRPr lang="zh-CN" altLang="en-US" sz="3000" kern="1200" dirty="0"/>
            </a:p>
          </p:txBody>
        </p:sp>
        <p:sp>
          <p:nvSpPr>
            <p:cNvPr id="8" name="Teardrop 7"/>
            <p:cNvSpPr/>
            <p:nvPr/>
          </p:nvSpPr>
          <p:spPr>
            <a:xfrm rot="2700000">
              <a:off x="3283113" y="2623934"/>
              <a:ext cx="2478493" cy="2478493"/>
            </a:xfrm>
            <a:prstGeom prst="teardrop">
              <a:avLst>
                <a:gd name="adj" fmla="val 100000"/>
              </a:avLst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 8"/>
            <p:cNvSpPr/>
            <p:nvPr/>
          </p:nvSpPr>
          <p:spPr>
            <a:xfrm>
              <a:off x="3362613" y="2703776"/>
              <a:ext cx="2319492" cy="2319245"/>
            </a:xfrm>
            <a:custGeom>
              <a:avLst/>
              <a:gdLst>
                <a:gd name="connsiteX0" fmla="*/ 0 w 2319492"/>
                <a:gd name="connsiteY0" fmla="*/ 1159623 h 2319245"/>
                <a:gd name="connsiteX1" fmla="*/ 1159746 w 2319492"/>
                <a:gd name="connsiteY1" fmla="*/ 0 h 2319245"/>
                <a:gd name="connsiteX2" fmla="*/ 2319492 w 2319492"/>
                <a:gd name="connsiteY2" fmla="*/ 1159623 h 2319245"/>
                <a:gd name="connsiteX3" fmla="*/ 1159746 w 2319492"/>
                <a:gd name="connsiteY3" fmla="*/ 2319246 h 2319245"/>
                <a:gd name="connsiteX4" fmla="*/ 0 w 2319492"/>
                <a:gd name="connsiteY4" fmla="*/ 1159623 h 231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492" h="2319245">
                  <a:moveTo>
                    <a:pt x="0" y="1159623"/>
                  </a:moveTo>
                  <a:cubicBezTo>
                    <a:pt x="0" y="519181"/>
                    <a:pt x="519236" y="0"/>
                    <a:pt x="1159746" y="0"/>
                  </a:cubicBezTo>
                  <a:cubicBezTo>
                    <a:pt x="1800256" y="0"/>
                    <a:pt x="2319492" y="519181"/>
                    <a:pt x="2319492" y="1159623"/>
                  </a:cubicBezTo>
                  <a:cubicBezTo>
                    <a:pt x="2319492" y="1800065"/>
                    <a:pt x="1800256" y="2319246"/>
                    <a:pt x="1159746" y="2319246"/>
                  </a:cubicBezTo>
                  <a:cubicBezTo>
                    <a:pt x="519236" y="2319246"/>
                    <a:pt x="0" y="1800065"/>
                    <a:pt x="0" y="1159623"/>
                  </a:cubicBez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69688" tIns="369483" rIns="369686" bIns="369483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3000" kern="1200" dirty="0"/>
                <a:t>Small Tree Height</a:t>
              </a:r>
              <a:endParaRPr lang="zh-CN" altLang="en-US" sz="3000" kern="1200" dirty="0"/>
            </a:p>
          </p:txBody>
        </p:sp>
        <p:sp>
          <p:nvSpPr>
            <p:cNvPr id="10" name="Teardrop 9"/>
            <p:cNvSpPr/>
            <p:nvPr/>
          </p:nvSpPr>
          <p:spPr>
            <a:xfrm rot="2700000">
              <a:off x="715334" y="2623934"/>
              <a:ext cx="2478493" cy="2478493"/>
            </a:xfrm>
            <a:prstGeom prst="teardrop">
              <a:avLst>
                <a:gd name="adj" fmla="val 100000"/>
              </a:avLst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94835" y="2703776"/>
              <a:ext cx="2319492" cy="2319245"/>
            </a:xfrm>
            <a:custGeom>
              <a:avLst/>
              <a:gdLst>
                <a:gd name="connsiteX0" fmla="*/ 0 w 2319492"/>
                <a:gd name="connsiteY0" fmla="*/ 1159623 h 2319245"/>
                <a:gd name="connsiteX1" fmla="*/ 1159746 w 2319492"/>
                <a:gd name="connsiteY1" fmla="*/ 0 h 2319245"/>
                <a:gd name="connsiteX2" fmla="*/ 2319492 w 2319492"/>
                <a:gd name="connsiteY2" fmla="*/ 1159623 h 2319245"/>
                <a:gd name="connsiteX3" fmla="*/ 1159746 w 2319492"/>
                <a:gd name="connsiteY3" fmla="*/ 2319246 h 2319245"/>
                <a:gd name="connsiteX4" fmla="*/ 0 w 2319492"/>
                <a:gd name="connsiteY4" fmla="*/ 1159623 h 231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492" h="2319245">
                  <a:moveTo>
                    <a:pt x="0" y="1159623"/>
                  </a:moveTo>
                  <a:cubicBezTo>
                    <a:pt x="0" y="519181"/>
                    <a:pt x="519236" y="0"/>
                    <a:pt x="1159746" y="0"/>
                  </a:cubicBezTo>
                  <a:cubicBezTo>
                    <a:pt x="1800256" y="0"/>
                    <a:pt x="2319492" y="519181"/>
                    <a:pt x="2319492" y="1159623"/>
                  </a:cubicBezTo>
                  <a:cubicBezTo>
                    <a:pt x="2319492" y="1800065"/>
                    <a:pt x="1800256" y="2319246"/>
                    <a:pt x="1159746" y="2319246"/>
                  </a:cubicBezTo>
                  <a:cubicBezTo>
                    <a:pt x="519236" y="2319246"/>
                    <a:pt x="0" y="1800065"/>
                    <a:pt x="0" y="1159623"/>
                  </a:cubicBez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69687" tIns="369483" rIns="369687" bIns="369483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3000" kern="1200" dirty="0"/>
                <a:t>Balanced Tree Structure</a:t>
              </a:r>
              <a:endParaRPr lang="zh-CN" altLang="en-US" sz="3000" kern="120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FAD7E-0E00-484E-A80A-11304169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78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2A261B-4CD0-467D-8FCB-612D6AADB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0600"/>
            <a:ext cx="7886700" cy="5730876"/>
          </a:xfrm>
        </p:spPr>
        <p:txBody>
          <a:bodyPr/>
          <a:lstStyle/>
          <a:p>
            <a:pPr marL="0" indent="0" fontAlgn="base"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A tree is balanced if and only if: </a:t>
            </a:r>
          </a:p>
          <a:p>
            <a:pPr fontAlgn="base"/>
            <a:r>
              <a:rPr lang="en-US" altLang="zh-CN" dirty="0"/>
              <a:t>The left and right subtrees' heights differ by at most one, AND</a:t>
            </a:r>
          </a:p>
          <a:p>
            <a:pPr fontAlgn="base"/>
            <a:r>
              <a:rPr lang="en-US" altLang="zh-CN" dirty="0"/>
              <a:t>The left subtree is balanced, AND</a:t>
            </a:r>
          </a:p>
          <a:p>
            <a:pPr fontAlgn="base"/>
            <a:r>
              <a:rPr lang="en-US" altLang="zh-CN" dirty="0"/>
              <a:t>The right subtree is balanced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A3DCB8-AE27-47DE-88A3-8C49666E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77A4EE-1CE5-4DAF-8EFA-1F8A52146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733800"/>
            <a:ext cx="1495238" cy="18952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9F6ABB2-D7F6-4B12-92AD-6B8CAB0349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706" y="3746078"/>
            <a:ext cx="3466667" cy="188571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B9BA4BC-2BED-4F51-AB70-8C80A8BA2321}"/>
              </a:ext>
            </a:extLst>
          </p:cNvPr>
          <p:cNvSpPr/>
          <p:nvPr/>
        </p:nvSpPr>
        <p:spPr>
          <a:xfrm>
            <a:off x="914400" y="5984265"/>
            <a:ext cx="6765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zh-CN" dirty="0"/>
              <a:t>The tree in the left  is balanced,  while the right one is not balanced.</a:t>
            </a:r>
          </a:p>
        </p:txBody>
      </p:sp>
    </p:spTree>
    <p:extLst>
      <p:ext uri="{BB962C8B-B14F-4D97-AF65-F5344CB8AC3E}">
        <p14:creationId xmlns:p14="http://schemas.microsoft.com/office/powerpoint/2010/main" val="163833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7B37E3-B718-4EC8-B96D-9187A823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971925"/>
            <a:ext cx="7772400" cy="1362075"/>
          </a:xfrm>
        </p:spPr>
        <p:txBody>
          <a:bodyPr>
            <a:normAutofit/>
          </a:bodyPr>
          <a:lstStyle/>
          <a:p>
            <a:pPr algn="ctr"/>
            <a:r>
              <a:rPr lang="en-US" altLang="zh-CN" sz="6000" dirty="0"/>
              <a:t>Binary heaps </a:t>
            </a:r>
            <a:r>
              <a:rPr lang="en-US" altLang="zh-CN" sz="3200" dirty="0"/>
              <a:t>(</a:t>
            </a:r>
            <a:r>
              <a:rPr lang="zh-CN" altLang="en-US" sz="3200" dirty="0"/>
              <a:t>二叉堆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0F6E38-DC23-47A5-885A-0B3E1A883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471738"/>
            <a:ext cx="7772400" cy="1500187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It is always wise to keep a tree </a:t>
            </a:r>
            <a:r>
              <a:rPr lang="en-US" altLang="zh-CN" sz="2800" dirty="0">
                <a:solidFill>
                  <a:srgbClr val="C00000"/>
                </a:solidFill>
              </a:rPr>
              <a:t>balanced</a:t>
            </a:r>
            <a:r>
              <a:rPr lang="en-US" altLang="zh-CN" sz="28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Not all node sets, however, can form a perfect tree. Hence, we propose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FBBDA-0971-44AD-9159-324F2A99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47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1546D2-BD3D-4698-806B-960F95BC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Binary Heap</a:t>
            </a:r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1E8629-8732-4990-A7D7-28340B5B2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200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0070C0"/>
                </a:solidFill>
                <a:ea typeface="宋体" panose="02010600030101010101" pitchFamily="2" charset="-122"/>
              </a:rPr>
              <a:t>Heaps</a:t>
            </a:r>
            <a:r>
              <a:rPr lang="en-US" altLang="zh-CN" sz="2800" dirty="0">
                <a:ea typeface="宋体" panose="02010600030101010101" pitchFamily="2" charset="-122"/>
              </a:rPr>
              <a:t> are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800" dirty="0">
                <a:solidFill>
                  <a:srgbClr val="0070C0"/>
                </a:solidFill>
                <a:ea typeface="宋体" panose="02010600030101010101" pitchFamily="2" charset="-122"/>
              </a:rPr>
              <a:t>almost perfect binary trees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All levels are </a:t>
            </a:r>
            <a:r>
              <a:rPr lang="en-US" altLang="zh-CN" sz="2400" dirty="0">
                <a:solidFill>
                  <a:srgbClr val="0070C0"/>
                </a:solidFill>
                <a:ea typeface="宋体" panose="02010600030101010101" pitchFamily="2" charset="-122"/>
              </a:rPr>
              <a:t>full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except possibly the lowest level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If the lowest level is not full, then nodes must be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packed to the left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01252-42A7-40FC-85AA-FD6C5F8C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Oval 15">
            <a:extLst>
              <a:ext uri="{FF2B5EF4-FFF2-40B4-BE49-F238E27FC236}">
                <a16:creationId xmlns:a16="http://schemas.microsoft.com/office/drawing/2014/main" id="{0204E012-CC63-45BD-A773-9062B8C47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436122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9" name="Oval 16">
            <a:extLst>
              <a:ext uri="{FF2B5EF4-FFF2-40B4-BE49-F238E27FC236}">
                <a16:creationId xmlns:a16="http://schemas.microsoft.com/office/drawing/2014/main" id="{B46801E8-B45C-4953-9A19-74D0F736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958712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altLang="zh-CN" dirty="0">
              <a:solidFill>
                <a:schemeClr val="accent4"/>
              </a:solidFill>
            </a:endParaRPr>
          </a:p>
        </p:txBody>
      </p:sp>
      <p:sp>
        <p:nvSpPr>
          <p:cNvPr id="10" name="Oval 17">
            <a:extLst>
              <a:ext uri="{FF2B5EF4-FFF2-40B4-BE49-F238E27FC236}">
                <a16:creationId xmlns:a16="http://schemas.microsoft.com/office/drawing/2014/main" id="{11034694-4FEB-4C24-B82A-8B83B184A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6779" y="4958712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1" name="Oval 18">
            <a:extLst>
              <a:ext uri="{FF2B5EF4-FFF2-40B4-BE49-F238E27FC236}">
                <a16:creationId xmlns:a16="http://schemas.microsoft.com/office/drawing/2014/main" id="{B76E3050-D764-4B82-9921-2BEDA9919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744324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F2FE0717-2F5C-4485-9831-DDE627BDD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992" y="5744324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3" name="Oval 20">
            <a:extLst>
              <a:ext uri="{FF2B5EF4-FFF2-40B4-BE49-F238E27FC236}">
                <a16:creationId xmlns:a16="http://schemas.microsoft.com/office/drawing/2014/main" id="{B2DEF8DA-1617-4F1F-82D3-1D247BA64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9577" y="5744324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14" name="Oval 21">
            <a:extLst>
              <a:ext uri="{FF2B5EF4-FFF2-40B4-BE49-F238E27FC236}">
                <a16:creationId xmlns:a16="http://schemas.microsoft.com/office/drawing/2014/main" id="{7C6C2866-2BE5-4608-94FC-724BE11B4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784" y="5744324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E7F316-A6F6-404A-A987-2590A9498309}"/>
              </a:ext>
            </a:extLst>
          </p:cNvPr>
          <p:cNvCxnSpPr>
            <a:stCxn id="8" idx="3"/>
            <a:endCxn id="9" idx="7"/>
          </p:cNvCxnSpPr>
          <p:nvPr/>
        </p:nvCxnSpPr>
        <p:spPr>
          <a:xfrm flipH="1">
            <a:off x="1544404" y="4686427"/>
            <a:ext cx="454492" cy="328081"/>
          </a:xfrm>
          <a:prstGeom prst="line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599BC7-4F0A-4AC3-9058-0FD8D4B3F702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2268304" y="4686427"/>
            <a:ext cx="494271" cy="328081"/>
          </a:xfrm>
          <a:prstGeom prst="line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DE8850-4836-4998-89A9-40B326E4F333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 flipH="1">
            <a:off x="1028700" y="5283916"/>
            <a:ext cx="246296" cy="460408"/>
          </a:xfrm>
          <a:prstGeom prst="line">
            <a:avLst/>
          </a:prstGeom>
          <a:noFill/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988561-2F89-451C-929F-4667FD4C2C6B}"/>
              </a:ext>
            </a:extLst>
          </p:cNvPr>
          <p:cNvCxnSpPr>
            <a:cxnSpLocks/>
            <a:stCxn id="9" idx="5"/>
            <a:endCxn id="12" idx="0"/>
          </p:cNvCxnSpPr>
          <p:nvPr/>
        </p:nvCxnSpPr>
        <p:spPr>
          <a:xfrm>
            <a:off x="1544404" y="5283916"/>
            <a:ext cx="238088" cy="460408"/>
          </a:xfrm>
          <a:prstGeom prst="line">
            <a:avLst/>
          </a:prstGeom>
          <a:noFill/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B41812-5ECC-4A11-BA49-BE3B96169B32}"/>
              </a:ext>
            </a:extLst>
          </p:cNvPr>
          <p:cNvCxnSpPr>
            <a:cxnSpLocks/>
            <a:stCxn id="10" idx="5"/>
            <a:endCxn id="13" idx="0"/>
          </p:cNvCxnSpPr>
          <p:nvPr/>
        </p:nvCxnSpPr>
        <p:spPr>
          <a:xfrm>
            <a:off x="3031983" y="5283916"/>
            <a:ext cx="258094" cy="460408"/>
          </a:xfrm>
          <a:prstGeom prst="line">
            <a:avLst/>
          </a:prstGeom>
          <a:noFill/>
          <a:ln w="31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6B3BC5-4677-45BD-B72A-85FE48EA486C}"/>
              </a:ext>
            </a:extLst>
          </p:cNvPr>
          <p:cNvCxnSpPr>
            <a:cxnSpLocks/>
            <a:stCxn id="10" idx="3"/>
            <a:endCxn id="14" idx="0"/>
          </p:cNvCxnSpPr>
          <p:nvPr/>
        </p:nvCxnSpPr>
        <p:spPr>
          <a:xfrm flipH="1">
            <a:off x="2536284" y="5283916"/>
            <a:ext cx="226291" cy="460408"/>
          </a:xfrm>
          <a:prstGeom prst="line">
            <a:avLst/>
          </a:prstGeom>
          <a:noFill/>
          <a:ln w="31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15">
            <a:extLst>
              <a:ext uri="{FF2B5EF4-FFF2-40B4-BE49-F238E27FC236}">
                <a16:creationId xmlns:a16="http://schemas.microsoft.com/office/drawing/2014/main" id="{410F6853-36F3-4DAB-BFE2-1B8A5960F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270" y="436122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sp>
        <p:nvSpPr>
          <p:cNvPr id="22" name="Oval 17">
            <a:extLst>
              <a:ext uri="{FF2B5EF4-FFF2-40B4-BE49-F238E27FC236}">
                <a16:creationId xmlns:a16="http://schemas.microsoft.com/office/drawing/2014/main" id="{B49EE576-F34F-4259-B865-FF5CEEF41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949" y="4958712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B4ABF4-A2D1-4BDD-8430-9C1EF57D777C}"/>
              </a:ext>
            </a:extLst>
          </p:cNvPr>
          <p:cNvCxnSpPr>
            <a:stCxn id="21" idx="3"/>
            <a:endCxn id="28" idx="7"/>
          </p:cNvCxnSpPr>
          <p:nvPr/>
        </p:nvCxnSpPr>
        <p:spPr>
          <a:xfrm flipH="1">
            <a:off x="4559574" y="4686427"/>
            <a:ext cx="454492" cy="328081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13E9174-9CE3-47EE-9106-B26FAA4983FC}"/>
              </a:ext>
            </a:extLst>
          </p:cNvPr>
          <p:cNvCxnSpPr>
            <a:stCxn id="21" idx="5"/>
            <a:endCxn id="22" idx="1"/>
          </p:cNvCxnSpPr>
          <p:nvPr/>
        </p:nvCxnSpPr>
        <p:spPr>
          <a:xfrm>
            <a:off x="5283474" y="4686427"/>
            <a:ext cx="494271" cy="328081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16">
            <a:extLst>
              <a:ext uri="{FF2B5EF4-FFF2-40B4-BE49-F238E27FC236}">
                <a16:creationId xmlns:a16="http://schemas.microsoft.com/office/drawing/2014/main" id="{9966FB5E-4F38-44DC-A84E-1829790F4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4370" y="4958712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altLang="zh-CN" dirty="0">
              <a:solidFill>
                <a:schemeClr val="accent4"/>
              </a:solidFill>
            </a:endParaRPr>
          </a:p>
        </p:txBody>
      </p:sp>
      <p:sp>
        <p:nvSpPr>
          <p:cNvPr id="29" name="Oval 18">
            <a:extLst>
              <a:ext uri="{FF2B5EF4-FFF2-40B4-BE49-F238E27FC236}">
                <a16:creationId xmlns:a16="http://schemas.microsoft.com/office/drawing/2014/main" id="{F6CFB78E-AE90-463F-9DF9-D5FAE7006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3370" y="5744324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7FE4777-187D-438C-8B60-326927CEEB7A}"/>
              </a:ext>
            </a:extLst>
          </p:cNvPr>
          <p:cNvCxnSpPr>
            <a:cxnSpLocks/>
            <a:stCxn id="28" idx="3"/>
            <a:endCxn id="29" idx="0"/>
          </p:cNvCxnSpPr>
          <p:nvPr/>
        </p:nvCxnSpPr>
        <p:spPr>
          <a:xfrm flipH="1">
            <a:off x="4043870" y="5283916"/>
            <a:ext cx="246296" cy="460408"/>
          </a:xfrm>
          <a:prstGeom prst="line">
            <a:avLst/>
          </a:prstGeom>
          <a:noFill/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15">
            <a:extLst>
              <a:ext uri="{FF2B5EF4-FFF2-40B4-BE49-F238E27FC236}">
                <a16:creationId xmlns:a16="http://schemas.microsoft.com/office/drawing/2014/main" id="{6773E9AF-4656-4158-9A3E-9B7068258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35513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zh-CN">
              <a:solidFill>
                <a:schemeClr val="accent4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D235370-9937-49A7-9215-ADF1F32C4F0D}"/>
              </a:ext>
            </a:extLst>
          </p:cNvPr>
          <p:cNvCxnSpPr>
            <a:cxnSpLocks/>
            <a:stCxn id="35" idx="3"/>
            <a:endCxn id="8" idx="7"/>
          </p:cNvCxnSpPr>
          <p:nvPr/>
        </p:nvCxnSpPr>
        <p:spPr>
          <a:xfrm flipH="1">
            <a:off x="2268304" y="3876587"/>
            <a:ext cx="1178392" cy="54043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80F1730-83EB-4BA3-8DD1-1CE0C5DB4263}"/>
              </a:ext>
            </a:extLst>
          </p:cNvPr>
          <p:cNvCxnSpPr>
            <a:cxnSpLocks/>
            <a:stCxn id="35" idx="5"/>
            <a:endCxn id="21" idx="1"/>
          </p:cNvCxnSpPr>
          <p:nvPr/>
        </p:nvCxnSpPr>
        <p:spPr>
          <a:xfrm>
            <a:off x="3716104" y="3876587"/>
            <a:ext cx="1297962" cy="54043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481D9F1-FDDB-4C2D-8CB3-1218610BACDD}"/>
              </a:ext>
            </a:extLst>
          </p:cNvPr>
          <p:cNvSpPr txBox="1"/>
          <p:nvPr/>
        </p:nvSpPr>
        <p:spPr>
          <a:xfrm flipH="1">
            <a:off x="6256232" y="4358547"/>
            <a:ext cx="2895602" cy="1385777"/>
          </a:xfrm>
          <a:prstGeom prst="homePlate">
            <a:avLst>
              <a:gd name="adj" fmla="val 43054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 anchor="ctr" anchorCtr="1">
            <a:noAutofit/>
          </a:bodyPr>
          <a:lstStyle/>
          <a:p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</a:rPr>
              <a:t>No “hole” from the first node to the last</a:t>
            </a:r>
            <a:endParaRPr lang="zh-CN" altLang="en-US" sz="2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72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1" grpId="0" animBg="1"/>
      <p:bldP spid="22" grpId="0" animBg="1"/>
      <p:bldP spid="28" grpId="0" animBg="1"/>
      <p:bldP spid="29" grpId="0" animBg="1"/>
      <p:bldP spid="35" grpId="0" animBg="1"/>
      <p:bldP spid="3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7DAD2-3813-4597-BA24-C61D202BE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Property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A7DA5-E859-43DB-84C8-CCD4C73A0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Given a binary heap of node number </a:t>
            </a:r>
            <a:r>
              <a:rPr lang="en-US" altLang="zh-CN" dirty="0">
                <a:solidFill>
                  <a:srgbClr val="0070C0"/>
                </a:solidFill>
              </a:rPr>
              <a:t>n</a:t>
            </a:r>
            <a:r>
              <a:rPr lang="en-US" altLang="zh-CN" dirty="0"/>
              <a:t> and height </a:t>
            </a:r>
            <a:r>
              <a:rPr lang="en-US" altLang="zh-CN" dirty="0">
                <a:solidFill>
                  <a:srgbClr val="0070C0"/>
                </a:solidFill>
              </a:rPr>
              <a:t>h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n</a:t>
            </a:r>
            <a:r>
              <a:rPr lang="en-US" altLang="zh-CN" dirty="0"/>
              <a:t> is within 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[2</a:t>
            </a:r>
            <a:r>
              <a:rPr lang="en-US" altLang="zh-CN" baseline="300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h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, 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  <a:r>
              <a:rPr lang="en-US" altLang="zh-CN" baseline="300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h+1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-1]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 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The height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h=O(log(n))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The structure is so regular, it can be represented in an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array</a:t>
            </a:r>
            <a:r>
              <a:rPr lang="en-US" altLang="zh-CN" dirty="0">
                <a:ea typeface="宋体" panose="02010600030101010101" pitchFamily="2" charset="-122"/>
              </a:rPr>
              <a:t> and no links are necessary !!!</a:t>
            </a:r>
          </a:p>
          <a:p>
            <a:pPr lvl="1"/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FB465-CF8E-4EE4-A809-F22EEE42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53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7B9DEBD-07D6-4624-9A3E-08C6A5411B50}"/>
              </a:ext>
            </a:extLst>
          </p:cNvPr>
          <p:cNvSpPr/>
          <p:nvPr/>
        </p:nvSpPr>
        <p:spPr>
          <a:xfrm>
            <a:off x="4638675" y="1611312"/>
            <a:ext cx="4052743" cy="4713288"/>
          </a:xfrm>
          <a:prstGeom prst="rect">
            <a:avLst/>
          </a:prstGeom>
          <a:noFill/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t"/>
          <a:lstStyle/>
          <a:p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Given a node </a:t>
            </a:r>
            <a:r>
              <a:rPr lang="en-US" altLang="zh-CN" sz="2000" dirty="0">
                <a:solidFill>
                  <a:srgbClr val="0070C0"/>
                </a:solidFill>
              </a:rPr>
              <a:t>x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at position </a:t>
            </a:r>
            <a:r>
              <a:rPr lang="en-US" altLang="zh-CN" sz="2000" dirty="0">
                <a:solidFill>
                  <a:srgbClr val="0070C0"/>
                </a:solidFill>
              </a:rPr>
              <a:t>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left(x) is at position </a:t>
            </a:r>
            <a:r>
              <a:rPr lang="en-US" altLang="zh-CN" sz="2000" dirty="0">
                <a:solidFill>
                  <a:srgbClr val="0070C0"/>
                </a:solidFill>
              </a:rPr>
              <a:t>2i+1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right(x) is at position </a:t>
            </a:r>
            <a:r>
              <a:rPr lang="en-US" altLang="zh-CN" sz="2000" dirty="0">
                <a:solidFill>
                  <a:srgbClr val="0070C0"/>
                </a:solidFill>
              </a:rPr>
              <a:t>2i+2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parent(x) is at position </a:t>
            </a:r>
            <a:r>
              <a:rPr lang="en-US" altLang="zh-CN" sz="2000" dirty="0">
                <a:solidFill>
                  <a:srgbClr val="0070C0"/>
                </a:solidFill>
              </a:rPr>
              <a:t>(i-1)/2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accent4"/>
              </a:solidFill>
            </a:endParaRPr>
          </a:p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Side Nodes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C00000"/>
                </a:solidFill>
                <a:ea typeface="宋体" panose="02010600030101010101" pitchFamily="2" charset="-122"/>
              </a:rPr>
              <a:t>It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dirty="0">
                <a:solidFill>
                  <a:srgbClr val="C00000"/>
                </a:solidFill>
                <a:ea typeface="宋体" panose="02010600030101010101" pitchFamily="2" charset="-122"/>
              </a:rPr>
              <a:t>s not wise to store normal binary trees in arrays, coz it may generate many holes</a:t>
            </a:r>
            <a:endParaRPr lang="zh-CN" altLang="en-US" sz="2000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503A9-BB1F-45DB-BCF2-AFC1EC1B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Array Implementation of Binary Heaps</a:t>
            </a:r>
            <a:endParaRPr lang="zh-CN" alt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172BFB9-9924-428F-8FC4-EA4A21672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11311"/>
            <a:ext cx="4040188" cy="639763"/>
          </a:xfrm>
          <a:solidFill>
            <a:schemeClr val="accent4"/>
          </a:solidFill>
          <a:ln w="3175">
            <a:solidFill>
              <a:schemeClr val="accent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n-US" altLang="zh-CN" dirty="0"/>
              <a:t>Concept: A tree</a:t>
            </a:r>
            <a:endParaRPr lang="zh-CN" alt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87B4BD41-E2BE-4218-9D8C-EDCE7F3F8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5" y="1611312"/>
            <a:ext cx="4046393" cy="639762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>
                <a:solidFill>
                  <a:schemeClr val="lt1"/>
                </a:solidFill>
                <a:latin typeface="+mn-lt"/>
                <a:ea typeface="+mn-ea"/>
              </a:rPr>
              <a:t>Implementation: An Array</a:t>
            </a:r>
            <a:endParaRPr lang="zh-CN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aphicFrame>
        <p:nvGraphicFramePr>
          <p:cNvPr id="38" name="Content Placeholder 37">
            <a:extLst>
              <a:ext uri="{FF2B5EF4-FFF2-40B4-BE49-F238E27FC236}">
                <a16:creationId xmlns:a16="http://schemas.microsoft.com/office/drawing/2014/main" id="{8E0E8B4B-3D76-4E14-A44D-B6E8797C3DE1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4645025" y="2251074"/>
          <a:ext cx="405562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821630741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66786251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4208675871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341000789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B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D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F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I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J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D3371-9826-4A06-AF68-BD39D5AB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349CCFBB-8A51-4245-98F9-9C33453AF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954382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C7954963-6AB6-45E9-BB19-62B44A9C3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5187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</a:p>
        </p:txBody>
      </p:sp>
      <p:sp>
        <p:nvSpPr>
          <p:cNvPr id="7" name="Oval 17">
            <a:extLst>
              <a:ext uri="{FF2B5EF4-FFF2-40B4-BE49-F238E27FC236}">
                <a16:creationId xmlns:a16="http://schemas.microsoft.com/office/drawing/2014/main" id="{EA8A3A7F-5223-41E7-A4E5-2128FD38B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8602" y="355187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Oval 18">
            <a:extLst>
              <a:ext uri="{FF2B5EF4-FFF2-40B4-BE49-F238E27FC236}">
                <a16:creationId xmlns:a16="http://schemas.microsoft.com/office/drawing/2014/main" id="{F5B7074A-18C0-421F-8F2F-485BF847F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3374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Oval 19">
            <a:extLst>
              <a:ext uri="{FF2B5EF4-FFF2-40B4-BE49-F238E27FC236}">
                <a16:creationId xmlns:a16="http://schemas.microsoft.com/office/drawing/2014/main" id="{67BCBC9B-5EDF-44A3-84AB-6EB03B210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3374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Oval 20">
            <a:extLst>
              <a:ext uri="{FF2B5EF4-FFF2-40B4-BE49-F238E27FC236}">
                <a16:creationId xmlns:a16="http://schemas.microsoft.com/office/drawing/2014/main" id="{B2C28549-0D18-4CAF-818F-2A83FC60B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3374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Oval 21">
            <a:extLst>
              <a:ext uri="{FF2B5EF4-FFF2-40B4-BE49-F238E27FC236}">
                <a16:creationId xmlns:a16="http://schemas.microsoft.com/office/drawing/2014/main" id="{077F6E8F-914B-42CD-9DC3-F2E17CA07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3374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AD5884-2DB4-44B5-9A92-18B9A3546A9C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925404" y="3279586"/>
            <a:ext cx="492592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278BF0-9456-4475-83CD-83E835F745A8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2687404" y="3279586"/>
            <a:ext cx="556994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D9C979-9C53-4433-A919-0D5DA89EE0AE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flipH="1">
            <a:off x="1333500" y="3877075"/>
            <a:ext cx="3224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A09874-C498-4AD2-B5FC-CFE12C2A8751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1925404" y="3877075"/>
            <a:ext cx="3224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AE5C3C-3039-4971-B2B9-FD3C0AA5C46B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3513806" y="3877075"/>
            <a:ext cx="334294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995BBE-9347-4AD8-9B16-E5F331E968DA}"/>
              </a:ext>
            </a:extLst>
          </p:cNvPr>
          <p:cNvCxnSpPr>
            <a:cxnSpLocks/>
            <a:stCxn id="7" idx="3"/>
            <a:endCxn id="11" idx="0"/>
          </p:cNvCxnSpPr>
          <p:nvPr/>
        </p:nvCxnSpPr>
        <p:spPr>
          <a:xfrm flipH="1">
            <a:off x="2933700" y="3877075"/>
            <a:ext cx="310698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8">
            <a:extLst>
              <a:ext uri="{FF2B5EF4-FFF2-40B4-BE49-F238E27FC236}">
                <a16:creationId xmlns:a16="http://schemas.microsoft.com/office/drawing/2014/main" id="{1298651E-D0FF-48D7-B986-F9ADCA9A6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25779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3A2EC491-B508-4602-A9B4-407F58C58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25779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1CBBD068-201F-478E-91A1-C43B446C9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25779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5FBA5CF-9960-4CD2-BA19-8E3B168AF912}"/>
              </a:ext>
            </a:extLst>
          </p:cNvPr>
          <p:cNvCxnSpPr>
            <a:cxnSpLocks/>
            <a:stCxn id="8" idx="4"/>
            <a:endCxn id="18" idx="0"/>
          </p:cNvCxnSpPr>
          <p:nvPr/>
        </p:nvCxnSpPr>
        <p:spPr>
          <a:xfrm flipH="1">
            <a:off x="1104900" y="4718483"/>
            <a:ext cx="228600" cy="539316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D833694-8769-4D86-9945-E3FCEEA13A9A}"/>
              </a:ext>
            </a:extLst>
          </p:cNvPr>
          <p:cNvCxnSpPr>
            <a:cxnSpLocks/>
            <a:stCxn id="8" idx="4"/>
            <a:endCxn id="19" idx="0"/>
          </p:cNvCxnSpPr>
          <p:nvPr/>
        </p:nvCxnSpPr>
        <p:spPr>
          <a:xfrm>
            <a:off x="1333500" y="4718483"/>
            <a:ext cx="228600" cy="539316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0174FA2-1735-47BB-895B-50DE0F507048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>
          <a:xfrm flipH="1">
            <a:off x="2019300" y="4718483"/>
            <a:ext cx="228600" cy="539316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C609668-792A-4FF8-B1F3-3D684935CE15}"/>
              </a:ext>
            </a:extLst>
          </p:cNvPr>
          <p:cNvSpPr/>
          <p:nvPr/>
        </p:nvSpPr>
        <p:spPr>
          <a:xfrm>
            <a:off x="458188" y="2251074"/>
            <a:ext cx="4039200" cy="4073525"/>
          </a:xfrm>
          <a:prstGeom prst="rect">
            <a:avLst/>
          </a:prstGeom>
          <a:noFill/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044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29" grpId="0" uiExpand="1" build="p" animBg="1"/>
      <p:bldP spid="31" grpId="0" uiExpand="1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3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8E6E3E7-2A33-4F97-BE97-6ED9F6EF7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Implementation Flow</a:t>
            </a:r>
            <a:endParaRPr lang="zh-CN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72967-25F2-4419-A1FB-F5DB0387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D909F89-DC3D-4B48-AEB5-AA46F8B39F45}"/>
              </a:ext>
            </a:extLst>
          </p:cNvPr>
          <p:cNvGraphicFramePr/>
          <p:nvPr/>
        </p:nvGraphicFramePr>
        <p:xfrm>
          <a:off x="1600200" y="1752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250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A9B9CFC-912A-4C47-A5B7-D94EE0EBB8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060C089-6322-4C63-BED2-D948549CB9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EF0E2B8-5FC9-4C1A-B74A-7D33962D34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7215800-1200-4EDF-8CDB-E96BB6D84A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A8B3BCE-C0A8-4C07-A1BC-8291FC32F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93048B4-A049-4337-8139-326420C0AA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65DF987-A4CA-4763-835F-9059D2CB44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CE263-4232-4135-A43C-1DC5D8BF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1295400"/>
            <a:ext cx="7772400" cy="838200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A MINIMUM </a:t>
            </a:r>
            <a:r>
              <a:rPr lang="en-US" altLang="zh-CN" sz="3600" dirty="0"/>
              <a:t>priority queue </a:t>
            </a:r>
            <a:r>
              <a:rPr lang="en-US" altLang="zh-CN" sz="2400" dirty="0"/>
              <a:t>has</a:t>
            </a:r>
            <a:endParaRPr lang="zh-CN" alt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2C175-3161-481C-BB90-51BD34433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209800"/>
            <a:ext cx="7772400" cy="38100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Binary Heap Structure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Heap Order Property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rPr>
              <a:t>The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0070C0"/>
                </a:solidFill>
                <a:ea typeface="宋体" panose="02010600030101010101" pitchFamily="2" charset="-122"/>
              </a:rPr>
              <a:t>value at each node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rPr>
              <a:t>is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0070C0"/>
                </a:solidFill>
                <a:ea typeface="宋体" panose="02010600030101010101" pitchFamily="2" charset="-122"/>
              </a:rPr>
              <a:t>less than or equal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rPr>
              <a:t>to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rPr>
              <a:t>the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0070C0"/>
                </a:solidFill>
                <a:ea typeface="宋体" panose="02010600030101010101" pitchFamily="2" charset="-122"/>
              </a:rPr>
              <a:t>values at  both its descendants (</a:t>
            </a:r>
            <a:r>
              <a:rPr lang="zh-CN" altLang="en-US" sz="2800" dirty="0">
                <a:solidFill>
                  <a:srgbClr val="0070C0"/>
                </a:solidFill>
                <a:ea typeface="宋体" panose="02010600030101010101" pitchFamily="2" charset="-122"/>
              </a:rPr>
              <a:t>子孙</a:t>
            </a:r>
            <a:r>
              <a:rPr lang="en-US" altLang="zh-CN" sz="2800" dirty="0">
                <a:solidFill>
                  <a:srgbClr val="0070C0"/>
                </a:solidFill>
                <a:ea typeface="宋体" panose="02010600030101010101" pitchFamily="2" charset="-122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rPr>
              <a:t>The smallest node is always on the </a:t>
            </a:r>
            <a:r>
              <a:rPr lang="en-US" altLang="zh-CN" sz="2800" dirty="0">
                <a:solidFill>
                  <a:srgbClr val="0070C0"/>
                </a:solidFill>
                <a:ea typeface="宋体" panose="02010600030101010101" pitchFamily="2" charset="-122"/>
              </a:rPr>
              <a:t>top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chemeClr val="accent4"/>
              </a:solidFill>
              <a:ea typeface="宋体" panose="02010600030101010101" pitchFamily="2" charset="-12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chemeClr val="accent4"/>
              </a:solidFill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rPr>
              <a:t>Use of binary heap is so common for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priority queue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rPr>
              <a:t>implementations, thus the word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heap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rPr>
              <a:t> is usually assumed to be the implementation of the data structure</a:t>
            </a:r>
            <a:endParaRPr lang="en-US" altLang="zh-CN" sz="2600" dirty="0">
              <a:solidFill>
                <a:schemeClr val="tx1">
                  <a:lumMod val="75000"/>
                  <a:lumOff val="2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08921C-073B-4855-9C3D-57DDBE52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65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C73B16-F1C3-413B-8E6C-77DE58C64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685800"/>
            <a:ext cx="4040188" cy="639762"/>
          </a:xfrm>
          <a:solidFill>
            <a:schemeClr val="accent4"/>
          </a:solidFill>
          <a:ln w="3175">
            <a:solidFill>
              <a:schemeClr val="accent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A  minimu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 Heap</a:t>
            </a:r>
            <a:endParaRPr lang="zh-CN" altLang="en-US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2414EB-2229-4325-BADB-D4AEFFAFD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325562"/>
            <a:ext cx="4040188" cy="4846638"/>
          </a:xfrm>
          <a:ln w="3175">
            <a:solidFill>
              <a:schemeClr val="accent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C5F990-6E29-4EDE-81F5-99F84F10E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5" y="685800"/>
            <a:ext cx="4041775" cy="639762"/>
          </a:xfrm>
          <a:solidFill>
            <a:schemeClr val="accent4"/>
          </a:solidFill>
          <a:ln w="3175">
            <a:solidFill>
              <a:schemeClr val="accent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>
                <a:solidFill>
                  <a:schemeClr val="lt1"/>
                </a:solidFill>
                <a:latin typeface="+mn-lt"/>
                <a:ea typeface="+mn-ea"/>
              </a:rPr>
              <a:t>Not Heaps (WHY?)</a:t>
            </a:r>
            <a:endParaRPr lang="zh-CN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D500E4-037E-4206-9DCB-04BB2D077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1325562"/>
            <a:ext cx="4041775" cy="4846638"/>
          </a:xfrm>
          <a:ln w="3175">
            <a:solidFill>
              <a:schemeClr val="accent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A649D-1ECE-453F-8292-01FEF0B7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34B7AF2F-C833-4D85-9E54-7C7517B6A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7432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1C85037C-5428-4385-B121-61D7E6CD2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34068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  <p:sp>
        <p:nvSpPr>
          <p:cNvPr id="12" name="Oval 17">
            <a:extLst>
              <a:ext uri="{FF2B5EF4-FFF2-40B4-BE49-F238E27FC236}">
                <a16:creationId xmlns:a16="http://schemas.microsoft.com/office/drawing/2014/main" id="{90D6DAD5-5ECA-4FE3-B11F-10411CC17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4802" y="334068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Oval 18">
            <a:extLst>
              <a:ext uri="{FF2B5EF4-FFF2-40B4-BE49-F238E27FC236}">
                <a16:creationId xmlns:a16="http://schemas.microsoft.com/office/drawing/2014/main" id="{6FC337C4-ADEA-4FD0-87AD-3CDDA7E9E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1263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DD5F7F50-5710-4872-BCAE-D003E4AF0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1263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Oval 21">
            <a:extLst>
              <a:ext uri="{FF2B5EF4-FFF2-40B4-BE49-F238E27FC236}">
                <a16:creationId xmlns:a16="http://schemas.microsoft.com/office/drawing/2014/main" id="{05088439-2212-4D4D-B515-142183ACD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1263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545B30-7C67-420E-9442-80953230F2DE}"/>
              </a:ext>
            </a:extLst>
          </p:cNvPr>
          <p:cNvCxnSpPr>
            <a:stCxn id="10" idx="3"/>
            <a:endCxn id="11" idx="7"/>
          </p:cNvCxnSpPr>
          <p:nvPr/>
        </p:nvCxnSpPr>
        <p:spPr>
          <a:xfrm flipH="1">
            <a:off x="2001604" y="3068404"/>
            <a:ext cx="492592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DAEA93-FE18-44F3-8F17-1AEFAC7CE6A6}"/>
              </a:ext>
            </a:extLst>
          </p:cNvPr>
          <p:cNvCxnSpPr>
            <a:stCxn id="10" idx="5"/>
            <a:endCxn id="12" idx="1"/>
          </p:cNvCxnSpPr>
          <p:nvPr/>
        </p:nvCxnSpPr>
        <p:spPr>
          <a:xfrm>
            <a:off x="2763604" y="3068404"/>
            <a:ext cx="556994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BC84144-EFDB-4333-A0ED-BBD95F036696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1409700" y="3665893"/>
            <a:ext cx="3224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AAB750D-053D-4E27-8DAD-273D7DE8DA07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2001604" y="3665893"/>
            <a:ext cx="3224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9BBB59-2412-40F4-9F7A-1832B022A041}"/>
              </a:ext>
            </a:extLst>
          </p:cNvPr>
          <p:cNvCxnSpPr>
            <a:cxnSpLocks/>
            <a:stCxn id="12" idx="3"/>
            <a:endCxn id="16" idx="0"/>
          </p:cNvCxnSpPr>
          <p:nvPr/>
        </p:nvCxnSpPr>
        <p:spPr>
          <a:xfrm flipH="1">
            <a:off x="3009900" y="3665893"/>
            <a:ext cx="310698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15">
            <a:extLst>
              <a:ext uri="{FF2B5EF4-FFF2-40B4-BE49-F238E27FC236}">
                <a16:creationId xmlns:a16="http://schemas.microsoft.com/office/drawing/2014/main" id="{077F9387-B5C6-4F61-8B67-62B8EEDCB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327" y="174109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Oval 16">
            <a:extLst>
              <a:ext uri="{FF2B5EF4-FFF2-40B4-BE49-F238E27FC236}">
                <a16:creationId xmlns:a16="http://schemas.microsoft.com/office/drawing/2014/main" id="{E9A93929-943D-4CC2-91D8-FBA9B852D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1327" y="233858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  <p:sp>
        <p:nvSpPr>
          <p:cNvPr id="31" name="Oval 17">
            <a:extLst>
              <a:ext uri="{FF2B5EF4-FFF2-40B4-BE49-F238E27FC236}">
                <a16:creationId xmlns:a16="http://schemas.microsoft.com/office/drawing/2014/main" id="{96D8887F-C02B-4539-9A86-C9C091D13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9729" y="233858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Oval 18">
            <a:extLst>
              <a:ext uri="{FF2B5EF4-FFF2-40B4-BE49-F238E27FC236}">
                <a16:creationId xmlns:a16="http://schemas.microsoft.com/office/drawing/2014/main" id="{3E6EFAEB-DF9D-40E4-B183-76314324F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4127" y="31242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Oval 19">
            <a:extLst>
              <a:ext uri="{FF2B5EF4-FFF2-40B4-BE49-F238E27FC236}">
                <a16:creationId xmlns:a16="http://schemas.microsoft.com/office/drawing/2014/main" id="{8432322D-E246-40BC-ACCA-6C9B46E3C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527" y="31242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Oval 21">
            <a:extLst>
              <a:ext uri="{FF2B5EF4-FFF2-40B4-BE49-F238E27FC236}">
                <a16:creationId xmlns:a16="http://schemas.microsoft.com/office/drawing/2014/main" id="{067CD6F2-FFCB-462E-B9E9-33C464478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1242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9C5B71E-C84E-4081-AA17-DA06DCA98312}"/>
              </a:ext>
            </a:extLst>
          </p:cNvPr>
          <p:cNvCxnSpPr>
            <a:stCxn id="29" idx="3"/>
            <a:endCxn id="30" idx="7"/>
          </p:cNvCxnSpPr>
          <p:nvPr/>
        </p:nvCxnSpPr>
        <p:spPr>
          <a:xfrm flipH="1">
            <a:off x="6016531" y="2066303"/>
            <a:ext cx="492592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88F9B6-779F-4F5E-9D0B-3D93650F7FD6}"/>
              </a:ext>
            </a:extLst>
          </p:cNvPr>
          <p:cNvCxnSpPr>
            <a:stCxn id="29" idx="5"/>
            <a:endCxn id="31" idx="1"/>
          </p:cNvCxnSpPr>
          <p:nvPr/>
        </p:nvCxnSpPr>
        <p:spPr>
          <a:xfrm>
            <a:off x="6778531" y="2066303"/>
            <a:ext cx="556994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496B600-C959-4A92-81B2-1349CE8CED3B}"/>
              </a:ext>
            </a:extLst>
          </p:cNvPr>
          <p:cNvCxnSpPr>
            <a:cxnSpLocks/>
            <a:stCxn id="30" idx="3"/>
            <a:endCxn id="32" idx="0"/>
          </p:cNvCxnSpPr>
          <p:nvPr/>
        </p:nvCxnSpPr>
        <p:spPr>
          <a:xfrm flipH="1">
            <a:off x="5424627" y="2663792"/>
            <a:ext cx="3224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3F15631-540F-4F5B-9547-1348F4E5F735}"/>
              </a:ext>
            </a:extLst>
          </p:cNvPr>
          <p:cNvCxnSpPr>
            <a:cxnSpLocks/>
            <a:stCxn id="30" idx="5"/>
            <a:endCxn id="33" idx="0"/>
          </p:cNvCxnSpPr>
          <p:nvPr/>
        </p:nvCxnSpPr>
        <p:spPr>
          <a:xfrm>
            <a:off x="6016531" y="2663792"/>
            <a:ext cx="3224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0844B53-6FD4-4189-BF64-5E082D13A628}"/>
              </a:ext>
            </a:extLst>
          </p:cNvPr>
          <p:cNvCxnSpPr>
            <a:cxnSpLocks/>
            <a:stCxn id="31" idx="5"/>
            <a:endCxn id="34" idx="0"/>
          </p:cNvCxnSpPr>
          <p:nvPr/>
        </p:nvCxnSpPr>
        <p:spPr>
          <a:xfrm>
            <a:off x="7604933" y="2663792"/>
            <a:ext cx="281767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15">
            <a:extLst>
              <a:ext uri="{FF2B5EF4-FFF2-40B4-BE49-F238E27FC236}">
                <a16:creationId xmlns:a16="http://schemas.microsoft.com/office/drawing/2014/main" id="{D7F452E0-530A-4631-8380-1B5C8738E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9275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Oval 16">
            <a:extLst>
              <a:ext uri="{FF2B5EF4-FFF2-40B4-BE49-F238E27FC236}">
                <a16:creationId xmlns:a16="http://schemas.microsoft.com/office/drawing/2014/main" id="{48F6D7A6-F1C5-4A58-AE13-00632733C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52498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</a:p>
        </p:txBody>
      </p:sp>
      <p:sp>
        <p:nvSpPr>
          <p:cNvPr id="44" name="Oval 17">
            <a:extLst>
              <a:ext uri="{FF2B5EF4-FFF2-40B4-BE49-F238E27FC236}">
                <a16:creationId xmlns:a16="http://schemas.microsoft.com/office/drawing/2014/main" id="{C65E440A-363A-4241-93B1-5F1C7C842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9602" y="452498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Oval 18">
            <a:extLst>
              <a:ext uri="{FF2B5EF4-FFF2-40B4-BE49-F238E27FC236}">
                <a16:creationId xmlns:a16="http://schemas.microsoft.com/office/drawing/2014/main" id="{76C866C8-26A9-41A8-AC11-D3A1B53E1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3106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Oval 19">
            <a:extLst>
              <a:ext uri="{FF2B5EF4-FFF2-40B4-BE49-F238E27FC236}">
                <a16:creationId xmlns:a16="http://schemas.microsoft.com/office/drawing/2014/main" id="{79238475-38EE-4FBE-BB3B-74C75CDE3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3106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Oval 21">
            <a:extLst>
              <a:ext uri="{FF2B5EF4-FFF2-40B4-BE49-F238E27FC236}">
                <a16:creationId xmlns:a16="http://schemas.microsoft.com/office/drawing/2014/main" id="{7EB7CA61-CB67-4E7B-807A-9B98496CD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3106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CF637AA-E329-4580-9468-5A3022BC7DFF}"/>
              </a:ext>
            </a:extLst>
          </p:cNvPr>
          <p:cNvCxnSpPr>
            <a:stCxn id="42" idx="3"/>
            <a:endCxn id="43" idx="7"/>
          </p:cNvCxnSpPr>
          <p:nvPr/>
        </p:nvCxnSpPr>
        <p:spPr>
          <a:xfrm flipH="1">
            <a:off x="6116404" y="4252704"/>
            <a:ext cx="492592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B55D05-0D45-430D-A802-2935E6FEA905}"/>
              </a:ext>
            </a:extLst>
          </p:cNvPr>
          <p:cNvCxnSpPr>
            <a:stCxn id="42" idx="5"/>
            <a:endCxn id="44" idx="1"/>
          </p:cNvCxnSpPr>
          <p:nvPr/>
        </p:nvCxnSpPr>
        <p:spPr>
          <a:xfrm>
            <a:off x="6878404" y="4252704"/>
            <a:ext cx="556994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5D9FCCA-7F6C-4991-835C-FB08A4A0FBE0}"/>
              </a:ext>
            </a:extLst>
          </p:cNvPr>
          <p:cNvCxnSpPr>
            <a:cxnSpLocks/>
            <a:stCxn id="43" idx="3"/>
            <a:endCxn id="45" idx="0"/>
          </p:cNvCxnSpPr>
          <p:nvPr/>
        </p:nvCxnSpPr>
        <p:spPr>
          <a:xfrm flipH="1">
            <a:off x="5524500" y="4850193"/>
            <a:ext cx="3224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FD39E07-6420-4978-96EB-8FEFB640B22B}"/>
              </a:ext>
            </a:extLst>
          </p:cNvPr>
          <p:cNvCxnSpPr>
            <a:cxnSpLocks/>
            <a:stCxn id="43" idx="5"/>
            <a:endCxn id="46" idx="0"/>
          </p:cNvCxnSpPr>
          <p:nvPr/>
        </p:nvCxnSpPr>
        <p:spPr>
          <a:xfrm>
            <a:off x="6116404" y="4850193"/>
            <a:ext cx="3224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2E4B1F9-BD89-4BC8-BA64-4056851F7AE4}"/>
              </a:ext>
            </a:extLst>
          </p:cNvPr>
          <p:cNvCxnSpPr>
            <a:cxnSpLocks/>
            <a:stCxn id="44" idx="3"/>
            <a:endCxn id="47" idx="0"/>
          </p:cNvCxnSpPr>
          <p:nvPr/>
        </p:nvCxnSpPr>
        <p:spPr>
          <a:xfrm flipH="1">
            <a:off x="7124700" y="4850193"/>
            <a:ext cx="310698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6B00DAF-3BE4-4A04-BD53-3EC1E77C70F3}"/>
                  </a:ext>
                </a:extLst>
              </p14:cNvPr>
              <p14:cNvContentPartPr/>
              <p14:nvPr/>
            </p14:nvContentPartPr>
            <p14:xfrm>
              <a:off x="7848720" y="3143160"/>
              <a:ext cx="133560" cy="3625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6B00DAF-3BE4-4A04-BD53-3EC1E77C70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39360" y="3133800"/>
                <a:ext cx="152280" cy="38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4097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42B3B52-69C7-45A6-9ED8-C746550E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Heap Properties</a:t>
            </a:r>
            <a:endParaRPr lang="zh-CN" alt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9B7E46B-36D6-4CFF-A2D8-76320F633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Heap supports the following operations efficiently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Insert</a:t>
            </a:r>
            <a:r>
              <a:rPr lang="en-US" altLang="zh-CN" dirty="0">
                <a:ea typeface="宋体" panose="02010600030101010101" pitchFamily="2" charset="-122"/>
              </a:rPr>
              <a:t> in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O(</a:t>
            </a:r>
            <a:r>
              <a:rPr lang="en-US" altLang="zh-CN" dirty="0" err="1">
                <a:solidFill>
                  <a:srgbClr val="0070C0"/>
                </a:solidFill>
                <a:ea typeface="宋体" panose="02010600030101010101" pitchFamily="2" charset="-122"/>
              </a:rPr>
              <a:t>logN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chemeClr val="accent4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time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Locate</a:t>
            </a:r>
            <a:r>
              <a:rPr lang="en-US" altLang="zh-CN" dirty="0">
                <a:ea typeface="宋体" panose="02010600030101010101" pitchFamily="2" charset="-122"/>
              </a:rPr>
              <a:t> the current minimum in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O(1)</a:t>
            </a:r>
            <a:r>
              <a:rPr lang="en-US" altLang="zh-CN" dirty="0">
                <a:ea typeface="宋体" panose="02010600030101010101" pitchFamily="2" charset="-122"/>
              </a:rPr>
              <a:t> time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Delete</a:t>
            </a:r>
            <a:r>
              <a:rPr lang="en-US" altLang="zh-CN" dirty="0">
                <a:ea typeface="宋体" panose="02010600030101010101" pitchFamily="2" charset="-122"/>
              </a:rPr>
              <a:t> the current minimum in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O(log N) </a:t>
            </a:r>
            <a:r>
              <a:rPr lang="en-US" altLang="zh-CN" dirty="0">
                <a:ea typeface="宋体" panose="02010600030101010101" pitchFamily="2" charset="-122"/>
              </a:rPr>
              <a:t>time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Note: After each insert/delete operation, the heap must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remain</a:t>
            </a:r>
            <a:r>
              <a:rPr lang="en-US" altLang="zh-CN" dirty="0">
                <a:solidFill>
                  <a:schemeClr val="accent4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a heap</a:t>
            </a: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287D9-2D00-4082-96DF-3D970CD4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32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48E0-2655-4106-A494-7ACD78B4E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Insertion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C74C-05AA-4535-9B1D-C28049DA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1"/>
            <a:ext cx="8229600" cy="2590800"/>
          </a:xfrm>
        </p:spPr>
        <p:txBody>
          <a:bodyPr/>
          <a:lstStyle/>
          <a:p>
            <a:pPr marL="533400" indent="-533400"/>
            <a:r>
              <a:rPr lang="en-US" altLang="zh-CN" sz="2400" dirty="0">
                <a:ea typeface="宋体" panose="02010600030101010101" pitchFamily="2" charset="-122"/>
              </a:rPr>
              <a:t>Algorithm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Add the new element to the next available position at the lowest level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Restore the </a:t>
            </a:r>
            <a:r>
              <a:rPr lang="en-US" altLang="zh-CN" sz="2000" dirty="0">
                <a:solidFill>
                  <a:srgbClr val="0070C0"/>
                </a:solidFill>
                <a:ea typeface="宋体" panose="02010600030101010101" pitchFamily="2" charset="-122"/>
              </a:rPr>
              <a:t>min-heap property </a:t>
            </a:r>
            <a:r>
              <a:rPr lang="en-US" altLang="zh-CN" sz="2000" dirty="0">
                <a:ea typeface="宋体" panose="02010600030101010101" pitchFamily="2" charset="-122"/>
              </a:rPr>
              <a:t>if violated</a:t>
            </a:r>
          </a:p>
          <a:p>
            <a:pPr marL="1295400" lvl="2" indent="-381000"/>
            <a:r>
              <a:rPr lang="en-US" altLang="zh-CN" sz="2000" dirty="0">
                <a:ea typeface="宋体" panose="02010600030101010101" pitchFamily="2" charset="-122"/>
              </a:rPr>
              <a:t>General strategy is </a:t>
            </a:r>
            <a:r>
              <a:rPr lang="en-US" altLang="zh-CN" sz="2000" dirty="0">
                <a:solidFill>
                  <a:srgbClr val="0070C0"/>
                </a:solidFill>
                <a:ea typeface="宋体" panose="02010600030101010101" pitchFamily="2" charset="-122"/>
              </a:rPr>
              <a:t>percolate up (</a:t>
            </a:r>
            <a:r>
              <a:rPr lang="zh-CN" altLang="en-US" sz="2000" dirty="0">
                <a:solidFill>
                  <a:srgbClr val="0070C0"/>
                </a:solidFill>
                <a:ea typeface="宋体" panose="02010600030101010101" pitchFamily="2" charset="-122"/>
              </a:rPr>
              <a:t>上浮</a:t>
            </a:r>
            <a:r>
              <a:rPr lang="en-US" altLang="zh-CN" sz="2000" dirty="0">
                <a:solidFill>
                  <a:srgbClr val="0070C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000" dirty="0">
                <a:ea typeface="宋体" panose="02010600030101010101" pitchFamily="2" charset="-122"/>
              </a:rPr>
              <a:t>: if the parent of the element is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larger than </a:t>
            </a:r>
            <a:r>
              <a:rPr lang="en-US" altLang="zh-CN" sz="2000" dirty="0">
                <a:ea typeface="宋体" panose="02010600030101010101" pitchFamily="2" charset="-122"/>
              </a:rPr>
              <a:t>the element, then interchange the parent and child.</a:t>
            </a:r>
          </a:p>
          <a:p>
            <a:pPr marL="914400" lvl="1" indent="-457200"/>
            <a:endParaRPr lang="zh-CN" altLang="en-US" sz="2000" dirty="0"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12D26-1A7E-4CBE-A2AC-67D46E52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4" name="Oval 15">
            <a:extLst>
              <a:ext uri="{FF2B5EF4-FFF2-40B4-BE49-F238E27FC236}">
                <a16:creationId xmlns:a16="http://schemas.microsoft.com/office/drawing/2014/main" id="{62CBEC65-6572-48AB-BFBA-FAFA0524A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5988" y="435358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Oval 16">
            <a:extLst>
              <a:ext uri="{FF2B5EF4-FFF2-40B4-BE49-F238E27FC236}">
                <a16:creationId xmlns:a16="http://schemas.microsoft.com/office/drawing/2014/main" id="{51C9BCD3-E2A2-40BF-9E6D-432E56221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388" y="495107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</a:p>
        </p:txBody>
      </p:sp>
      <p:sp>
        <p:nvSpPr>
          <p:cNvPr id="26" name="Oval 17">
            <a:extLst>
              <a:ext uri="{FF2B5EF4-FFF2-40B4-BE49-F238E27FC236}">
                <a16:creationId xmlns:a16="http://schemas.microsoft.com/office/drawing/2014/main" id="{E9378CEB-258F-408F-AB29-87AB38C83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788" y="495107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Oval 18">
            <a:extLst>
              <a:ext uri="{FF2B5EF4-FFF2-40B4-BE49-F238E27FC236}">
                <a16:creationId xmlns:a16="http://schemas.microsoft.com/office/drawing/2014/main" id="{8A9ACADF-C9D8-45B8-B7DE-3D5A5D8A8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588" y="573669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Oval 19">
            <a:extLst>
              <a:ext uri="{FF2B5EF4-FFF2-40B4-BE49-F238E27FC236}">
                <a16:creationId xmlns:a16="http://schemas.microsoft.com/office/drawing/2014/main" id="{785BA424-C47B-4B7B-A525-F25E47EED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188" y="573669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Oval 21">
            <a:extLst>
              <a:ext uri="{FF2B5EF4-FFF2-40B4-BE49-F238E27FC236}">
                <a16:creationId xmlns:a16="http://schemas.microsoft.com/office/drawing/2014/main" id="{620E216D-BDA1-436A-B347-661EC9688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988" y="573669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023D37-A5C9-46D2-A518-92390DDEBABF}"/>
              </a:ext>
            </a:extLst>
          </p:cNvPr>
          <p:cNvCxnSpPr>
            <a:stCxn id="24" idx="3"/>
            <a:endCxn id="25" idx="7"/>
          </p:cNvCxnSpPr>
          <p:nvPr/>
        </p:nvCxnSpPr>
        <p:spPr>
          <a:xfrm flipH="1">
            <a:off x="1331592" y="4678793"/>
            <a:ext cx="340192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24EF62-E7A5-4FCC-B565-E86BCE69BE6F}"/>
              </a:ext>
            </a:extLst>
          </p:cNvPr>
          <p:cNvCxnSpPr>
            <a:stCxn id="24" idx="5"/>
            <a:endCxn id="26" idx="1"/>
          </p:cNvCxnSpPr>
          <p:nvPr/>
        </p:nvCxnSpPr>
        <p:spPr>
          <a:xfrm>
            <a:off x="1941192" y="4678793"/>
            <a:ext cx="416392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E0101B2-41E9-4348-A955-FC146DE17CA7}"/>
              </a:ext>
            </a:extLst>
          </p:cNvPr>
          <p:cNvCxnSpPr>
            <a:cxnSpLocks/>
            <a:stCxn id="25" idx="3"/>
            <a:endCxn id="27" idx="0"/>
          </p:cNvCxnSpPr>
          <p:nvPr/>
        </p:nvCxnSpPr>
        <p:spPr>
          <a:xfrm flipH="1">
            <a:off x="892088" y="5276282"/>
            <a:ext cx="1700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8F9029-60CF-4678-B90A-7652D6C25BE0}"/>
              </a:ext>
            </a:extLst>
          </p:cNvPr>
          <p:cNvCxnSpPr>
            <a:cxnSpLocks/>
            <a:stCxn id="25" idx="5"/>
            <a:endCxn id="28" idx="0"/>
          </p:cNvCxnSpPr>
          <p:nvPr/>
        </p:nvCxnSpPr>
        <p:spPr>
          <a:xfrm>
            <a:off x="1331592" y="5276282"/>
            <a:ext cx="1700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F732FF5-0E3C-4098-86EB-F5D8A5BD5DEE}"/>
              </a:ext>
            </a:extLst>
          </p:cNvPr>
          <p:cNvCxnSpPr>
            <a:cxnSpLocks/>
            <a:stCxn id="26" idx="3"/>
            <a:endCxn id="29" idx="0"/>
          </p:cNvCxnSpPr>
          <p:nvPr/>
        </p:nvCxnSpPr>
        <p:spPr>
          <a:xfrm flipH="1">
            <a:off x="2187488" y="5276282"/>
            <a:ext cx="1700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15">
            <a:extLst>
              <a:ext uri="{FF2B5EF4-FFF2-40B4-BE49-F238E27FC236}">
                <a16:creationId xmlns:a16="http://schemas.microsoft.com/office/drawing/2014/main" id="{C561472D-7224-47B3-BE38-7F61DE913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340" y="435358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Oval 16">
            <a:extLst>
              <a:ext uri="{FF2B5EF4-FFF2-40B4-BE49-F238E27FC236}">
                <a16:creationId xmlns:a16="http://schemas.microsoft.com/office/drawing/2014/main" id="{7F595A45-1F27-4421-92FA-6FA96DB0C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740" y="495107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</a:p>
        </p:txBody>
      </p:sp>
      <p:sp>
        <p:nvSpPr>
          <p:cNvPr id="37" name="Oval 17">
            <a:extLst>
              <a:ext uri="{FF2B5EF4-FFF2-40B4-BE49-F238E27FC236}">
                <a16:creationId xmlns:a16="http://schemas.microsoft.com/office/drawing/2014/main" id="{A8F79F2D-7FBC-4C8F-9455-B295B43DD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140" y="4951078"/>
            <a:ext cx="381000" cy="381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Oval 18">
            <a:extLst>
              <a:ext uri="{FF2B5EF4-FFF2-40B4-BE49-F238E27FC236}">
                <a16:creationId xmlns:a16="http://schemas.microsoft.com/office/drawing/2014/main" id="{F5AE4C1C-75A1-4388-98B8-B2D39AAD6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940" y="573669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Oval 19">
            <a:extLst>
              <a:ext uri="{FF2B5EF4-FFF2-40B4-BE49-F238E27FC236}">
                <a16:creationId xmlns:a16="http://schemas.microsoft.com/office/drawing/2014/main" id="{173A8DD8-5C34-4076-85C1-0E544D09D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540" y="573669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Oval 21">
            <a:extLst>
              <a:ext uri="{FF2B5EF4-FFF2-40B4-BE49-F238E27FC236}">
                <a16:creationId xmlns:a16="http://schemas.microsoft.com/office/drawing/2014/main" id="{9633B9CC-AE7B-4491-8C10-05FFFB4E5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340" y="573669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E9C791E-F916-4D39-9DB8-C935614FF5E6}"/>
              </a:ext>
            </a:extLst>
          </p:cNvPr>
          <p:cNvCxnSpPr>
            <a:stCxn id="35" idx="3"/>
            <a:endCxn id="36" idx="7"/>
          </p:cNvCxnSpPr>
          <p:nvPr/>
        </p:nvCxnSpPr>
        <p:spPr>
          <a:xfrm flipH="1">
            <a:off x="3836944" y="4678793"/>
            <a:ext cx="340192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FB7AB96-65EF-4C91-A1DD-41F4F9880D46}"/>
              </a:ext>
            </a:extLst>
          </p:cNvPr>
          <p:cNvCxnSpPr>
            <a:stCxn id="35" idx="5"/>
            <a:endCxn id="37" idx="1"/>
          </p:cNvCxnSpPr>
          <p:nvPr/>
        </p:nvCxnSpPr>
        <p:spPr>
          <a:xfrm>
            <a:off x="4446544" y="4678793"/>
            <a:ext cx="416392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E4EFC5A-22B3-4504-B835-9591D42C1E32}"/>
              </a:ext>
            </a:extLst>
          </p:cNvPr>
          <p:cNvCxnSpPr>
            <a:cxnSpLocks/>
            <a:stCxn id="36" idx="3"/>
            <a:endCxn id="38" idx="0"/>
          </p:cNvCxnSpPr>
          <p:nvPr/>
        </p:nvCxnSpPr>
        <p:spPr>
          <a:xfrm flipH="1">
            <a:off x="3397440" y="5276282"/>
            <a:ext cx="1700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0358E5-D236-41C3-B969-7594E0829614}"/>
              </a:ext>
            </a:extLst>
          </p:cNvPr>
          <p:cNvCxnSpPr>
            <a:cxnSpLocks/>
            <a:stCxn id="36" idx="5"/>
            <a:endCxn id="39" idx="0"/>
          </p:cNvCxnSpPr>
          <p:nvPr/>
        </p:nvCxnSpPr>
        <p:spPr>
          <a:xfrm>
            <a:off x="3836944" y="5276282"/>
            <a:ext cx="1700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232E90D-16AF-4D1E-B123-463ED355ED11}"/>
              </a:ext>
            </a:extLst>
          </p:cNvPr>
          <p:cNvCxnSpPr>
            <a:cxnSpLocks/>
            <a:stCxn id="37" idx="3"/>
            <a:endCxn id="40" idx="0"/>
          </p:cNvCxnSpPr>
          <p:nvPr/>
        </p:nvCxnSpPr>
        <p:spPr>
          <a:xfrm flipH="1">
            <a:off x="4692840" y="5276282"/>
            <a:ext cx="1700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43">
            <a:extLst>
              <a:ext uri="{FF2B5EF4-FFF2-40B4-BE49-F238E27FC236}">
                <a16:creationId xmlns:a16="http://schemas.microsoft.com/office/drawing/2014/main" id="{EA6C9F0C-AB72-451B-A784-9FF8A4B01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788" y="6217304"/>
            <a:ext cx="10463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Insert 5</a:t>
            </a:r>
          </a:p>
        </p:txBody>
      </p:sp>
      <p:sp>
        <p:nvSpPr>
          <p:cNvPr id="47" name="Oval 19">
            <a:extLst>
              <a:ext uri="{FF2B5EF4-FFF2-40B4-BE49-F238E27FC236}">
                <a16:creationId xmlns:a16="http://schemas.microsoft.com/office/drawing/2014/main" id="{D88CCE92-A4CC-47B7-961B-147D92B8D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44" y="5741483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5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C4D1EE2-CE35-4644-B760-B52D3949ED5F}"/>
              </a:ext>
            </a:extLst>
          </p:cNvPr>
          <p:cNvCxnSpPr>
            <a:cxnSpLocks/>
            <a:stCxn id="37" idx="5"/>
            <a:endCxn id="47" idx="0"/>
          </p:cNvCxnSpPr>
          <p:nvPr/>
        </p:nvCxnSpPr>
        <p:spPr>
          <a:xfrm>
            <a:off x="5132344" y="5276282"/>
            <a:ext cx="190500" cy="46520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15">
            <a:extLst>
              <a:ext uri="{FF2B5EF4-FFF2-40B4-BE49-F238E27FC236}">
                <a16:creationId xmlns:a16="http://schemas.microsoft.com/office/drawing/2014/main" id="{7D794253-7430-4CCF-B258-882B7403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396" y="435358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Oval 16">
            <a:extLst>
              <a:ext uri="{FF2B5EF4-FFF2-40B4-BE49-F238E27FC236}">
                <a16:creationId xmlns:a16="http://schemas.microsoft.com/office/drawing/2014/main" id="{623CDE25-27A1-4040-8913-6EAEFA312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796" y="495107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</a:p>
        </p:txBody>
      </p:sp>
      <p:sp>
        <p:nvSpPr>
          <p:cNvPr id="52" name="Oval 17">
            <a:extLst>
              <a:ext uri="{FF2B5EF4-FFF2-40B4-BE49-F238E27FC236}">
                <a16:creationId xmlns:a16="http://schemas.microsoft.com/office/drawing/2014/main" id="{177B4C17-C74D-406A-BE6F-4B705F3CF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196" y="4951078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5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sp>
        <p:nvSpPr>
          <p:cNvPr id="53" name="Oval 18">
            <a:extLst>
              <a:ext uri="{FF2B5EF4-FFF2-40B4-BE49-F238E27FC236}">
                <a16:creationId xmlns:a16="http://schemas.microsoft.com/office/drawing/2014/main" id="{2F2482E5-8C1B-40A5-B70D-7D703A832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996" y="573669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Oval 19">
            <a:extLst>
              <a:ext uri="{FF2B5EF4-FFF2-40B4-BE49-F238E27FC236}">
                <a16:creationId xmlns:a16="http://schemas.microsoft.com/office/drawing/2014/main" id="{BE94E011-D7B4-4EB9-97D5-7C0C8AB14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596" y="573669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Oval 21">
            <a:extLst>
              <a:ext uri="{FF2B5EF4-FFF2-40B4-BE49-F238E27FC236}">
                <a16:creationId xmlns:a16="http://schemas.microsoft.com/office/drawing/2014/main" id="{AD2DE57E-A742-40C3-BC9E-F7687530F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2396" y="573669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BAFDFF7-4D95-47DB-B31B-836C068D1961}"/>
              </a:ext>
            </a:extLst>
          </p:cNvPr>
          <p:cNvCxnSpPr>
            <a:stCxn id="50" idx="3"/>
            <a:endCxn id="51" idx="7"/>
          </p:cNvCxnSpPr>
          <p:nvPr/>
        </p:nvCxnSpPr>
        <p:spPr>
          <a:xfrm flipH="1">
            <a:off x="6477000" y="4678793"/>
            <a:ext cx="340192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EEAC6B5-029B-4FD1-81CE-D6D2FADB218E}"/>
              </a:ext>
            </a:extLst>
          </p:cNvPr>
          <p:cNvCxnSpPr>
            <a:stCxn id="50" idx="5"/>
            <a:endCxn id="52" idx="1"/>
          </p:cNvCxnSpPr>
          <p:nvPr/>
        </p:nvCxnSpPr>
        <p:spPr>
          <a:xfrm>
            <a:off x="7086600" y="4678793"/>
            <a:ext cx="416392" cy="32808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C50F6BE-0A36-4470-8C70-3F4CB45F1871}"/>
              </a:ext>
            </a:extLst>
          </p:cNvPr>
          <p:cNvCxnSpPr>
            <a:cxnSpLocks/>
            <a:stCxn id="51" idx="3"/>
            <a:endCxn id="53" idx="0"/>
          </p:cNvCxnSpPr>
          <p:nvPr/>
        </p:nvCxnSpPr>
        <p:spPr>
          <a:xfrm flipH="1">
            <a:off x="6037496" y="5276282"/>
            <a:ext cx="1700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4549414-4FC6-4938-B26E-95DC996B1731}"/>
              </a:ext>
            </a:extLst>
          </p:cNvPr>
          <p:cNvCxnSpPr>
            <a:cxnSpLocks/>
            <a:stCxn id="51" idx="5"/>
            <a:endCxn id="54" idx="0"/>
          </p:cNvCxnSpPr>
          <p:nvPr/>
        </p:nvCxnSpPr>
        <p:spPr>
          <a:xfrm>
            <a:off x="6477000" y="5276282"/>
            <a:ext cx="1700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A31A702-513D-4BBF-87FD-94E2DDAD8752}"/>
              </a:ext>
            </a:extLst>
          </p:cNvPr>
          <p:cNvCxnSpPr>
            <a:cxnSpLocks/>
            <a:stCxn id="52" idx="3"/>
            <a:endCxn id="55" idx="0"/>
          </p:cNvCxnSpPr>
          <p:nvPr/>
        </p:nvCxnSpPr>
        <p:spPr>
          <a:xfrm flipH="1">
            <a:off x="7332896" y="5276282"/>
            <a:ext cx="170096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19">
            <a:extLst>
              <a:ext uri="{FF2B5EF4-FFF2-40B4-BE49-F238E27FC236}">
                <a16:creationId xmlns:a16="http://schemas.microsoft.com/office/drawing/2014/main" id="{118E0E72-BFD4-47AB-8447-93CE8A4CE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741483"/>
            <a:ext cx="381000" cy="381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2930A19-9F0B-461A-9DE6-8E906EAE5C31}"/>
              </a:ext>
            </a:extLst>
          </p:cNvPr>
          <p:cNvCxnSpPr>
            <a:cxnSpLocks/>
            <a:stCxn id="52" idx="5"/>
            <a:endCxn id="61" idx="0"/>
          </p:cNvCxnSpPr>
          <p:nvPr/>
        </p:nvCxnSpPr>
        <p:spPr>
          <a:xfrm>
            <a:off x="7772400" y="5276282"/>
            <a:ext cx="190500" cy="46520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8F2FAAF1-EF35-4450-918C-2CCF3233DF58}"/>
              </a:ext>
            </a:extLst>
          </p:cNvPr>
          <p:cNvSpPr/>
          <p:nvPr/>
        </p:nvSpPr>
        <p:spPr>
          <a:xfrm>
            <a:off x="7898546" y="5269468"/>
            <a:ext cx="7713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swap</a:t>
            </a:r>
          </a:p>
        </p:txBody>
      </p:sp>
    </p:spTree>
    <p:extLst>
      <p:ext uri="{BB962C8B-B14F-4D97-AF65-F5344CB8AC3E}">
        <p14:creationId xmlns:p14="http://schemas.microsoft.com/office/powerpoint/2010/main" val="1849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6" grpId="0"/>
      <p:bldP spid="47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1" grpId="0" animBg="1"/>
      <p:bldP spid="6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1E40B-3D8E-4B2B-88C4-D63E5E13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An Implementation Trick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EDCEE-2D14-406A-8823-F90E75FF9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Implementation of percolation in the insert routine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by performing </a:t>
            </a:r>
            <a:r>
              <a:rPr lang="en-US" altLang="zh-CN" sz="2000" dirty="0">
                <a:solidFill>
                  <a:srgbClr val="0070C0"/>
                </a:solidFill>
                <a:ea typeface="宋体" panose="02010600030101010101" pitchFamily="2" charset="-122"/>
              </a:rPr>
              <a:t>repeated swaps</a:t>
            </a:r>
            <a:r>
              <a:rPr lang="en-US" altLang="zh-CN" sz="2000" dirty="0">
                <a:ea typeface="宋体" panose="02010600030101010101" pitchFamily="2" charset="-122"/>
              </a:rPr>
              <a:t>: 3 assignment statements for a swap. </a:t>
            </a:r>
          </a:p>
          <a:p>
            <a:pPr lvl="1"/>
            <a:r>
              <a:rPr lang="en-US" altLang="zh-CN" sz="2000" dirty="0">
                <a:solidFill>
                  <a:srgbClr val="C00000"/>
                </a:solidFill>
                <a:ea typeface="宋体" panose="02010600030101010101" pitchFamily="2" charset="-122"/>
              </a:rPr>
              <a:t>3d assignments if an element is percolated up d levels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An enhancement: </a:t>
            </a:r>
            <a:r>
              <a:rPr lang="en-US" altLang="zh-CN" sz="2000" dirty="0">
                <a:solidFill>
                  <a:srgbClr val="0070C0"/>
                </a:solidFill>
                <a:ea typeface="宋体" panose="02010600030101010101" pitchFamily="2" charset="-122"/>
              </a:rPr>
              <a:t>Hole digging </a:t>
            </a:r>
            <a:r>
              <a:rPr lang="en-US" altLang="zh-CN" sz="2000" dirty="0">
                <a:ea typeface="宋体" panose="02010600030101010101" pitchFamily="2" charset="-122"/>
              </a:rPr>
              <a:t>with </a:t>
            </a:r>
            <a:r>
              <a:rPr lang="en-US" altLang="zh-CN" sz="2000" dirty="0">
                <a:solidFill>
                  <a:srgbClr val="0070C0"/>
                </a:solidFill>
                <a:ea typeface="宋体" panose="02010600030101010101" pitchFamily="2" charset="-122"/>
              </a:rPr>
              <a:t>d+1</a:t>
            </a:r>
            <a:r>
              <a:rPr lang="en-US" altLang="zh-CN" sz="2000" dirty="0">
                <a:ea typeface="宋体" panose="02010600030101010101" pitchFamily="2" charset="-122"/>
              </a:rPr>
              <a:t> assignments</a:t>
            </a:r>
          </a:p>
          <a:p>
            <a:r>
              <a:rPr lang="en-US" altLang="zh-CN" sz="2400" dirty="0">
                <a:solidFill>
                  <a:srgbClr val="0070C0"/>
                </a:solidFill>
                <a:ea typeface="宋体" panose="02010600030101010101" pitchFamily="2" charset="-122"/>
              </a:rPr>
              <a:t>Insert 1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…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B1622-5D3B-442A-9690-30A5A0CE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5FF3C851-6CF0-4B2E-BF5C-97834CA14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403129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B86BF5E3-A239-4243-B704-4A5449A5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988" y="4615464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</a:p>
        </p:txBody>
      </p:sp>
      <p:sp>
        <p:nvSpPr>
          <p:cNvPr id="7" name="Oval 17">
            <a:extLst>
              <a:ext uri="{FF2B5EF4-FFF2-40B4-BE49-F238E27FC236}">
                <a16:creationId xmlns:a16="http://schemas.microsoft.com/office/drawing/2014/main" id="{B0559AB4-B187-484E-AB60-1ADE27A06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388" y="4615464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Oval 18">
            <a:extLst>
              <a:ext uri="{FF2B5EF4-FFF2-40B4-BE49-F238E27FC236}">
                <a16:creationId xmlns:a16="http://schemas.microsoft.com/office/drawing/2014/main" id="{1FA3034B-74DF-4E49-806E-CA6F939A0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99" y="540107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Oval 19">
            <a:extLst>
              <a:ext uri="{FF2B5EF4-FFF2-40B4-BE49-F238E27FC236}">
                <a16:creationId xmlns:a16="http://schemas.microsoft.com/office/drawing/2014/main" id="{F7B988A1-30B7-4309-96B2-1B765B4A0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40107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Oval 21">
            <a:extLst>
              <a:ext uri="{FF2B5EF4-FFF2-40B4-BE49-F238E27FC236}">
                <a16:creationId xmlns:a16="http://schemas.microsoft.com/office/drawing/2014/main" id="{DB5EC750-8F2A-4035-B2CF-35BCD20E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40107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54065-C9C2-4927-9B86-1E389EF5E307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560192" y="4356497"/>
            <a:ext cx="362504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520164-05F7-494A-BA88-BC9D7C9649AA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2192104" y="4356497"/>
            <a:ext cx="394080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409944-A652-41C2-97BF-9991C18DAB85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flipH="1">
            <a:off x="1028599" y="4940668"/>
            <a:ext cx="262185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D22434-FD8B-4539-B18C-581CBD5295EC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1560192" y="4940668"/>
            <a:ext cx="306708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F35178-0508-4FC1-B340-5E1D20BC5813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2324100" y="4940668"/>
            <a:ext cx="262084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8">
            <a:extLst>
              <a:ext uri="{FF2B5EF4-FFF2-40B4-BE49-F238E27FC236}">
                <a16:creationId xmlns:a16="http://schemas.microsoft.com/office/drawing/2014/main" id="{EC806C2F-54A2-4363-9622-EB84FC8A9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18668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225D45-4B9F-44B9-B716-2483F9B8B4D8}"/>
              </a:ext>
            </a:extLst>
          </p:cNvPr>
          <p:cNvCxnSpPr>
            <a:cxnSpLocks/>
            <a:stCxn id="8" idx="4"/>
            <a:endCxn id="16" idx="0"/>
          </p:cNvCxnSpPr>
          <p:nvPr/>
        </p:nvCxnSpPr>
        <p:spPr>
          <a:xfrm flipH="1">
            <a:off x="800100" y="5782076"/>
            <a:ext cx="228499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18">
            <a:extLst>
              <a:ext uri="{FF2B5EF4-FFF2-40B4-BE49-F238E27FC236}">
                <a16:creationId xmlns:a16="http://schemas.microsoft.com/office/drawing/2014/main" id="{035F2BFD-5D8E-4EFA-9CE6-B2E0B5DAF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11" y="618668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A8FA100-D670-4A80-8FF5-A047234E0920}"/>
              </a:ext>
            </a:extLst>
          </p:cNvPr>
          <p:cNvCxnSpPr>
            <a:cxnSpLocks/>
            <a:stCxn id="8" idx="4"/>
            <a:endCxn id="24" idx="0"/>
          </p:cNvCxnSpPr>
          <p:nvPr/>
        </p:nvCxnSpPr>
        <p:spPr>
          <a:xfrm>
            <a:off x="1028599" y="5782076"/>
            <a:ext cx="212812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18">
            <a:extLst>
              <a:ext uri="{FF2B5EF4-FFF2-40B4-BE49-F238E27FC236}">
                <a16:creationId xmlns:a16="http://schemas.microsoft.com/office/drawing/2014/main" id="{91B00031-1363-45E9-A417-6BA257496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16585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CDEADF1-2439-4CFB-AAAE-7771DBA5C720}"/>
              </a:ext>
            </a:extLst>
          </p:cNvPr>
          <p:cNvCxnSpPr>
            <a:cxnSpLocks/>
            <a:stCxn id="9" idx="4"/>
            <a:endCxn id="29" idx="0"/>
          </p:cNvCxnSpPr>
          <p:nvPr/>
        </p:nvCxnSpPr>
        <p:spPr>
          <a:xfrm flipH="1">
            <a:off x="1714500" y="5782076"/>
            <a:ext cx="152400" cy="383774"/>
          </a:xfrm>
          <a:prstGeom prst="line">
            <a:avLst/>
          </a:prstGeom>
          <a:noFill/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9F1E3EF-60F7-46AF-B1C6-E37E0F96E585}"/>
              </a:ext>
            </a:extLst>
          </p:cNvPr>
          <p:cNvSpPr/>
          <p:nvPr/>
        </p:nvSpPr>
        <p:spPr>
          <a:xfrm>
            <a:off x="1392348" y="5389575"/>
            <a:ext cx="2840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accent4"/>
                </a:solidFill>
                <a:ea typeface="宋体" panose="02010600030101010101" pitchFamily="2" charset="-122"/>
              </a:rPr>
              <a:t>1</a:t>
            </a:r>
            <a:endParaRPr lang="zh-CN" altLang="en-US" b="1" dirty="0"/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4245E47C-F7AF-47A8-9094-A053F37E5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1" y="405337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16ED5F38-E8BB-4038-9AA2-4D0DBB78E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789" y="463754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</a:p>
        </p:txBody>
      </p:sp>
      <p:sp>
        <p:nvSpPr>
          <p:cNvPr id="38" name="Oval 17">
            <a:extLst>
              <a:ext uri="{FF2B5EF4-FFF2-40B4-BE49-F238E27FC236}">
                <a16:creationId xmlns:a16="http://schemas.microsoft.com/office/drawing/2014/main" id="{59AD842C-02D2-4DB5-8013-9ADB74613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189" y="463754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Oval 18">
            <a:extLst>
              <a:ext uri="{FF2B5EF4-FFF2-40B4-BE49-F238E27FC236}">
                <a16:creationId xmlns:a16="http://schemas.microsoft.com/office/drawing/2014/main" id="{DC9DCF62-6DC9-4818-AAE8-1EF1A954A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3900" y="542316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Oval 19">
            <a:extLst>
              <a:ext uri="{FF2B5EF4-FFF2-40B4-BE49-F238E27FC236}">
                <a16:creationId xmlns:a16="http://schemas.microsoft.com/office/drawing/2014/main" id="{2DA0BA61-D400-4006-B5B6-0F8BE3BCD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1" y="5423161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Oval 21">
            <a:extLst>
              <a:ext uri="{FF2B5EF4-FFF2-40B4-BE49-F238E27FC236}">
                <a16:creationId xmlns:a16="http://schemas.microsoft.com/office/drawing/2014/main" id="{C8F89B48-3DBA-4301-B583-418A51ECE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1" y="542316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45DDD27-A19F-4ED6-A44A-797E2BF4480A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6055993" y="4378582"/>
            <a:ext cx="362504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472823B-2284-4108-9524-F40C70CE55C2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687905" y="4378582"/>
            <a:ext cx="394080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9BE6205-781E-4DB7-BBC9-4F6EB05A39B4}"/>
              </a:ext>
            </a:extLst>
          </p:cNvPr>
          <p:cNvCxnSpPr>
            <a:cxnSpLocks/>
            <a:stCxn id="37" idx="3"/>
            <a:endCxn id="39" idx="0"/>
          </p:cNvCxnSpPr>
          <p:nvPr/>
        </p:nvCxnSpPr>
        <p:spPr>
          <a:xfrm flipH="1">
            <a:off x="5524400" y="4962753"/>
            <a:ext cx="262185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F47419D-7AC7-4EE1-A0F1-F9DAE3258343}"/>
              </a:ext>
            </a:extLst>
          </p:cNvPr>
          <p:cNvCxnSpPr>
            <a:cxnSpLocks/>
            <a:stCxn id="37" idx="5"/>
            <a:endCxn id="40" idx="0"/>
          </p:cNvCxnSpPr>
          <p:nvPr/>
        </p:nvCxnSpPr>
        <p:spPr>
          <a:xfrm>
            <a:off x="6055993" y="4962753"/>
            <a:ext cx="306708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D772FAF-010A-4780-9B32-69BF9751F1B5}"/>
              </a:ext>
            </a:extLst>
          </p:cNvPr>
          <p:cNvCxnSpPr>
            <a:cxnSpLocks/>
            <a:stCxn id="38" idx="3"/>
            <a:endCxn id="41" idx="0"/>
          </p:cNvCxnSpPr>
          <p:nvPr/>
        </p:nvCxnSpPr>
        <p:spPr>
          <a:xfrm flipH="1">
            <a:off x="6819901" y="4962753"/>
            <a:ext cx="262084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18">
            <a:extLst>
              <a:ext uri="{FF2B5EF4-FFF2-40B4-BE49-F238E27FC236}">
                <a16:creationId xmlns:a16="http://schemas.microsoft.com/office/drawing/2014/main" id="{16DAF674-9185-47B6-AED5-D6D48C166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1" y="620877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5F71694-BF47-4DB4-A88C-430DE56801C0}"/>
              </a:ext>
            </a:extLst>
          </p:cNvPr>
          <p:cNvCxnSpPr>
            <a:cxnSpLocks/>
            <a:stCxn id="39" idx="4"/>
            <a:endCxn id="47" idx="0"/>
          </p:cNvCxnSpPr>
          <p:nvPr/>
        </p:nvCxnSpPr>
        <p:spPr>
          <a:xfrm flipH="1">
            <a:off x="5295901" y="5804161"/>
            <a:ext cx="228499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18">
            <a:extLst>
              <a:ext uri="{FF2B5EF4-FFF2-40B4-BE49-F238E27FC236}">
                <a16:creationId xmlns:a16="http://schemas.microsoft.com/office/drawing/2014/main" id="{DECA0C8F-3898-4A02-9F94-70F67546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6712" y="620877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AD1A06C-7D6D-4BB4-9D98-1EB2D43C3C42}"/>
              </a:ext>
            </a:extLst>
          </p:cNvPr>
          <p:cNvCxnSpPr>
            <a:cxnSpLocks/>
            <a:stCxn id="39" idx="4"/>
            <a:endCxn id="49" idx="0"/>
          </p:cNvCxnSpPr>
          <p:nvPr/>
        </p:nvCxnSpPr>
        <p:spPr>
          <a:xfrm>
            <a:off x="5524400" y="5804161"/>
            <a:ext cx="212812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18">
            <a:extLst>
              <a:ext uri="{FF2B5EF4-FFF2-40B4-BE49-F238E27FC236}">
                <a16:creationId xmlns:a16="http://schemas.microsoft.com/office/drawing/2014/main" id="{07009D41-E04F-434E-812B-B7DEEB891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1" y="6187935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7FEA496-D4F1-4351-9F64-C89ED39D418C}"/>
              </a:ext>
            </a:extLst>
          </p:cNvPr>
          <p:cNvCxnSpPr>
            <a:cxnSpLocks/>
            <a:stCxn id="40" idx="4"/>
            <a:endCxn id="51" idx="0"/>
          </p:cNvCxnSpPr>
          <p:nvPr/>
        </p:nvCxnSpPr>
        <p:spPr>
          <a:xfrm flipH="1">
            <a:off x="6210301" y="5804161"/>
            <a:ext cx="152400" cy="383774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8B9ABB09-B050-4DBE-9611-59B0E89682CA}"/>
              </a:ext>
            </a:extLst>
          </p:cNvPr>
          <p:cNvSpPr/>
          <p:nvPr/>
        </p:nvSpPr>
        <p:spPr>
          <a:xfrm>
            <a:off x="6141988" y="4627575"/>
            <a:ext cx="2840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accent4"/>
                </a:solidFill>
                <a:ea typeface="宋体" panose="02010600030101010101" pitchFamily="2" charset="-122"/>
              </a:rPr>
              <a:t>1</a:t>
            </a:r>
            <a:endParaRPr lang="zh-CN" altLang="en-US" b="1" dirty="0"/>
          </a:p>
        </p:txBody>
      </p:sp>
      <p:sp>
        <p:nvSpPr>
          <p:cNvPr id="78" name="Text Box 45">
            <a:extLst>
              <a:ext uri="{FF2B5EF4-FFF2-40B4-BE49-F238E27FC236}">
                <a16:creationId xmlns:a16="http://schemas.microsoft.com/office/drawing/2014/main" id="{F09E72B5-409B-4B98-BB89-30FA24C69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378" y="5975127"/>
            <a:ext cx="2025623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</a:rPr>
              <a:t>Dig a hole</a:t>
            </a:r>
            <a:b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</a:rPr>
              <a:t>Compare 1 with 7</a:t>
            </a:r>
          </a:p>
        </p:txBody>
      </p:sp>
      <p:sp>
        <p:nvSpPr>
          <p:cNvPr id="80" name="Text Box 45">
            <a:extLst>
              <a:ext uri="{FF2B5EF4-FFF2-40B4-BE49-F238E27FC236}">
                <a16:creationId xmlns:a16="http://schemas.microsoft.com/office/drawing/2014/main" id="{25113E4D-869C-48BB-B29D-4D60CD74A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985" y="5973963"/>
            <a:ext cx="1219200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</a:rPr>
              <a:t>Compare 1 with 5</a:t>
            </a:r>
          </a:p>
        </p:txBody>
      </p:sp>
      <p:sp>
        <p:nvSpPr>
          <p:cNvPr id="54" name="Oval 19">
            <a:extLst>
              <a:ext uri="{FF2B5EF4-FFF2-40B4-BE49-F238E27FC236}">
                <a16:creationId xmlns:a16="http://schemas.microsoft.com/office/drawing/2014/main" id="{F7B988A1-30B7-4309-96B2-1B765B4A0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9092" y="5446704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6D22434-FD8B-4539-B18C-581CBD5295EC}"/>
              </a:ext>
            </a:extLst>
          </p:cNvPr>
          <p:cNvCxnSpPr>
            <a:cxnSpLocks/>
            <a:stCxn id="7" idx="5"/>
            <a:endCxn id="54" idx="0"/>
          </p:cNvCxnSpPr>
          <p:nvPr/>
        </p:nvCxnSpPr>
        <p:spPr>
          <a:xfrm>
            <a:off x="2855592" y="4940668"/>
            <a:ext cx="304000" cy="506036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19">
            <a:extLst>
              <a:ext uri="{FF2B5EF4-FFF2-40B4-BE49-F238E27FC236}">
                <a16:creationId xmlns:a16="http://schemas.microsoft.com/office/drawing/2014/main" id="{F7B988A1-30B7-4309-96B2-1B765B4A0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54102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6D22434-FD8B-4539-B18C-581CBD5295EC}"/>
              </a:ext>
            </a:extLst>
          </p:cNvPr>
          <p:cNvCxnSpPr>
            <a:cxnSpLocks/>
            <a:stCxn id="38" idx="5"/>
            <a:endCxn id="56" idx="0"/>
          </p:cNvCxnSpPr>
          <p:nvPr/>
        </p:nvCxnSpPr>
        <p:spPr>
          <a:xfrm>
            <a:off x="7351393" y="4962753"/>
            <a:ext cx="306707" cy="447447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06DE74B1-B27A-4A64-BDD6-D2B8CA5B0CDF}"/>
                  </a:ext>
                </a:extLst>
              </p14:cNvPr>
              <p14:cNvContentPartPr/>
              <p14:nvPr/>
            </p14:nvContentPartPr>
            <p14:xfrm>
              <a:off x="4845240" y="4610160"/>
              <a:ext cx="1441800" cy="153072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06DE74B1-B27A-4A64-BDD6-D2B8CA5B0C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5880" y="4600800"/>
                <a:ext cx="1460520" cy="154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62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7" grpId="0" animBg="1"/>
      <p:bldP spid="49" grpId="0" animBg="1"/>
      <p:bldP spid="51" grpId="0" animBg="1"/>
      <p:bldP spid="53" grpId="0"/>
      <p:bldP spid="78" grpId="0" animBg="1"/>
      <p:bldP spid="80" grpId="0" animBg="1"/>
      <p:bldP spid="5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1E40B-3D8E-4B2B-88C4-D63E5E131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Insertion Complexity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EDCEE-2D14-406A-8823-F90E75FF9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5257800"/>
            <a:ext cx="6759589" cy="798448"/>
          </a:xfrm>
        </p:spPr>
        <p:txBody>
          <a:bodyPr>
            <a:noAutofit/>
          </a:bodyPr>
          <a:lstStyle/>
          <a:p>
            <a:pPr>
              <a:buClr>
                <a:schemeClr val="tx2"/>
              </a:buClr>
              <a:buSzPct val="75000"/>
              <a:buNone/>
            </a:pPr>
            <a:r>
              <a:rPr lang="en-US" altLang="zh-CN" sz="2800" dirty="0">
                <a:latin typeface="+mn-lt"/>
              </a:rPr>
              <a:t>Time Complexity = O(height) = </a:t>
            </a:r>
            <a:r>
              <a:rPr lang="en-US" altLang="zh-CN" sz="2800" dirty="0">
                <a:solidFill>
                  <a:srgbClr val="0070C0"/>
                </a:solidFill>
                <a:latin typeface="+mn-lt"/>
              </a:rPr>
              <a:t>O(</a:t>
            </a:r>
            <a:r>
              <a:rPr lang="en-US" altLang="zh-CN" sz="2800" dirty="0" err="1">
                <a:solidFill>
                  <a:srgbClr val="0070C0"/>
                </a:solidFill>
                <a:latin typeface="+mn-lt"/>
              </a:rPr>
              <a:t>logN</a:t>
            </a:r>
            <a:r>
              <a:rPr lang="en-US" altLang="zh-CN" sz="2800" dirty="0">
                <a:solidFill>
                  <a:srgbClr val="0070C0"/>
                </a:solidFill>
                <a:latin typeface="+mn-lt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B1622-5D3B-442A-9690-30A5A0CE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4" name="Oval 15">
            <a:extLst>
              <a:ext uri="{FF2B5EF4-FFF2-40B4-BE49-F238E27FC236}">
                <a16:creationId xmlns:a16="http://schemas.microsoft.com/office/drawing/2014/main" id="{97C23A42-5B7A-4ECB-BEBF-82666E6CD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712" y="1844125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Oval 16">
            <a:extLst>
              <a:ext uri="{FF2B5EF4-FFF2-40B4-BE49-F238E27FC236}">
                <a16:creationId xmlns:a16="http://schemas.microsoft.com/office/drawing/2014/main" id="{4F9D52D7-22EF-4CD1-8B59-C52B283D1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428296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Oval 17">
            <a:extLst>
              <a:ext uri="{FF2B5EF4-FFF2-40B4-BE49-F238E27FC236}">
                <a16:creationId xmlns:a16="http://schemas.microsoft.com/office/drawing/2014/main" id="{9A135214-426C-468C-9CA2-696FDD0FA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42829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Oval 18">
            <a:extLst>
              <a:ext uri="{FF2B5EF4-FFF2-40B4-BE49-F238E27FC236}">
                <a16:creationId xmlns:a16="http://schemas.microsoft.com/office/drawing/2014/main" id="{E167FD04-F842-4E1D-BF0F-26AC976D2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911" y="321390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Oval 19">
            <a:extLst>
              <a:ext uri="{FF2B5EF4-FFF2-40B4-BE49-F238E27FC236}">
                <a16:creationId xmlns:a16="http://schemas.microsoft.com/office/drawing/2014/main" id="{7262259B-7B55-40AC-B8FD-83578B614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212" y="321390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Oval 21">
            <a:extLst>
              <a:ext uri="{FF2B5EF4-FFF2-40B4-BE49-F238E27FC236}">
                <a16:creationId xmlns:a16="http://schemas.microsoft.com/office/drawing/2014/main" id="{3F283B66-5261-482D-865E-CE987DF4D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412" y="321390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8D11FA6-1160-421F-8903-662159FC5C62}"/>
              </a:ext>
            </a:extLst>
          </p:cNvPr>
          <p:cNvCxnSpPr>
            <a:stCxn id="54" idx="3"/>
            <a:endCxn id="55" idx="7"/>
          </p:cNvCxnSpPr>
          <p:nvPr/>
        </p:nvCxnSpPr>
        <p:spPr>
          <a:xfrm flipH="1">
            <a:off x="2154004" y="2169329"/>
            <a:ext cx="362504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683A3F4-8192-4145-AD9D-81FE9DB88AF4}"/>
              </a:ext>
            </a:extLst>
          </p:cNvPr>
          <p:cNvCxnSpPr>
            <a:stCxn id="54" idx="5"/>
            <a:endCxn id="56" idx="1"/>
          </p:cNvCxnSpPr>
          <p:nvPr/>
        </p:nvCxnSpPr>
        <p:spPr>
          <a:xfrm>
            <a:off x="2785916" y="2169329"/>
            <a:ext cx="394080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53D75AA-5766-49D9-AEA6-CE104A79DD2F}"/>
              </a:ext>
            </a:extLst>
          </p:cNvPr>
          <p:cNvCxnSpPr>
            <a:cxnSpLocks/>
            <a:stCxn id="55" idx="3"/>
            <a:endCxn id="57" idx="0"/>
          </p:cNvCxnSpPr>
          <p:nvPr/>
        </p:nvCxnSpPr>
        <p:spPr>
          <a:xfrm flipH="1">
            <a:off x="1622411" y="2753500"/>
            <a:ext cx="262185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60456A2-8B10-4F78-9F19-6899550BB825}"/>
              </a:ext>
            </a:extLst>
          </p:cNvPr>
          <p:cNvCxnSpPr>
            <a:cxnSpLocks/>
            <a:stCxn id="55" idx="5"/>
            <a:endCxn id="58" idx="0"/>
          </p:cNvCxnSpPr>
          <p:nvPr/>
        </p:nvCxnSpPr>
        <p:spPr>
          <a:xfrm>
            <a:off x="2154004" y="2753500"/>
            <a:ext cx="306708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49F09C3-E9A7-4479-BB12-18E253B23AFD}"/>
              </a:ext>
            </a:extLst>
          </p:cNvPr>
          <p:cNvCxnSpPr>
            <a:cxnSpLocks/>
            <a:stCxn id="56" idx="3"/>
            <a:endCxn id="59" idx="0"/>
          </p:cNvCxnSpPr>
          <p:nvPr/>
        </p:nvCxnSpPr>
        <p:spPr>
          <a:xfrm flipH="1">
            <a:off x="2917912" y="2753500"/>
            <a:ext cx="262084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18">
            <a:extLst>
              <a:ext uri="{FF2B5EF4-FFF2-40B4-BE49-F238E27FC236}">
                <a16:creationId xmlns:a16="http://schemas.microsoft.com/office/drawing/2014/main" id="{3E11084F-76DE-4956-A399-0104EDE81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412" y="399952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018A1B6-CF5B-4D7D-8C59-70FF020F9B94}"/>
              </a:ext>
            </a:extLst>
          </p:cNvPr>
          <p:cNvCxnSpPr>
            <a:cxnSpLocks/>
            <a:stCxn id="57" idx="4"/>
            <a:endCxn id="65" idx="0"/>
          </p:cNvCxnSpPr>
          <p:nvPr/>
        </p:nvCxnSpPr>
        <p:spPr>
          <a:xfrm flipH="1">
            <a:off x="1393912" y="3594908"/>
            <a:ext cx="228499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18">
            <a:extLst>
              <a:ext uri="{FF2B5EF4-FFF2-40B4-BE49-F238E27FC236}">
                <a16:creationId xmlns:a16="http://schemas.microsoft.com/office/drawing/2014/main" id="{080D1CBB-6168-4D4F-87B5-1B10C4DC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723" y="399952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4588534-6B40-4040-B337-C17318B94AE8}"/>
              </a:ext>
            </a:extLst>
          </p:cNvPr>
          <p:cNvCxnSpPr>
            <a:cxnSpLocks/>
            <a:stCxn id="57" idx="4"/>
            <a:endCxn id="67" idx="0"/>
          </p:cNvCxnSpPr>
          <p:nvPr/>
        </p:nvCxnSpPr>
        <p:spPr>
          <a:xfrm>
            <a:off x="1622411" y="3594908"/>
            <a:ext cx="212812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18">
            <a:extLst>
              <a:ext uri="{FF2B5EF4-FFF2-40B4-BE49-F238E27FC236}">
                <a16:creationId xmlns:a16="http://schemas.microsoft.com/office/drawing/2014/main" id="{F6164082-E389-4643-A7A4-4107FDC8B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812" y="3978682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6A4BEA3-DB7F-407C-9C3E-71CE3DCC8F78}"/>
              </a:ext>
            </a:extLst>
          </p:cNvPr>
          <p:cNvCxnSpPr>
            <a:cxnSpLocks/>
            <a:stCxn id="58" idx="4"/>
            <a:endCxn id="69" idx="0"/>
          </p:cNvCxnSpPr>
          <p:nvPr/>
        </p:nvCxnSpPr>
        <p:spPr>
          <a:xfrm flipH="1">
            <a:off x="2308312" y="3594908"/>
            <a:ext cx="152400" cy="383774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53154BF7-5B0A-4385-9425-4772BA8CC734}"/>
              </a:ext>
            </a:extLst>
          </p:cNvPr>
          <p:cNvSpPr/>
          <p:nvPr/>
        </p:nvSpPr>
        <p:spPr>
          <a:xfrm>
            <a:off x="2895944" y="1846008"/>
            <a:ext cx="2840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accent4"/>
                </a:solidFill>
                <a:ea typeface="宋体" panose="02010600030101010101" pitchFamily="2" charset="-122"/>
              </a:rPr>
              <a:t>1</a:t>
            </a:r>
            <a:endParaRPr lang="zh-CN" altLang="en-US" b="1" dirty="0"/>
          </a:p>
        </p:txBody>
      </p:sp>
      <p:sp>
        <p:nvSpPr>
          <p:cNvPr id="72" name="Text Box 45">
            <a:extLst>
              <a:ext uri="{FF2B5EF4-FFF2-40B4-BE49-F238E27FC236}">
                <a16:creationId xmlns:a16="http://schemas.microsoft.com/office/drawing/2014/main" id="{FB72F288-B78E-41B7-BB51-CD1820878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3439" y="3803982"/>
            <a:ext cx="1219200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</a:rPr>
              <a:t>Compare 1 with 2</a:t>
            </a:r>
          </a:p>
        </p:txBody>
      </p:sp>
      <p:sp>
        <p:nvSpPr>
          <p:cNvPr id="73" name="Oval 15">
            <a:extLst>
              <a:ext uri="{FF2B5EF4-FFF2-40B4-BE49-F238E27FC236}">
                <a16:creationId xmlns:a16="http://schemas.microsoft.com/office/drawing/2014/main" id="{4AA9A05B-248B-4878-80EA-325E5CF07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89" y="1841331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1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sp>
        <p:nvSpPr>
          <p:cNvPr id="74" name="Oval 16">
            <a:extLst>
              <a:ext uri="{FF2B5EF4-FFF2-40B4-BE49-F238E27FC236}">
                <a16:creationId xmlns:a16="http://schemas.microsoft.com/office/drawing/2014/main" id="{374E21F4-985C-43D6-BED1-5DE5DE126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2877" y="2425502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Oval 17">
            <a:extLst>
              <a:ext uri="{FF2B5EF4-FFF2-40B4-BE49-F238E27FC236}">
                <a16:creationId xmlns:a16="http://schemas.microsoft.com/office/drawing/2014/main" id="{2E4C1FE8-2B3E-452B-8B05-F728A9C15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277" y="2425502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Oval 18">
            <a:extLst>
              <a:ext uri="{FF2B5EF4-FFF2-40B4-BE49-F238E27FC236}">
                <a16:creationId xmlns:a16="http://schemas.microsoft.com/office/drawing/2014/main" id="{723C0067-736F-44E0-9CE8-5798BE492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988" y="3211114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7" name="Oval 19">
            <a:extLst>
              <a:ext uri="{FF2B5EF4-FFF2-40B4-BE49-F238E27FC236}">
                <a16:creationId xmlns:a16="http://schemas.microsoft.com/office/drawing/2014/main" id="{929FC395-074F-478A-9C85-42D45FD84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89" y="3211114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9" name="Oval 21">
            <a:extLst>
              <a:ext uri="{FF2B5EF4-FFF2-40B4-BE49-F238E27FC236}">
                <a16:creationId xmlns:a16="http://schemas.microsoft.com/office/drawing/2014/main" id="{E9087992-C523-4DDD-AF5A-8462196F0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89" y="3211114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D1477D5-6791-4D61-AAC2-85EF662A648A}"/>
              </a:ext>
            </a:extLst>
          </p:cNvPr>
          <p:cNvCxnSpPr>
            <a:stCxn id="73" idx="3"/>
            <a:endCxn id="74" idx="7"/>
          </p:cNvCxnSpPr>
          <p:nvPr/>
        </p:nvCxnSpPr>
        <p:spPr>
          <a:xfrm flipH="1">
            <a:off x="6148081" y="2166535"/>
            <a:ext cx="362504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5E139B7-2FD8-4DC9-B570-D4A2538DE11A}"/>
              </a:ext>
            </a:extLst>
          </p:cNvPr>
          <p:cNvCxnSpPr>
            <a:stCxn id="73" idx="5"/>
            <a:endCxn id="75" idx="1"/>
          </p:cNvCxnSpPr>
          <p:nvPr/>
        </p:nvCxnSpPr>
        <p:spPr>
          <a:xfrm>
            <a:off x="6779993" y="2166535"/>
            <a:ext cx="394080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072237-1FC7-4BD6-B414-29874CCEEE00}"/>
              </a:ext>
            </a:extLst>
          </p:cNvPr>
          <p:cNvCxnSpPr>
            <a:cxnSpLocks/>
            <a:stCxn id="74" idx="3"/>
            <a:endCxn id="76" idx="0"/>
          </p:cNvCxnSpPr>
          <p:nvPr/>
        </p:nvCxnSpPr>
        <p:spPr>
          <a:xfrm flipH="1">
            <a:off x="5616488" y="2750706"/>
            <a:ext cx="262185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5F50CBA-EBA4-42B5-A9AB-7A55620FAA17}"/>
              </a:ext>
            </a:extLst>
          </p:cNvPr>
          <p:cNvCxnSpPr>
            <a:cxnSpLocks/>
            <a:stCxn id="74" idx="5"/>
            <a:endCxn id="77" idx="0"/>
          </p:cNvCxnSpPr>
          <p:nvPr/>
        </p:nvCxnSpPr>
        <p:spPr>
          <a:xfrm>
            <a:off x="6148081" y="2750706"/>
            <a:ext cx="306708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7130152-18B3-4D2A-BC88-B333D863AFAA}"/>
              </a:ext>
            </a:extLst>
          </p:cNvPr>
          <p:cNvCxnSpPr>
            <a:cxnSpLocks/>
            <a:stCxn id="75" idx="3"/>
            <a:endCxn id="79" idx="0"/>
          </p:cNvCxnSpPr>
          <p:nvPr/>
        </p:nvCxnSpPr>
        <p:spPr>
          <a:xfrm flipH="1">
            <a:off x="6911989" y="2750706"/>
            <a:ext cx="262084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18">
            <a:extLst>
              <a:ext uri="{FF2B5EF4-FFF2-40B4-BE49-F238E27FC236}">
                <a16:creationId xmlns:a16="http://schemas.microsoft.com/office/drawing/2014/main" id="{25A1C4FC-4BC9-4C7D-9475-B0EF13046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489" y="399672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78786E7-82DA-411E-851D-674CBCC4128A}"/>
              </a:ext>
            </a:extLst>
          </p:cNvPr>
          <p:cNvCxnSpPr>
            <a:cxnSpLocks/>
            <a:stCxn id="76" idx="4"/>
            <a:endCxn id="85" idx="0"/>
          </p:cNvCxnSpPr>
          <p:nvPr/>
        </p:nvCxnSpPr>
        <p:spPr>
          <a:xfrm flipH="1">
            <a:off x="5387989" y="3592114"/>
            <a:ext cx="228499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8">
            <a:extLst>
              <a:ext uri="{FF2B5EF4-FFF2-40B4-BE49-F238E27FC236}">
                <a16:creationId xmlns:a16="http://schemas.microsoft.com/office/drawing/2014/main" id="{9F494B14-63B2-4AA5-AD84-F9CB99438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99672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63CB7DA-A07B-4384-828F-125EAFA49F0F}"/>
              </a:ext>
            </a:extLst>
          </p:cNvPr>
          <p:cNvCxnSpPr>
            <a:cxnSpLocks/>
            <a:stCxn id="76" idx="4"/>
            <a:endCxn id="87" idx="0"/>
          </p:cNvCxnSpPr>
          <p:nvPr/>
        </p:nvCxnSpPr>
        <p:spPr>
          <a:xfrm>
            <a:off x="5616488" y="3592114"/>
            <a:ext cx="212812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18">
            <a:extLst>
              <a:ext uri="{FF2B5EF4-FFF2-40B4-BE49-F238E27FC236}">
                <a16:creationId xmlns:a16="http://schemas.microsoft.com/office/drawing/2014/main" id="{32E108E4-69F7-4BF5-9C8B-3F87900CD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9" y="397588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357FE05-9D9E-4AB3-8E2E-6D5CA4B412D9}"/>
              </a:ext>
            </a:extLst>
          </p:cNvPr>
          <p:cNvCxnSpPr>
            <a:cxnSpLocks/>
            <a:stCxn id="77" idx="4"/>
            <a:endCxn id="89" idx="0"/>
          </p:cNvCxnSpPr>
          <p:nvPr/>
        </p:nvCxnSpPr>
        <p:spPr>
          <a:xfrm flipH="1">
            <a:off x="6302389" y="3592114"/>
            <a:ext cx="152400" cy="383774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 result for mission complete">
            <a:extLst>
              <a:ext uri="{FF2B5EF4-FFF2-40B4-BE49-F238E27FC236}">
                <a16:creationId xmlns:a16="http://schemas.microsoft.com/office/drawing/2014/main" id="{342DC459-0946-4894-8A6B-544B86018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166" y="3364792"/>
            <a:ext cx="21336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Oval 19">
            <a:extLst>
              <a:ext uri="{FF2B5EF4-FFF2-40B4-BE49-F238E27FC236}">
                <a16:creationId xmlns:a16="http://schemas.microsoft.com/office/drawing/2014/main" id="{7262259B-7B55-40AC-B8FD-83578B614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200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60456A2-8B10-4F78-9F19-6899550BB825}"/>
              </a:ext>
            </a:extLst>
          </p:cNvPr>
          <p:cNvCxnSpPr>
            <a:cxnSpLocks/>
            <a:stCxn id="56" idx="5"/>
            <a:endCxn id="42" idx="0"/>
          </p:cNvCxnSpPr>
          <p:nvPr/>
        </p:nvCxnSpPr>
        <p:spPr>
          <a:xfrm>
            <a:off x="3449404" y="2753500"/>
            <a:ext cx="246296" cy="446900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19">
            <a:extLst>
              <a:ext uri="{FF2B5EF4-FFF2-40B4-BE49-F238E27FC236}">
                <a16:creationId xmlns:a16="http://schemas.microsoft.com/office/drawing/2014/main" id="{7262259B-7B55-40AC-B8FD-83578B614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450" y="321108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60456A2-8B10-4F78-9F19-6899550BB825}"/>
              </a:ext>
            </a:extLst>
          </p:cNvPr>
          <p:cNvCxnSpPr>
            <a:cxnSpLocks/>
            <a:stCxn id="75" idx="5"/>
            <a:endCxn id="45" idx="0"/>
          </p:cNvCxnSpPr>
          <p:nvPr/>
        </p:nvCxnSpPr>
        <p:spPr>
          <a:xfrm>
            <a:off x="7443481" y="2750706"/>
            <a:ext cx="219469" cy="460380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44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3" grpId="0" animBg="1"/>
      <p:bldP spid="74" grpId="0" animBg="1"/>
      <p:bldP spid="75" grpId="0" animBg="1"/>
      <p:bldP spid="76" grpId="0" animBg="1"/>
      <p:bldP spid="77" grpId="0" animBg="1"/>
      <p:bldP spid="79" grpId="0" animBg="1"/>
      <p:bldP spid="85" grpId="0" animBg="1"/>
      <p:bldP spid="87" grpId="0" animBg="1"/>
      <p:bldP spid="89" grpId="0" animBg="1"/>
      <p:bldP spid="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20D1-2E22-432E-AC10-ED323088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Insertion Pseudo Code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783C5-4375-4F0C-9E11-A173279A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4C9BBEB-0EBE-4D1A-B10A-9925DBB94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905000"/>
            <a:ext cx="6248400" cy="4114800"/>
          </a:xfrm>
          <a:ln w="28575">
            <a:solidFill>
              <a:schemeClr val="tx1"/>
            </a:solidFill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altLang="zh-CN" sz="2400" dirty="0"/>
              <a:t>INSERT(A, </a:t>
            </a:r>
            <a:r>
              <a:rPr lang="en-US" altLang="zh-CN" sz="2400" dirty="0">
                <a:solidFill>
                  <a:srgbClr val="FF0000"/>
                </a:solidFill>
              </a:rPr>
              <a:t>int &amp;</a:t>
            </a:r>
            <a:r>
              <a:rPr lang="en-US" altLang="zh-CN" sz="2400" dirty="0"/>
              <a:t>size, x)</a:t>
            </a:r>
            <a:br>
              <a:rPr lang="en-US" altLang="zh-CN" sz="2400" dirty="0"/>
            </a:br>
            <a:r>
              <a:rPr lang="en-US" altLang="zh-CN" sz="2400" dirty="0"/>
              <a:t>1.     IF ISFULL(A)</a:t>
            </a:r>
            <a:br>
              <a:rPr lang="en-US" altLang="zh-CN" sz="2400" dirty="0"/>
            </a:br>
            <a:r>
              <a:rPr lang="en-US" altLang="zh-CN" sz="2400" dirty="0"/>
              <a:t>2.          return False</a:t>
            </a:r>
            <a:br>
              <a:rPr lang="en-US" altLang="zh-CN" sz="2400" dirty="0"/>
            </a:br>
            <a:r>
              <a:rPr lang="en-US" altLang="zh-CN" sz="2400" dirty="0"/>
              <a:t>3. </a:t>
            </a:r>
            <a:r>
              <a:rPr lang="en-US" altLang="zh-CN" sz="2400" dirty="0">
                <a:solidFill>
                  <a:schemeClr val="dk1"/>
                </a:solidFill>
              </a:rPr>
              <a:t> </a:t>
            </a:r>
            <a:r>
              <a:rPr lang="en-US" altLang="zh-CN" sz="2400" dirty="0">
                <a:solidFill>
                  <a:schemeClr val="accent4"/>
                </a:solidFill>
              </a:rPr>
              <a:t>  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 // percolate up</a:t>
            </a:r>
            <a:b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zh-CN" sz="2400" dirty="0"/>
              <a:t>4.     hole = size++;</a:t>
            </a:r>
            <a:br>
              <a:rPr lang="en-US" altLang="zh-CN" sz="2400" dirty="0"/>
            </a:br>
            <a:r>
              <a:rPr lang="en-US" altLang="zh-CN" sz="2400" dirty="0"/>
              <a:t>5.     WHILE hole&gt;0 AND x&lt;A[(hole-1)/2]</a:t>
            </a:r>
            <a:r>
              <a:rPr lang="en-US" altLang="zh-CN" sz="2400" b="1" dirty="0">
                <a:solidFill>
                  <a:srgbClr val="FF0000"/>
                </a:solidFill>
              </a:rPr>
              <a:t>{</a:t>
            </a:r>
            <a:br>
              <a:rPr lang="en-US" altLang="zh-CN" sz="2400" dirty="0"/>
            </a:br>
            <a:r>
              <a:rPr lang="en-US" altLang="zh-CN" sz="2400" dirty="0"/>
              <a:t>6.         A[hole] = A[(hole-1)/2];</a:t>
            </a:r>
          </a:p>
          <a:p>
            <a:pPr marL="457200" indent="-457200">
              <a:buAutoNum type="arabicPeriod" startAt="7"/>
            </a:pPr>
            <a:r>
              <a:rPr lang="en-US" altLang="zh-CN" sz="2400" dirty="0"/>
              <a:t>       hole = (hole-1)/2; </a:t>
            </a:r>
            <a:r>
              <a:rPr lang="en-US" altLang="zh-CN" sz="2400" b="1" dirty="0">
                <a:solidFill>
                  <a:srgbClr val="FF0000"/>
                </a:solidFill>
              </a:rPr>
              <a:t>}</a:t>
            </a:r>
          </a:p>
          <a:p>
            <a:pPr marL="457200" indent="-457200">
              <a:buAutoNum type="arabicPeriod" startAt="7"/>
            </a:pPr>
            <a:r>
              <a:rPr lang="en-US" altLang="zh-CN" sz="2400" dirty="0"/>
              <a:t>   A[hole] = x;</a:t>
            </a:r>
          </a:p>
          <a:p>
            <a:pPr marL="457200" indent="-457200">
              <a:buAutoNum type="arabicPeriod" startAt="7"/>
            </a:pPr>
            <a:r>
              <a:rPr lang="en-US" altLang="zh-CN" sz="2400" dirty="0"/>
              <a:t>   return True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33549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263A3-ABE6-435D-A2C0-E863FC67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deleteMin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43F15-155D-4F5D-A723-8D221F9BD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Same Strategy</a:t>
            </a:r>
          </a:p>
          <a:p>
            <a:pPr lvl="1"/>
            <a:r>
              <a:rPr lang="en-US" altLang="zh-CN" sz="2800" dirty="0"/>
              <a:t>First, maintain </a:t>
            </a:r>
            <a:r>
              <a:rPr lang="en-US" altLang="zh-CN" sz="2800" dirty="0">
                <a:solidFill>
                  <a:srgbClr val="0070C0"/>
                </a:solidFill>
              </a:rPr>
              <a:t>binary heap structure</a:t>
            </a:r>
          </a:p>
          <a:p>
            <a:pPr lvl="2"/>
            <a:r>
              <a:rPr lang="en-US" altLang="zh-CN" sz="2400" dirty="0"/>
              <a:t>Replace the root with the value of the </a:t>
            </a:r>
            <a:r>
              <a:rPr lang="en-US" altLang="zh-CN" sz="2400" dirty="0">
                <a:solidFill>
                  <a:srgbClr val="0070C0"/>
                </a:solidFill>
              </a:rPr>
              <a:t>last node</a:t>
            </a:r>
          </a:p>
          <a:p>
            <a:pPr lvl="1"/>
            <a:r>
              <a:rPr lang="en-US" altLang="zh-CN" sz="2800" dirty="0"/>
              <a:t>Then, maintain </a:t>
            </a:r>
            <a:r>
              <a:rPr lang="en-US" altLang="zh-CN" sz="2800" dirty="0">
                <a:solidFill>
                  <a:srgbClr val="0070C0"/>
                </a:solidFill>
              </a:rPr>
              <a:t>heap order property</a:t>
            </a:r>
          </a:p>
          <a:p>
            <a:pPr lvl="2"/>
            <a:r>
              <a:rPr lang="en-US" altLang="zh-CN" sz="2400" dirty="0"/>
              <a:t>Percolate</a:t>
            </a:r>
            <a:r>
              <a:rPr lang="en-US" altLang="zh-CN" sz="2400" dirty="0">
                <a:solidFill>
                  <a:schemeClr val="accent4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down (</a:t>
            </a:r>
            <a:r>
              <a:rPr lang="zh-CN" altLang="en-US" sz="2400" dirty="0">
                <a:solidFill>
                  <a:srgbClr val="0070C0"/>
                </a:solidFill>
              </a:rPr>
              <a:t>下浮</a:t>
            </a:r>
            <a:r>
              <a:rPr lang="en-US" altLang="zh-CN" sz="2400" dirty="0">
                <a:solidFill>
                  <a:srgbClr val="0070C0"/>
                </a:solidFill>
              </a:rPr>
              <a:t>)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CB03C-530B-4576-807A-F7F6E9502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8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00C1-7DB4-41B6-9D35-72BA0ACB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deleteMin</a:t>
            </a:r>
            <a:r>
              <a:rPr lang="en-US" altLang="zh-CN" dirty="0"/>
              <a:t> Example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4D8E3-01C2-43B8-BA59-E64D62C6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AA0B0B5F-471C-44A7-9312-352CAA219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205740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1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sp>
        <p:nvSpPr>
          <p:cNvPr id="8" name="Oval 16">
            <a:extLst>
              <a:ext uri="{FF2B5EF4-FFF2-40B4-BE49-F238E27FC236}">
                <a16:creationId xmlns:a16="http://schemas.microsoft.com/office/drawing/2014/main" id="{A042FA74-9A07-422F-A43B-DE68DD81F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988" y="264157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Oval 17">
            <a:extLst>
              <a:ext uri="{FF2B5EF4-FFF2-40B4-BE49-F238E27FC236}">
                <a16:creationId xmlns:a16="http://schemas.microsoft.com/office/drawing/2014/main" id="{A8402AF8-5F0A-48A3-9E55-A0615DD53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388" y="264157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215073EF-154A-495A-89A4-6E4698BA5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99" y="34271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E649ACEF-4842-4841-8C47-AAE00D8B3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4271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Oval 21">
            <a:extLst>
              <a:ext uri="{FF2B5EF4-FFF2-40B4-BE49-F238E27FC236}">
                <a16:creationId xmlns:a16="http://schemas.microsoft.com/office/drawing/2014/main" id="{1FF16ABF-4B32-467C-87E8-6A16EB76A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4271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852402-0015-4DCF-AE6E-626CA2DC585F}"/>
              </a:ext>
            </a:extLst>
          </p:cNvPr>
          <p:cNvCxnSpPr>
            <a:stCxn id="7" idx="3"/>
            <a:endCxn id="8" idx="7"/>
          </p:cNvCxnSpPr>
          <p:nvPr/>
        </p:nvCxnSpPr>
        <p:spPr>
          <a:xfrm flipH="1">
            <a:off x="1179192" y="2382604"/>
            <a:ext cx="362504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2A7FEB-C6CA-4C18-B3AA-B2EEA8ED4D90}"/>
              </a:ext>
            </a:extLst>
          </p:cNvPr>
          <p:cNvCxnSpPr>
            <a:stCxn id="7" idx="5"/>
            <a:endCxn id="9" idx="1"/>
          </p:cNvCxnSpPr>
          <p:nvPr/>
        </p:nvCxnSpPr>
        <p:spPr>
          <a:xfrm>
            <a:off x="1811104" y="2382604"/>
            <a:ext cx="394080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6FA22F-831F-43B6-8417-CB27C9D9AD25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 flipH="1">
            <a:off x="647599" y="2966775"/>
            <a:ext cx="262185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68DF57-906C-45B2-AB57-1FF50208278C}"/>
              </a:ext>
            </a:extLst>
          </p:cNvPr>
          <p:cNvCxnSpPr>
            <a:cxnSpLocks/>
            <a:stCxn id="8" idx="5"/>
            <a:endCxn id="11" idx="0"/>
          </p:cNvCxnSpPr>
          <p:nvPr/>
        </p:nvCxnSpPr>
        <p:spPr>
          <a:xfrm>
            <a:off x="1179192" y="2966775"/>
            <a:ext cx="306708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7F985D-1A01-4ABE-88E7-CF652FA53E1D}"/>
              </a:ext>
            </a:extLst>
          </p:cNvPr>
          <p:cNvCxnSpPr>
            <a:cxnSpLocks/>
            <a:stCxn id="9" idx="3"/>
            <a:endCxn id="12" idx="0"/>
          </p:cNvCxnSpPr>
          <p:nvPr/>
        </p:nvCxnSpPr>
        <p:spPr>
          <a:xfrm flipH="1">
            <a:off x="1943100" y="2966775"/>
            <a:ext cx="262084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8">
            <a:extLst>
              <a:ext uri="{FF2B5EF4-FFF2-40B4-BE49-F238E27FC236}">
                <a16:creationId xmlns:a16="http://schemas.microsoft.com/office/drawing/2014/main" id="{88186769-894D-4D18-B156-01A19464B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212795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B20D9A-6C9F-4D49-AC50-F9CBA436E826}"/>
              </a:ext>
            </a:extLst>
          </p:cNvPr>
          <p:cNvCxnSpPr>
            <a:cxnSpLocks/>
            <a:stCxn id="10" idx="4"/>
            <a:endCxn id="18" idx="0"/>
          </p:cNvCxnSpPr>
          <p:nvPr/>
        </p:nvCxnSpPr>
        <p:spPr>
          <a:xfrm flipH="1">
            <a:off x="419100" y="3808183"/>
            <a:ext cx="228499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8">
            <a:extLst>
              <a:ext uri="{FF2B5EF4-FFF2-40B4-BE49-F238E27FC236}">
                <a16:creationId xmlns:a16="http://schemas.microsoft.com/office/drawing/2014/main" id="{4C6B16AD-79E6-4536-AB76-733F854D8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11" y="4212795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893180-F585-47F1-B1E3-F46E9BA2177A}"/>
              </a:ext>
            </a:extLst>
          </p:cNvPr>
          <p:cNvCxnSpPr>
            <a:cxnSpLocks/>
            <a:stCxn id="10" idx="4"/>
            <a:endCxn id="20" idx="0"/>
          </p:cNvCxnSpPr>
          <p:nvPr/>
        </p:nvCxnSpPr>
        <p:spPr>
          <a:xfrm>
            <a:off x="647599" y="3808183"/>
            <a:ext cx="212812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18">
            <a:extLst>
              <a:ext uri="{FF2B5EF4-FFF2-40B4-BE49-F238E27FC236}">
                <a16:creationId xmlns:a16="http://schemas.microsoft.com/office/drawing/2014/main" id="{74F72621-070B-46E7-B89F-0C9F4177D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91957"/>
            <a:ext cx="381000" cy="381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FF6FD5-06BB-4F83-83A2-427F360FA16A}"/>
              </a:ext>
            </a:extLst>
          </p:cNvPr>
          <p:cNvCxnSpPr>
            <a:cxnSpLocks/>
            <a:stCxn id="11" idx="4"/>
            <a:endCxn id="22" idx="0"/>
          </p:cNvCxnSpPr>
          <p:nvPr/>
        </p:nvCxnSpPr>
        <p:spPr>
          <a:xfrm flipH="1">
            <a:off x="1333500" y="3808183"/>
            <a:ext cx="152400" cy="383774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478A1BD-DC23-42F7-A17A-B2F8B82C947C}"/>
              </a:ext>
            </a:extLst>
          </p:cNvPr>
          <p:cNvSpPr/>
          <p:nvPr/>
        </p:nvSpPr>
        <p:spPr>
          <a:xfrm>
            <a:off x="623113" y="4839507"/>
            <a:ext cx="1524000" cy="7078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000" dirty="0" err="1">
                <a:solidFill>
                  <a:schemeClr val="bg1"/>
                </a:solidFill>
                <a:ea typeface="宋体" panose="02010600030101010101" pitchFamily="2" charset="-122"/>
              </a:rPr>
              <a:t>deleteMin</a:t>
            </a: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() called</a:t>
            </a:r>
            <a:endParaRPr lang="zh-CN" altLang="en-US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5" name="Oval 15">
            <a:extLst>
              <a:ext uri="{FF2B5EF4-FFF2-40B4-BE49-F238E27FC236}">
                <a16:creationId xmlns:a16="http://schemas.microsoft.com/office/drawing/2014/main" id="{83BE1B17-51DC-4E37-B3FF-830E8C76E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900" y="2059193"/>
            <a:ext cx="381000" cy="381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Oval 16">
            <a:extLst>
              <a:ext uri="{FF2B5EF4-FFF2-40B4-BE49-F238E27FC236}">
                <a16:creationId xmlns:a16="http://schemas.microsoft.com/office/drawing/2014/main" id="{DDD83F90-539B-4B88-AD0E-452E826EB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0988" y="2643364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Oval 17">
            <a:extLst>
              <a:ext uri="{FF2B5EF4-FFF2-40B4-BE49-F238E27FC236}">
                <a16:creationId xmlns:a16="http://schemas.microsoft.com/office/drawing/2014/main" id="{B031F950-E93E-4897-AE07-496A25804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388" y="2643364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Oval 18">
            <a:extLst>
              <a:ext uri="{FF2B5EF4-FFF2-40B4-BE49-F238E27FC236}">
                <a16:creationId xmlns:a16="http://schemas.microsoft.com/office/drawing/2014/main" id="{D48E295F-4D19-4061-9DD9-2354A9136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099" y="342897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Oval 19">
            <a:extLst>
              <a:ext uri="{FF2B5EF4-FFF2-40B4-BE49-F238E27FC236}">
                <a16:creationId xmlns:a16="http://schemas.microsoft.com/office/drawing/2014/main" id="{14746374-13F9-4EAB-9AC4-C308CC74B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42897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Oval 21">
            <a:extLst>
              <a:ext uri="{FF2B5EF4-FFF2-40B4-BE49-F238E27FC236}">
                <a16:creationId xmlns:a16="http://schemas.microsoft.com/office/drawing/2014/main" id="{AA66A1F2-A385-42F3-A0FF-ADF85774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42897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B23498-930D-4D5A-9612-E9C18FC6347D}"/>
              </a:ext>
            </a:extLst>
          </p:cNvPr>
          <p:cNvCxnSpPr>
            <a:stCxn id="25" idx="3"/>
            <a:endCxn id="26" idx="7"/>
          </p:cNvCxnSpPr>
          <p:nvPr/>
        </p:nvCxnSpPr>
        <p:spPr>
          <a:xfrm flipH="1">
            <a:off x="3846192" y="2384397"/>
            <a:ext cx="362504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6AEDBD-D1F8-413F-B413-B37D9A653C34}"/>
              </a:ext>
            </a:extLst>
          </p:cNvPr>
          <p:cNvCxnSpPr>
            <a:stCxn id="25" idx="5"/>
            <a:endCxn id="27" idx="1"/>
          </p:cNvCxnSpPr>
          <p:nvPr/>
        </p:nvCxnSpPr>
        <p:spPr>
          <a:xfrm>
            <a:off x="4478104" y="2384397"/>
            <a:ext cx="394080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225705F-925E-4068-9504-354C78B97E46}"/>
              </a:ext>
            </a:extLst>
          </p:cNvPr>
          <p:cNvCxnSpPr>
            <a:cxnSpLocks/>
            <a:stCxn id="26" idx="3"/>
            <a:endCxn id="28" idx="0"/>
          </p:cNvCxnSpPr>
          <p:nvPr/>
        </p:nvCxnSpPr>
        <p:spPr>
          <a:xfrm flipH="1">
            <a:off x="3314599" y="2968568"/>
            <a:ext cx="262185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B04B962-8CA5-4CC8-ABD3-7367353BD33B}"/>
              </a:ext>
            </a:extLst>
          </p:cNvPr>
          <p:cNvCxnSpPr>
            <a:cxnSpLocks/>
            <a:stCxn id="26" idx="5"/>
            <a:endCxn id="29" idx="0"/>
          </p:cNvCxnSpPr>
          <p:nvPr/>
        </p:nvCxnSpPr>
        <p:spPr>
          <a:xfrm>
            <a:off x="3846192" y="2968568"/>
            <a:ext cx="306708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3C5DBC7-5BC9-4B70-810C-FC62879D59DB}"/>
              </a:ext>
            </a:extLst>
          </p:cNvPr>
          <p:cNvCxnSpPr>
            <a:cxnSpLocks/>
            <a:stCxn id="27" idx="3"/>
            <a:endCxn id="30" idx="0"/>
          </p:cNvCxnSpPr>
          <p:nvPr/>
        </p:nvCxnSpPr>
        <p:spPr>
          <a:xfrm flipH="1">
            <a:off x="4610100" y="2968568"/>
            <a:ext cx="262084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18">
            <a:extLst>
              <a:ext uri="{FF2B5EF4-FFF2-40B4-BE49-F238E27FC236}">
                <a16:creationId xmlns:a16="http://schemas.microsoft.com/office/drawing/2014/main" id="{20AE8AD0-3298-422F-9FEA-27D37512E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21458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4B52D7B-5934-4615-8B7A-1EB2979532EC}"/>
              </a:ext>
            </a:extLst>
          </p:cNvPr>
          <p:cNvCxnSpPr>
            <a:cxnSpLocks/>
            <a:stCxn id="28" idx="4"/>
            <a:endCxn id="36" idx="0"/>
          </p:cNvCxnSpPr>
          <p:nvPr/>
        </p:nvCxnSpPr>
        <p:spPr>
          <a:xfrm flipH="1">
            <a:off x="3086100" y="3809976"/>
            <a:ext cx="228499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18">
            <a:extLst>
              <a:ext uri="{FF2B5EF4-FFF2-40B4-BE49-F238E27FC236}">
                <a16:creationId xmlns:a16="http://schemas.microsoft.com/office/drawing/2014/main" id="{D6E1C853-A61D-41D3-AB76-F5064C0A0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11" y="4214588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AE6D68B-0177-4716-A3D5-092C0A05690E}"/>
              </a:ext>
            </a:extLst>
          </p:cNvPr>
          <p:cNvCxnSpPr>
            <a:cxnSpLocks/>
            <a:stCxn id="28" idx="4"/>
            <a:endCxn id="38" idx="0"/>
          </p:cNvCxnSpPr>
          <p:nvPr/>
        </p:nvCxnSpPr>
        <p:spPr>
          <a:xfrm>
            <a:off x="3314599" y="3809976"/>
            <a:ext cx="212812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4F4D9AC-C5AC-4FA8-B721-C5843C8B420D}"/>
              </a:ext>
            </a:extLst>
          </p:cNvPr>
          <p:cNvSpPr/>
          <p:nvPr/>
        </p:nvSpPr>
        <p:spPr>
          <a:xfrm>
            <a:off x="3505200" y="4839507"/>
            <a:ext cx="1524000" cy="7078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replace the root</a:t>
            </a:r>
            <a:endParaRPr lang="zh-CN" altLang="en-US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8" name="Oval 15">
            <a:extLst>
              <a:ext uri="{FF2B5EF4-FFF2-40B4-BE49-F238E27FC236}">
                <a16:creationId xmlns:a16="http://schemas.microsoft.com/office/drawing/2014/main" id="{DADF24FF-5FEE-4845-B33F-6F4CBB5D7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146" y="2057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Oval 16">
            <a:extLst>
              <a:ext uri="{FF2B5EF4-FFF2-40B4-BE49-F238E27FC236}">
                <a16:creationId xmlns:a16="http://schemas.microsoft.com/office/drawing/2014/main" id="{D5417779-7E57-4E63-942A-10C1DF935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234" y="2641571"/>
            <a:ext cx="381000" cy="381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</a:p>
        </p:txBody>
      </p:sp>
      <p:sp>
        <p:nvSpPr>
          <p:cNvPr id="50" name="Oval 17">
            <a:extLst>
              <a:ext uri="{FF2B5EF4-FFF2-40B4-BE49-F238E27FC236}">
                <a16:creationId xmlns:a16="http://schemas.microsoft.com/office/drawing/2014/main" id="{6B5CCEA9-F492-4A11-BCAB-B99354300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634" y="264157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Oval 18">
            <a:extLst>
              <a:ext uri="{FF2B5EF4-FFF2-40B4-BE49-F238E27FC236}">
                <a16:creationId xmlns:a16="http://schemas.microsoft.com/office/drawing/2014/main" id="{E049C632-0C9B-4868-A9EE-E685087C0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345" y="34271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F5D85053-CD00-481F-A4DB-D1A20425A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1646" y="34271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Oval 21">
            <a:extLst>
              <a:ext uri="{FF2B5EF4-FFF2-40B4-BE49-F238E27FC236}">
                <a16:creationId xmlns:a16="http://schemas.microsoft.com/office/drawing/2014/main" id="{1270B905-2C9A-424C-B75B-D20774563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8846" y="34271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7853793-8FB7-4BCD-8007-AC76333E9BDF}"/>
              </a:ext>
            </a:extLst>
          </p:cNvPr>
          <p:cNvCxnSpPr>
            <a:stCxn id="48" idx="3"/>
            <a:endCxn id="49" idx="7"/>
          </p:cNvCxnSpPr>
          <p:nvPr/>
        </p:nvCxnSpPr>
        <p:spPr>
          <a:xfrm flipH="1">
            <a:off x="6725438" y="2382604"/>
            <a:ext cx="362504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CED3D51-9C51-4912-9BCD-4000FB47D5AB}"/>
              </a:ext>
            </a:extLst>
          </p:cNvPr>
          <p:cNvCxnSpPr>
            <a:stCxn id="48" idx="5"/>
            <a:endCxn id="50" idx="1"/>
          </p:cNvCxnSpPr>
          <p:nvPr/>
        </p:nvCxnSpPr>
        <p:spPr>
          <a:xfrm>
            <a:off x="7357350" y="2382604"/>
            <a:ext cx="394080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19ABAB1-782A-4371-A811-A9648426F31F}"/>
              </a:ext>
            </a:extLst>
          </p:cNvPr>
          <p:cNvCxnSpPr>
            <a:cxnSpLocks/>
            <a:stCxn id="49" idx="3"/>
            <a:endCxn id="51" idx="0"/>
          </p:cNvCxnSpPr>
          <p:nvPr/>
        </p:nvCxnSpPr>
        <p:spPr>
          <a:xfrm flipH="1">
            <a:off x="6193845" y="2966775"/>
            <a:ext cx="262185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F61FF62-6267-415C-8359-8D501FE8C08F}"/>
              </a:ext>
            </a:extLst>
          </p:cNvPr>
          <p:cNvCxnSpPr>
            <a:cxnSpLocks/>
            <a:stCxn id="49" idx="5"/>
            <a:endCxn id="52" idx="0"/>
          </p:cNvCxnSpPr>
          <p:nvPr/>
        </p:nvCxnSpPr>
        <p:spPr>
          <a:xfrm>
            <a:off x="6725438" y="2966775"/>
            <a:ext cx="306708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6BAE210-1C4A-4E10-A4C9-E96C192FD843}"/>
              </a:ext>
            </a:extLst>
          </p:cNvPr>
          <p:cNvCxnSpPr>
            <a:cxnSpLocks/>
            <a:stCxn id="50" idx="3"/>
            <a:endCxn id="53" idx="0"/>
          </p:cNvCxnSpPr>
          <p:nvPr/>
        </p:nvCxnSpPr>
        <p:spPr>
          <a:xfrm flipH="1">
            <a:off x="7489346" y="2966775"/>
            <a:ext cx="262084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8">
            <a:extLst>
              <a:ext uri="{FF2B5EF4-FFF2-40B4-BE49-F238E27FC236}">
                <a16:creationId xmlns:a16="http://schemas.microsoft.com/office/drawing/2014/main" id="{586BAA9F-B42A-4C03-A455-3997B1FF5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846" y="4212795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9348A02-8FCB-4E77-A3B0-ABF7126D3360}"/>
              </a:ext>
            </a:extLst>
          </p:cNvPr>
          <p:cNvCxnSpPr>
            <a:cxnSpLocks/>
            <a:stCxn id="51" idx="4"/>
            <a:endCxn id="59" idx="0"/>
          </p:cNvCxnSpPr>
          <p:nvPr/>
        </p:nvCxnSpPr>
        <p:spPr>
          <a:xfrm flipH="1">
            <a:off x="5965346" y="3808183"/>
            <a:ext cx="228499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18">
            <a:extLst>
              <a:ext uri="{FF2B5EF4-FFF2-40B4-BE49-F238E27FC236}">
                <a16:creationId xmlns:a16="http://schemas.microsoft.com/office/drawing/2014/main" id="{45801FC8-AA04-4320-81EB-10990F202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6157" y="4212795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1EC548E-1940-45BE-968A-B1536A17292A}"/>
              </a:ext>
            </a:extLst>
          </p:cNvPr>
          <p:cNvCxnSpPr>
            <a:cxnSpLocks/>
            <a:stCxn id="51" idx="4"/>
            <a:endCxn id="61" idx="0"/>
          </p:cNvCxnSpPr>
          <p:nvPr/>
        </p:nvCxnSpPr>
        <p:spPr>
          <a:xfrm>
            <a:off x="6193845" y="3808183"/>
            <a:ext cx="212812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9E673C96-32EC-4D08-8DCE-D05B5A0A54E5}"/>
              </a:ext>
            </a:extLst>
          </p:cNvPr>
          <p:cNvSpPr/>
          <p:nvPr/>
        </p:nvSpPr>
        <p:spPr>
          <a:xfrm>
            <a:off x="5867400" y="4837714"/>
            <a:ext cx="2590800" cy="7078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swap with the smallest in the family</a:t>
            </a:r>
            <a:endParaRPr lang="zh-CN" altLang="en-US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6" name="Oval 19">
            <a:extLst>
              <a:ext uri="{FF2B5EF4-FFF2-40B4-BE49-F238E27FC236}">
                <a16:creationId xmlns:a16="http://schemas.microsoft.com/office/drawing/2014/main" id="{E649ACEF-4842-4841-8C47-AAE00D8B3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346629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F68DF57-906C-45B2-AB57-1FF50208278C}"/>
              </a:ext>
            </a:extLst>
          </p:cNvPr>
          <p:cNvCxnSpPr>
            <a:cxnSpLocks/>
          </p:cNvCxnSpPr>
          <p:nvPr/>
        </p:nvCxnSpPr>
        <p:spPr>
          <a:xfrm>
            <a:off x="2464393" y="2966775"/>
            <a:ext cx="240707" cy="499515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19">
            <a:extLst>
              <a:ext uri="{FF2B5EF4-FFF2-40B4-BE49-F238E27FC236}">
                <a16:creationId xmlns:a16="http://schemas.microsoft.com/office/drawing/2014/main" id="{14746374-13F9-4EAB-9AC4-C308CC74B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6187" y="34290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B04B962-8CA5-4CC8-ABD3-7367353BD33B}"/>
              </a:ext>
            </a:extLst>
          </p:cNvPr>
          <p:cNvCxnSpPr>
            <a:cxnSpLocks/>
            <a:stCxn id="27" idx="5"/>
            <a:endCxn id="72" idx="0"/>
          </p:cNvCxnSpPr>
          <p:nvPr/>
        </p:nvCxnSpPr>
        <p:spPr>
          <a:xfrm>
            <a:off x="5141592" y="2968568"/>
            <a:ext cx="255095" cy="46043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19">
            <a:extLst>
              <a:ext uri="{FF2B5EF4-FFF2-40B4-BE49-F238E27FC236}">
                <a16:creationId xmlns:a16="http://schemas.microsoft.com/office/drawing/2014/main" id="{14746374-13F9-4EAB-9AC4-C308CC74B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513" y="34271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B04B962-8CA5-4CC8-ABD3-7367353BD33B}"/>
              </a:ext>
            </a:extLst>
          </p:cNvPr>
          <p:cNvCxnSpPr>
            <a:cxnSpLocks/>
            <a:stCxn id="50" idx="5"/>
            <a:endCxn id="74" idx="0"/>
          </p:cNvCxnSpPr>
          <p:nvPr/>
        </p:nvCxnSpPr>
        <p:spPr>
          <a:xfrm>
            <a:off x="8020838" y="2966775"/>
            <a:ext cx="238175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84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6" grpId="0" animBg="1"/>
      <p:bldP spid="38" grpId="0" animBg="1"/>
      <p:bldP spid="43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9" grpId="0" animBg="1"/>
      <p:bldP spid="61" grpId="0" animBg="1"/>
      <p:bldP spid="63" grpId="0" animBg="1"/>
      <p:bldP spid="72" grpId="0" animBg="1"/>
      <p:bldP spid="7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00C1-7DB4-41B6-9D35-72BA0ACB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deleteMin</a:t>
            </a:r>
            <a:r>
              <a:rPr lang="en-US" altLang="zh-CN" dirty="0"/>
              <a:t> Example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4D8E3-01C2-43B8-BA59-E64D62C6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8" name="Oval 15">
            <a:extLst>
              <a:ext uri="{FF2B5EF4-FFF2-40B4-BE49-F238E27FC236}">
                <a16:creationId xmlns:a16="http://schemas.microsoft.com/office/drawing/2014/main" id="{DADF24FF-5FEE-4845-B33F-6F4CBB5D7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9050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Oval 16">
            <a:extLst>
              <a:ext uri="{FF2B5EF4-FFF2-40B4-BE49-F238E27FC236}">
                <a16:creationId xmlns:a16="http://schemas.microsoft.com/office/drawing/2014/main" id="{D5417779-7E57-4E63-942A-10C1DF935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088" y="248917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</a:p>
        </p:txBody>
      </p:sp>
      <p:sp>
        <p:nvSpPr>
          <p:cNvPr id="50" name="Oval 17">
            <a:extLst>
              <a:ext uri="{FF2B5EF4-FFF2-40B4-BE49-F238E27FC236}">
                <a16:creationId xmlns:a16="http://schemas.microsoft.com/office/drawing/2014/main" id="{6B5CCEA9-F492-4A11-BCAB-B99354300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488" y="248917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Oval 18">
            <a:extLst>
              <a:ext uri="{FF2B5EF4-FFF2-40B4-BE49-F238E27FC236}">
                <a16:creationId xmlns:a16="http://schemas.microsoft.com/office/drawing/2014/main" id="{E049C632-0C9B-4868-A9EE-E685087C0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199" y="32747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F5D85053-CD00-481F-A4DB-D1A20425A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3274783"/>
            <a:ext cx="381000" cy="381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Oval 21">
            <a:extLst>
              <a:ext uri="{FF2B5EF4-FFF2-40B4-BE49-F238E27FC236}">
                <a16:creationId xmlns:a16="http://schemas.microsoft.com/office/drawing/2014/main" id="{1270B905-2C9A-424C-B75B-D20774563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27478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7853793-8FB7-4BCD-8007-AC76333E9BDF}"/>
              </a:ext>
            </a:extLst>
          </p:cNvPr>
          <p:cNvCxnSpPr>
            <a:stCxn id="48" idx="3"/>
            <a:endCxn id="49" idx="7"/>
          </p:cNvCxnSpPr>
          <p:nvPr/>
        </p:nvCxnSpPr>
        <p:spPr>
          <a:xfrm flipH="1">
            <a:off x="4265292" y="2230204"/>
            <a:ext cx="362504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CED3D51-9C51-4912-9BCD-4000FB47D5AB}"/>
              </a:ext>
            </a:extLst>
          </p:cNvPr>
          <p:cNvCxnSpPr>
            <a:stCxn id="48" idx="5"/>
            <a:endCxn id="50" idx="1"/>
          </p:cNvCxnSpPr>
          <p:nvPr/>
        </p:nvCxnSpPr>
        <p:spPr>
          <a:xfrm>
            <a:off x="4897204" y="2230204"/>
            <a:ext cx="394080" cy="31476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19ABAB1-782A-4371-A811-A9648426F31F}"/>
              </a:ext>
            </a:extLst>
          </p:cNvPr>
          <p:cNvCxnSpPr>
            <a:cxnSpLocks/>
            <a:stCxn id="49" idx="3"/>
            <a:endCxn id="51" idx="0"/>
          </p:cNvCxnSpPr>
          <p:nvPr/>
        </p:nvCxnSpPr>
        <p:spPr>
          <a:xfrm flipH="1">
            <a:off x="3733699" y="2814375"/>
            <a:ext cx="262185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F61FF62-6267-415C-8359-8D501FE8C08F}"/>
              </a:ext>
            </a:extLst>
          </p:cNvPr>
          <p:cNvCxnSpPr>
            <a:cxnSpLocks/>
            <a:stCxn id="49" idx="5"/>
            <a:endCxn id="52" idx="0"/>
          </p:cNvCxnSpPr>
          <p:nvPr/>
        </p:nvCxnSpPr>
        <p:spPr>
          <a:xfrm>
            <a:off x="4265292" y="2814375"/>
            <a:ext cx="306708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6BAE210-1C4A-4E10-A4C9-E96C192FD843}"/>
              </a:ext>
            </a:extLst>
          </p:cNvPr>
          <p:cNvCxnSpPr>
            <a:cxnSpLocks/>
            <a:stCxn id="50" idx="3"/>
            <a:endCxn id="53" idx="0"/>
          </p:cNvCxnSpPr>
          <p:nvPr/>
        </p:nvCxnSpPr>
        <p:spPr>
          <a:xfrm flipH="1">
            <a:off x="5029200" y="2814375"/>
            <a:ext cx="262084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8">
            <a:extLst>
              <a:ext uri="{FF2B5EF4-FFF2-40B4-BE49-F238E27FC236}">
                <a16:creationId xmlns:a16="http://schemas.microsoft.com/office/drawing/2014/main" id="{586BAA9F-B42A-4C03-A455-3997B1FF5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4060395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9348A02-8FCB-4E77-A3B0-ABF7126D3360}"/>
              </a:ext>
            </a:extLst>
          </p:cNvPr>
          <p:cNvCxnSpPr>
            <a:cxnSpLocks/>
            <a:stCxn id="51" idx="4"/>
            <a:endCxn id="59" idx="0"/>
          </p:cNvCxnSpPr>
          <p:nvPr/>
        </p:nvCxnSpPr>
        <p:spPr>
          <a:xfrm flipH="1">
            <a:off x="3505200" y="3655783"/>
            <a:ext cx="228499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18">
            <a:extLst>
              <a:ext uri="{FF2B5EF4-FFF2-40B4-BE49-F238E27FC236}">
                <a16:creationId xmlns:a16="http://schemas.microsoft.com/office/drawing/2014/main" id="{45801FC8-AA04-4320-81EB-10990F202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011" y="4060395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1EC548E-1940-45BE-968A-B1536A17292A}"/>
              </a:ext>
            </a:extLst>
          </p:cNvPr>
          <p:cNvCxnSpPr>
            <a:cxnSpLocks/>
            <a:stCxn id="51" idx="4"/>
            <a:endCxn id="61" idx="0"/>
          </p:cNvCxnSpPr>
          <p:nvPr/>
        </p:nvCxnSpPr>
        <p:spPr>
          <a:xfrm>
            <a:off x="3733699" y="3655783"/>
            <a:ext cx="212812" cy="404612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9E673C96-32EC-4D08-8DCE-D05B5A0A54E5}"/>
              </a:ext>
            </a:extLst>
          </p:cNvPr>
          <p:cNvSpPr/>
          <p:nvPr/>
        </p:nvSpPr>
        <p:spPr>
          <a:xfrm>
            <a:off x="3331054" y="4685314"/>
            <a:ext cx="2590800" cy="7078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swap with the smallest in the family</a:t>
            </a:r>
            <a:endParaRPr lang="zh-CN" altLang="en-US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64" name="Picture 2" descr="Image result for mission complete">
            <a:extLst>
              <a:ext uri="{FF2B5EF4-FFF2-40B4-BE49-F238E27FC236}">
                <a16:creationId xmlns:a16="http://schemas.microsoft.com/office/drawing/2014/main" id="{294C8A02-B1AA-461E-95B4-4B843B257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101899"/>
            <a:ext cx="21336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Oval 16">
            <a:extLst>
              <a:ext uri="{FF2B5EF4-FFF2-40B4-BE49-F238E27FC236}">
                <a16:creationId xmlns:a16="http://schemas.microsoft.com/office/drawing/2014/main" id="{D5417779-7E57-4E63-942A-10C1DF935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4992" y="3267259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7853793-8FB7-4BCD-8007-AC76333E9BDF}"/>
              </a:ext>
            </a:extLst>
          </p:cNvPr>
          <p:cNvCxnSpPr>
            <a:stCxn id="50" idx="5"/>
          </p:cNvCxnSpPr>
          <p:nvPr/>
        </p:nvCxnSpPr>
        <p:spPr>
          <a:xfrm>
            <a:off x="5560692" y="2814375"/>
            <a:ext cx="262084" cy="460408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01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9828A8-D340-4E48-B2E5-B5ABFFCC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/>
              <a:t>Hole trick</a:t>
            </a:r>
            <a:endParaRPr lang="zh-CN" altLang="en-US" sz="4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902D5C-7607-4D42-A24D-D477C78FF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0070C0"/>
                </a:solidFill>
              </a:rPr>
              <a:t>The “dig a hole” trick can be applied on delete, too!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53AB6-97CC-4F1A-B895-8C146C8E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61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20D1-2E22-432E-AC10-ED323088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deleteMin</a:t>
            </a:r>
            <a:r>
              <a:rPr lang="en-US" altLang="zh-CN" dirty="0"/>
              <a:t> Pseudo Code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783C5-4375-4F0C-9E11-A173279A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4C9BBEB-0EBE-4D1A-B10A-9925DBB94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52600"/>
            <a:ext cx="6553200" cy="4678362"/>
          </a:xfrm>
          <a:ln w="28575">
            <a:solidFill>
              <a:schemeClr val="tx1"/>
            </a:solidFill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altLang="zh-CN" sz="2000" dirty="0"/>
              <a:t>DETELE-MIN(A, </a:t>
            </a:r>
            <a:r>
              <a:rPr lang="en-US" altLang="zh-CN" sz="2000" dirty="0">
                <a:solidFill>
                  <a:srgbClr val="FF0000"/>
                </a:solidFill>
              </a:rPr>
              <a:t>int &amp;</a:t>
            </a:r>
            <a:r>
              <a:rPr lang="en-US" altLang="zh-CN" sz="2000" dirty="0"/>
              <a:t>size)</a:t>
            </a:r>
            <a:br>
              <a:rPr lang="en-US" altLang="zh-CN" sz="2000" dirty="0"/>
            </a:br>
            <a:r>
              <a:rPr lang="en-US" altLang="zh-CN" sz="2000" dirty="0"/>
              <a:t>1.     IF ISEMPTY(A)</a:t>
            </a:r>
            <a:br>
              <a:rPr lang="en-US" altLang="zh-CN" sz="2000" dirty="0"/>
            </a:br>
            <a:r>
              <a:rPr lang="en-US" altLang="zh-CN" sz="2000" dirty="0"/>
              <a:t>2.          return False</a:t>
            </a:r>
            <a:br>
              <a:rPr lang="en-US" altLang="zh-CN" sz="2000" dirty="0"/>
            </a:br>
            <a:r>
              <a:rPr lang="en-US" altLang="zh-CN" sz="2000" dirty="0"/>
              <a:t>3. </a:t>
            </a:r>
            <a:r>
              <a:rPr lang="en-US" altLang="zh-CN" sz="2000" dirty="0">
                <a:solidFill>
                  <a:schemeClr val="dk1"/>
                </a:solidFill>
              </a:rPr>
              <a:t> </a:t>
            </a:r>
            <a:r>
              <a:rPr lang="en-US" altLang="zh-CN" sz="2000" dirty="0">
                <a:solidFill>
                  <a:schemeClr val="accent4"/>
                </a:solidFill>
              </a:rPr>
              <a:t>  </a:t>
            </a:r>
            <a:r>
              <a:rPr lang="en-US" altLang="zh-CN" sz="2000" dirty="0"/>
              <a:t> min = A[0], hole = 0, x=A[--size]</a:t>
            </a:r>
          </a:p>
          <a:p>
            <a:pPr marL="0" indent="0">
              <a:buNone/>
            </a:pPr>
            <a:r>
              <a:rPr lang="en-US" altLang="zh-CN" sz="2000" dirty="0"/>
              <a:t>4.</a:t>
            </a:r>
            <a:r>
              <a:rPr lang="en-US" altLang="zh-CN" sz="2000" dirty="0">
                <a:solidFill>
                  <a:schemeClr val="accent4"/>
                </a:solidFill>
              </a:rPr>
              <a:t>    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// percolate down</a:t>
            </a:r>
            <a:br>
              <a:rPr lang="en-US" altLang="zh-CN" sz="2000" dirty="0"/>
            </a:br>
            <a:r>
              <a:rPr lang="en-US" altLang="zh-CN" sz="2000" dirty="0"/>
              <a:t>4.     WHILE A[hole] has children</a:t>
            </a:r>
          </a:p>
          <a:p>
            <a:pPr marL="0" indent="0">
              <a:buNone/>
            </a:pPr>
            <a:r>
              <a:rPr lang="en-US" altLang="zh-CN" sz="2000" dirty="0"/>
              <a:t>5.         </a:t>
            </a:r>
            <a:r>
              <a:rPr lang="en-US" altLang="zh-CN" sz="2000" dirty="0" err="1"/>
              <a:t>sid</a:t>
            </a:r>
            <a:r>
              <a:rPr lang="en-US" altLang="zh-CN" sz="2000" dirty="0"/>
              <a:t> = index of A[hole]’s smaller child</a:t>
            </a:r>
            <a:br>
              <a:rPr lang="en-US" altLang="zh-CN" sz="2000" dirty="0"/>
            </a:br>
            <a:r>
              <a:rPr lang="en-US" altLang="zh-CN" sz="2000" dirty="0"/>
              <a:t>6.         IF x&lt;=A[</a:t>
            </a:r>
            <a:r>
              <a:rPr lang="en-US" altLang="zh-CN" sz="2000" dirty="0" err="1"/>
              <a:t>sid</a:t>
            </a:r>
            <a:r>
              <a:rPr lang="en-US" altLang="zh-CN" sz="2000" dirty="0"/>
              <a:t>]</a:t>
            </a:r>
          </a:p>
          <a:p>
            <a:pPr marL="457200" indent="-457200">
              <a:buAutoNum type="arabicPeriod" startAt="7"/>
            </a:pPr>
            <a:r>
              <a:rPr lang="en-US" altLang="zh-CN" sz="2000" dirty="0"/>
              <a:t>           BREAK</a:t>
            </a:r>
          </a:p>
          <a:p>
            <a:pPr marL="457200" indent="-457200">
              <a:buAutoNum type="arabicPeriod" startAt="7"/>
            </a:pPr>
            <a:r>
              <a:rPr lang="en-US" altLang="zh-CN" sz="2000" dirty="0"/>
              <a:t>      A[hole] = A[</a:t>
            </a:r>
            <a:r>
              <a:rPr lang="en-US" altLang="zh-CN" sz="2000" dirty="0" err="1"/>
              <a:t>sid</a:t>
            </a:r>
            <a:r>
              <a:rPr lang="en-US" altLang="zh-CN" sz="2000" dirty="0"/>
              <a:t>]</a:t>
            </a:r>
          </a:p>
          <a:p>
            <a:pPr marL="457200" indent="-457200">
              <a:buAutoNum type="arabicPeriod" startAt="7"/>
            </a:pPr>
            <a:r>
              <a:rPr lang="en-US" altLang="zh-CN" sz="2000" dirty="0"/>
              <a:t>      hole = </a:t>
            </a:r>
            <a:r>
              <a:rPr lang="en-US" altLang="zh-CN" sz="2000" dirty="0" err="1"/>
              <a:t>sid</a:t>
            </a:r>
            <a:endParaRPr lang="en-US" altLang="zh-CN" sz="2000" dirty="0"/>
          </a:p>
          <a:p>
            <a:pPr marL="457200" indent="-457200">
              <a:buAutoNum type="arabicPeriod" startAt="7"/>
            </a:pPr>
            <a:r>
              <a:rPr lang="en-US" altLang="zh-CN" sz="2000" dirty="0"/>
              <a:t>  A[hole] = x</a:t>
            </a:r>
          </a:p>
          <a:p>
            <a:pPr marL="457200" indent="-457200">
              <a:buAutoNum type="arabicPeriod" startAt="7"/>
            </a:pPr>
            <a:r>
              <a:rPr lang="en-US" altLang="zh-CN" sz="2000" dirty="0"/>
              <a:t>  return min   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98198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37CF-859E-44C5-9D6A-6521D0A3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Heapsort</a:t>
            </a:r>
            <a:endParaRPr lang="zh-CN" alt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265FB-03E7-48C6-987C-30DE216F3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0070C0"/>
                </a:solidFill>
              </a:rPr>
              <a:t>A sorting algorithm based on heaps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0768D-2C25-49E4-91C4-DC7ADB78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9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EA054D-3221-4BE9-B1E5-464AFF26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Heapsort</a:t>
            </a:r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F2F920-1013-420D-A03F-8F3563958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4" y="1690689"/>
            <a:ext cx="6416586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Build a binary heap of n elements </a:t>
            </a:r>
          </a:p>
          <a:p>
            <a:pPr lvl="2"/>
            <a:r>
              <a:rPr lang="en-US" altLang="zh-CN" sz="2400" dirty="0">
                <a:solidFill>
                  <a:srgbClr val="0070C0"/>
                </a:solidFill>
                <a:ea typeface="宋体" panose="02010600030101010101" pitchFamily="2" charset="-122"/>
              </a:rPr>
              <a:t>the minimum element is at the top of the heap</a:t>
            </a:r>
          </a:p>
          <a:p>
            <a:pPr lvl="1"/>
            <a:endParaRPr lang="en-US" altLang="zh-CN" sz="2400" dirty="0">
              <a:ea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Perform n </a:t>
            </a:r>
            <a:r>
              <a:rPr lang="en-US" altLang="zh-CN" sz="2800" b="1" dirty="0" err="1">
                <a:solidFill>
                  <a:srgbClr val="0070C0"/>
                </a:solidFill>
                <a:latin typeface="+mn-lt"/>
                <a:ea typeface="宋体" panose="02010600030101010101" pitchFamily="2" charset="-122"/>
              </a:rPr>
              <a:t>DeleteMin</a:t>
            </a:r>
            <a:r>
              <a:rPr lang="en-US" altLang="zh-CN" sz="2800" b="1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operations</a:t>
            </a:r>
          </a:p>
          <a:p>
            <a:pPr lvl="2"/>
            <a:r>
              <a:rPr lang="en-US" altLang="zh-CN" sz="2400" dirty="0">
                <a:solidFill>
                  <a:srgbClr val="0070C0"/>
                </a:solidFill>
                <a:ea typeface="宋体" panose="02010600030101010101" pitchFamily="2" charset="-122"/>
              </a:rPr>
              <a:t>the elements are extracted in sorted order</a:t>
            </a:r>
          </a:p>
          <a:p>
            <a:pPr marL="457200" lvl="1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		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Record these elements in a second array and then copy the array back</a:t>
            </a:r>
            <a:endParaRPr lang="zh-CN" alt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B3031-2E7E-4FCF-B66A-97BE7106F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EB0C0-FAF4-4B08-B95A-BB66D85FCA64}"/>
              </a:ext>
            </a:extLst>
          </p:cNvPr>
          <p:cNvSpPr txBox="1"/>
          <p:nvPr/>
        </p:nvSpPr>
        <p:spPr>
          <a:xfrm flipH="1">
            <a:off x="6256232" y="1752599"/>
            <a:ext cx="2895602" cy="609601"/>
          </a:xfrm>
          <a:prstGeom prst="homePlate">
            <a:avLst>
              <a:gd name="adj" fmla="val 76800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 anchor="ctr" anchorCtr="1">
            <a:noAutofit/>
          </a:bodyPr>
          <a:lstStyle/>
          <a:p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O(</a:t>
            </a:r>
            <a:r>
              <a:rPr lang="en-US" altLang="zh-CN" sz="2800" dirty="0" err="1">
                <a:solidFill>
                  <a:schemeClr val="bg2">
                    <a:lumMod val="75000"/>
                  </a:schemeClr>
                </a:solidFill>
              </a:rPr>
              <a:t>nlog</a:t>
            </a: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(n))</a:t>
            </a:r>
            <a:endParaRPr lang="zh-CN" alt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EBA7F-0463-43A2-AF4D-8802005EC789}"/>
              </a:ext>
            </a:extLst>
          </p:cNvPr>
          <p:cNvSpPr txBox="1"/>
          <p:nvPr/>
        </p:nvSpPr>
        <p:spPr>
          <a:xfrm flipH="1">
            <a:off x="6256232" y="3200400"/>
            <a:ext cx="2895602" cy="609601"/>
          </a:xfrm>
          <a:prstGeom prst="homePlate">
            <a:avLst>
              <a:gd name="adj" fmla="val 76800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 anchor="ctr" anchorCtr="1">
            <a:noAutofit/>
          </a:bodyPr>
          <a:lstStyle/>
          <a:p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O(</a:t>
            </a:r>
            <a:r>
              <a:rPr lang="en-US" altLang="zh-CN" sz="2800" dirty="0" err="1">
                <a:solidFill>
                  <a:schemeClr val="bg2">
                    <a:lumMod val="75000"/>
                  </a:schemeClr>
                </a:solidFill>
              </a:rPr>
              <a:t>nlog</a:t>
            </a: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(n))</a:t>
            </a:r>
            <a:endParaRPr lang="zh-CN" alt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7DB285-CE43-4072-87B1-20ED03758F16}"/>
              </a:ext>
            </a:extLst>
          </p:cNvPr>
          <p:cNvSpPr txBox="1"/>
          <p:nvPr/>
        </p:nvSpPr>
        <p:spPr>
          <a:xfrm flipH="1">
            <a:off x="6248398" y="4878000"/>
            <a:ext cx="2895602" cy="608400"/>
          </a:xfrm>
          <a:prstGeom prst="homePlate">
            <a:avLst>
              <a:gd name="adj" fmla="val 79402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 anchor="ctr" anchorCtr="1">
            <a:noAutofit/>
          </a:bodyPr>
          <a:lstStyle/>
          <a:p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O(n) storage</a:t>
            </a:r>
            <a:endParaRPr lang="zh-CN" alt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74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3876E3-3433-405B-B15A-DDF2B1AB2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16175"/>
            <a:ext cx="7772400" cy="147002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Can we do better?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59664-F9AC-445C-A8AA-52A5B376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148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DE6F61A-85EB-430B-B7F8-3048D2E2D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Heapsort: No Extra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9F572-138D-4ED6-8585-41B355288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zh-CN" sz="2600" dirty="0">
                <a:solidFill>
                  <a:srgbClr val="0070C0"/>
                </a:solidFill>
                <a:ea typeface="宋体" panose="02010600030101010101" pitchFamily="2" charset="-122"/>
              </a:rPr>
              <a:t>Observation: after each </a:t>
            </a:r>
            <a:r>
              <a:rPr lang="en-US" altLang="zh-CN" sz="2600" dirty="0" err="1">
                <a:solidFill>
                  <a:srgbClr val="0070C0"/>
                </a:solidFill>
                <a:ea typeface="宋体" panose="02010600030101010101" pitchFamily="2" charset="-122"/>
              </a:rPr>
              <a:t>deleteMin</a:t>
            </a:r>
            <a:r>
              <a:rPr lang="en-US" altLang="zh-CN" sz="2600" dirty="0">
                <a:solidFill>
                  <a:srgbClr val="0070C0"/>
                </a:solidFill>
                <a:ea typeface="宋体" panose="02010600030101010101" pitchFamily="2" charset="-122"/>
              </a:rPr>
              <a:t>, the size of heap shrinks by 1</a:t>
            </a:r>
          </a:p>
          <a:p>
            <a:pPr lvl="1"/>
            <a:r>
              <a:rPr lang="en-US" altLang="zh-CN" sz="2200" dirty="0">
                <a:ea typeface="宋体" panose="02010600030101010101" pitchFamily="2" charset="-122"/>
              </a:rPr>
              <a:t>We can use the last cell just freed up to store the element that was just deleted</a:t>
            </a:r>
          </a:p>
          <a:p>
            <a:pPr lvl="1"/>
            <a:r>
              <a:rPr lang="en-US" altLang="zh-CN" sz="2200" dirty="0">
                <a:ea typeface="宋体" panose="02010600030101010101" pitchFamily="2" charset="-122"/>
              </a:rPr>
              <a:t>after the last </a:t>
            </a:r>
            <a:r>
              <a:rPr lang="en-US" altLang="zh-CN" sz="2200" dirty="0" err="1">
                <a:ea typeface="宋体" panose="02010600030101010101" pitchFamily="2" charset="-122"/>
              </a:rPr>
              <a:t>deleteMin</a:t>
            </a:r>
            <a:r>
              <a:rPr lang="en-US" altLang="zh-CN" sz="2200" dirty="0">
                <a:ea typeface="宋体" panose="02010600030101010101" pitchFamily="2" charset="-122"/>
              </a:rPr>
              <a:t>, the array will contain the elements in </a:t>
            </a:r>
            <a:r>
              <a:rPr lang="en-US" altLang="zh-CN" sz="2200" dirty="0">
                <a:solidFill>
                  <a:srgbClr val="C00000"/>
                </a:solidFill>
                <a:ea typeface="宋体" panose="02010600030101010101" pitchFamily="2" charset="-122"/>
              </a:rPr>
              <a:t>decreasing order</a:t>
            </a:r>
          </a:p>
          <a:p>
            <a:r>
              <a:rPr lang="en-US" altLang="zh-CN" sz="2600" dirty="0">
                <a:solidFill>
                  <a:srgbClr val="0070C0"/>
                </a:solidFill>
                <a:ea typeface="宋体" panose="02010600030101010101" pitchFamily="2" charset="-122"/>
              </a:rPr>
              <a:t>Further observation:</a:t>
            </a:r>
          </a:p>
          <a:p>
            <a:pPr lvl="1"/>
            <a:r>
              <a:rPr lang="en-US" altLang="zh-CN" sz="2200" dirty="0">
                <a:ea typeface="宋体" panose="02010600030101010101" pitchFamily="2" charset="-122"/>
              </a:rPr>
              <a:t>To sort the elements in </a:t>
            </a:r>
            <a:r>
              <a:rPr lang="en-US" altLang="zh-CN" sz="2200" dirty="0">
                <a:solidFill>
                  <a:srgbClr val="0070C0"/>
                </a:solidFill>
                <a:ea typeface="宋体" panose="02010600030101010101" pitchFamily="2" charset="-122"/>
              </a:rPr>
              <a:t>decreasing order</a:t>
            </a:r>
            <a:r>
              <a:rPr lang="en-US" altLang="zh-CN" sz="2200" dirty="0">
                <a:ea typeface="宋体" panose="02010600030101010101" pitchFamily="2" charset="-122"/>
              </a:rPr>
              <a:t>, use a </a:t>
            </a:r>
            <a:r>
              <a:rPr lang="en-US" altLang="zh-CN" sz="2200" dirty="0">
                <a:solidFill>
                  <a:srgbClr val="C00000"/>
                </a:solidFill>
                <a:ea typeface="宋体" panose="02010600030101010101" pitchFamily="2" charset="-122"/>
              </a:rPr>
              <a:t>minimum heap</a:t>
            </a:r>
          </a:p>
          <a:p>
            <a:pPr lvl="1"/>
            <a:r>
              <a:rPr lang="en-US" altLang="zh-CN" sz="2200" dirty="0">
                <a:ea typeface="宋体" panose="02010600030101010101" pitchFamily="2" charset="-122"/>
              </a:rPr>
              <a:t>To sort the elements in </a:t>
            </a:r>
            <a:r>
              <a:rPr lang="en-US" altLang="zh-CN" sz="2200" dirty="0">
                <a:solidFill>
                  <a:srgbClr val="0070C0"/>
                </a:solidFill>
                <a:ea typeface="宋体" panose="02010600030101010101" pitchFamily="2" charset="-122"/>
              </a:rPr>
              <a:t>increasing order</a:t>
            </a:r>
            <a:r>
              <a:rPr lang="en-US" altLang="zh-CN" sz="2200" dirty="0">
                <a:ea typeface="宋体" panose="02010600030101010101" pitchFamily="2" charset="-122"/>
              </a:rPr>
              <a:t>, use a </a:t>
            </a:r>
            <a:r>
              <a:rPr lang="en-US" altLang="zh-CN" sz="2200" dirty="0">
                <a:solidFill>
                  <a:srgbClr val="C00000"/>
                </a:solidFill>
                <a:ea typeface="宋体" panose="02010600030101010101" pitchFamily="2" charset="-122"/>
              </a:rPr>
              <a:t>maximum heap</a:t>
            </a:r>
          </a:p>
          <a:p>
            <a:pPr lvl="2"/>
            <a:r>
              <a:rPr lang="en-US" altLang="zh-CN" sz="2200" dirty="0">
                <a:ea typeface="宋体" panose="02010600030101010101" pitchFamily="2" charset="-122"/>
              </a:rPr>
              <a:t>Maximum Heap: the parent has a larger element than the child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7818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657F-07C9-492E-B945-0630C070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6"/>
            <a:ext cx="8210550" cy="1325563"/>
          </a:xfrm>
        </p:spPr>
        <p:txBody>
          <a:bodyPr/>
          <a:lstStyle/>
          <a:p>
            <a:r>
              <a:rPr lang="en-US" altLang="zh-CN" dirty="0"/>
              <a:t>Example: Maximum Heap Build-up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6B58E-1F74-4800-922F-0C8D7956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18" name="Content Placeholder 37">
            <a:extLst>
              <a:ext uri="{FF2B5EF4-FFF2-40B4-BE49-F238E27FC236}">
                <a16:creationId xmlns:a16="http://schemas.microsoft.com/office/drawing/2014/main" id="{8F681A94-2794-499B-A1F2-24DBCEBA219E}"/>
              </a:ext>
            </a:extLst>
          </p:cNvPr>
          <p:cNvGraphicFramePr>
            <a:graphicFrameLocks/>
          </p:cNvGraphicFramePr>
          <p:nvPr/>
        </p:nvGraphicFramePr>
        <p:xfrm>
          <a:off x="513911" y="42672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19" name="Left Brace 18">
            <a:extLst>
              <a:ext uri="{FF2B5EF4-FFF2-40B4-BE49-F238E27FC236}">
                <a16:creationId xmlns:a16="http://schemas.microsoft.com/office/drawing/2014/main" id="{B6188EEC-7EF3-4BBB-AAB3-2CE0251BA5B8}"/>
              </a:ext>
            </a:extLst>
          </p:cNvPr>
          <p:cNvSpPr/>
          <p:nvPr/>
        </p:nvSpPr>
        <p:spPr>
          <a:xfrm rot="5400000" flipV="1">
            <a:off x="552011" y="3924300"/>
            <a:ext cx="304800" cy="381000"/>
          </a:xfrm>
          <a:prstGeom prst="leftBrace">
            <a:avLst>
              <a:gd name="adj1" fmla="val 8333"/>
              <a:gd name="adj2" fmla="val 48914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0C86AE34-7DDD-4707-84F3-A7F9CC2DFA0B}"/>
              </a:ext>
            </a:extLst>
          </p:cNvPr>
          <p:cNvSpPr/>
          <p:nvPr/>
        </p:nvSpPr>
        <p:spPr>
          <a:xfrm rot="5400000" flipV="1">
            <a:off x="1780867" y="3092348"/>
            <a:ext cx="304803" cy="2029007"/>
          </a:xfrm>
          <a:prstGeom prst="leftBrace">
            <a:avLst>
              <a:gd name="adj1" fmla="val 8333"/>
              <a:gd name="adj2" fmla="val 48914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1F1405-6AF5-4200-A0EC-333AFA4EBDAC}"/>
              </a:ext>
            </a:extLst>
          </p:cNvPr>
          <p:cNvSpPr/>
          <p:nvPr/>
        </p:nvSpPr>
        <p:spPr>
          <a:xfrm>
            <a:off x="381000" y="3316069"/>
            <a:ext cx="7425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Heap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Zone</a:t>
            </a:r>
            <a:endParaRPr lang="zh-CN" alt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808572-355C-4652-B91F-8CF8A492860D}"/>
              </a:ext>
            </a:extLst>
          </p:cNvPr>
          <p:cNvSpPr/>
          <p:nvPr/>
        </p:nvSpPr>
        <p:spPr>
          <a:xfrm>
            <a:off x="1550085" y="3328185"/>
            <a:ext cx="7425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Data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Zone</a:t>
            </a:r>
            <a:endParaRPr lang="zh-CN" altLang="en-US" dirty="0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AD3F47A5-7A81-4C04-8482-87B19B170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399" y="21336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4" name="Content Placeholder 37">
            <a:extLst>
              <a:ext uri="{FF2B5EF4-FFF2-40B4-BE49-F238E27FC236}">
                <a16:creationId xmlns:a16="http://schemas.microsoft.com/office/drawing/2014/main" id="{E2066AC9-9994-492B-A821-E4679A3FFD4D}"/>
              </a:ext>
            </a:extLst>
          </p:cNvPr>
          <p:cNvGraphicFramePr>
            <a:graphicFrameLocks/>
          </p:cNvGraphicFramePr>
          <p:nvPr/>
        </p:nvGraphicFramePr>
        <p:xfrm>
          <a:off x="3352800" y="42672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29" name="Oval 15">
            <a:extLst>
              <a:ext uri="{FF2B5EF4-FFF2-40B4-BE49-F238E27FC236}">
                <a16:creationId xmlns:a16="http://schemas.microsoft.com/office/drawing/2014/main" id="{4FA87FA6-3EB6-4FEE-B652-BEEC373A1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288" y="208015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Oval 18">
            <a:extLst>
              <a:ext uri="{FF2B5EF4-FFF2-40B4-BE49-F238E27FC236}">
                <a16:creationId xmlns:a16="http://schemas.microsoft.com/office/drawing/2014/main" id="{96C5B03C-08DD-4A93-9918-D3121913F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288" y="26670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F45AE5B-6F30-4E49-9DF7-9D4C7ACE72F7}"/>
              </a:ext>
            </a:extLst>
          </p:cNvPr>
          <p:cNvCxnSpPr>
            <a:cxnSpLocks/>
            <a:stCxn id="29" idx="3"/>
            <a:endCxn id="32" idx="0"/>
          </p:cNvCxnSpPr>
          <p:nvPr/>
        </p:nvCxnSpPr>
        <p:spPr>
          <a:xfrm flipH="1">
            <a:off x="4161788" y="2405357"/>
            <a:ext cx="246296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Content Placeholder 37">
            <a:extLst>
              <a:ext uri="{FF2B5EF4-FFF2-40B4-BE49-F238E27FC236}">
                <a16:creationId xmlns:a16="http://schemas.microsoft.com/office/drawing/2014/main" id="{480BF924-7569-4B10-854C-66E79B116902}"/>
              </a:ext>
            </a:extLst>
          </p:cNvPr>
          <p:cNvGraphicFramePr>
            <a:graphicFrameLocks/>
          </p:cNvGraphicFramePr>
          <p:nvPr/>
        </p:nvGraphicFramePr>
        <p:xfrm>
          <a:off x="6248400" y="42672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36" name="Oval 15">
            <a:extLst>
              <a:ext uri="{FF2B5EF4-FFF2-40B4-BE49-F238E27FC236}">
                <a16:creationId xmlns:a16="http://schemas.microsoft.com/office/drawing/2014/main" id="{CBB1AEF4-332D-4962-AED0-A45028848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7888" y="208015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Oval 18">
            <a:extLst>
              <a:ext uri="{FF2B5EF4-FFF2-40B4-BE49-F238E27FC236}">
                <a16:creationId xmlns:a16="http://schemas.microsoft.com/office/drawing/2014/main" id="{9620702A-E329-4189-8615-C6E152AD5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6888" y="26670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A35277E-13BC-40B4-A198-72EF10A52194}"/>
              </a:ext>
            </a:extLst>
          </p:cNvPr>
          <p:cNvCxnSpPr>
            <a:cxnSpLocks/>
            <a:stCxn id="36" idx="3"/>
            <a:endCxn id="37" idx="0"/>
          </p:cNvCxnSpPr>
          <p:nvPr/>
        </p:nvCxnSpPr>
        <p:spPr>
          <a:xfrm flipH="1">
            <a:off x="7057388" y="2405357"/>
            <a:ext cx="246296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8">
            <a:extLst>
              <a:ext uri="{FF2B5EF4-FFF2-40B4-BE49-F238E27FC236}">
                <a16:creationId xmlns:a16="http://schemas.microsoft.com/office/drawing/2014/main" id="{C6D9ED75-9D96-4DB0-BE18-F7EAE0A01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055" y="26670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B20B6E1-3206-4F3A-A0FF-51A2E3262FE0}"/>
              </a:ext>
            </a:extLst>
          </p:cNvPr>
          <p:cNvCxnSpPr>
            <a:cxnSpLocks/>
            <a:stCxn id="36" idx="5"/>
            <a:endCxn id="39" idx="0"/>
          </p:cNvCxnSpPr>
          <p:nvPr/>
        </p:nvCxnSpPr>
        <p:spPr>
          <a:xfrm>
            <a:off x="7573092" y="2405357"/>
            <a:ext cx="273463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eft Brace 41">
            <a:extLst>
              <a:ext uri="{FF2B5EF4-FFF2-40B4-BE49-F238E27FC236}">
                <a16:creationId xmlns:a16="http://schemas.microsoft.com/office/drawing/2014/main" id="{FAD1E112-3379-47B2-AFD5-209EEA951B2B}"/>
              </a:ext>
            </a:extLst>
          </p:cNvPr>
          <p:cNvSpPr/>
          <p:nvPr/>
        </p:nvSpPr>
        <p:spPr>
          <a:xfrm rot="5400000" flipV="1">
            <a:off x="3602522" y="3710587"/>
            <a:ext cx="296851" cy="789878"/>
          </a:xfrm>
          <a:prstGeom prst="leftBrace">
            <a:avLst>
              <a:gd name="adj1" fmla="val 8333"/>
              <a:gd name="adj2" fmla="val 48914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23A9859C-5D39-4818-B944-468DAC08F49F}"/>
              </a:ext>
            </a:extLst>
          </p:cNvPr>
          <p:cNvSpPr/>
          <p:nvPr/>
        </p:nvSpPr>
        <p:spPr>
          <a:xfrm rot="5400000" flipV="1">
            <a:off x="4823109" y="3287189"/>
            <a:ext cx="304800" cy="1628723"/>
          </a:xfrm>
          <a:prstGeom prst="leftBrace">
            <a:avLst>
              <a:gd name="adj1" fmla="val 8333"/>
              <a:gd name="adj2" fmla="val 48914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F6CC970-98EE-4C8D-81B7-35B1B827D910}"/>
              </a:ext>
            </a:extLst>
          </p:cNvPr>
          <p:cNvSpPr/>
          <p:nvPr/>
        </p:nvSpPr>
        <p:spPr>
          <a:xfrm>
            <a:off x="3432588" y="3310769"/>
            <a:ext cx="7425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Heap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Zone</a:t>
            </a:r>
            <a:endParaRPr lang="zh-CN" alt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C71055E-B7ED-4DA4-B9DD-C973F751C499}"/>
              </a:ext>
            </a:extLst>
          </p:cNvPr>
          <p:cNvSpPr/>
          <p:nvPr/>
        </p:nvSpPr>
        <p:spPr>
          <a:xfrm>
            <a:off x="4575588" y="3322885"/>
            <a:ext cx="7425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Data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Zone</a:t>
            </a:r>
            <a:endParaRPr lang="zh-CN" altLang="en-US" dirty="0"/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4888E4CA-28D1-4066-9D69-BD58BFD6DA37}"/>
              </a:ext>
            </a:extLst>
          </p:cNvPr>
          <p:cNvSpPr/>
          <p:nvPr/>
        </p:nvSpPr>
        <p:spPr>
          <a:xfrm rot="5400000" flipV="1">
            <a:off x="6723430" y="3512551"/>
            <a:ext cx="296850" cy="1212448"/>
          </a:xfrm>
          <a:prstGeom prst="leftBrace">
            <a:avLst>
              <a:gd name="adj1" fmla="val 8333"/>
              <a:gd name="adj2" fmla="val 48914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Left Brace 50">
            <a:extLst>
              <a:ext uri="{FF2B5EF4-FFF2-40B4-BE49-F238E27FC236}">
                <a16:creationId xmlns:a16="http://schemas.microsoft.com/office/drawing/2014/main" id="{0B5EE735-3A31-4280-92CC-30361811773E}"/>
              </a:ext>
            </a:extLst>
          </p:cNvPr>
          <p:cNvSpPr/>
          <p:nvPr/>
        </p:nvSpPr>
        <p:spPr>
          <a:xfrm rot="5400000" flipV="1">
            <a:off x="7932023" y="3511666"/>
            <a:ext cx="283604" cy="1185069"/>
          </a:xfrm>
          <a:prstGeom prst="leftBrace">
            <a:avLst>
              <a:gd name="adj1" fmla="val 8333"/>
              <a:gd name="adj2" fmla="val 48914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DABD483-2A71-4EA9-82DE-80B9CFC4C1FF}"/>
              </a:ext>
            </a:extLst>
          </p:cNvPr>
          <p:cNvSpPr/>
          <p:nvPr/>
        </p:nvSpPr>
        <p:spPr>
          <a:xfrm>
            <a:off x="6477000" y="3324017"/>
            <a:ext cx="7425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Heap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Zone</a:t>
            </a:r>
            <a:endParaRPr lang="zh-CN" alt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0750C81-11F6-4C64-96CA-5BDB34DEF1F9}"/>
              </a:ext>
            </a:extLst>
          </p:cNvPr>
          <p:cNvSpPr/>
          <p:nvPr/>
        </p:nvSpPr>
        <p:spPr>
          <a:xfrm>
            <a:off x="7715689" y="3336133"/>
            <a:ext cx="7425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Data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Zone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063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/>
      <p:bldP spid="22" grpId="0"/>
      <p:bldP spid="29" grpId="0" animBg="1"/>
      <p:bldP spid="32" grpId="0" animBg="1"/>
      <p:bldP spid="36" grpId="0" animBg="1"/>
      <p:bldP spid="37" grpId="0" animBg="1"/>
      <p:bldP spid="39" grpId="0" animBg="1"/>
      <p:bldP spid="42" grpId="0" animBg="1"/>
      <p:bldP spid="43" grpId="0" animBg="1"/>
      <p:bldP spid="44" grpId="0"/>
      <p:bldP spid="45" grpId="0"/>
      <p:bldP spid="50" grpId="0" animBg="1"/>
      <p:bldP spid="51" grpId="0" animBg="1"/>
      <p:bldP spid="52" grpId="0"/>
      <p:bldP spid="5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657F-07C9-492E-B945-0630C070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86750" cy="1325563"/>
          </a:xfrm>
        </p:spPr>
        <p:txBody>
          <a:bodyPr/>
          <a:lstStyle/>
          <a:p>
            <a:r>
              <a:rPr lang="en-US" altLang="zh-CN" dirty="0"/>
              <a:t>Example: Maximum  Heap Build-up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6B58E-1F74-4800-922F-0C8D7956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graphicFrame>
        <p:nvGraphicFramePr>
          <p:cNvPr id="35" name="Content Placeholder 37">
            <a:extLst>
              <a:ext uri="{FF2B5EF4-FFF2-40B4-BE49-F238E27FC236}">
                <a16:creationId xmlns:a16="http://schemas.microsoft.com/office/drawing/2014/main" id="{480BF924-7569-4B10-854C-66E79B116902}"/>
              </a:ext>
            </a:extLst>
          </p:cNvPr>
          <p:cNvGraphicFramePr>
            <a:graphicFrameLocks/>
          </p:cNvGraphicFramePr>
          <p:nvPr/>
        </p:nvGraphicFramePr>
        <p:xfrm>
          <a:off x="609600" y="44196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36" name="Oval 15">
            <a:extLst>
              <a:ext uri="{FF2B5EF4-FFF2-40B4-BE49-F238E27FC236}">
                <a16:creationId xmlns:a16="http://schemas.microsoft.com/office/drawing/2014/main" id="{CBB1AEF4-332D-4962-AED0-A45028848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088" y="223255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Oval 18">
            <a:extLst>
              <a:ext uri="{FF2B5EF4-FFF2-40B4-BE49-F238E27FC236}">
                <a16:creationId xmlns:a16="http://schemas.microsoft.com/office/drawing/2014/main" id="{9620702A-E329-4189-8615-C6E152AD5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088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A35277E-13BC-40B4-A198-72EF10A52194}"/>
              </a:ext>
            </a:extLst>
          </p:cNvPr>
          <p:cNvCxnSpPr>
            <a:cxnSpLocks/>
            <a:stCxn id="36" idx="3"/>
            <a:endCxn id="37" idx="0"/>
          </p:cNvCxnSpPr>
          <p:nvPr/>
        </p:nvCxnSpPr>
        <p:spPr>
          <a:xfrm flipH="1">
            <a:off x="1418588" y="2557757"/>
            <a:ext cx="246296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8">
            <a:extLst>
              <a:ext uri="{FF2B5EF4-FFF2-40B4-BE49-F238E27FC236}">
                <a16:creationId xmlns:a16="http://schemas.microsoft.com/office/drawing/2014/main" id="{C6D9ED75-9D96-4DB0-BE18-F7EAE0A01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255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B20B6E1-3206-4F3A-A0FF-51A2E3262FE0}"/>
              </a:ext>
            </a:extLst>
          </p:cNvPr>
          <p:cNvCxnSpPr>
            <a:cxnSpLocks/>
            <a:stCxn id="36" idx="5"/>
            <a:endCxn id="39" idx="0"/>
          </p:cNvCxnSpPr>
          <p:nvPr/>
        </p:nvCxnSpPr>
        <p:spPr>
          <a:xfrm>
            <a:off x="1934292" y="2557757"/>
            <a:ext cx="273463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18">
            <a:extLst>
              <a:ext uri="{FF2B5EF4-FFF2-40B4-BE49-F238E27FC236}">
                <a16:creationId xmlns:a16="http://schemas.microsoft.com/office/drawing/2014/main" id="{E15E4D39-63FE-4993-A24D-FBEC22F2E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4671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4DCB1E9-7C15-4D5E-A63E-435D5F729036}"/>
              </a:ext>
            </a:extLst>
          </p:cNvPr>
          <p:cNvCxnSpPr>
            <a:cxnSpLocks/>
            <a:stCxn id="37" idx="4"/>
            <a:endCxn id="28" idx="0"/>
          </p:cNvCxnSpPr>
          <p:nvPr/>
        </p:nvCxnSpPr>
        <p:spPr>
          <a:xfrm flipH="1">
            <a:off x="1181100" y="3200400"/>
            <a:ext cx="237488" cy="26670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Content Placeholder 37">
            <a:extLst>
              <a:ext uri="{FF2B5EF4-FFF2-40B4-BE49-F238E27FC236}">
                <a16:creationId xmlns:a16="http://schemas.microsoft.com/office/drawing/2014/main" id="{72D2B928-7A42-4E08-ABC2-4ED700EB78F1}"/>
              </a:ext>
            </a:extLst>
          </p:cNvPr>
          <p:cNvGraphicFramePr>
            <a:graphicFrameLocks/>
          </p:cNvGraphicFramePr>
          <p:nvPr/>
        </p:nvGraphicFramePr>
        <p:xfrm>
          <a:off x="3433540" y="44196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41" name="Oval 15">
            <a:extLst>
              <a:ext uri="{FF2B5EF4-FFF2-40B4-BE49-F238E27FC236}">
                <a16:creationId xmlns:a16="http://schemas.microsoft.com/office/drawing/2014/main" id="{FBCD5770-BA59-4551-9936-B9C933DA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028" y="223255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Oval 18">
            <a:extLst>
              <a:ext uri="{FF2B5EF4-FFF2-40B4-BE49-F238E27FC236}">
                <a16:creationId xmlns:a16="http://schemas.microsoft.com/office/drawing/2014/main" id="{CFEBEBF8-8ECC-443D-8B97-A111A8C2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028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5A7FF38-0808-46CE-BAB8-6538EAAE0D2B}"/>
              </a:ext>
            </a:extLst>
          </p:cNvPr>
          <p:cNvCxnSpPr>
            <a:cxnSpLocks/>
            <a:stCxn id="41" idx="3"/>
            <a:endCxn id="46" idx="0"/>
          </p:cNvCxnSpPr>
          <p:nvPr/>
        </p:nvCxnSpPr>
        <p:spPr>
          <a:xfrm flipH="1">
            <a:off x="4242528" y="2557757"/>
            <a:ext cx="246296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18">
            <a:extLst>
              <a:ext uri="{FF2B5EF4-FFF2-40B4-BE49-F238E27FC236}">
                <a16:creationId xmlns:a16="http://schemas.microsoft.com/office/drawing/2014/main" id="{F7C086D6-AC73-4EC6-ADB7-9797A409C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195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668957B-7704-4235-8DCC-F758E2BEFF2B}"/>
              </a:ext>
            </a:extLst>
          </p:cNvPr>
          <p:cNvCxnSpPr>
            <a:cxnSpLocks/>
            <a:stCxn id="41" idx="5"/>
            <a:endCxn id="48" idx="0"/>
          </p:cNvCxnSpPr>
          <p:nvPr/>
        </p:nvCxnSpPr>
        <p:spPr>
          <a:xfrm>
            <a:off x="4758232" y="2557757"/>
            <a:ext cx="273463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18">
            <a:extLst>
              <a:ext uri="{FF2B5EF4-FFF2-40B4-BE49-F238E27FC236}">
                <a16:creationId xmlns:a16="http://schemas.microsoft.com/office/drawing/2014/main" id="{CD304821-9832-4633-A967-39470F188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540" y="34671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FF7DCC4-EBEF-4FE3-8F14-4EC7ED3B69CB}"/>
              </a:ext>
            </a:extLst>
          </p:cNvPr>
          <p:cNvCxnSpPr>
            <a:cxnSpLocks/>
            <a:stCxn id="46" idx="4"/>
            <a:endCxn id="54" idx="0"/>
          </p:cNvCxnSpPr>
          <p:nvPr/>
        </p:nvCxnSpPr>
        <p:spPr>
          <a:xfrm flipH="1">
            <a:off x="4005040" y="3200400"/>
            <a:ext cx="237488" cy="26670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18">
            <a:extLst>
              <a:ext uri="{FF2B5EF4-FFF2-40B4-BE49-F238E27FC236}">
                <a16:creationId xmlns:a16="http://schemas.microsoft.com/office/drawing/2014/main" id="{CD76CA8B-06E7-4DD0-A67F-685A51B02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740" y="34671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387C5B4-EE25-4266-91E2-A4435D761BE8}"/>
              </a:ext>
            </a:extLst>
          </p:cNvPr>
          <p:cNvCxnSpPr>
            <a:cxnSpLocks/>
            <a:stCxn id="46" idx="4"/>
            <a:endCxn id="56" idx="0"/>
          </p:cNvCxnSpPr>
          <p:nvPr/>
        </p:nvCxnSpPr>
        <p:spPr>
          <a:xfrm>
            <a:off x="4242528" y="3200400"/>
            <a:ext cx="219712" cy="26670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Content Placeholder 37">
            <a:extLst>
              <a:ext uri="{FF2B5EF4-FFF2-40B4-BE49-F238E27FC236}">
                <a16:creationId xmlns:a16="http://schemas.microsoft.com/office/drawing/2014/main" id="{958B42EB-4BDF-4F43-B5E9-90CA5BE66D34}"/>
              </a:ext>
            </a:extLst>
          </p:cNvPr>
          <p:cNvGraphicFramePr>
            <a:graphicFrameLocks/>
          </p:cNvGraphicFramePr>
          <p:nvPr/>
        </p:nvGraphicFramePr>
        <p:xfrm>
          <a:off x="6212484" y="44196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59" name="Oval 15">
            <a:extLst>
              <a:ext uri="{FF2B5EF4-FFF2-40B4-BE49-F238E27FC236}">
                <a16:creationId xmlns:a16="http://schemas.microsoft.com/office/drawing/2014/main" id="{F1940757-7811-41AD-9F99-7B16EA4F8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972" y="223255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Oval 18">
            <a:extLst>
              <a:ext uri="{FF2B5EF4-FFF2-40B4-BE49-F238E27FC236}">
                <a16:creationId xmlns:a16="http://schemas.microsoft.com/office/drawing/2014/main" id="{D3AB1FC6-81A1-4DD4-8C38-DE94A80BE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972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26DEE20-77DC-4E31-B9C3-3E1B9F94A531}"/>
              </a:ext>
            </a:extLst>
          </p:cNvPr>
          <p:cNvCxnSpPr>
            <a:cxnSpLocks/>
            <a:stCxn id="59" idx="3"/>
            <a:endCxn id="60" idx="0"/>
          </p:cNvCxnSpPr>
          <p:nvPr/>
        </p:nvCxnSpPr>
        <p:spPr>
          <a:xfrm flipH="1">
            <a:off x="7021472" y="2557757"/>
            <a:ext cx="246296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18">
            <a:extLst>
              <a:ext uri="{FF2B5EF4-FFF2-40B4-BE49-F238E27FC236}">
                <a16:creationId xmlns:a16="http://schemas.microsoft.com/office/drawing/2014/main" id="{0046FBD6-2033-4DAD-953C-74D65F7C2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139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DC4E764-9105-42F0-8892-BAF5DB939901}"/>
              </a:ext>
            </a:extLst>
          </p:cNvPr>
          <p:cNvCxnSpPr>
            <a:cxnSpLocks/>
            <a:stCxn id="59" idx="5"/>
            <a:endCxn id="62" idx="0"/>
          </p:cNvCxnSpPr>
          <p:nvPr/>
        </p:nvCxnSpPr>
        <p:spPr>
          <a:xfrm>
            <a:off x="7537176" y="2557757"/>
            <a:ext cx="273463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18">
            <a:extLst>
              <a:ext uri="{FF2B5EF4-FFF2-40B4-BE49-F238E27FC236}">
                <a16:creationId xmlns:a16="http://schemas.microsoft.com/office/drawing/2014/main" id="{9C0AFB78-6334-49F7-A1BC-96412C20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3484" y="34671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8FA1C30-0F82-4D7F-941A-6A2C8E4628FF}"/>
              </a:ext>
            </a:extLst>
          </p:cNvPr>
          <p:cNvCxnSpPr>
            <a:cxnSpLocks/>
            <a:stCxn id="60" idx="4"/>
            <a:endCxn id="64" idx="0"/>
          </p:cNvCxnSpPr>
          <p:nvPr/>
        </p:nvCxnSpPr>
        <p:spPr>
          <a:xfrm flipH="1">
            <a:off x="6783984" y="3200400"/>
            <a:ext cx="237488" cy="26670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18">
            <a:extLst>
              <a:ext uri="{FF2B5EF4-FFF2-40B4-BE49-F238E27FC236}">
                <a16:creationId xmlns:a16="http://schemas.microsoft.com/office/drawing/2014/main" id="{5E435D34-01C3-472E-B9D0-313A473FE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0684" y="34671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9B4D37D-87E5-4E18-987E-0ACF575C8BB3}"/>
              </a:ext>
            </a:extLst>
          </p:cNvPr>
          <p:cNvCxnSpPr>
            <a:cxnSpLocks/>
            <a:stCxn id="60" idx="4"/>
            <a:endCxn id="66" idx="0"/>
          </p:cNvCxnSpPr>
          <p:nvPr/>
        </p:nvCxnSpPr>
        <p:spPr>
          <a:xfrm>
            <a:off x="7021472" y="3200400"/>
            <a:ext cx="219712" cy="26670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18">
            <a:extLst>
              <a:ext uri="{FF2B5EF4-FFF2-40B4-BE49-F238E27FC236}">
                <a16:creationId xmlns:a16="http://schemas.microsoft.com/office/drawing/2014/main" id="{43369626-340F-449B-9947-BC69A62AF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1704" y="34671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2A98988-C87C-452D-8A68-7D56AED07EFB}"/>
              </a:ext>
            </a:extLst>
          </p:cNvPr>
          <p:cNvCxnSpPr>
            <a:cxnSpLocks/>
            <a:stCxn id="62" idx="4"/>
            <a:endCxn id="68" idx="0"/>
          </p:cNvCxnSpPr>
          <p:nvPr/>
        </p:nvCxnSpPr>
        <p:spPr>
          <a:xfrm flipH="1">
            <a:off x="7692204" y="3200400"/>
            <a:ext cx="118435" cy="26670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79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6" grpId="0" animBg="1"/>
      <p:bldP spid="48" grpId="0" animBg="1"/>
      <p:bldP spid="54" grpId="0" animBg="1"/>
      <p:bldP spid="56" grpId="0" animBg="1"/>
      <p:bldP spid="59" grpId="0" animBg="1"/>
      <p:bldP spid="60" grpId="0" animBg="1"/>
      <p:bldP spid="62" grpId="0" animBg="1"/>
      <p:bldP spid="64" grpId="0" animBg="1"/>
      <p:bldP spid="66" grpId="0" animBg="1"/>
      <p:bldP spid="6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657F-07C9-492E-B945-0630C0707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	</a:t>
            </a:r>
            <a:r>
              <a:rPr lang="en-US" altLang="zh-CN" dirty="0" err="1"/>
              <a:t>deteleMax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6B58E-1F74-4800-922F-0C8D7956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graphicFrame>
        <p:nvGraphicFramePr>
          <p:cNvPr id="35" name="Content Placeholder 37">
            <a:extLst>
              <a:ext uri="{FF2B5EF4-FFF2-40B4-BE49-F238E27FC236}">
                <a16:creationId xmlns:a16="http://schemas.microsoft.com/office/drawing/2014/main" id="{480BF924-7569-4B10-854C-66E79B116902}"/>
              </a:ext>
            </a:extLst>
          </p:cNvPr>
          <p:cNvGraphicFramePr>
            <a:graphicFrameLocks/>
          </p:cNvGraphicFramePr>
          <p:nvPr/>
        </p:nvGraphicFramePr>
        <p:xfrm>
          <a:off x="609600" y="44196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36" name="Oval 15">
            <a:extLst>
              <a:ext uri="{FF2B5EF4-FFF2-40B4-BE49-F238E27FC236}">
                <a16:creationId xmlns:a16="http://schemas.microsoft.com/office/drawing/2014/main" id="{CBB1AEF4-332D-4962-AED0-A45028848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088" y="223255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Oval 18">
            <a:extLst>
              <a:ext uri="{FF2B5EF4-FFF2-40B4-BE49-F238E27FC236}">
                <a16:creationId xmlns:a16="http://schemas.microsoft.com/office/drawing/2014/main" id="{9620702A-E329-4189-8615-C6E152AD5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088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A35277E-13BC-40B4-A198-72EF10A52194}"/>
              </a:ext>
            </a:extLst>
          </p:cNvPr>
          <p:cNvCxnSpPr>
            <a:cxnSpLocks/>
            <a:stCxn id="36" idx="3"/>
            <a:endCxn id="37" idx="0"/>
          </p:cNvCxnSpPr>
          <p:nvPr/>
        </p:nvCxnSpPr>
        <p:spPr>
          <a:xfrm flipH="1">
            <a:off x="1418588" y="2557757"/>
            <a:ext cx="246296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8">
            <a:extLst>
              <a:ext uri="{FF2B5EF4-FFF2-40B4-BE49-F238E27FC236}">
                <a16:creationId xmlns:a16="http://schemas.microsoft.com/office/drawing/2014/main" id="{C6D9ED75-9D96-4DB0-BE18-F7EAE0A01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255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B20B6E1-3206-4F3A-A0FF-51A2E3262FE0}"/>
              </a:ext>
            </a:extLst>
          </p:cNvPr>
          <p:cNvCxnSpPr>
            <a:cxnSpLocks/>
            <a:stCxn id="36" idx="5"/>
            <a:endCxn id="39" idx="0"/>
          </p:cNvCxnSpPr>
          <p:nvPr/>
        </p:nvCxnSpPr>
        <p:spPr>
          <a:xfrm>
            <a:off x="1934292" y="2557757"/>
            <a:ext cx="273463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18">
            <a:extLst>
              <a:ext uri="{FF2B5EF4-FFF2-40B4-BE49-F238E27FC236}">
                <a16:creationId xmlns:a16="http://schemas.microsoft.com/office/drawing/2014/main" id="{E15E4D39-63FE-4993-A24D-FBEC22F2E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4671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4DCB1E9-7C15-4D5E-A63E-435D5F729036}"/>
              </a:ext>
            </a:extLst>
          </p:cNvPr>
          <p:cNvCxnSpPr>
            <a:cxnSpLocks/>
            <a:stCxn id="37" idx="4"/>
            <a:endCxn id="28" idx="0"/>
          </p:cNvCxnSpPr>
          <p:nvPr/>
        </p:nvCxnSpPr>
        <p:spPr>
          <a:xfrm flipH="1">
            <a:off x="1181100" y="3200400"/>
            <a:ext cx="237488" cy="26670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Content Placeholder 37">
            <a:extLst>
              <a:ext uri="{FF2B5EF4-FFF2-40B4-BE49-F238E27FC236}">
                <a16:creationId xmlns:a16="http://schemas.microsoft.com/office/drawing/2014/main" id="{72D2B928-7A42-4E08-ABC2-4ED700EB78F1}"/>
              </a:ext>
            </a:extLst>
          </p:cNvPr>
          <p:cNvGraphicFramePr>
            <a:graphicFrameLocks/>
          </p:cNvGraphicFramePr>
          <p:nvPr/>
        </p:nvGraphicFramePr>
        <p:xfrm>
          <a:off x="3433540" y="44196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41" name="Oval 15">
            <a:extLst>
              <a:ext uri="{FF2B5EF4-FFF2-40B4-BE49-F238E27FC236}">
                <a16:creationId xmlns:a16="http://schemas.microsoft.com/office/drawing/2014/main" id="{FBCD5770-BA59-4551-9936-B9C933DA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028" y="223255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Oval 18">
            <a:extLst>
              <a:ext uri="{FF2B5EF4-FFF2-40B4-BE49-F238E27FC236}">
                <a16:creationId xmlns:a16="http://schemas.microsoft.com/office/drawing/2014/main" id="{CFEBEBF8-8ECC-443D-8B97-A111A8C2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028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5A7FF38-0808-46CE-BAB8-6538EAAE0D2B}"/>
              </a:ext>
            </a:extLst>
          </p:cNvPr>
          <p:cNvCxnSpPr>
            <a:cxnSpLocks/>
            <a:stCxn id="41" idx="3"/>
            <a:endCxn id="46" idx="0"/>
          </p:cNvCxnSpPr>
          <p:nvPr/>
        </p:nvCxnSpPr>
        <p:spPr>
          <a:xfrm flipH="1">
            <a:off x="4242528" y="2557757"/>
            <a:ext cx="246296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18">
            <a:extLst>
              <a:ext uri="{FF2B5EF4-FFF2-40B4-BE49-F238E27FC236}">
                <a16:creationId xmlns:a16="http://schemas.microsoft.com/office/drawing/2014/main" id="{F7C086D6-AC73-4EC6-ADB7-9797A409C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195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668957B-7704-4235-8DCC-F758E2BEFF2B}"/>
              </a:ext>
            </a:extLst>
          </p:cNvPr>
          <p:cNvCxnSpPr>
            <a:cxnSpLocks/>
            <a:stCxn id="41" idx="5"/>
            <a:endCxn id="48" idx="0"/>
          </p:cNvCxnSpPr>
          <p:nvPr/>
        </p:nvCxnSpPr>
        <p:spPr>
          <a:xfrm>
            <a:off x="4758232" y="2557757"/>
            <a:ext cx="273463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18">
            <a:extLst>
              <a:ext uri="{FF2B5EF4-FFF2-40B4-BE49-F238E27FC236}">
                <a16:creationId xmlns:a16="http://schemas.microsoft.com/office/drawing/2014/main" id="{CD304821-9832-4633-A967-39470F188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540" y="3467101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FF7DCC4-EBEF-4FE3-8F14-4EC7ED3B69CB}"/>
              </a:ext>
            </a:extLst>
          </p:cNvPr>
          <p:cNvCxnSpPr>
            <a:cxnSpLocks/>
            <a:stCxn id="46" idx="4"/>
            <a:endCxn id="54" idx="0"/>
          </p:cNvCxnSpPr>
          <p:nvPr/>
        </p:nvCxnSpPr>
        <p:spPr>
          <a:xfrm flipH="1">
            <a:off x="4005040" y="3200400"/>
            <a:ext cx="237488" cy="266701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Content Placeholder 37">
            <a:extLst>
              <a:ext uri="{FF2B5EF4-FFF2-40B4-BE49-F238E27FC236}">
                <a16:creationId xmlns:a16="http://schemas.microsoft.com/office/drawing/2014/main" id="{958B42EB-4BDF-4F43-B5E9-90CA5BE66D34}"/>
              </a:ext>
            </a:extLst>
          </p:cNvPr>
          <p:cNvGraphicFramePr>
            <a:graphicFrameLocks/>
          </p:cNvGraphicFramePr>
          <p:nvPr/>
        </p:nvGraphicFramePr>
        <p:xfrm>
          <a:off x="6212484" y="44196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59" name="Oval 15">
            <a:extLst>
              <a:ext uri="{FF2B5EF4-FFF2-40B4-BE49-F238E27FC236}">
                <a16:creationId xmlns:a16="http://schemas.microsoft.com/office/drawing/2014/main" id="{F1940757-7811-41AD-9F99-7B16EA4F8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972" y="223255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Oval 18">
            <a:extLst>
              <a:ext uri="{FF2B5EF4-FFF2-40B4-BE49-F238E27FC236}">
                <a16:creationId xmlns:a16="http://schemas.microsoft.com/office/drawing/2014/main" id="{D3AB1FC6-81A1-4DD4-8C38-DE94A80BE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972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26DEE20-77DC-4E31-B9C3-3E1B9F94A531}"/>
              </a:ext>
            </a:extLst>
          </p:cNvPr>
          <p:cNvCxnSpPr>
            <a:cxnSpLocks/>
            <a:stCxn id="59" idx="3"/>
            <a:endCxn id="60" idx="0"/>
          </p:cNvCxnSpPr>
          <p:nvPr/>
        </p:nvCxnSpPr>
        <p:spPr>
          <a:xfrm flipH="1">
            <a:off x="7021472" y="2557757"/>
            <a:ext cx="246296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18">
            <a:extLst>
              <a:ext uri="{FF2B5EF4-FFF2-40B4-BE49-F238E27FC236}">
                <a16:creationId xmlns:a16="http://schemas.microsoft.com/office/drawing/2014/main" id="{0046FBD6-2033-4DAD-953C-74D65F7C2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139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DC4E764-9105-42F0-8892-BAF5DB939901}"/>
              </a:ext>
            </a:extLst>
          </p:cNvPr>
          <p:cNvCxnSpPr>
            <a:cxnSpLocks/>
            <a:stCxn id="59" idx="5"/>
            <a:endCxn id="62" idx="0"/>
          </p:cNvCxnSpPr>
          <p:nvPr/>
        </p:nvCxnSpPr>
        <p:spPr>
          <a:xfrm>
            <a:off x="7537176" y="2557757"/>
            <a:ext cx="273463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18">
            <a:extLst>
              <a:ext uri="{FF2B5EF4-FFF2-40B4-BE49-F238E27FC236}">
                <a16:creationId xmlns:a16="http://schemas.microsoft.com/office/drawing/2014/main" id="{44768E13-BC83-47D1-9BC2-2063256DC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081" y="345175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15366B6-80E4-4BA1-948F-66CADF90BE85}"/>
              </a:ext>
            </a:extLst>
          </p:cNvPr>
          <p:cNvCxnSpPr>
            <a:cxnSpLocks/>
            <a:stCxn id="37" idx="4"/>
            <a:endCxn id="42" idx="0"/>
          </p:cNvCxnSpPr>
          <p:nvPr/>
        </p:nvCxnSpPr>
        <p:spPr>
          <a:xfrm>
            <a:off x="1418588" y="3200400"/>
            <a:ext cx="229993" cy="25135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55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6" grpId="0" animBg="1"/>
      <p:bldP spid="48" grpId="0" animBg="1"/>
      <p:bldP spid="54" grpId="0" animBg="1"/>
      <p:bldP spid="59" grpId="0" animBg="1"/>
      <p:bldP spid="60" grpId="0" animBg="1"/>
      <p:bldP spid="6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657F-07C9-492E-B945-0630C0707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	</a:t>
            </a:r>
            <a:r>
              <a:rPr lang="en-US" altLang="zh-CN" dirty="0" err="1"/>
              <a:t>deteleMax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6B58E-1F74-4800-922F-0C8D7956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graphicFrame>
        <p:nvGraphicFramePr>
          <p:cNvPr id="35" name="Content Placeholder 37">
            <a:extLst>
              <a:ext uri="{FF2B5EF4-FFF2-40B4-BE49-F238E27FC236}">
                <a16:creationId xmlns:a16="http://schemas.microsoft.com/office/drawing/2014/main" id="{480BF924-7569-4B10-854C-66E79B116902}"/>
              </a:ext>
            </a:extLst>
          </p:cNvPr>
          <p:cNvGraphicFramePr>
            <a:graphicFrameLocks/>
          </p:cNvGraphicFramePr>
          <p:nvPr/>
        </p:nvGraphicFramePr>
        <p:xfrm>
          <a:off x="609600" y="44196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36" name="Oval 15">
            <a:extLst>
              <a:ext uri="{FF2B5EF4-FFF2-40B4-BE49-F238E27FC236}">
                <a16:creationId xmlns:a16="http://schemas.microsoft.com/office/drawing/2014/main" id="{CBB1AEF4-332D-4962-AED0-A45028848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088" y="223255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Oval 18">
            <a:extLst>
              <a:ext uri="{FF2B5EF4-FFF2-40B4-BE49-F238E27FC236}">
                <a16:creationId xmlns:a16="http://schemas.microsoft.com/office/drawing/2014/main" id="{9620702A-E329-4189-8615-C6E152AD5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088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A35277E-13BC-40B4-A198-72EF10A52194}"/>
              </a:ext>
            </a:extLst>
          </p:cNvPr>
          <p:cNvCxnSpPr>
            <a:cxnSpLocks/>
            <a:stCxn id="36" idx="3"/>
            <a:endCxn id="37" idx="0"/>
          </p:cNvCxnSpPr>
          <p:nvPr/>
        </p:nvCxnSpPr>
        <p:spPr>
          <a:xfrm flipH="1">
            <a:off x="1418588" y="2557757"/>
            <a:ext cx="246296" cy="261643"/>
          </a:xfrm>
          <a:prstGeom prst="lin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Content Placeholder 37">
            <a:extLst>
              <a:ext uri="{FF2B5EF4-FFF2-40B4-BE49-F238E27FC236}">
                <a16:creationId xmlns:a16="http://schemas.microsoft.com/office/drawing/2014/main" id="{72D2B928-7A42-4E08-ABC2-4ED700EB78F1}"/>
              </a:ext>
            </a:extLst>
          </p:cNvPr>
          <p:cNvGraphicFramePr>
            <a:graphicFrameLocks/>
          </p:cNvGraphicFramePr>
          <p:nvPr/>
        </p:nvGraphicFramePr>
        <p:xfrm>
          <a:off x="3433540" y="44196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sp>
        <p:nvSpPr>
          <p:cNvPr id="54" name="Oval 18">
            <a:extLst>
              <a:ext uri="{FF2B5EF4-FFF2-40B4-BE49-F238E27FC236}">
                <a16:creationId xmlns:a16="http://schemas.microsoft.com/office/drawing/2014/main" id="{CD304821-9832-4633-A967-39470F188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530" y="245761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8" name="Content Placeholder 37">
            <a:extLst>
              <a:ext uri="{FF2B5EF4-FFF2-40B4-BE49-F238E27FC236}">
                <a16:creationId xmlns:a16="http://schemas.microsoft.com/office/drawing/2014/main" id="{958B42EB-4BDF-4F43-B5E9-90CA5BE66D34}"/>
              </a:ext>
            </a:extLst>
          </p:cNvPr>
          <p:cNvGraphicFramePr>
            <a:graphicFrameLocks/>
          </p:cNvGraphicFramePr>
          <p:nvPr/>
        </p:nvGraphicFramePr>
        <p:xfrm>
          <a:off x="6212484" y="4419600"/>
          <a:ext cx="24338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3508711317"/>
                    </a:ext>
                  </a:extLst>
                </a:gridCol>
                <a:gridCol w="406650">
                  <a:extLst>
                    <a:ext uri="{9D8B030D-6E8A-4147-A177-3AD203B41FA5}">
                      <a16:colId xmlns:a16="http://schemas.microsoft.com/office/drawing/2014/main" val="2381128702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577435574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1909313319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63808808"/>
                    </a:ext>
                  </a:extLst>
                </a:gridCol>
                <a:gridCol w="405442">
                  <a:extLst>
                    <a:ext uri="{9D8B030D-6E8A-4147-A177-3AD203B41FA5}">
                      <a16:colId xmlns:a16="http://schemas.microsoft.com/office/drawing/2014/main" val="275594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A</a:t>
                      </a:r>
                      <a:endParaRPr lang="zh-CN" altLang="en-US" sz="2000" b="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C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E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G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H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/>
                        <a:t>K</a:t>
                      </a:r>
                      <a:endParaRPr lang="zh-CN" altLang="en-US" sz="2000" b="0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30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95687"/>
                  </a:ext>
                </a:extLst>
              </a:tr>
            </a:tbl>
          </a:graphicData>
        </a:graphic>
      </p:graphicFrame>
      <p:pic>
        <p:nvPicPr>
          <p:cNvPr id="29" name="Picture 2" descr="Image result for mission complete">
            <a:extLst>
              <a:ext uri="{FF2B5EF4-FFF2-40B4-BE49-F238E27FC236}">
                <a16:creationId xmlns:a16="http://schemas.microsoft.com/office/drawing/2014/main" id="{C764573A-12F6-40FB-B914-5F24F4693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484" y="2079984"/>
            <a:ext cx="21336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49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20D1-2E22-432E-AC10-ED323088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Heapsort Pseudo Code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783C5-4375-4F0C-9E11-A173279A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4C9BBEB-0EBE-4D1A-B10A-9925DBB94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057400"/>
            <a:ext cx="6705600" cy="3048000"/>
          </a:xfrm>
          <a:ln w="28575">
            <a:solidFill>
              <a:schemeClr val="tx1"/>
            </a:solidFill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altLang="zh-CN" sz="2800" dirty="0"/>
              <a:t>HEAPSORT(A, size)</a:t>
            </a:r>
            <a:br>
              <a:rPr lang="en-US" altLang="zh-CN" sz="2800" dirty="0"/>
            </a:br>
            <a:r>
              <a:rPr lang="en-US" altLang="zh-CN" sz="2800" dirty="0"/>
              <a:t>1.     FOR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 TO size-1</a:t>
            </a:r>
            <a:br>
              <a:rPr lang="en-US" altLang="zh-CN" sz="2800" dirty="0"/>
            </a:br>
            <a:r>
              <a:rPr lang="en-US" altLang="zh-CN" sz="2800" dirty="0"/>
              <a:t>2.</a:t>
            </a:r>
            <a:r>
              <a:rPr lang="en-US" altLang="zh-CN" sz="2800" dirty="0">
                <a:solidFill>
                  <a:schemeClr val="accent4"/>
                </a:solidFill>
              </a:rPr>
              <a:t>         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</a:rPr>
              <a:t>// maximum heap is used here</a:t>
            </a:r>
            <a:br>
              <a:rPr lang="en-US" altLang="zh-CN" sz="2800" dirty="0"/>
            </a:br>
            <a:r>
              <a:rPr lang="en-US" altLang="zh-CN" sz="2800" dirty="0"/>
              <a:t>3.         INSERT(A,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, A[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])</a:t>
            </a:r>
            <a:br>
              <a:rPr lang="en-US" altLang="zh-CN" sz="2800" dirty="0">
                <a:solidFill>
                  <a:schemeClr val="dk1"/>
                </a:solidFill>
              </a:rPr>
            </a:br>
            <a:r>
              <a:rPr lang="en-US" altLang="zh-CN" sz="2800" dirty="0"/>
              <a:t>4.     FOR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=size-1 TO 0</a:t>
            </a:r>
            <a:br>
              <a:rPr lang="en-US" altLang="zh-CN" sz="2800" dirty="0"/>
            </a:br>
            <a:r>
              <a:rPr lang="en-US" altLang="zh-CN" sz="2800" dirty="0"/>
              <a:t>5.         A[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 = DELETE-MAX(A, i+1)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670164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Submit T8.cpp which includes at least two functions:</a:t>
                </a:r>
                <a:endParaRPr lang="en-US" altLang="zh-CN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altLang="zh-CN" dirty="0">
                    <a:solidFill>
                      <a:srgbClr val="0070C0"/>
                    </a:solidFill>
                  </a:rPr>
                  <a:t>void </a:t>
                </a:r>
                <a:r>
                  <a:rPr lang="en-US" altLang="zh-CN" dirty="0" err="1">
                    <a:solidFill>
                      <a:srgbClr val="0070C0"/>
                    </a:solidFill>
                  </a:rPr>
                  <a:t>HeapSort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(</a:t>
                </a:r>
                <a:r>
                  <a:rPr lang="en-US" altLang="zh-CN" dirty="0" err="1">
                    <a:solidFill>
                      <a:srgbClr val="0070C0"/>
                    </a:solidFill>
                  </a:rPr>
                  <a:t>int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 *A, </a:t>
                </a:r>
                <a:r>
                  <a:rPr lang="en-US" altLang="zh-CN" dirty="0" err="1">
                    <a:solidFill>
                      <a:srgbClr val="0070C0"/>
                    </a:solidFill>
                  </a:rPr>
                  <a:t>int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 n)</a:t>
                </a:r>
              </a:p>
              <a:p>
                <a:pPr lvl="2"/>
                <a:r>
                  <a:rPr lang="en-US" altLang="zh-CN" sz="2000" i="1" dirty="0"/>
                  <a:t>A</a:t>
                </a:r>
                <a:r>
                  <a:rPr lang="en-US" altLang="zh-CN" sz="2000" dirty="0"/>
                  <a:t> is an array of integers and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 is the size of </a:t>
                </a:r>
                <a:r>
                  <a:rPr lang="en-US" altLang="zh-CN" sz="2000" i="1" dirty="0"/>
                  <a:t>A</a:t>
                </a:r>
              </a:p>
              <a:p>
                <a:pPr lvl="2"/>
                <a:r>
                  <a:rPr lang="en-US" altLang="zh-CN" sz="2000" dirty="0"/>
                  <a:t>Sort </a:t>
                </a:r>
                <a:r>
                  <a:rPr lang="en-US" altLang="zh-CN" sz="2000" i="1" dirty="0"/>
                  <a:t>A </a:t>
                </a:r>
                <a:r>
                  <a:rPr lang="en-US" altLang="zh-CN" sz="2000" dirty="0"/>
                  <a:t>using heapsort</a:t>
                </a:r>
                <a:endParaRPr lang="en-US" altLang="zh-CN" sz="2000" dirty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 altLang="zh-CN" dirty="0" err="1">
                    <a:solidFill>
                      <a:srgbClr val="0070C0"/>
                    </a:solidFill>
                  </a:rPr>
                  <a:t>int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 main(void)</a:t>
                </a:r>
              </a:p>
              <a:p>
                <a:pPr lvl="2"/>
                <a:r>
                  <a:rPr lang="en-US" altLang="zh-CN" sz="2000" dirty="0"/>
                  <a:t>Let n be the size of the input array, for n=10 and n=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zh-CN" sz="2000" dirty="0"/>
                  <a:t> do the following operations</a:t>
                </a:r>
              </a:p>
              <a:p>
                <a:pPr lvl="2"/>
                <a:r>
                  <a:rPr lang="en-US" altLang="zh-CN" sz="2000" dirty="0"/>
                  <a:t>Generate an array, A1, consisting of n random integers</a:t>
                </a:r>
              </a:p>
              <a:p>
                <a:pPr lvl="2"/>
                <a:r>
                  <a:rPr lang="en-US" altLang="zh-CN" sz="2000" dirty="0"/>
                  <a:t>Sort A1 using </a:t>
                </a:r>
                <a:r>
                  <a:rPr lang="en-US" altLang="zh-CN" sz="2000" dirty="0" err="1"/>
                  <a:t>HeapSort</a:t>
                </a:r>
                <a:r>
                  <a:rPr lang="en-US" altLang="zh-CN" sz="2000" dirty="0"/>
                  <a:t>()</a:t>
                </a:r>
              </a:p>
              <a:p>
                <a:pPr lvl="2"/>
                <a:r>
                  <a:rPr lang="en-US" altLang="zh-CN" sz="2000" dirty="0"/>
                  <a:t>For input size n =10 , print the array before and after sorting For input size n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zh-CN" sz="2000" dirty="0"/>
                  <a:t> ,print elapsed time in milliseconds for </a:t>
                </a:r>
                <a:r>
                  <a:rPr lang="en-US" altLang="zh-CN" sz="2000" dirty="0" err="1"/>
                  <a:t>HeapSort</a:t>
                </a:r>
                <a:r>
                  <a:rPr lang="en-US" altLang="zh-CN" sz="2000" dirty="0"/>
                  <a:t> function.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600200"/>
                <a:ext cx="8229600" cy="4525963"/>
              </a:xfrm>
              <a:blipFill>
                <a:blip r:embed="rId2"/>
                <a:stretch>
                  <a:fillRect l="-1333" t="-2291" r="-12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7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4813</TotalTime>
  <Words>2282</Words>
  <Application>Microsoft Office PowerPoint</Application>
  <PresentationFormat>全屏显示(4:3)</PresentationFormat>
  <Paragraphs>640</Paragraphs>
  <Slides>41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Monotype Sorts</vt:lpstr>
      <vt:lpstr>DengXian</vt:lpstr>
      <vt:lpstr>宋体</vt:lpstr>
      <vt:lpstr>新宋体</vt:lpstr>
      <vt:lpstr>Arial</vt:lpstr>
      <vt:lpstr>Arial</vt:lpstr>
      <vt:lpstr>Calibri</vt:lpstr>
      <vt:lpstr>Calibri Light</vt:lpstr>
      <vt:lpstr>Cambria Math</vt:lpstr>
      <vt:lpstr>Courier New</vt:lpstr>
      <vt:lpstr>Times New Roman</vt:lpstr>
      <vt:lpstr>Office Theme</vt:lpstr>
      <vt:lpstr>Data Structures and Algorithms  Lecture 8: Priority Queue and Heapsort  （优先队列，堆排序） </vt:lpstr>
      <vt:lpstr>Outline</vt:lpstr>
      <vt:lpstr>Motivating Example</vt:lpstr>
      <vt:lpstr>Priority Queue (优先队列)</vt:lpstr>
      <vt:lpstr>Priority Queue</vt:lpstr>
      <vt:lpstr>Implementation</vt:lpstr>
      <vt:lpstr>Implementation:  Trees</vt:lpstr>
      <vt:lpstr>PowerPoint 演示文稿</vt:lpstr>
      <vt:lpstr>Background: Binary Trees (二叉树)</vt:lpstr>
      <vt:lpstr>Tree Height (Depth)</vt:lpstr>
      <vt:lpstr>Perfect Binary Trees</vt:lpstr>
      <vt:lpstr>Property</vt:lpstr>
      <vt:lpstr>Given the number of nodes (data size):</vt:lpstr>
      <vt:lpstr>PowerPoint 演示文稿</vt:lpstr>
      <vt:lpstr>Binary heaps (二叉堆)</vt:lpstr>
      <vt:lpstr>Binary Heap</vt:lpstr>
      <vt:lpstr>Property</vt:lpstr>
      <vt:lpstr>Array Implementation of Binary Heaps</vt:lpstr>
      <vt:lpstr>Implementation Flow</vt:lpstr>
      <vt:lpstr>A MINIMUM priority queue has</vt:lpstr>
      <vt:lpstr>PowerPoint 演示文稿</vt:lpstr>
      <vt:lpstr>Heap Properties</vt:lpstr>
      <vt:lpstr>Insertion</vt:lpstr>
      <vt:lpstr>An Implementation Trick</vt:lpstr>
      <vt:lpstr>Insertion Complexity</vt:lpstr>
      <vt:lpstr>Insertion Pseudo Code</vt:lpstr>
      <vt:lpstr>deleteMin</vt:lpstr>
      <vt:lpstr>deleteMin Example</vt:lpstr>
      <vt:lpstr>deleteMin Example</vt:lpstr>
      <vt:lpstr>Hole trick</vt:lpstr>
      <vt:lpstr>deleteMin Pseudo Code</vt:lpstr>
      <vt:lpstr>Heapsort</vt:lpstr>
      <vt:lpstr>Heapsort</vt:lpstr>
      <vt:lpstr>Can we do better?</vt:lpstr>
      <vt:lpstr>Heapsort: No Extra Storage</vt:lpstr>
      <vt:lpstr>Example: Maximum Heap Build-up</vt:lpstr>
      <vt:lpstr>Example: Maximum  Heap Build-up</vt:lpstr>
      <vt:lpstr>Example:  deteleMax</vt:lpstr>
      <vt:lpstr>Example:  deteleMax</vt:lpstr>
      <vt:lpstr>Heapsort Pseudo Code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 Lecture 1: C</dc:title>
  <dc:creator>UIC</dc:creator>
  <cp:lastModifiedBy>Windows User</cp:lastModifiedBy>
  <cp:revision>469</cp:revision>
  <dcterms:created xsi:type="dcterms:W3CDTF">2006-08-16T00:00:00Z</dcterms:created>
  <dcterms:modified xsi:type="dcterms:W3CDTF">2022-11-30T17:13:58Z</dcterms:modified>
</cp:coreProperties>
</file>